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69" r:id="rId13"/>
    <p:sldId id="271" r:id="rId14"/>
    <p:sldId id="278" r:id="rId15"/>
    <p:sldId id="273" r:id="rId16"/>
    <p:sldId id="272" r:id="rId17"/>
    <p:sldId id="274" r:id="rId18"/>
    <p:sldId id="275" r:id="rId19"/>
    <p:sldId id="266" r:id="rId20"/>
    <p:sldId id="267" r:id="rId21"/>
    <p:sldId id="268" r:id="rId22"/>
    <p:sldId id="276" r:id="rId23"/>
    <p:sldId id="277" r:id="rId24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Proxima Nova" panose="020B060402020202020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bdulhalim dandoush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8F103823-9D80-430B-BE83-918672A8F3E2}">
  <a:tblStyle styleId="{8F103823-9D80-430B-BE83-918672A8F3E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4660"/>
  </p:normalViewPr>
  <p:slideViewPr>
    <p:cSldViewPr>
      <p:cViewPr>
        <p:scale>
          <a:sx n="90" d="100"/>
          <a:sy n="90" d="100"/>
        </p:scale>
        <p:origin x="-678" y="-2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8-04-04T10:27:31.210" idx="1">
    <p:pos x="6000" y="0"/>
    <p:text>very nice, I just saw :)</p:text>
  </p:cm>
</p:cmLst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7" Type="http://schemas.openxmlformats.org/officeDocument/2006/relationships/image" Target="../media/image20.emf"/><Relationship Id="rId2" Type="http://schemas.openxmlformats.org/officeDocument/2006/relationships/image" Target="../media/image15.emf"/><Relationship Id="rId1" Type="http://schemas.openxmlformats.org/officeDocument/2006/relationships/image" Target="../media/image14.emf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5987010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Shape 5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Shape 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Shape 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Shape 7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Shape 21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28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Shape 2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Shape 292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Shape 29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Shape 2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305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Shape 30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312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Shape 31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Shape 345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Shape 34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339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Shape 34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Shape 35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Shape 35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hape 36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Shape 36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hape 36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Shape 36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Shape 359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Shape 36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Shape 374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Shape 3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Shape 380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Shape 38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Shape 3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Shape 325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Shape 32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332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Shape 33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Shape 386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Shape 3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Shape 392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Shape 39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hape 10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hape 15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Shape 4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Shape 41"/>
          <p:cNvSpPr txBox="1">
            <a:spLocks noGrp="1"/>
          </p:cNvSpPr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xmpp.org/extensions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13" Type="http://schemas.openxmlformats.org/officeDocument/2006/relationships/image" Target="../media/image17.emf"/><Relationship Id="rId18" Type="http://schemas.openxmlformats.org/officeDocument/2006/relationships/oleObject" Target="file:///C:\Users\PC\Documents\Drawing1.vsdx\Drawing\~Page-2\Sheet.62" TargetMode="External"/><Relationship Id="rId3" Type="http://schemas.openxmlformats.org/officeDocument/2006/relationships/notesSlide" Target="../notesSlides/notesSlide6.xml"/><Relationship Id="rId7" Type="http://schemas.openxmlformats.org/officeDocument/2006/relationships/oleObject" Target="file:///C:\Users\PC\Documents\Drawing1.vsdx\Drawing\~Page-2\Sheet.57" TargetMode="External"/><Relationship Id="rId12" Type="http://schemas.openxmlformats.org/officeDocument/2006/relationships/oleObject" Target="file:///C:\Users\PC\Documents\Drawing1.vsdx\Drawing\~Page-2\Sheet.59" TargetMode="External"/><Relationship Id="rId17" Type="http://schemas.openxmlformats.org/officeDocument/2006/relationships/image" Target="../media/image19.emf"/><Relationship Id="rId2" Type="http://schemas.openxmlformats.org/officeDocument/2006/relationships/slideLayout" Target="../slideLayouts/slideLayout3.xml"/><Relationship Id="rId16" Type="http://schemas.openxmlformats.org/officeDocument/2006/relationships/oleObject" Target="file:///C:\Users\PC\Documents\Drawing1.vsdx\Drawing\~Page-2\Sheet.61" TargetMode="Externa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3.png"/><Relationship Id="rId11" Type="http://schemas.openxmlformats.org/officeDocument/2006/relationships/image" Target="../media/image16.emf"/><Relationship Id="rId5" Type="http://schemas.openxmlformats.org/officeDocument/2006/relationships/image" Target="../media/image22.png"/><Relationship Id="rId15" Type="http://schemas.openxmlformats.org/officeDocument/2006/relationships/image" Target="../media/image18.emf"/><Relationship Id="rId10" Type="http://schemas.openxmlformats.org/officeDocument/2006/relationships/image" Target="../media/image15.emf"/><Relationship Id="rId19" Type="http://schemas.openxmlformats.org/officeDocument/2006/relationships/image" Target="../media/image20.emf"/><Relationship Id="rId4" Type="http://schemas.openxmlformats.org/officeDocument/2006/relationships/image" Target="../media/image21.png"/><Relationship Id="rId9" Type="http://schemas.openxmlformats.org/officeDocument/2006/relationships/oleObject" Target="file:///C:\Users\PC\Documents\Drawing1.vsdx\Drawing\~Page-2\Sheet.58" TargetMode="External"/><Relationship Id="rId14" Type="http://schemas.openxmlformats.org/officeDocument/2006/relationships/oleObject" Target="file:///C:\Users\PC\Documents\Drawing1.vsdx\Drawing\~Page-2\Sheet.60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52fSdDfWzVVxfXMzPkNH6BGq5flYr4Vc/view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ctrTitle"/>
          </p:nvPr>
        </p:nvSpPr>
        <p:spPr>
          <a:xfrm>
            <a:off x="384300" y="1040925"/>
            <a:ext cx="8123100" cy="181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XMPP as SBI implementation</a:t>
            </a:r>
            <a:endParaRPr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lang="pl"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Tomek Osiński</a:t>
            </a:r>
            <a:r>
              <a:rPr lang="pl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Orange Labs, Warsaw, Poland</a:t>
            </a: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Char char="●"/>
            </a:pPr>
            <a:r>
              <a:rPr lang="pl"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Abdulhalim Dandoush</a:t>
            </a:r>
            <a:r>
              <a:rPr lang="pl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ESME Sudria engineering school, France</a:t>
            </a: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Shape 60"/>
          <p:cNvSpPr txBox="1">
            <a:spLocks noGrp="1"/>
          </p:cNvSpPr>
          <p:nvPr>
            <p:ph type="subTitle" idx="1"/>
          </p:nvPr>
        </p:nvSpPr>
        <p:spPr>
          <a:xfrm>
            <a:off x="572575" y="3386125"/>
            <a:ext cx="74628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Project wiki: https://wiki.onosproject.org/display/ONOS/XMPP+as+SBI</a:t>
            </a:r>
            <a:endParaRPr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Agenda</a:t>
            </a:r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Introduction</a:t>
            </a:r>
            <a:endParaRPr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BGP VPN architecture</a:t>
            </a:r>
            <a:endParaRPr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XMPP protocol</a:t>
            </a:r>
            <a:endParaRPr/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Design &amp; implementation</a:t>
            </a:r>
            <a:endParaRPr/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Demo</a:t>
            </a:r>
            <a:endParaRPr/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Evaluation</a:t>
            </a:r>
            <a:endParaRPr/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Conclusions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XMPP protocol</a:t>
            </a:r>
            <a:endParaRPr/>
          </a:p>
        </p:txBody>
      </p:sp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8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dirty="0"/>
              <a:t>Features:</a:t>
            </a:r>
            <a:endParaRPr dirty="0"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 dirty="0"/>
              <a:t>XML-based</a:t>
            </a:r>
            <a:endParaRPr dirty="0"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 dirty="0"/>
              <a:t>Highly extensible</a:t>
            </a:r>
            <a:endParaRPr dirty="0"/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dirty="0"/>
              <a:t>Core XMPP (RFC 6120):</a:t>
            </a:r>
            <a:endParaRPr dirty="0"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 dirty="0"/>
              <a:t>XMPP Stream</a:t>
            </a:r>
            <a:endParaRPr dirty="0"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 dirty="0"/>
              <a:t>XMPP Stanzas (IQ, Message, Presence</a:t>
            </a:r>
            <a:r>
              <a:rPr lang="pl" dirty="0" smtClean="0"/>
              <a:t>)</a:t>
            </a:r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 dirty="0" smtClean="0"/>
              <a:t>TLS/SASL</a:t>
            </a:r>
            <a:endParaRPr dirty="0"/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dirty="0"/>
              <a:t>XMPP Extension Protocols (XEPs)</a:t>
            </a:r>
            <a:endParaRPr dirty="0"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 u="sng" dirty="0">
                <a:solidFill>
                  <a:schemeClr val="accent5"/>
                </a:solidFill>
                <a:hlinkClick r:id="rId3"/>
              </a:rPr>
              <a:t>https://xmpp.org/extensions/</a:t>
            </a:r>
            <a:endParaRPr dirty="0"/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dirty="0"/>
              <a:t>XMPP Publish/Subscribe extension:</a:t>
            </a:r>
            <a:endParaRPr dirty="0"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 dirty="0"/>
              <a:t>Publish/Subscribe paradigm</a:t>
            </a:r>
            <a:endParaRPr dirty="0"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 dirty="0"/>
              <a:t>payload-agnostic</a:t>
            </a:r>
            <a:endParaRPr dirty="0"/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dirty="0"/>
              <a:t>XMPP in the SDN area:</a:t>
            </a:r>
            <a:endParaRPr dirty="0"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 dirty="0" smtClean="0"/>
              <a:t>OpenContrail</a:t>
            </a:r>
            <a:endParaRPr dirty="0"/>
          </a:p>
        </p:txBody>
      </p:sp>
      <p:pic>
        <p:nvPicPr>
          <p:cNvPr id="73" name="Shape 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1650" y="2005050"/>
            <a:ext cx="4215775" cy="281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Overview of MPLS/L3VPN-XMPP solution</a:t>
            </a:r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311700" y="11104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https://tools.ietf.org/html/draft-ietf-l3vpn-end-system-06</a:t>
            </a:r>
            <a:endParaRPr/>
          </a:p>
        </p:txBody>
      </p:sp>
      <p:pic>
        <p:nvPicPr>
          <p:cNvPr id="80" name="Shape 80" descr="Network Cloud 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1480901" y="2459560"/>
            <a:ext cx="2223706" cy="20832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Shape 81"/>
          <p:cNvSpPr/>
          <p:nvPr/>
        </p:nvSpPr>
        <p:spPr>
          <a:xfrm>
            <a:off x="1795285" y="3918280"/>
            <a:ext cx="153600" cy="161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6100" tIns="38050" rIns="76100" bIns="38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Shape 82"/>
          <p:cNvSpPr/>
          <p:nvPr/>
        </p:nvSpPr>
        <p:spPr>
          <a:xfrm>
            <a:off x="7881363" y="3083158"/>
            <a:ext cx="999300" cy="10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8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VM </a:t>
            </a:r>
            <a:endParaRPr sz="900"/>
          </a:p>
          <a:p>
            <a:pPr marL="0" marR="0" lvl="0" indent="0" algn="l" rtl="0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l" sz="8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Hypervisor with vRouter</a:t>
            </a:r>
            <a:endParaRPr sz="900"/>
          </a:p>
          <a:p>
            <a:pPr marL="0" marR="0" lvl="0" indent="0" algn="l" rtl="0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l" sz="8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Server or Compute Node</a:t>
            </a:r>
            <a:endParaRPr sz="800" b="0" i="0" u="none" strike="noStrike" cap="non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l" sz="8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Tenant VRF, Policies, etc</a:t>
            </a:r>
            <a:endParaRPr sz="800" b="0" i="0" u="none" strike="noStrike" cap="non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l" sz="8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Encapsulation Tunnel </a:t>
            </a:r>
            <a:endParaRPr sz="900"/>
          </a:p>
          <a:p>
            <a:pPr marL="0" marR="0" lvl="0" indent="0" algn="l" rtl="0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l" sz="8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(MPLSoGRE, or VXLAN)</a:t>
            </a:r>
            <a:endParaRPr sz="800" b="0" i="0" u="none" strike="noStrike" cap="non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Shape 83"/>
          <p:cNvSpPr/>
          <p:nvPr/>
        </p:nvSpPr>
        <p:spPr>
          <a:xfrm>
            <a:off x="5188254" y="2367798"/>
            <a:ext cx="2499300" cy="25728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>
              <a:srgbClr val="000000">
                <a:alpha val="42750"/>
              </a:srgbClr>
            </a:outerShdw>
          </a:effectLst>
        </p:spPr>
        <p:txBody>
          <a:bodyPr spcFirstLastPara="1" wrap="square" lIns="0" tIns="38050" rIns="76100" bIns="3805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Shape 84"/>
          <p:cNvSpPr/>
          <p:nvPr/>
        </p:nvSpPr>
        <p:spPr>
          <a:xfrm flipH="1">
            <a:off x="5363827" y="3320258"/>
            <a:ext cx="462000" cy="370500"/>
          </a:xfrm>
          <a:prstGeom prst="roundRect">
            <a:avLst>
              <a:gd name="adj" fmla="val 0"/>
            </a:avLst>
          </a:prstGeom>
          <a:solidFill>
            <a:srgbClr val="D8D8D8"/>
          </a:solidFill>
          <a:ln w="9525" cap="flat" cmpd="sng">
            <a:solidFill>
              <a:srgbClr val="9F9F9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76100" tIns="38050" rIns="76100" bIns="3805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Shape 85"/>
          <p:cNvSpPr/>
          <p:nvPr/>
        </p:nvSpPr>
        <p:spPr>
          <a:xfrm flipH="1">
            <a:off x="7086649" y="3320258"/>
            <a:ext cx="462000" cy="370500"/>
          </a:xfrm>
          <a:prstGeom prst="roundRect">
            <a:avLst>
              <a:gd name="adj" fmla="val 0"/>
            </a:avLst>
          </a:prstGeom>
          <a:solidFill>
            <a:srgbClr val="D8D8D8"/>
          </a:solidFill>
          <a:ln w="9525" cap="flat" cmpd="sng">
            <a:solidFill>
              <a:srgbClr val="9F9F9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76100" tIns="38050" rIns="76100" bIns="3805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Shape 86"/>
          <p:cNvSpPr/>
          <p:nvPr/>
        </p:nvSpPr>
        <p:spPr>
          <a:xfrm flipH="1">
            <a:off x="6240632" y="3320258"/>
            <a:ext cx="462000" cy="370500"/>
          </a:xfrm>
          <a:prstGeom prst="roundRect">
            <a:avLst>
              <a:gd name="adj" fmla="val 0"/>
            </a:avLst>
          </a:prstGeom>
          <a:solidFill>
            <a:srgbClr val="D8D8D8"/>
          </a:solidFill>
          <a:ln w="9525" cap="flat" cmpd="sng">
            <a:solidFill>
              <a:srgbClr val="9F9F9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76100" tIns="38050" rIns="76100" bIns="3805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Shape 87"/>
          <p:cNvPicPr preferRelativeResize="0"/>
          <p:nvPr/>
        </p:nvPicPr>
        <p:blipFill rotWithShape="1">
          <a:blip r:embed="rId4">
            <a:alphaModFix amt="69000"/>
          </a:blip>
          <a:srcRect/>
          <a:stretch/>
        </p:blipFill>
        <p:spPr>
          <a:xfrm>
            <a:off x="5435125" y="3833935"/>
            <a:ext cx="316698" cy="316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Shape 88"/>
          <p:cNvPicPr preferRelativeResize="0"/>
          <p:nvPr/>
        </p:nvPicPr>
        <p:blipFill rotWithShape="1">
          <a:blip r:embed="rId4">
            <a:alphaModFix amt="69000"/>
          </a:blip>
          <a:srcRect/>
          <a:stretch/>
        </p:blipFill>
        <p:spPr>
          <a:xfrm>
            <a:off x="6326570" y="3833935"/>
            <a:ext cx="316698" cy="316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Shape 89"/>
          <p:cNvPicPr preferRelativeResize="0"/>
          <p:nvPr/>
        </p:nvPicPr>
        <p:blipFill rotWithShape="1">
          <a:blip r:embed="rId4">
            <a:alphaModFix amt="69000"/>
          </a:blip>
          <a:srcRect/>
          <a:stretch/>
        </p:blipFill>
        <p:spPr>
          <a:xfrm>
            <a:off x="7133785" y="3833935"/>
            <a:ext cx="316698" cy="3166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" name="Shape 90"/>
          <p:cNvCxnSpPr/>
          <p:nvPr/>
        </p:nvCxnSpPr>
        <p:spPr>
          <a:xfrm>
            <a:off x="7314997" y="3616424"/>
            <a:ext cx="0" cy="449100"/>
          </a:xfrm>
          <a:prstGeom prst="straightConnector1">
            <a:avLst/>
          </a:prstGeom>
          <a:noFill/>
          <a:ln w="114300" cap="rnd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1" name="Shape 91"/>
          <p:cNvCxnSpPr/>
          <p:nvPr/>
        </p:nvCxnSpPr>
        <p:spPr>
          <a:xfrm>
            <a:off x="6473620" y="3616458"/>
            <a:ext cx="0" cy="316800"/>
          </a:xfrm>
          <a:prstGeom prst="straightConnector1">
            <a:avLst/>
          </a:prstGeom>
          <a:noFill/>
          <a:ln w="114300" cap="rnd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2" name="Shape 92"/>
          <p:cNvCxnSpPr/>
          <p:nvPr/>
        </p:nvCxnSpPr>
        <p:spPr>
          <a:xfrm>
            <a:off x="5666642" y="3616458"/>
            <a:ext cx="0" cy="316800"/>
          </a:xfrm>
          <a:prstGeom prst="straightConnector1">
            <a:avLst/>
          </a:prstGeom>
          <a:noFill/>
          <a:ln w="114300" cap="rnd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" name="Shape 93"/>
          <p:cNvCxnSpPr/>
          <p:nvPr/>
        </p:nvCxnSpPr>
        <p:spPr>
          <a:xfrm>
            <a:off x="5515828" y="3616437"/>
            <a:ext cx="0" cy="369600"/>
          </a:xfrm>
          <a:prstGeom prst="straightConnector1">
            <a:avLst/>
          </a:prstGeom>
          <a:noFill/>
          <a:ln w="114300" cap="rnd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" name="Shape 94"/>
          <p:cNvSpPr/>
          <p:nvPr/>
        </p:nvSpPr>
        <p:spPr>
          <a:xfrm flipH="1">
            <a:off x="5431049" y="3526639"/>
            <a:ext cx="321600" cy="157800"/>
          </a:xfrm>
          <a:prstGeom prst="roundRect">
            <a:avLst>
              <a:gd name="adj" fmla="val 13261"/>
            </a:avLst>
          </a:prstGeom>
          <a:gradFill>
            <a:gsLst>
              <a:gs pos="0">
                <a:srgbClr val="BEBEBE"/>
              </a:gs>
              <a:gs pos="35000">
                <a:srgbClr val="D1D1D1"/>
              </a:gs>
              <a:gs pos="100000">
                <a:srgbClr val="EEEEEE"/>
              </a:gs>
            </a:gsLst>
            <a:lin ang="16200038" scaled="0"/>
          </a:gra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  <p:txBody>
          <a:bodyPr spcFirstLastPara="1" wrap="square" lIns="0" tIns="15225" rIns="0" bIns="152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605F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Shape 95"/>
          <p:cNvCxnSpPr/>
          <p:nvPr/>
        </p:nvCxnSpPr>
        <p:spPr>
          <a:xfrm rot="10800000">
            <a:off x="5515928" y="3440959"/>
            <a:ext cx="0" cy="133800"/>
          </a:xfrm>
          <a:prstGeom prst="straightConnector1">
            <a:avLst/>
          </a:prstGeom>
          <a:noFill/>
          <a:ln w="25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6" name="Shape 96"/>
          <p:cNvSpPr/>
          <p:nvPr/>
        </p:nvSpPr>
        <p:spPr>
          <a:xfrm rot="-5400000" flipH="1">
            <a:off x="5481292" y="3572186"/>
            <a:ext cx="64200" cy="68100"/>
          </a:xfrm>
          <a:prstGeom prst="ellipse">
            <a:avLst/>
          </a:prstGeom>
          <a:solidFill>
            <a:srgbClr val="44DC48"/>
          </a:solidFill>
          <a:ln w="9525" cap="flat" cmpd="sng">
            <a:solidFill>
              <a:srgbClr val="44DC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100" tIns="38050" rIns="76100" bIns="38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Shape 97"/>
          <p:cNvSpPr/>
          <p:nvPr/>
        </p:nvSpPr>
        <p:spPr>
          <a:xfrm rot="-5400000" flipH="1">
            <a:off x="5632984" y="3572932"/>
            <a:ext cx="64200" cy="68100"/>
          </a:xfrm>
          <a:prstGeom prst="ellipse">
            <a:avLst/>
          </a:prstGeom>
          <a:solidFill>
            <a:srgbClr val="FF3A4F"/>
          </a:solidFill>
          <a:ln w="9525" cap="flat" cmpd="sng">
            <a:solidFill>
              <a:srgbClr val="FF3A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100" tIns="38050" rIns="76100" bIns="38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Shape 98"/>
          <p:cNvCxnSpPr/>
          <p:nvPr/>
        </p:nvCxnSpPr>
        <p:spPr>
          <a:xfrm rot="10800000">
            <a:off x="5667622" y="3440959"/>
            <a:ext cx="0" cy="133800"/>
          </a:xfrm>
          <a:prstGeom prst="straightConnector1">
            <a:avLst/>
          </a:prstGeom>
          <a:noFill/>
          <a:ln w="25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9" name="Shape 99"/>
          <p:cNvSpPr/>
          <p:nvPr/>
        </p:nvSpPr>
        <p:spPr>
          <a:xfrm flipH="1">
            <a:off x="7153871" y="3526639"/>
            <a:ext cx="321600" cy="157800"/>
          </a:xfrm>
          <a:prstGeom prst="roundRect">
            <a:avLst>
              <a:gd name="adj" fmla="val 13261"/>
            </a:avLst>
          </a:prstGeom>
          <a:gradFill>
            <a:gsLst>
              <a:gs pos="0">
                <a:srgbClr val="BEBEBE"/>
              </a:gs>
              <a:gs pos="35000">
                <a:srgbClr val="D1D1D1"/>
              </a:gs>
              <a:gs pos="100000">
                <a:srgbClr val="EEEEEE"/>
              </a:gs>
            </a:gsLst>
            <a:lin ang="16200038" scaled="0"/>
          </a:gra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  <p:txBody>
          <a:bodyPr spcFirstLastPara="1" wrap="square" lIns="0" tIns="15225" rIns="0" bIns="152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605F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Shape 100"/>
          <p:cNvSpPr/>
          <p:nvPr/>
        </p:nvSpPr>
        <p:spPr>
          <a:xfrm rot="-5400000" flipH="1">
            <a:off x="7285247" y="3572186"/>
            <a:ext cx="64200" cy="68100"/>
          </a:xfrm>
          <a:prstGeom prst="ellipse">
            <a:avLst/>
          </a:prstGeom>
          <a:solidFill>
            <a:srgbClr val="44DC48"/>
          </a:solidFill>
          <a:ln w="9525" cap="flat" cmpd="sng">
            <a:solidFill>
              <a:srgbClr val="44DC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100" tIns="38050" rIns="76100" bIns="38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Shape 101"/>
          <p:cNvSpPr/>
          <p:nvPr/>
        </p:nvSpPr>
        <p:spPr>
          <a:xfrm flipH="1">
            <a:off x="6307854" y="3526639"/>
            <a:ext cx="321600" cy="157800"/>
          </a:xfrm>
          <a:prstGeom prst="roundRect">
            <a:avLst>
              <a:gd name="adj" fmla="val 13261"/>
            </a:avLst>
          </a:prstGeom>
          <a:gradFill>
            <a:gsLst>
              <a:gs pos="0">
                <a:srgbClr val="BEBEBE"/>
              </a:gs>
              <a:gs pos="35000">
                <a:srgbClr val="D1D1D1"/>
              </a:gs>
              <a:gs pos="100000">
                <a:srgbClr val="EEEEEE"/>
              </a:gs>
            </a:gsLst>
            <a:lin ang="16200038" scaled="0"/>
          </a:gra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  <p:txBody>
          <a:bodyPr spcFirstLastPara="1" wrap="square" lIns="0" tIns="15225" rIns="0" bIns="152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605F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" name="Shape 102"/>
          <p:cNvCxnSpPr/>
          <p:nvPr/>
        </p:nvCxnSpPr>
        <p:spPr>
          <a:xfrm rot="10800000">
            <a:off x="6470338" y="3440959"/>
            <a:ext cx="0" cy="133800"/>
          </a:xfrm>
          <a:prstGeom prst="straightConnector1">
            <a:avLst/>
          </a:prstGeom>
          <a:noFill/>
          <a:ln w="25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3" name="Shape 103"/>
          <p:cNvSpPr/>
          <p:nvPr/>
        </p:nvSpPr>
        <p:spPr>
          <a:xfrm rot="-5400000" flipH="1">
            <a:off x="6439229" y="3572186"/>
            <a:ext cx="64200" cy="68100"/>
          </a:xfrm>
          <a:prstGeom prst="ellipse">
            <a:avLst/>
          </a:prstGeom>
          <a:solidFill>
            <a:srgbClr val="FF3A4F"/>
          </a:solidFill>
          <a:ln w="9525" cap="flat" cmpd="sng">
            <a:solidFill>
              <a:srgbClr val="FF3A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100" tIns="38050" rIns="76100" bIns="38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Shape 104"/>
          <p:cNvPicPr preferRelativeResize="0"/>
          <p:nvPr/>
        </p:nvPicPr>
        <p:blipFill rotWithShape="1">
          <a:blip r:embed="rId4">
            <a:alphaModFix amt="69000"/>
          </a:blip>
          <a:srcRect/>
          <a:stretch/>
        </p:blipFill>
        <p:spPr>
          <a:xfrm>
            <a:off x="5912427" y="4285062"/>
            <a:ext cx="316698" cy="316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Shape 105"/>
          <p:cNvPicPr preferRelativeResize="0"/>
          <p:nvPr/>
        </p:nvPicPr>
        <p:blipFill rotWithShape="1">
          <a:blip r:embed="rId4">
            <a:alphaModFix amt="69000"/>
          </a:blip>
          <a:srcRect/>
          <a:stretch/>
        </p:blipFill>
        <p:spPr>
          <a:xfrm>
            <a:off x="6758900" y="4285062"/>
            <a:ext cx="316698" cy="31669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Shape 106"/>
          <p:cNvSpPr/>
          <p:nvPr/>
        </p:nvSpPr>
        <p:spPr>
          <a:xfrm>
            <a:off x="5464443" y="3389486"/>
            <a:ext cx="101400" cy="104100"/>
          </a:xfrm>
          <a:prstGeom prst="roundRect">
            <a:avLst>
              <a:gd name="adj" fmla="val 11111"/>
            </a:avLst>
          </a:prstGeom>
          <a:solidFill>
            <a:srgbClr val="BFBFBF"/>
          </a:solidFill>
          <a:ln>
            <a:noFill/>
          </a:ln>
        </p:spPr>
        <p:txBody>
          <a:bodyPr spcFirstLastPara="1" wrap="square" lIns="76100" tIns="38050" rIns="76100" bIns="38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Shape 107"/>
          <p:cNvSpPr/>
          <p:nvPr/>
        </p:nvSpPr>
        <p:spPr>
          <a:xfrm>
            <a:off x="5616138" y="3389486"/>
            <a:ext cx="101400" cy="104100"/>
          </a:xfrm>
          <a:prstGeom prst="roundRect">
            <a:avLst>
              <a:gd name="adj" fmla="val 11111"/>
            </a:avLst>
          </a:prstGeom>
          <a:solidFill>
            <a:srgbClr val="BFBFBF"/>
          </a:solidFill>
          <a:ln>
            <a:noFill/>
          </a:ln>
        </p:spPr>
        <p:txBody>
          <a:bodyPr spcFirstLastPara="1" wrap="square" lIns="76100" tIns="38050" rIns="76100" bIns="38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Shape 108"/>
          <p:cNvSpPr/>
          <p:nvPr/>
        </p:nvSpPr>
        <p:spPr>
          <a:xfrm>
            <a:off x="7264873" y="3389486"/>
            <a:ext cx="101400" cy="104100"/>
          </a:xfrm>
          <a:prstGeom prst="roundRect">
            <a:avLst>
              <a:gd name="adj" fmla="val 11111"/>
            </a:avLst>
          </a:prstGeom>
          <a:solidFill>
            <a:srgbClr val="BFBFBF"/>
          </a:solidFill>
          <a:ln>
            <a:noFill/>
          </a:ln>
        </p:spPr>
        <p:txBody>
          <a:bodyPr spcFirstLastPara="1" wrap="square" lIns="76100" tIns="38050" rIns="76100" bIns="38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Shape 109"/>
          <p:cNvSpPr/>
          <p:nvPr/>
        </p:nvSpPr>
        <p:spPr>
          <a:xfrm>
            <a:off x="6418853" y="3389486"/>
            <a:ext cx="101400" cy="104100"/>
          </a:xfrm>
          <a:prstGeom prst="roundRect">
            <a:avLst>
              <a:gd name="adj" fmla="val 11111"/>
            </a:avLst>
          </a:prstGeom>
          <a:solidFill>
            <a:srgbClr val="BFBFBF"/>
          </a:solidFill>
          <a:ln>
            <a:noFill/>
          </a:ln>
        </p:spPr>
        <p:txBody>
          <a:bodyPr spcFirstLastPara="1" wrap="square" lIns="76100" tIns="38050" rIns="76100" bIns="38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" name="Shape 110"/>
          <p:cNvCxnSpPr/>
          <p:nvPr/>
        </p:nvCxnSpPr>
        <p:spPr>
          <a:xfrm>
            <a:off x="5756409" y="3883075"/>
            <a:ext cx="0" cy="682641"/>
          </a:xfrm>
          <a:prstGeom prst="straightConnector1">
            <a:avLst/>
          </a:prstGeom>
          <a:noFill/>
          <a:ln w="114300" cap="rnd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1" name="Shape 111"/>
          <p:cNvCxnSpPr/>
          <p:nvPr/>
        </p:nvCxnSpPr>
        <p:spPr>
          <a:xfrm rot="10800000">
            <a:off x="6460897" y="3998822"/>
            <a:ext cx="0" cy="922200"/>
          </a:xfrm>
          <a:prstGeom prst="straightConnector1">
            <a:avLst/>
          </a:prstGeom>
          <a:noFill/>
          <a:ln w="114300" cap="rnd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2" name="Shape 112"/>
          <p:cNvCxnSpPr/>
          <p:nvPr/>
        </p:nvCxnSpPr>
        <p:spPr>
          <a:xfrm rot="10800000">
            <a:off x="7115122" y="3978614"/>
            <a:ext cx="0" cy="564271"/>
          </a:xfrm>
          <a:prstGeom prst="straightConnector1">
            <a:avLst/>
          </a:prstGeom>
          <a:noFill/>
          <a:ln w="114300" cap="rnd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3" name="Shape 113"/>
          <p:cNvCxnSpPr/>
          <p:nvPr/>
        </p:nvCxnSpPr>
        <p:spPr>
          <a:xfrm>
            <a:off x="5872848" y="3838085"/>
            <a:ext cx="0" cy="597364"/>
          </a:xfrm>
          <a:prstGeom prst="straightConnector1">
            <a:avLst/>
          </a:prstGeom>
          <a:noFill/>
          <a:ln w="114300" cap="rnd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4" name="Shape 114"/>
          <p:cNvCxnSpPr/>
          <p:nvPr/>
        </p:nvCxnSpPr>
        <p:spPr>
          <a:xfrm rot="10800000">
            <a:off x="6276429" y="3868721"/>
            <a:ext cx="0" cy="558332"/>
          </a:xfrm>
          <a:prstGeom prst="straightConnector1">
            <a:avLst/>
          </a:prstGeom>
          <a:noFill/>
          <a:ln w="114300" cap="rnd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15" name="Shape 115"/>
          <p:cNvGrpSpPr/>
          <p:nvPr/>
        </p:nvGrpSpPr>
        <p:grpSpPr>
          <a:xfrm>
            <a:off x="5514882" y="3616324"/>
            <a:ext cx="1799865" cy="849305"/>
            <a:chOff x="5287047" y="3966449"/>
            <a:chExt cx="2159924" cy="1019207"/>
          </a:xfrm>
        </p:grpSpPr>
        <p:cxnSp>
          <p:nvCxnSpPr>
            <p:cNvPr id="116" name="Shape 116"/>
            <p:cNvCxnSpPr/>
            <p:nvPr/>
          </p:nvCxnSpPr>
          <p:spPr>
            <a:xfrm>
              <a:off x="7446971" y="3966449"/>
              <a:ext cx="0" cy="538800"/>
            </a:xfrm>
            <a:prstGeom prst="straightConnector1">
              <a:avLst/>
            </a:prstGeom>
            <a:noFill/>
            <a:ln w="19050" cap="flat" cmpd="sng">
              <a:solidFill>
                <a:srgbClr val="44DC4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7" name="Shape 117"/>
            <p:cNvCxnSpPr/>
            <p:nvPr/>
          </p:nvCxnSpPr>
          <p:spPr>
            <a:xfrm>
              <a:off x="5287971" y="3966450"/>
              <a:ext cx="0" cy="443700"/>
            </a:xfrm>
            <a:prstGeom prst="straightConnector1">
              <a:avLst/>
            </a:prstGeom>
            <a:noFill/>
            <a:ln w="19050" cap="flat" cmpd="sng">
              <a:solidFill>
                <a:srgbClr val="44DC4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8" name="Shape 118"/>
            <p:cNvCxnSpPr/>
            <p:nvPr/>
          </p:nvCxnSpPr>
          <p:spPr>
            <a:xfrm>
              <a:off x="5576697" y="4286379"/>
              <a:ext cx="0" cy="819254"/>
            </a:xfrm>
            <a:prstGeom prst="straightConnector1">
              <a:avLst/>
            </a:prstGeom>
            <a:noFill/>
            <a:ln w="19050" cap="flat" cmpd="sng">
              <a:solidFill>
                <a:srgbClr val="44DC4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9" name="Shape 119"/>
            <p:cNvCxnSpPr/>
            <p:nvPr/>
          </p:nvCxnSpPr>
          <p:spPr>
            <a:xfrm rot="10800000">
              <a:off x="6422082" y="4425268"/>
              <a:ext cx="0" cy="1106700"/>
            </a:xfrm>
            <a:prstGeom prst="straightConnector1">
              <a:avLst/>
            </a:prstGeom>
            <a:noFill/>
            <a:ln w="19050" cap="flat" cmpd="sng">
              <a:solidFill>
                <a:srgbClr val="44DC4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0" name="Shape 120"/>
            <p:cNvCxnSpPr/>
            <p:nvPr/>
          </p:nvCxnSpPr>
          <p:spPr>
            <a:xfrm rot="10800000">
              <a:off x="7207123" y="4401078"/>
              <a:ext cx="0" cy="677125"/>
            </a:xfrm>
            <a:prstGeom prst="straightConnector1">
              <a:avLst/>
            </a:prstGeom>
            <a:noFill/>
            <a:ln w="19050" cap="flat" cmpd="sng">
              <a:solidFill>
                <a:srgbClr val="44DC4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21" name="Shape 121"/>
          <p:cNvGrpSpPr/>
          <p:nvPr/>
        </p:nvGrpSpPr>
        <p:grpSpPr>
          <a:xfrm>
            <a:off x="5588342" y="2872381"/>
            <a:ext cx="1710870" cy="435797"/>
            <a:chOff x="977900" y="3276599"/>
            <a:chExt cx="2053126" cy="755150"/>
          </a:xfrm>
        </p:grpSpPr>
        <p:sp>
          <p:nvSpPr>
            <p:cNvPr id="122" name="Shape 122"/>
            <p:cNvSpPr/>
            <p:nvPr/>
          </p:nvSpPr>
          <p:spPr>
            <a:xfrm>
              <a:off x="977900" y="3276600"/>
              <a:ext cx="914400" cy="7494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20000"/>
                  </a:moveTo>
                  <a:cubicBezTo>
                    <a:pt x="15000" y="94915"/>
                    <a:pt x="15000" y="85084"/>
                    <a:pt x="50000" y="49830"/>
                  </a:cubicBezTo>
                  <a:cubicBezTo>
                    <a:pt x="85000" y="14576"/>
                    <a:pt x="120000" y="0"/>
                    <a:pt x="12000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57150" tIns="28575" rIns="57150" bIns="285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Shape 123"/>
            <p:cNvSpPr/>
            <p:nvPr/>
          </p:nvSpPr>
          <p:spPr>
            <a:xfrm flipH="1">
              <a:off x="1892372" y="3282949"/>
              <a:ext cx="146100" cy="7488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20000"/>
                  </a:moveTo>
                  <a:cubicBezTo>
                    <a:pt x="15000" y="94915"/>
                    <a:pt x="15000" y="85084"/>
                    <a:pt x="50000" y="49830"/>
                  </a:cubicBezTo>
                  <a:cubicBezTo>
                    <a:pt x="85000" y="14576"/>
                    <a:pt x="120000" y="0"/>
                    <a:pt x="12000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57150" tIns="28575" rIns="57150" bIns="285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Shape 124"/>
            <p:cNvSpPr/>
            <p:nvPr/>
          </p:nvSpPr>
          <p:spPr>
            <a:xfrm flipH="1">
              <a:off x="1873326" y="3276599"/>
              <a:ext cx="1157700" cy="7551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20000"/>
                  </a:moveTo>
                  <a:cubicBezTo>
                    <a:pt x="15000" y="94915"/>
                    <a:pt x="15000" y="85084"/>
                    <a:pt x="50000" y="49830"/>
                  </a:cubicBezTo>
                  <a:cubicBezTo>
                    <a:pt x="85000" y="14576"/>
                    <a:pt x="120000" y="0"/>
                    <a:pt x="12000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57150" tIns="28575" rIns="57150" bIns="285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Shape 125"/>
          <p:cNvSpPr/>
          <p:nvPr/>
        </p:nvSpPr>
        <p:spPr>
          <a:xfrm>
            <a:off x="6152938" y="2951490"/>
            <a:ext cx="456000" cy="8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 sz="7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XMPP (BGP)</a:t>
            </a:r>
            <a:endParaRPr sz="1400" b="0" i="0" u="none" strike="noStrike" cap="non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Shape 126"/>
          <p:cNvSpPr/>
          <p:nvPr/>
        </p:nvSpPr>
        <p:spPr>
          <a:xfrm>
            <a:off x="6166599" y="4725867"/>
            <a:ext cx="5544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100" tIns="38050" rIns="76100" bIns="380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 sz="7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Datacenter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7" name="Shape 127"/>
          <p:cNvGrpSpPr/>
          <p:nvPr/>
        </p:nvGrpSpPr>
        <p:grpSpPr>
          <a:xfrm>
            <a:off x="7316058" y="3224078"/>
            <a:ext cx="536498" cy="631380"/>
            <a:chOff x="8885888" y="3329546"/>
            <a:chExt cx="643823" cy="757686"/>
          </a:xfrm>
        </p:grpSpPr>
        <p:cxnSp>
          <p:nvCxnSpPr>
            <p:cNvPr id="128" name="Shape 128"/>
            <p:cNvCxnSpPr/>
            <p:nvPr/>
          </p:nvCxnSpPr>
          <p:spPr>
            <a:xfrm rot="10800000">
              <a:off x="8885888" y="3589728"/>
              <a:ext cx="0" cy="160500"/>
            </a:xfrm>
            <a:prstGeom prst="straightConnector1">
              <a:avLst/>
            </a:prstGeom>
            <a:noFill/>
            <a:ln w="254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9" name="Shape 129"/>
            <p:cNvCxnSpPr/>
            <p:nvPr/>
          </p:nvCxnSpPr>
          <p:spPr>
            <a:xfrm flipH="1">
              <a:off x="8959310" y="3329546"/>
              <a:ext cx="314700" cy="175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130" name="Shape 130"/>
            <p:cNvCxnSpPr/>
            <p:nvPr/>
          </p:nvCxnSpPr>
          <p:spPr>
            <a:xfrm flipH="1">
              <a:off x="9059469" y="3505200"/>
              <a:ext cx="214200" cy="184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131" name="Shape 131"/>
            <p:cNvCxnSpPr/>
            <p:nvPr/>
          </p:nvCxnSpPr>
          <p:spPr>
            <a:xfrm flipH="1">
              <a:off x="9166297" y="3700329"/>
              <a:ext cx="115500" cy="4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132" name="Shape 132"/>
            <p:cNvCxnSpPr/>
            <p:nvPr/>
          </p:nvCxnSpPr>
          <p:spPr>
            <a:xfrm rot="10800000">
              <a:off x="8932009" y="3789886"/>
              <a:ext cx="342000" cy="126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133" name="Shape 133"/>
            <p:cNvCxnSpPr/>
            <p:nvPr/>
          </p:nvCxnSpPr>
          <p:spPr>
            <a:xfrm rot="10800000">
              <a:off x="8941010" y="3987632"/>
              <a:ext cx="333000" cy="99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grpSp>
          <p:nvGrpSpPr>
            <p:cNvPr id="134" name="Shape 134"/>
            <p:cNvGrpSpPr/>
            <p:nvPr/>
          </p:nvGrpSpPr>
          <p:grpSpPr>
            <a:xfrm>
              <a:off x="9274202" y="3329546"/>
              <a:ext cx="255510" cy="757686"/>
              <a:chOff x="8989081" y="3329546"/>
              <a:chExt cx="487800" cy="757686"/>
            </a:xfrm>
          </p:grpSpPr>
          <p:cxnSp>
            <p:nvCxnSpPr>
              <p:cNvPr id="135" name="Shape 135"/>
              <p:cNvCxnSpPr/>
              <p:nvPr/>
            </p:nvCxnSpPr>
            <p:spPr>
              <a:xfrm rot="10800000">
                <a:off x="8989081" y="3329546"/>
                <a:ext cx="487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6" name="Shape 136"/>
              <p:cNvCxnSpPr/>
              <p:nvPr/>
            </p:nvCxnSpPr>
            <p:spPr>
              <a:xfrm rot="10800000">
                <a:off x="8989081" y="3505200"/>
                <a:ext cx="487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7" name="Shape 137"/>
              <p:cNvCxnSpPr/>
              <p:nvPr/>
            </p:nvCxnSpPr>
            <p:spPr>
              <a:xfrm rot="10800000">
                <a:off x="8989081" y="3702050"/>
                <a:ext cx="487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8" name="Shape 138"/>
              <p:cNvCxnSpPr/>
              <p:nvPr/>
            </p:nvCxnSpPr>
            <p:spPr>
              <a:xfrm rot="10800000">
                <a:off x="8989081" y="3916486"/>
                <a:ext cx="487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9" name="Shape 139"/>
              <p:cNvCxnSpPr/>
              <p:nvPr/>
            </p:nvCxnSpPr>
            <p:spPr>
              <a:xfrm rot="10800000">
                <a:off x="8989081" y="4087232"/>
                <a:ext cx="487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pic>
        <p:nvPicPr>
          <p:cNvPr id="140" name="Shape 140" descr="Corporate Office 2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1000949" y="4117822"/>
            <a:ext cx="220278" cy="337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Shape 141" descr="Corporate Office 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flipH="1">
            <a:off x="3970028" y="3745805"/>
            <a:ext cx="409860" cy="277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Shape 142" descr="Corporate Office 3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flipH="1">
            <a:off x="3948755" y="2824350"/>
            <a:ext cx="269529" cy="408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Shape 143" descr="Branch Offic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flipH="1">
            <a:off x="907153" y="2860967"/>
            <a:ext cx="262043" cy="23022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Shape 144"/>
          <p:cNvSpPr/>
          <p:nvPr/>
        </p:nvSpPr>
        <p:spPr>
          <a:xfrm rot="-1121188" flipH="1">
            <a:off x="1891717" y="3974217"/>
            <a:ext cx="540280" cy="119725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6100" tIns="22850" rIns="761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Shape 145"/>
          <p:cNvSpPr/>
          <p:nvPr/>
        </p:nvSpPr>
        <p:spPr>
          <a:xfrm rot="38174" flipH="1">
            <a:off x="1702543" y="3341336"/>
            <a:ext cx="540333" cy="119706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6100" tIns="22850" rIns="761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Shape 14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flipH="1">
            <a:off x="1427753" y="3236017"/>
            <a:ext cx="318663" cy="296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Shape 14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flipH="1">
            <a:off x="1676460" y="3992007"/>
            <a:ext cx="318663" cy="29634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Shape 148"/>
          <p:cNvSpPr/>
          <p:nvPr/>
        </p:nvSpPr>
        <p:spPr>
          <a:xfrm rot="38174" flipH="1">
            <a:off x="2980775" y="3607964"/>
            <a:ext cx="540333" cy="150611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6100" tIns="22850" rIns="761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Shape 149"/>
          <p:cNvSpPr/>
          <p:nvPr/>
        </p:nvSpPr>
        <p:spPr>
          <a:xfrm rot="-1761257" flipH="1">
            <a:off x="2310361" y="3806142"/>
            <a:ext cx="540382" cy="11982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6100" tIns="22850" rIns="761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Shape 150"/>
          <p:cNvSpPr/>
          <p:nvPr/>
        </p:nvSpPr>
        <p:spPr>
          <a:xfrm rot="-9292300">
            <a:off x="2322097" y="3452663"/>
            <a:ext cx="540449" cy="11958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6100" tIns="22850" rIns="761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Shape 15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 flipH="1">
            <a:off x="2715741" y="3526059"/>
            <a:ext cx="320087" cy="301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Shape 15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 flipH="1">
            <a:off x="2241931" y="3788284"/>
            <a:ext cx="320087" cy="301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Shape 15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 flipH="1">
            <a:off x="2209163" y="3255884"/>
            <a:ext cx="320087" cy="301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Shape 15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flipH="1">
            <a:off x="3469950" y="3534004"/>
            <a:ext cx="318663" cy="296347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Shape 155"/>
          <p:cNvSpPr/>
          <p:nvPr/>
        </p:nvSpPr>
        <p:spPr>
          <a:xfrm flipH="1">
            <a:off x="2471441" y="2725383"/>
            <a:ext cx="415800" cy="2613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2285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</a:t>
            </a:r>
            <a:br>
              <a:rPr lang="pl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l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Reflector</a:t>
            </a:r>
            <a:endParaRPr sz="900"/>
          </a:p>
        </p:txBody>
      </p:sp>
      <p:cxnSp>
        <p:nvCxnSpPr>
          <p:cNvPr id="156" name="Shape 156"/>
          <p:cNvCxnSpPr>
            <a:endCxn id="157" idx="3"/>
          </p:cNvCxnSpPr>
          <p:nvPr/>
        </p:nvCxnSpPr>
        <p:spPr>
          <a:xfrm>
            <a:off x="1165986" y="3092885"/>
            <a:ext cx="401400" cy="269100"/>
          </a:xfrm>
          <a:prstGeom prst="straightConnector1">
            <a:avLst/>
          </a:prstGeom>
          <a:noFill/>
          <a:ln w="1905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8" name="Shape 158"/>
          <p:cNvCxnSpPr/>
          <p:nvPr/>
        </p:nvCxnSpPr>
        <p:spPr>
          <a:xfrm rot="10800000" flipH="1">
            <a:off x="1210566" y="4135367"/>
            <a:ext cx="637500" cy="330600"/>
          </a:xfrm>
          <a:prstGeom prst="straightConnector1">
            <a:avLst/>
          </a:prstGeom>
          <a:noFill/>
          <a:ln w="1905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7" name="Shape 157"/>
          <p:cNvSpPr/>
          <p:nvPr/>
        </p:nvSpPr>
        <p:spPr>
          <a:xfrm rot="5400000">
            <a:off x="1558389" y="3349147"/>
            <a:ext cx="72300" cy="768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100" tIns="38050" rIns="76100" bIns="38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Shape 159"/>
          <p:cNvSpPr/>
          <p:nvPr/>
        </p:nvSpPr>
        <p:spPr>
          <a:xfrm rot="5400000">
            <a:off x="1797749" y="4104819"/>
            <a:ext cx="72300" cy="76800"/>
          </a:xfrm>
          <a:prstGeom prst="ellipse">
            <a:avLst/>
          </a:prstGeom>
          <a:solidFill>
            <a:srgbClr val="00DC00"/>
          </a:solidFill>
          <a:ln w="9525" cap="flat" cmpd="sng">
            <a:solidFill>
              <a:srgbClr val="00D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Shape 160"/>
          <p:cNvCxnSpPr>
            <a:endCxn id="161" idx="3"/>
          </p:cNvCxnSpPr>
          <p:nvPr/>
        </p:nvCxnSpPr>
        <p:spPr>
          <a:xfrm flipH="1">
            <a:off x="3679594" y="3283867"/>
            <a:ext cx="222600" cy="33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2" name="Shape 162"/>
          <p:cNvCxnSpPr>
            <a:endCxn id="163" idx="5"/>
          </p:cNvCxnSpPr>
          <p:nvPr/>
        </p:nvCxnSpPr>
        <p:spPr>
          <a:xfrm rot="10800000">
            <a:off x="3681002" y="3758455"/>
            <a:ext cx="303900" cy="259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1" name="Shape 161"/>
          <p:cNvSpPr/>
          <p:nvPr/>
        </p:nvSpPr>
        <p:spPr>
          <a:xfrm rot="-5400000" flipH="1">
            <a:off x="3616292" y="3603428"/>
            <a:ext cx="72300" cy="768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100" tIns="38050" rIns="76100" bIns="38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Shape 163"/>
          <p:cNvSpPr/>
          <p:nvPr/>
        </p:nvSpPr>
        <p:spPr>
          <a:xfrm rot="-5400000" flipH="1">
            <a:off x="3617699" y="3694493"/>
            <a:ext cx="72300" cy="76800"/>
          </a:xfrm>
          <a:prstGeom prst="ellipse">
            <a:avLst/>
          </a:prstGeom>
          <a:solidFill>
            <a:srgbClr val="00DC00"/>
          </a:solidFill>
          <a:ln w="9525" cap="flat" cmpd="sng">
            <a:solidFill>
              <a:srgbClr val="00D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Shape 164"/>
          <p:cNvSpPr/>
          <p:nvPr/>
        </p:nvSpPr>
        <p:spPr>
          <a:xfrm flipH="1">
            <a:off x="1838611" y="3714803"/>
            <a:ext cx="1782900" cy="4263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2237"/>
                </a:moveTo>
                <a:lnTo>
                  <a:pt x="50810" y="0"/>
                </a:lnTo>
                <a:lnTo>
                  <a:pt x="81563" y="65997"/>
                </a:lnTo>
                <a:lnTo>
                  <a:pt x="120000" y="120000"/>
                </a:lnTo>
              </a:path>
            </a:pathLst>
          </a:custGeom>
          <a:noFill/>
          <a:ln w="25400" cap="flat" cmpd="sng">
            <a:solidFill>
              <a:srgbClr val="00D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100" tIns="38050" rIns="76100" bIns="38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Shape 165"/>
          <p:cNvSpPr/>
          <p:nvPr/>
        </p:nvSpPr>
        <p:spPr>
          <a:xfrm rot="10800000">
            <a:off x="1627028" y="3393106"/>
            <a:ext cx="2006400" cy="26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45029" y="6269"/>
                </a:lnTo>
                <a:lnTo>
                  <a:pt x="76277" y="116418"/>
                </a:lnTo>
                <a:lnTo>
                  <a:pt x="120000" y="120000"/>
                </a:ln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100" tIns="38050" rIns="76100" bIns="38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Shape 166"/>
          <p:cNvGrpSpPr/>
          <p:nvPr/>
        </p:nvGrpSpPr>
        <p:grpSpPr>
          <a:xfrm flipH="1">
            <a:off x="1082914" y="3008933"/>
            <a:ext cx="185756" cy="172759"/>
            <a:chOff x="415228" y="3735628"/>
            <a:chExt cx="227364" cy="211455"/>
          </a:xfrm>
        </p:grpSpPr>
        <p:pic>
          <p:nvPicPr>
            <p:cNvPr id="167" name="Shape 167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15228" y="3735628"/>
              <a:ext cx="227364" cy="2114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Shape 168"/>
            <p:cNvSpPr/>
            <p:nvPr/>
          </p:nvSpPr>
          <p:spPr>
            <a:xfrm>
              <a:off x="424391" y="3741208"/>
              <a:ext cx="203100" cy="2031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57150" tIns="28575" rIns="57150" bIns="285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9" name="Shape 169"/>
          <p:cNvGrpSpPr/>
          <p:nvPr/>
        </p:nvGrpSpPr>
        <p:grpSpPr>
          <a:xfrm flipH="1">
            <a:off x="1692016" y="2990110"/>
            <a:ext cx="1846016" cy="1004746"/>
            <a:chOff x="977901" y="3276599"/>
            <a:chExt cx="2237867" cy="948321"/>
          </a:xfrm>
        </p:grpSpPr>
        <p:sp>
          <p:nvSpPr>
            <p:cNvPr id="170" name="Shape 170"/>
            <p:cNvSpPr/>
            <p:nvPr/>
          </p:nvSpPr>
          <p:spPr>
            <a:xfrm>
              <a:off x="977901" y="3276600"/>
              <a:ext cx="1041300" cy="7494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20000"/>
                  </a:moveTo>
                  <a:cubicBezTo>
                    <a:pt x="15000" y="94915"/>
                    <a:pt x="15000" y="85084"/>
                    <a:pt x="50000" y="49830"/>
                  </a:cubicBezTo>
                  <a:cubicBezTo>
                    <a:pt x="85000" y="14576"/>
                    <a:pt x="120000" y="0"/>
                    <a:pt x="12000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57150" tIns="28575" rIns="57150" bIns="285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Shape 171"/>
            <p:cNvSpPr/>
            <p:nvPr/>
          </p:nvSpPr>
          <p:spPr>
            <a:xfrm flipH="1">
              <a:off x="2019259" y="3282620"/>
              <a:ext cx="1023300" cy="9423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20000"/>
                  </a:moveTo>
                  <a:cubicBezTo>
                    <a:pt x="4837" y="91308"/>
                    <a:pt x="7207" y="69838"/>
                    <a:pt x="42207" y="34584"/>
                  </a:cubicBezTo>
                  <a:cubicBezTo>
                    <a:pt x="77207" y="-669"/>
                    <a:pt x="120000" y="0"/>
                    <a:pt x="12000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57150" tIns="28575" rIns="57150" bIns="285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Shape 172"/>
            <p:cNvSpPr/>
            <p:nvPr/>
          </p:nvSpPr>
          <p:spPr>
            <a:xfrm flipH="1">
              <a:off x="2013068" y="3276599"/>
              <a:ext cx="1202700" cy="2541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20000"/>
                  </a:moveTo>
                  <a:cubicBezTo>
                    <a:pt x="15000" y="94915"/>
                    <a:pt x="15000" y="85084"/>
                    <a:pt x="50000" y="49830"/>
                  </a:cubicBezTo>
                  <a:cubicBezTo>
                    <a:pt x="85000" y="14576"/>
                    <a:pt x="120000" y="0"/>
                    <a:pt x="12000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57150" tIns="28575" rIns="57150" bIns="285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3" name="Shape 173"/>
          <p:cNvSpPr/>
          <p:nvPr/>
        </p:nvSpPr>
        <p:spPr>
          <a:xfrm flipH="1">
            <a:off x="2400721" y="2956051"/>
            <a:ext cx="5739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BGP</a:t>
            </a:r>
            <a:endParaRPr sz="14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Shape 174"/>
          <p:cNvSpPr/>
          <p:nvPr/>
        </p:nvSpPr>
        <p:spPr>
          <a:xfrm flipH="1">
            <a:off x="2116445" y="4232805"/>
            <a:ext cx="7881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100" tIns="38050" rIns="76100" bIns="380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 sz="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Provider Network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Shape 175"/>
          <p:cNvSpPr/>
          <p:nvPr/>
        </p:nvSpPr>
        <p:spPr>
          <a:xfrm>
            <a:off x="311688" y="1516657"/>
            <a:ext cx="8609400" cy="3557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100" tIns="38050" rIns="76100" bIns="38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Shape 176"/>
          <p:cNvCxnSpPr>
            <a:stCxn id="175" idx="0"/>
            <a:endCxn id="175" idx="2"/>
          </p:cNvCxnSpPr>
          <p:nvPr/>
        </p:nvCxnSpPr>
        <p:spPr>
          <a:xfrm>
            <a:off x="4616388" y="1516657"/>
            <a:ext cx="0" cy="3557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7" name="Shape 177"/>
          <p:cNvSpPr txBox="1"/>
          <p:nvPr/>
        </p:nvSpPr>
        <p:spPr>
          <a:xfrm>
            <a:off x="1253922" y="1629447"/>
            <a:ext cx="2558100" cy="641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>
              <a:srgbClr val="000000">
                <a:alpha val="42750"/>
              </a:srgbClr>
            </a:outerShdw>
          </a:effectLst>
        </p:spPr>
        <p:txBody>
          <a:bodyPr spcFirstLastPara="1" wrap="square" lIns="76100" tIns="38050" rIns="76100" bIns="38050" anchor="t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L3 VPNs for Inter-Site Connectivity</a:t>
            </a:r>
            <a:br>
              <a:rPr lang="pl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l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Traffic segmentation in the WAN</a:t>
            </a:r>
            <a:br>
              <a:rPr lang="pl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l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MPLS over MPLS label encapsulation tunnels</a:t>
            </a:r>
            <a:br>
              <a:rPr lang="pl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l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BGP route signaling</a:t>
            </a:r>
            <a:r>
              <a:rPr lang="pl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sz="900"/>
          </a:p>
        </p:txBody>
      </p:sp>
      <p:sp>
        <p:nvSpPr>
          <p:cNvPr id="178" name="Shape 178"/>
          <p:cNvSpPr txBox="1"/>
          <p:nvPr/>
        </p:nvSpPr>
        <p:spPr>
          <a:xfrm>
            <a:off x="4862125" y="1638124"/>
            <a:ext cx="2936700" cy="685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>
              <a:srgbClr val="000000">
                <a:alpha val="42750"/>
              </a:srgbClr>
            </a:outerShdw>
          </a:effectLst>
        </p:spPr>
        <p:txBody>
          <a:bodyPr spcFirstLastPara="1" wrap="square" lIns="76100" tIns="38050" rIns="76100" bIns="3805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 sz="1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Contrail Virtual Networks in Datacenters</a:t>
            </a:r>
            <a:br>
              <a:rPr lang="pl" sz="1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l" sz="8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Traffic segmentation in the LAN</a:t>
            </a:r>
            <a:br>
              <a:rPr lang="pl" sz="8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l" sz="8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MPLS over GRE  or VXLAN label encapsulation tunnels</a:t>
            </a:r>
            <a:br>
              <a:rPr lang="pl" sz="8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l" sz="8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XMPP (with BGP payload) route signaling</a:t>
            </a:r>
            <a:endParaRPr sz="900"/>
          </a:p>
        </p:txBody>
      </p:sp>
      <p:sp>
        <p:nvSpPr>
          <p:cNvPr id="179" name="Shape 179"/>
          <p:cNvSpPr/>
          <p:nvPr/>
        </p:nvSpPr>
        <p:spPr>
          <a:xfrm>
            <a:off x="4124289" y="3138545"/>
            <a:ext cx="988800" cy="6855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127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76100" tIns="38050" rIns="76100" bIns="38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Protocols,</a:t>
            </a:r>
            <a:br>
              <a:rPr lang="pl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l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 sz="900"/>
          </a:p>
        </p:txBody>
      </p:sp>
      <p:sp>
        <p:nvSpPr>
          <p:cNvPr id="180" name="Shape 180"/>
          <p:cNvSpPr/>
          <p:nvPr/>
        </p:nvSpPr>
        <p:spPr>
          <a:xfrm>
            <a:off x="387717" y="3185658"/>
            <a:ext cx="999300" cy="9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Customer Site</a:t>
            </a:r>
            <a:endParaRPr sz="900"/>
          </a:p>
          <a:p>
            <a:pPr marL="0" marR="0" lvl="0" indent="0" algn="l" rtl="0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l" sz="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CE Router</a:t>
            </a:r>
            <a:endParaRPr sz="900"/>
          </a:p>
          <a:p>
            <a:pPr marL="0" marR="0" lvl="0" indent="0" algn="l" rtl="0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l" sz="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PE Router</a:t>
            </a:r>
            <a:endParaRPr sz="900"/>
          </a:p>
          <a:p>
            <a:pPr marL="0" marR="0" lvl="0" indent="0" algn="l" rtl="0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l" sz="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Customer VRF</a:t>
            </a:r>
            <a:endParaRPr sz="900"/>
          </a:p>
          <a:p>
            <a:pPr marL="0" marR="0" lvl="0" indent="0" algn="l" rtl="0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l" sz="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Encapsulation Tunnel</a:t>
            </a:r>
            <a:endParaRPr sz="900"/>
          </a:p>
        </p:txBody>
      </p:sp>
      <p:cxnSp>
        <p:nvCxnSpPr>
          <p:cNvPr id="181" name="Shape 181"/>
          <p:cNvCxnSpPr/>
          <p:nvPr/>
        </p:nvCxnSpPr>
        <p:spPr>
          <a:xfrm rot="10800000" flipH="1">
            <a:off x="916883" y="3119264"/>
            <a:ext cx="84600" cy="15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82" name="Shape 182"/>
          <p:cNvCxnSpPr/>
          <p:nvPr/>
        </p:nvCxnSpPr>
        <p:spPr>
          <a:xfrm rot="10800000" flipH="1">
            <a:off x="1012510" y="3174866"/>
            <a:ext cx="142500" cy="297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83" name="Shape 183"/>
          <p:cNvCxnSpPr/>
          <p:nvPr/>
        </p:nvCxnSpPr>
        <p:spPr>
          <a:xfrm rot="10800000" flipH="1">
            <a:off x="1230839" y="3452693"/>
            <a:ext cx="186000" cy="18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84" name="Shape 184"/>
          <p:cNvCxnSpPr/>
          <p:nvPr/>
        </p:nvCxnSpPr>
        <p:spPr>
          <a:xfrm rot="10800000" flipH="1">
            <a:off x="1192141" y="3423579"/>
            <a:ext cx="362400" cy="383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85" name="Shape 185"/>
          <p:cNvCxnSpPr/>
          <p:nvPr/>
        </p:nvCxnSpPr>
        <p:spPr>
          <a:xfrm rot="10800000" flipH="1">
            <a:off x="1321691" y="3476443"/>
            <a:ext cx="447000" cy="481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186" name="Shape 186"/>
          <p:cNvGrpSpPr/>
          <p:nvPr/>
        </p:nvGrpSpPr>
        <p:grpSpPr>
          <a:xfrm flipH="1">
            <a:off x="799098" y="3472345"/>
            <a:ext cx="522362" cy="485007"/>
            <a:chOff x="9310681" y="3505200"/>
            <a:chExt cx="1196705" cy="582032"/>
          </a:xfrm>
        </p:grpSpPr>
        <p:cxnSp>
          <p:nvCxnSpPr>
            <p:cNvPr id="187" name="Shape 187"/>
            <p:cNvCxnSpPr/>
            <p:nvPr/>
          </p:nvCxnSpPr>
          <p:spPr>
            <a:xfrm rot="10800000">
              <a:off x="10019586" y="3505200"/>
              <a:ext cx="487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8" name="Shape 188"/>
            <p:cNvCxnSpPr/>
            <p:nvPr/>
          </p:nvCxnSpPr>
          <p:spPr>
            <a:xfrm rot="10800000">
              <a:off x="9502551" y="3702050"/>
              <a:ext cx="1001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9" name="Shape 189"/>
            <p:cNvCxnSpPr/>
            <p:nvPr/>
          </p:nvCxnSpPr>
          <p:spPr>
            <a:xfrm rot="10800000">
              <a:off x="9605148" y="3906075"/>
              <a:ext cx="487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0" name="Shape 190"/>
            <p:cNvCxnSpPr/>
            <p:nvPr/>
          </p:nvCxnSpPr>
          <p:spPr>
            <a:xfrm rot="10800000">
              <a:off x="9310681" y="4087232"/>
              <a:ext cx="166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91" name="Shape 191"/>
          <p:cNvSpPr/>
          <p:nvPr/>
        </p:nvSpPr>
        <p:spPr>
          <a:xfrm>
            <a:off x="6070952" y="2404840"/>
            <a:ext cx="608400" cy="4764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2285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OpenStack Cloud Manager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Shape 192"/>
          <p:cNvSpPr/>
          <p:nvPr/>
        </p:nvSpPr>
        <p:spPr>
          <a:xfrm>
            <a:off x="6192957" y="2645818"/>
            <a:ext cx="369300" cy="2322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2285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Contrail</a:t>
            </a:r>
            <a:br>
              <a:rPr lang="pl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l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3" name="Shape 193"/>
          <p:cNvGrpSpPr/>
          <p:nvPr/>
        </p:nvGrpSpPr>
        <p:grpSpPr>
          <a:xfrm>
            <a:off x="5661463" y="3616293"/>
            <a:ext cx="817453" cy="731361"/>
            <a:chOff x="5462953" y="3966450"/>
            <a:chExt cx="980983" cy="877668"/>
          </a:xfrm>
        </p:grpSpPr>
        <p:cxnSp>
          <p:nvCxnSpPr>
            <p:cNvPr id="194" name="Shape 194"/>
            <p:cNvCxnSpPr/>
            <p:nvPr/>
          </p:nvCxnSpPr>
          <p:spPr>
            <a:xfrm>
              <a:off x="5468946" y="3966450"/>
              <a:ext cx="0" cy="380100"/>
            </a:xfrm>
            <a:prstGeom prst="straightConnector1">
              <a:avLst/>
            </a:prstGeom>
            <a:noFill/>
            <a:ln w="19050" cap="flat" cmpd="sng">
              <a:solidFill>
                <a:srgbClr val="FF3A4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5" name="Shape 195"/>
            <p:cNvCxnSpPr/>
            <p:nvPr/>
          </p:nvCxnSpPr>
          <p:spPr>
            <a:xfrm>
              <a:off x="5716303" y="4232477"/>
              <a:ext cx="0" cy="716582"/>
            </a:xfrm>
            <a:prstGeom prst="straightConnector1">
              <a:avLst/>
            </a:prstGeom>
            <a:noFill/>
            <a:ln w="19050" cap="flat" cmpd="sng">
              <a:solidFill>
                <a:srgbClr val="FF3A4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6" name="Shape 196"/>
            <p:cNvCxnSpPr/>
            <p:nvPr/>
          </p:nvCxnSpPr>
          <p:spPr>
            <a:xfrm>
              <a:off x="6437321" y="3966450"/>
              <a:ext cx="0" cy="396000"/>
            </a:xfrm>
            <a:prstGeom prst="straightConnector1">
              <a:avLst/>
            </a:prstGeom>
            <a:noFill/>
            <a:ln w="19050" cap="flat" cmpd="sng">
              <a:solidFill>
                <a:srgbClr val="FF3A4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7" name="Shape 197"/>
            <p:cNvCxnSpPr/>
            <p:nvPr/>
          </p:nvCxnSpPr>
          <p:spPr>
            <a:xfrm rot="10800000" flipH="1">
              <a:off x="5960636" y="4357783"/>
              <a:ext cx="483300" cy="483300"/>
            </a:xfrm>
            <a:prstGeom prst="straightConnector1">
              <a:avLst/>
            </a:prstGeom>
            <a:noFill/>
            <a:ln w="19050" cap="flat" cmpd="sng">
              <a:solidFill>
                <a:srgbClr val="FF3A4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98" name="Shape 198"/>
          <p:cNvGrpSpPr/>
          <p:nvPr/>
        </p:nvGrpSpPr>
        <p:grpSpPr>
          <a:xfrm flipH="1">
            <a:off x="1107154" y="4390498"/>
            <a:ext cx="185756" cy="172759"/>
            <a:chOff x="415228" y="3735628"/>
            <a:chExt cx="227364" cy="211455"/>
          </a:xfrm>
        </p:grpSpPr>
        <p:pic>
          <p:nvPicPr>
            <p:cNvPr id="199" name="Shape 199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15228" y="3735628"/>
              <a:ext cx="227364" cy="2114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" name="Shape 200"/>
            <p:cNvSpPr/>
            <p:nvPr/>
          </p:nvSpPr>
          <p:spPr>
            <a:xfrm>
              <a:off x="424391" y="3741208"/>
              <a:ext cx="203100" cy="2031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57150" tIns="28575" rIns="57150" bIns="285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1" name="Shape 201"/>
          <p:cNvGrpSpPr/>
          <p:nvPr/>
        </p:nvGrpSpPr>
        <p:grpSpPr>
          <a:xfrm flipH="1">
            <a:off x="3870044" y="3929975"/>
            <a:ext cx="185756" cy="172759"/>
            <a:chOff x="415228" y="3735628"/>
            <a:chExt cx="227364" cy="211455"/>
          </a:xfrm>
        </p:grpSpPr>
        <p:pic>
          <p:nvPicPr>
            <p:cNvPr id="202" name="Shape 202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15228" y="3735628"/>
              <a:ext cx="227364" cy="2114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3" name="Shape 203"/>
            <p:cNvSpPr/>
            <p:nvPr/>
          </p:nvSpPr>
          <p:spPr>
            <a:xfrm>
              <a:off x="424391" y="3741208"/>
              <a:ext cx="203100" cy="2031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57150" tIns="28575" rIns="57150" bIns="285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4" name="Shape 204"/>
          <p:cNvGrpSpPr/>
          <p:nvPr/>
        </p:nvGrpSpPr>
        <p:grpSpPr>
          <a:xfrm flipH="1">
            <a:off x="3837729" y="3162440"/>
            <a:ext cx="185756" cy="172759"/>
            <a:chOff x="415228" y="3735628"/>
            <a:chExt cx="227364" cy="211455"/>
          </a:xfrm>
        </p:grpSpPr>
        <p:pic>
          <p:nvPicPr>
            <p:cNvPr id="205" name="Shape 205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15228" y="3735628"/>
              <a:ext cx="227364" cy="2114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" name="Shape 206"/>
            <p:cNvSpPr/>
            <p:nvPr/>
          </p:nvSpPr>
          <p:spPr>
            <a:xfrm>
              <a:off x="424391" y="3741208"/>
              <a:ext cx="203100" cy="2031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57150" tIns="28575" rIns="57150" bIns="285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7" name="Shape 207"/>
          <p:cNvSpPr txBox="1"/>
          <p:nvPr/>
        </p:nvSpPr>
        <p:spPr>
          <a:xfrm>
            <a:off x="387725" y="4721800"/>
            <a:ext cx="22236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900">
                <a:solidFill>
                  <a:srgbClr val="292929"/>
                </a:solidFill>
              </a:rPr>
              <a:t>SOURCE OPNFV/OpenContrail</a:t>
            </a:r>
            <a:endParaRPr sz="900">
              <a:solidFill>
                <a:srgbClr val="5F5F6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Proposed solution for ONOS</a:t>
            </a:r>
            <a:endParaRPr/>
          </a:p>
        </p:txBody>
      </p:sp>
      <p:sp>
        <p:nvSpPr>
          <p:cNvPr id="213" name="Shape 2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grpSp>
        <p:nvGrpSpPr>
          <p:cNvPr id="214" name="Shape 214"/>
          <p:cNvGrpSpPr/>
          <p:nvPr/>
        </p:nvGrpSpPr>
        <p:grpSpPr>
          <a:xfrm>
            <a:off x="3294492" y="2448872"/>
            <a:ext cx="2591656" cy="730820"/>
            <a:chOff x="3603834" y="2245936"/>
            <a:chExt cx="4096184" cy="754200"/>
          </a:xfrm>
        </p:grpSpPr>
        <p:cxnSp>
          <p:nvCxnSpPr>
            <p:cNvPr id="215" name="Shape 215"/>
            <p:cNvCxnSpPr/>
            <p:nvPr/>
          </p:nvCxnSpPr>
          <p:spPr>
            <a:xfrm flipH="1">
              <a:off x="3603834" y="2245936"/>
              <a:ext cx="2049600" cy="754200"/>
            </a:xfrm>
            <a:prstGeom prst="straightConnector1">
              <a:avLst/>
            </a:prstGeom>
            <a:noFill/>
            <a:ln w="28575" cap="flat" cmpd="sng">
              <a:solidFill>
                <a:srgbClr val="FF9539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216" name="Shape 216"/>
            <p:cNvCxnSpPr/>
            <p:nvPr/>
          </p:nvCxnSpPr>
          <p:spPr>
            <a:xfrm rot="10800000">
              <a:off x="5653418" y="2245990"/>
              <a:ext cx="2046600" cy="751800"/>
            </a:xfrm>
            <a:prstGeom prst="straightConnector1">
              <a:avLst/>
            </a:prstGeom>
            <a:noFill/>
            <a:ln w="28575" cap="flat" cmpd="sng">
              <a:solidFill>
                <a:srgbClr val="FF9539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217" name="Shape 217"/>
          <p:cNvSpPr/>
          <p:nvPr/>
        </p:nvSpPr>
        <p:spPr>
          <a:xfrm rot="10800000">
            <a:off x="4199146" y="1017815"/>
            <a:ext cx="842400" cy="484500"/>
          </a:xfrm>
          <a:prstGeom prst="round2SameRect">
            <a:avLst>
              <a:gd name="adj1" fmla="val 12872"/>
              <a:gd name="adj2" fmla="val 15213"/>
            </a:avLst>
          </a:prstGeom>
          <a:solidFill>
            <a:srgbClr val="939393">
              <a:alpha val="17650"/>
            </a:srgbClr>
          </a:solidFill>
          <a:ln w="12700" cap="flat" cmpd="sng">
            <a:solidFill>
              <a:srgbClr val="7575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2828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Shape 2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40125" y="1117580"/>
            <a:ext cx="401246" cy="35824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Shape 219"/>
          <p:cNvSpPr/>
          <p:nvPr/>
        </p:nvSpPr>
        <p:spPr>
          <a:xfrm rot="10800000">
            <a:off x="3260500" y="3294441"/>
            <a:ext cx="2583300" cy="127800"/>
          </a:xfrm>
          <a:prstGeom prst="round2SameRect">
            <a:avLst>
              <a:gd name="adj1" fmla="val 1110"/>
              <a:gd name="adj2" fmla="val 0"/>
            </a:avLst>
          </a:prstGeom>
          <a:solidFill>
            <a:srgbClr val="A8B9C8">
              <a:alpha val="5412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95D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0" name="Shape 220"/>
          <p:cNvGrpSpPr/>
          <p:nvPr/>
        </p:nvGrpSpPr>
        <p:grpSpPr>
          <a:xfrm>
            <a:off x="3120619" y="3415310"/>
            <a:ext cx="3182263" cy="885062"/>
            <a:chOff x="3340367" y="3402463"/>
            <a:chExt cx="5043205" cy="1676888"/>
          </a:xfrm>
        </p:grpSpPr>
        <p:sp>
          <p:nvSpPr>
            <p:cNvPr id="221" name="Shape 221"/>
            <p:cNvSpPr/>
            <p:nvPr/>
          </p:nvSpPr>
          <p:spPr>
            <a:xfrm rot="-8939854">
              <a:off x="3206821" y="4091651"/>
              <a:ext cx="2743292" cy="242225"/>
            </a:xfrm>
            <a:prstGeom prst="round2SameRect">
              <a:avLst>
                <a:gd name="adj1" fmla="val 1110"/>
                <a:gd name="adj2" fmla="val 0"/>
              </a:avLst>
            </a:prstGeom>
            <a:solidFill>
              <a:srgbClr val="A8B9C8">
                <a:alpha val="5412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>
                <a:solidFill>
                  <a:srgbClr val="95D05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Shape 222"/>
            <p:cNvSpPr/>
            <p:nvPr/>
          </p:nvSpPr>
          <p:spPr>
            <a:xfrm rot="9063769" flipH="1">
              <a:off x="5565390" y="4140345"/>
              <a:ext cx="2943265" cy="242113"/>
            </a:xfrm>
            <a:prstGeom prst="round2SameRect">
              <a:avLst>
                <a:gd name="adj1" fmla="val 1110"/>
                <a:gd name="adj2" fmla="val 0"/>
              </a:avLst>
            </a:prstGeom>
            <a:solidFill>
              <a:srgbClr val="A8B9C8">
                <a:alpha val="5412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>
                <a:solidFill>
                  <a:srgbClr val="95D05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3" name="Shape 223"/>
          <p:cNvGrpSpPr/>
          <p:nvPr/>
        </p:nvGrpSpPr>
        <p:grpSpPr>
          <a:xfrm>
            <a:off x="3975889" y="3470841"/>
            <a:ext cx="1300870" cy="715036"/>
            <a:chOff x="4779255" y="3133651"/>
            <a:chExt cx="2061600" cy="1354748"/>
          </a:xfrm>
        </p:grpSpPr>
        <p:grpSp>
          <p:nvGrpSpPr>
            <p:cNvPr id="224" name="Shape 224"/>
            <p:cNvGrpSpPr/>
            <p:nvPr/>
          </p:nvGrpSpPr>
          <p:grpSpPr>
            <a:xfrm>
              <a:off x="4923644" y="3133651"/>
              <a:ext cx="1751919" cy="853260"/>
              <a:chOff x="6693095" y="4769520"/>
              <a:chExt cx="1751919" cy="861617"/>
            </a:xfrm>
          </p:grpSpPr>
          <p:cxnSp>
            <p:nvCxnSpPr>
              <p:cNvPr id="225" name="Shape 225"/>
              <p:cNvCxnSpPr/>
              <p:nvPr/>
            </p:nvCxnSpPr>
            <p:spPr>
              <a:xfrm rot="10800000">
                <a:off x="6697213" y="4769520"/>
                <a:ext cx="17478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9539"/>
                </a:solidFill>
                <a:prstDash val="dot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26" name="Shape 226"/>
              <p:cNvCxnSpPr/>
              <p:nvPr/>
            </p:nvCxnSpPr>
            <p:spPr>
              <a:xfrm rot="10800000">
                <a:off x="6697214" y="5631137"/>
                <a:ext cx="17478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9539"/>
                </a:solidFill>
                <a:prstDash val="dot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27" name="Shape 227"/>
              <p:cNvCxnSpPr>
                <a:stCxn id="228" idx="1"/>
                <a:endCxn id="229" idx="3"/>
              </p:cNvCxnSpPr>
              <p:nvPr/>
            </p:nvCxnSpPr>
            <p:spPr>
              <a:xfrm rot="10800000">
                <a:off x="7320307" y="4952980"/>
                <a:ext cx="492000" cy="493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9539"/>
                </a:solidFill>
                <a:prstDash val="dot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30" name="Shape 230"/>
              <p:cNvCxnSpPr>
                <a:stCxn id="231" idx="1"/>
                <a:endCxn id="232" idx="3"/>
              </p:cNvCxnSpPr>
              <p:nvPr/>
            </p:nvCxnSpPr>
            <p:spPr>
              <a:xfrm flipH="1">
                <a:off x="7320307" y="4952586"/>
                <a:ext cx="492000" cy="493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9539"/>
                </a:solidFill>
                <a:prstDash val="dot"/>
                <a:round/>
                <a:headEnd type="none" w="sm" len="sm"/>
                <a:tailEnd type="none" w="sm" len="sm"/>
              </a:ln>
            </p:spPr>
          </p:cxnSp>
          <p:grpSp>
            <p:nvGrpSpPr>
              <p:cNvPr id="233" name="Shape 233"/>
              <p:cNvGrpSpPr/>
              <p:nvPr/>
            </p:nvGrpSpPr>
            <p:grpSpPr>
              <a:xfrm>
                <a:off x="7812307" y="5263620"/>
                <a:ext cx="365857" cy="365721"/>
                <a:chOff x="7213330" y="5111941"/>
                <a:chExt cx="538500" cy="529800"/>
              </a:xfrm>
            </p:grpSpPr>
            <p:sp>
              <p:nvSpPr>
                <p:cNvPr id="228" name="Shape 228"/>
                <p:cNvSpPr/>
                <p:nvPr/>
              </p:nvSpPr>
              <p:spPr>
                <a:xfrm>
                  <a:off x="7213330" y="5111941"/>
                  <a:ext cx="538500" cy="529800"/>
                </a:xfrm>
                <a:prstGeom prst="rect">
                  <a:avLst/>
                </a:prstGeom>
                <a:solidFill>
                  <a:srgbClr val="282828"/>
                </a:solidFill>
                <a:ln w="19050" cap="flat" cmpd="sng">
                  <a:solidFill>
                    <a:srgbClr val="789BA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>
                    <a:solidFill>
                      <a:srgbClr val="282828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234" name="Shape 234" descr="Generic Router 1.png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7257718" y="5159063"/>
                  <a:ext cx="445615" cy="43667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35" name="Shape 235"/>
              <p:cNvGrpSpPr/>
              <p:nvPr/>
            </p:nvGrpSpPr>
            <p:grpSpPr>
              <a:xfrm>
                <a:off x="6954355" y="5263620"/>
                <a:ext cx="365857" cy="365721"/>
                <a:chOff x="7213330" y="5111941"/>
                <a:chExt cx="538500" cy="529800"/>
              </a:xfrm>
            </p:grpSpPr>
            <p:sp>
              <p:nvSpPr>
                <p:cNvPr id="232" name="Shape 232"/>
                <p:cNvSpPr/>
                <p:nvPr/>
              </p:nvSpPr>
              <p:spPr>
                <a:xfrm>
                  <a:off x="7213330" y="5111941"/>
                  <a:ext cx="538500" cy="529800"/>
                </a:xfrm>
                <a:prstGeom prst="rect">
                  <a:avLst/>
                </a:prstGeom>
                <a:solidFill>
                  <a:srgbClr val="282828"/>
                </a:solidFill>
                <a:ln w="19050" cap="flat" cmpd="sng">
                  <a:solidFill>
                    <a:srgbClr val="789BA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>
                    <a:solidFill>
                      <a:srgbClr val="282828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236" name="Shape 236" descr="Generic Router 1.png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7257718" y="5159063"/>
                  <a:ext cx="445615" cy="43667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37" name="Shape 237"/>
              <p:cNvGrpSpPr/>
              <p:nvPr/>
            </p:nvGrpSpPr>
            <p:grpSpPr>
              <a:xfrm>
                <a:off x="7812307" y="4769726"/>
                <a:ext cx="365857" cy="365721"/>
                <a:chOff x="7213330" y="5111941"/>
                <a:chExt cx="538500" cy="529800"/>
              </a:xfrm>
            </p:grpSpPr>
            <p:sp>
              <p:nvSpPr>
                <p:cNvPr id="231" name="Shape 231"/>
                <p:cNvSpPr/>
                <p:nvPr/>
              </p:nvSpPr>
              <p:spPr>
                <a:xfrm>
                  <a:off x="7213330" y="5111941"/>
                  <a:ext cx="538500" cy="529800"/>
                </a:xfrm>
                <a:prstGeom prst="rect">
                  <a:avLst/>
                </a:prstGeom>
                <a:solidFill>
                  <a:srgbClr val="282828"/>
                </a:solidFill>
                <a:ln w="19050" cap="flat" cmpd="sng">
                  <a:solidFill>
                    <a:srgbClr val="789BA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>
                    <a:solidFill>
                      <a:srgbClr val="282828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238" name="Shape 238" descr="Generic Router 1.png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7257718" y="5159063"/>
                  <a:ext cx="445615" cy="43667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39" name="Shape 239"/>
              <p:cNvGrpSpPr/>
              <p:nvPr/>
            </p:nvGrpSpPr>
            <p:grpSpPr>
              <a:xfrm>
                <a:off x="6954355" y="4769726"/>
                <a:ext cx="365857" cy="365721"/>
                <a:chOff x="7213330" y="5111941"/>
                <a:chExt cx="538500" cy="529800"/>
              </a:xfrm>
            </p:grpSpPr>
            <p:sp>
              <p:nvSpPr>
                <p:cNvPr id="229" name="Shape 229"/>
                <p:cNvSpPr/>
                <p:nvPr/>
              </p:nvSpPr>
              <p:spPr>
                <a:xfrm>
                  <a:off x="7213330" y="5111941"/>
                  <a:ext cx="538500" cy="529800"/>
                </a:xfrm>
                <a:prstGeom prst="rect">
                  <a:avLst/>
                </a:prstGeom>
                <a:solidFill>
                  <a:srgbClr val="282828"/>
                </a:solidFill>
                <a:ln w="19050" cap="flat" cmpd="sng">
                  <a:solidFill>
                    <a:srgbClr val="789BA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>
                    <a:solidFill>
                      <a:srgbClr val="282828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240" name="Shape 240" descr="Generic Router 1.png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7257718" y="5159063"/>
                  <a:ext cx="445615" cy="43667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cxnSp>
            <p:nvCxnSpPr>
              <p:cNvPr id="241" name="Shape 241"/>
              <p:cNvCxnSpPr/>
              <p:nvPr/>
            </p:nvCxnSpPr>
            <p:spPr>
              <a:xfrm rot="10800000">
                <a:off x="8187062" y="4945920"/>
                <a:ext cx="245700" cy="2442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9539"/>
                </a:solidFill>
                <a:prstDash val="dot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42" name="Shape 242"/>
              <p:cNvCxnSpPr/>
              <p:nvPr/>
            </p:nvCxnSpPr>
            <p:spPr>
              <a:xfrm flipH="1">
                <a:off x="8187062" y="5190120"/>
                <a:ext cx="245700" cy="249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9539"/>
                </a:solidFill>
                <a:prstDash val="dot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43" name="Shape 243"/>
              <p:cNvCxnSpPr/>
              <p:nvPr/>
            </p:nvCxnSpPr>
            <p:spPr>
              <a:xfrm rot="10800000">
                <a:off x="6693095" y="5198160"/>
                <a:ext cx="250500" cy="249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9539"/>
                </a:solidFill>
                <a:prstDash val="dot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44" name="Shape 244"/>
              <p:cNvCxnSpPr/>
              <p:nvPr/>
            </p:nvCxnSpPr>
            <p:spPr>
              <a:xfrm flipH="1">
                <a:off x="6697295" y="4954166"/>
                <a:ext cx="246300" cy="2442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9539"/>
                </a:solidFill>
                <a:prstDash val="dot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245" name="Shape 245"/>
            <p:cNvSpPr/>
            <p:nvPr/>
          </p:nvSpPr>
          <p:spPr>
            <a:xfrm>
              <a:off x="4779255" y="4098999"/>
              <a:ext cx="2061600" cy="3894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0" tIns="0" rIns="0" bIns="0" anchor="ctr" anchorCtr="1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Physical Network</a:t>
              </a:r>
              <a:br>
                <a:rPr lang="pl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pl" sz="1200" i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(no changes)</a:t>
              </a:r>
              <a:endParaRPr sz="900"/>
            </a:p>
          </p:txBody>
        </p:sp>
      </p:grpSp>
      <p:sp>
        <p:nvSpPr>
          <p:cNvPr id="246" name="Shape 246"/>
          <p:cNvSpPr/>
          <p:nvPr/>
        </p:nvSpPr>
        <p:spPr>
          <a:xfrm rot="10800000">
            <a:off x="3028736" y="1744737"/>
            <a:ext cx="3185400" cy="708300"/>
          </a:xfrm>
          <a:prstGeom prst="round2SameRect">
            <a:avLst>
              <a:gd name="adj1" fmla="val 12872"/>
              <a:gd name="adj2" fmla="val 15213"/>
            </a:avLst>
          </a:prstGeom>
          <a:solidFill>
            <a:srgbClr val="939393">
              <a:alpha val="17650"/>
            </a:srgbClr>
          </a:solidFill>
          <a:ln w="12700" cap="flat" cmpd="sng">
            <a:solidFill>
              <a:srgbClr val="7575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2828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Shape 247"/>
          <p:cNvSpPr/>
          <p:nvPr/>
        </p:nvSpPr>
        <p:spPr>
          <a:xfrm>
            <a:off x="3224910" y="1804946"/>
            <a:ext cx="3135000" cy="189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 sz="13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ONOS</a:t>
            </a:r>
            <a:endParaRPr sz="13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Shape 248"/>
          <p:cNvSpPr/>
          <p:nvPr/>
        </p:nvSpPr>
        <p:spPr>
          <a:xfrm>
            <a:off x="4061225" y="2068301"/>
            <a:ext cx="842400" cy="306600"/>
          </a:xfrm>
          <a:prstGeom prst="roundRect">
            <a:avLst>
              <a:gd name="adj" fmla="val 16667"/>
            </a:avLst>
          </a:prstGeom>
          <a:solidFill>
            <a:srgbClr val="486782"/>
          </a:solidFill>
          <a:ln w="19050" cap="flat" cmpd="sng">
            <a:solidFill>
              <a:srgbClr val="37B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XMPP SBI</a:t>
            </a:r>
            <a:endParaRPr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9" name="Shape 249"/>
          <p:cNvGrpSpPr/>
          <p:nvPr/>
        </p:nvGrpSpPr>
        <p:grpSpPr>
          <a:xfrm>
            <a:off x="1423204" y="3203159"/>
            <a:ext cx="1830424" cy="917105"/>
            <a:chOff x="867171" y="2715411"/>
            <a:chExt cx="2900830" cy="1737600"/>
          </a:xfrm>
        </p:grpSpPr>
        <p:sp>
          <p:nvSpPr>
            <p:cNvPr id="250" name="Shape 250"/>
            <p:cNvSpPr/>
            <p:nvPr/>
          </p:nvSpPr>
          <p:spPr>
            <a:xfrm rot="10800000">
              <a:off x="867301" y="2715411"/>
              <a:ext cx="2900700" cy="1737600"/>
            </a:xfrm>
            <a:prstGeom prst="round2SameRect">
              <a:avLst>
                <a:gd name="adj1" fmla="val 1110"/>
                <a:gd name="adj2" fmla="val 0"/>
              </a:avLst>
            </a:prstGeom>
            <a:solidFill>
              <a:srgbClr val="3E3E3E"/>
            </a:solidFill>
            <a:ln w="12700" cap="flat" cmpd="sng">
              <a:solidFill>
                <a:srgbClr val="75757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>
                <a:solidFill>
                  <a:srgbClr val="95D05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Shape 251"/>
            <p:cNvSpPr txBox="1"/>
            <p:nvPr/>
          </p:nvSpPr>
          <p:spPr>
            <a:xfrm>
              <a:off x="867171" y="3903192"/>
              <a:ext cx="2857200" cy="474900"/>
            </a:xfrm>
            <a:prstGeom prst="rect">
              <a:avLst/>
            </a:prstGeom>
            <a:gradFill>
              <a:gsLst>
                <a:gs pos="0">
                  <a:srgbClr val="595959"/>
                </a:gs>
                <a:gs pos="12000">
                  <a:srgbClr val="595959"/>
                </a:gs>
                <a:gs pos="92000">
                  <a:srgbClr val="262626">
                    <a:alpha val="0"/>
                  </a:srgbClr>
                </a:gs>
                <a:gs pos="100000">
                  <a:srgbClr val="262626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57150" tIns="57150" rIns="57150" bIns="57150" anchor="ctr" anchorCtr="1">
              <a:noAutofit/>
            </a:bodyPr>
            <a:lstStyle/>
            <a:p>
              <a:pPr marL="190500" marR="0" lvl="0" indent="-19050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Physical Host </a:t>
              </a:r>
              <a:endParaRPr sz="900"/>
            </a:p>
            <a:p>
              <a:pPr marL="190500" marR="0" lvl="0" indent="-19050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with Hypervisor</a:t>
              </a:r>
              <a:endParaRPr sz="900"/>
            </a:p>
          </p:txBody>
        </p:sp>
        <p:sp>
          <p:nvSpPr>
            <p:cNvPr id="252" name="Shape 252"/>
            <p:cNvSpPr/>
            <p:nvPr/>
          </p:nvSpPr>
          <p:spPr>
            <a:xfrm>
              <a:off x="1013351" y="3417928"/>
              <a:ext cx="1244700" cy="390600"/>
            </a:xfrm>
            <a:prstGeom prst="roundRect">
              <a:avLst>
                <a:gd name="adj" fmla="val 16667"/>
              </a:avLst>
            </a:prstGeom>
            <a:solidFill>
              <a:srgbClr val="486782"/>
            </a:solidFill>
            <a:ln w="19050" cap="flat" cmpd="sng">
              <a:solidFill>
                <a:srgbClr val="37BE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" sz="12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vRouter</a:t>
              </a:r>
              <a:endParaRPr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3" name="Shape 253"/>
            <p:cNvGrpSpPr/>
            <p:nvPr/>
          </p:nvGrpSpPr>
          <p:grpSpPr>
            <a:xfrm>
              <a:off x="1077917" y="2836037"/>
              <a:ext cx="2568004" cy="474195"/>
              <a:chOff x="8099975" y="2845752"/>
              <a:chExt cx="2568004" cy="474195"/>
            </a:xfrm>
          </p:grpSpPr>
          <p:sp>
            <p:nvSpPr>
              <p:cNvPr id="254" name="Shape 254"/>
              <p:cNvSpPr/>
              <p:nvPr/>
            </p:nvSpPr>
            <p:spPr>
              <a:xfrm>
                <a:off x="8099975" y="2845752"/>
                <a:ext cx="452700" cy="470400"/>
              </a:xfrm>
              <a:prstGeom prst="roundRect">
                <a:avLst>
                  <a:gd name="adj" fmla="val 16667"/>
                </a:avLst>
              </a:prstGeom>
              <a:solidFill>
                <a:srgbClr val="FF9539"/>
              </a:solidFill>
              <a:ln>
                <a:noFill/>
              </a:ln>
            </p:spPr>
            <p:txBody>
              <a:bodyPr spcFirstLastPara="1" wrap="square" lIns="0" tIns="0" rIns="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l" sz="12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VM</a:t>
                </a:r>
                <a:endParaRPr sz="900"/>
              </a:p>
            </p:txBody>
          </p:sp>
          <p:sp>
            <p:nvSpPr>
              <p:cNvPr id="255" name="Shape 255"/>
              <p:cNvSpPr/>
              <p:nvPr/>
            </p:nvSpPr>
            <p:spPr>
              <a:xfrm>
                <a:off x="8827595" y="2845752"/>
                <a:ext cx="452700" cy="470400"/>
              </a:xfrm>
              <a:prstGeom prst="roundRect">
                <a:avLst>
                  <a:gd name="adj" fmla="val 16667"/>
                </a:avLst>
              </a:prstGeom>
              <a:solidFill>
                <a:srgbClr val="FF9539"/>
              </a:solidFill>
              <a:ln>
                <a:noFill/>
              </a:ln>
            </p:spPr>
            <p:txBody>
              <a:bodyPr spcFirstLastPara="1" wrap="square" lIns="0" tIns="0" rIns="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l" sz="12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VM</a:t>
                </a:r>
                <a:endParaRPr sz="900"/>
              </a:p>
            </p:txBody>
          </p:sp>
          <p:sp>
            <p:nvSpPr>
              <p:cNvPr id="256" name="Shape 256"/>
              <p:cNvSpPr/>
              <p:nvPr/>
            </p:nvSpPr>
            <p:spPr>
              <a:xfrm>
                <a:off x="9555215" y="2845752"/>
                <a:ext cx="452700" cy="470400"/>
              </a:xfrm>
              <a:prstGeom prst="roundRect">
                <a:avLst>
                  <a:gd name="adj" fmla="val 16667"/>
                </a:avLst>
              </a:prstGeom>
              <a:solidFill>
                <a:srgbClr val="FF9539"/>
              </a:solidFill>
              <a:ln>
                <a:noFill/>
              </a:ln>
            </p:spPr>
            <p:txBody>
              <a:bodyPr spcFirstLastPara="1" wrap="square" lIns="0" tIns="0" rIns="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l" sz="12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VM</a:t>
                </a:r>
                <a:endParaRPr sz="900"/>
              </a:p>
            </p:txBody>
          </p:sp>
          <p:sp>
            <p:nvSpPr>
              <p:cNvPr id="257" name="Shape 257"/>
              <p:cNvSpPr/>
              <p:nvPr/>
            </p:nvSpPr>
            <p:spPr>
              <a:xfrm>
                <a:off x="10215279" y="2849547"/>
                <a:ext cx="452700" cy="470400"/>
              </a:xfrm>
              <a:prstGeom prst="roundRect">
                <a:avLst>
                  <a:gd name="adj" fmla="val 16667"/>
                </a:avLst>
              </a:prstGeom>
              <a:solidFill>
                <a:srgbClr val="FF9539"/>
              </a:solidFill>
              <a:ln>
                <a:noFill/>
              </a:ln>
            </p:spPr>
            <p:txBody>
              <a:bodyPr spcFirstLastPara="1" wrap="square" lIns="0" tIns="0" rIns="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l" sz="12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VM</a:t>
                </a:r>
                <a:endParaRPr sz="900"/>
              </a:p>
            </p:txBody>
          </p:sp>
        </p:grpSp>
      </p:grpSp>
      <p:grpSp>
        <p:nvGrpSpPr>
          <p:cNvPr id="258" name="Shape 258"/>
          <p:cNvGrpSpPr/>
          <p:nvPr/>
        </p:nvGrpSpPr>
        <p:grpSpPr>
          <a:xfrm>
            <a:off x="4120522" y="4288048"/>
            <a:ext cx="1291140" cy="607450"/>
            <a:chOff x="5056547" y="4651347"/>
            <a:chExt cx="2046180" cy="1150910"/>
          </a:xfrm>
        </p:grpSpPr>
        <p:grpSp>
          <p:nvGrpSpPr>
            <p:cNvPr id="259" name="Shape 259"/>
            <p:cNvGrpSpPr/>
            <p:nvPr/>
          </p:nvGrpSpPr>
          <p:grpSpPr>
            <a:xfrm>
              <a:off x="5056547" y="4696237"/>
              <a:ext cx="1560000" cy="1106020"/>
              <a:chOff x="5056547" y="4696237"/>
              <a:chExt cx="1560000" cy="1106020"/>
            </a:xfrm>
          </p:grpSpPr>
          <p:grpSp>
            <p:nvGrpSpPr>
              <p:cNvPr id="260" name="Shape 260"/>
              <p:cNvGrpSpPr/>
              <p:nvPr/>
            </p:nvGrpSpPr>
            <p:grpSpPr>
              <a:xfrm>
                <a:off x="5056547" y="4696237"/>
                <a:ext cx="1560000" cy="1106020"/>
                <a:chOff x="5056547" y="4696237"/>
                <a:chExt cx="1560000" cy="1106020"/>
              </a:xfrm>
            </p:grpSpPr>
            <p:sp>
              <p:nvSpPr>
                <p:cNvPr id="261" name="Shape 261"/>
                <p:cNvSpPr/>
                <p:nvPr/>
              </p:nvSpPr>
              <p:spPr>
                <a:xfrm>
                  <a:off x="5056547" y="4986857"/>
                  <a:ext cx="1560000" cy="81540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20000" h="120000" extrusionOk="0">
                      <a:moveTo>
                        <a:pt x="53073" y="28"/>
                      </a:moveTo>
                      <a:cubicBezTo>
                        <a:pt x="61195" y="-416"/>
                        <a:pt x="69125" y="4281"/>
                        <a:pt x="74937" y="14229"/>
                      </a:cubicBezTo>
                      <a:cubicBezTo>
                        <a:pt x="77261" y="18209"/>
                        <a:pt x="79071" y="22726"/>
                        <a:pt x="80233" y="27682"/>
                      </a:cubicBezTo>
                      <a:cubicBezTo>
                        <a:pt x="82750" y="26239"/>
                        <a:pt x="85479" y="25462"/>
                        <a:pt x="88328" y="25462"/>
                      </a:cubicBezTo>
                      <a:cubicBezTo>
                        <a:pt x="100850" y="25462"/>
                        <a:pt x="111053" y="40476"/>
                        <a:pt x="111416" y="59247"/>
                      </a:cubicBezTo>
                      <a:cubicBezTo>
                        <a:pt x="115515" y="63966"/>
                        <a:pt x="118489" y="71179"/>
                        <a:pt x="119530" y="79575"/>
                      </a:cubicBezTo>
                      <a:cubicBezTo>
                        <a:pt x="119536" y="79604"/>
                        <a:pt x="119540" y="79633"/>
                        <a:pt x="119540" y="79664"/>
                      </a:cubicBezTo>
                      <a:cubicBezTo>
                        <a:pt x="119840" y="81771"/>
                        <a:pt x="119986" y="83964"/>
                        <a:pt x="119988" y="86211"/>
                      </a:cubicBezTo>
                      <a:lnTo>
                        <a:pt x="119999" y="86379"/>
                      </a:lnTo>
                      <a:lnTo>
                        <a:pt x="119996" y="86428"/>
                      </a:lnTo>
                      <a:cubicBezTo>
                        <a:pt x="119999" y="86459"/>
                        <a:pt x="120000" y="86489"/>
                        <a:pt x="120000" y="86520"/>
                      </a:cubicBezTo>
                      <a:lnTo>
                        <a:pt x="119999" y="86520"/>
                      </a:lnTo>
                      <a:cubicBezTo>
                        <a:pt x="119999" y="104911"/>
                        <a:pt x="111032" y="119820"/>
                        <a:pt x="99970" y="119820"/>
                      </a:cubicBezTo>
                      <a:lnTo>
                        <a:pt x="98385" y="119820"/>
                      </a:lnTo>
                      <a:cubicBezTo>
                        <a:pt x="97987" y="119984"/>
                        <a:pt x="97582" y="120000"/>
                        <a:pt x="97175" y="120000"/>
                      </a:cubicBezTo>
                      <a:lnTo>
                        <a:pt x="95965" y="119820"/>
                      </a:lnTo>
                      <a:lnTo>
                        <a:pt x="21852" y="119820"/>
                      </a:lnTo>
                      <a:cubicBezTo>
                        <a:pt x="14416" y="119820"/>
                        <a:pt x="7927" y="113084"/>
                        <a:pt x="4548" y="103010"/>
                      </a:cubicBezTo>
                      <a:cubicBezTo>
                        <a:pt x="1672" y="96801"/>
                        <a:pt x="0" y="89236"/>
                        <a:pt x="0" y="81080"/>
                      </a:cubicBezTo>
                      <a:cubicBezTo>
                        <a:pt x="0" y="62333"/>
                        <a:pt x="8839" y="46705"/>
                        <a:pt x="20565" y="43223"/>
                      </a:cubicBezTo>
                      <a:cubicBezTo>
                        <a:pt x="22112" y="33588"/>
                        <a:pt x="25309" y="24354"/>
                        <a:pt x="30054" y="16693"/>
                      </a:cubicBezTo>
                      <a:cubicBezTo>
                        <a:pt x="36636" y="6064"/>
                        <a:pt x="44951" y="474"/>
                        <a:pt x="53073" y="2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101600" algn="ctr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57150" tIns="57150" rIns="57150" bIns="285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 b="1">
                    <a:solidFill>
                      <a:srgbClr val="004D8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262" name="Shape 262" descr="Generic Router 1.png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5649703" y="4696237"/>
                  <a:ext cx="445615" cy="43667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263" name="Shape 263"/>
              <p:cNvSpPr/>
              <p:nvPr/>
            </p:nvSpPr>
            <p:spPr>
              <a:xfrm>
                <a:off x="5070052" y="5356658"/>
                <a:ext cx="1524000" cy="389400"/>
              </a:xfrm>
              <a:prstGeom prst="roundRect">
                <a:avLst>
                  <a:gd name="adj" fmla="val 16667"/>
                </a:avLst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l" sz="1200">
                    <a:solidFill>
                      <a:srgbClr val="282828"/>
                    </a:solidFill>
                    <a:latin typeface="Arial"/>
                    <a:ea typeface="Arial"/>
                    <a:cs typeface="Arial"/>
                    <a:sym typeface="Arial"/>
                  </a:rPr>
                  <a:t>WAN, Internet</a:t>
                </a:r>
                <a:endParaRPr sz="900"/>
              </a:p>
            </p:txBody>
          </p:sp>
        </p:grpSp>
        <p:sp>
          <p:nvSpPr>
            <p:cNvPr id="264" name="Shape 264"/>
            <p:cNvSpPr/>
            <p:nvPr/>
          </p:nvSpPr>
          <p:spPr>
            <a:xfrm>
              <a:off x="6096827" y="4651347"/>
              <a:ext cx="1005900" cy="3906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0" tIns="0" rIns="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" sz="12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Gateway</a:t>
              </a:r>
              <a:endParaRPr sz="900"/>
            </a:p>
          </p:txBody>
        </p:sp>
      </p:grpSp>
      <p:grpSp>
        <p:nvGrpSpPr>
          <p:cNvPr id="265" name="Shape 265"/>
          <p:cNvGrpSpPr/>
          <p:nvPr/>
        </p:nvGrpSpPr>
        <p:grpSpPr>
          <a:xfrm>
            <a:off x="883538" y="2210278"/>
            <a:ext cx="3388417" cy="784626"/>
            <a:chOff x="-590680" y="2060861"/>
            <a:chExt cx="5369916" cy="1486598"/>
          </a:xfrm>
        </p:grpSpPr>
        <p:grpSp>
          <p:nvGrpSpPr>
            <p:cNvPr id="266" name="Shape 266"/>
            <p:cNvGrpSpPr/>
            <p:nvPr/>
          </p:nvGrpSpPr>
          <p:grpSpPr>
            <a:xfrm>
              <a:off x="-590680" y="2060861"/>
              <a:ext cx="5369916" cy="1486598"/>
              <a:chOff x="977910" y="1834103"/>
              <a:chExt cx="5369916" cy="1486598"/>
            </a:xfrm>
          </p:grpSpPr>
          <p:sp>
            <p:nvSpPr>
              <p:cNvPr id="267" name="Shape 267"/>
              <p:cNvSpPr/>
              <p:nvPr/>
            </p:nvSpPr>
            <p:spPr>
              <a:xfrm>
                <a:off x="977910" y="2196601"/>
                <a:ext cx="2737200" cy="1124100"/>
              </a:xfrm>
              <a:prstGeom prst="roundRect">
                <a:avLst>
                  <a:gd name="adj" fmla="val 16667"/>
                </a:avLst>
              </a:prstGeom>
              <a:solidFill>
                <a:srgbClr val="1399C5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00">
                  <a:solidFill>
                    <a:srgbClr val="28282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Shape 268"/>
              <p:cNvSpPr/>
              <p:nvPr/>
            </p:nvSpPr>
            <p:spPr>
              <a:xfrm rot="-10260045">
                <a:off x="3663663" y="2032377"/>
                <a:ext cx="2617926" cy="1053652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16354" y="0"/>
                    </a:moveTo>
                    <a:lnTo>
                      <a:pt x="0" y="120000"/>
                    </a:lnTo>
                    <a:lnTo>
                      <a:pt x="120000" y="14436"/>
                    </a:lnTo>
                    <a:cubicBezTo>
                      <a:pt x="119930" y="-465"/>
                      <a:pt x="116424" y="14901"/>
                      <a:pt x="116354" y="0"/>
                    </a:cubicBezTo>
                    <a:close/>
                  </a:path>
                </a:pathLst>
              </a:custGeom>
              <a:solidFill>
                <a:srgbClr val="1399C5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00">
                  <a:solidFill>
                    <a:srgbClr val="28282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9" name="Shape 269"/>
            <p:cNvSpPr/>
            <p:nvPr/>
          </p:nvSpPr>
          <p:spPr>
            <a:xfrm>
              <a:off x="-590679" y="2669365"/>
              <a:ext cx="28149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28575" rIns="57150" bIns="285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Interacts with network elements for VM network provisioning and ensures uptime</a:t>
              </a:r>
              <a:endParaRPr sz="900"/>
            </a:p>
          </p:txBody>
        </p:sp>
      </p:grpSp>
      <p:grpSp>
        <p:nvGrpSpPr>
          <p:cNvPr id="270" name="Shape 270"/>
          <p:cNvGrpSpPr/>
          <p:nvPr/>
        </p:nvGrpSpPr>
        <p:grpSpPr>
          <a:xfrm>
            <a:off x="963206" y="3852149"/>
            <a:ext cx="1894326" cy="1175104"/>
            <a:chOff x="8268523" y="829035"/>
            <a:chExt cx="2399400" cy="1853184"/>
          </a:xfrm>
        </p:grpSpPr>
        <p:grpSp>
          <p:nvGrpSpPr>
            <p:cNvPr id="271" name="Shape 271"/>
            <p:cNvGrpSpPr/>
            <p:nvPr/>
          </p:nvGrpSpPr>
          <p:grpSpPr>
            <a:xfrm>
              <a:off x="8268523" y="829035"/>
              <a:ext cx="2399400" cy="1853184"/>
              <a:chOff x="1274157" y="1592096"/>
              <a:chExt cx="2399400" cy="1853184"/>
            </a:xfrm>
          </p:grpSpPr>
          <p:sp>
            <p:nvSpPr>
              <p:cNvPr id="272" name="Shape 272"/>
              <p:cNvSpPr/>
              <p:nvPr/>
            </p:nvSpPr>
            <p:spPr>
              <a:xfrm>
                <a:off x="1274157" y="2142980"/>
                <a:ext cx="2399400" cy="1302300"/>
              </a:xfrm>
              <a:prstGeom prst="roundRect">
                <a:avLst>
                  <a:gd name="adj" fmla="val 16667"/>
                </a:avLst>
              </a:prstGeom>
              <a:solidFill>
                <a:srgbClr val="1399C5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00">
                  <a:solidFill>
                    <a:srgbClr val="28282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Shape 273"/>
              <p:cNvSpPr/>
              <p:nvPr/>
            </p:nvSpPr>
            <p:spPr>
              <a:xfrm rot="-6360474" flipH="1">
                <a:off x="1494127" y="1773491"/>
                <a:ext cx="831128" cy="602010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19791" y="0"/>
                    </a:moveTo>
                    <a:lnTo>
                      <a:pt x="0" y="120000"/>
                    </a:lnTo>
                    <a:lnTo>
                      <a:pt x="120000" y="35699"/>
                    </a:lnTo>
                    <a:cubicBezTo>
                      <a:pt x="119930" y="23799"/>
                      <a:pt x="119861" y="11899"/>
                      <a:pt x="119791" y="0"/>
                    </a:cubicBezTo>
                    <a:close/>
                  </a:path>
                </a:pathLst>
              </a:custGeom>
              <a:solidFill>
                <a:srgbClr val="1399C5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00">
                  <a:solidFill>
                    <a:srgbClr val="28282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4" name="Shape 274"/>
            <p:cNvSpPr/>
            <p:nvPr/>
          </p:nvSpPr>
          <p:spPr>
            <a:xfrm>
              <a:off x="8288713" y="1657085"/>
              <a:ext cx="2379000" cy="68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28575" rIns="57150" bIns="285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" sz="1000">
                  <a:solidFill>
                    <a:srgbClr val="FFFFFF"/>
                  </a:solidFill>
                </a:rPr>
                <a:t>Juniper </a:t>
              </a:r>
              <a:r>
                <a:rPr lang="pl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vRouter: Virtualized routing element handles localized control plane and forwarding plane work on the compute node</a:t>
              </a:r>
              <a:endParaRPr sz="900"/>
            </a:p>
          </p:txBody>
        </p:sp>
      </p:grpSp>
      <p:grpSp>
        <p:nvGrpSpPr>
          <p:cNvPr id="275" name="Shape 275"/>
          <p:cNvGrpSpPr/>
          <p:nvPr/>
        </p:nvGrpSpPr>
        <p:grpSpPr>
          <a:xfrm>
            <a:off x="4898057" y="4199854"/>
            <a:ext cx="2801324" cy="872321"/>
            <a:chOff x="7367143" y="1351973"/>
            <a:chExt cx="3714298" cy="1231222"/>
          </a:xfrm>
        </p:grpSpPr>
        <p:grpSp>
          <p:nvGrpSpPr>
            <p:cNvPr id="276" name="Shape 276"/>
            <p:cNvGrpSpPr/>
            <p:nvPr/>
          </p:nvGrpSpPr>
          <p:grpSpPr>
            <a:xfrm>
              <a:off x="7367143" y="1351973"/>
              <a:ext cx="3714298" cy="1231222"/>
              <a:chOff x="372777" y="2115034"/>
              <a:chExt cx="3714298" cy="1231222"/>
            </a:xfrm>
          </p:grpSpPr>
          <p:sp>
            <p:nvSpPr>
              <p:cNvPr id="277" name="Shape 277"/>
              <p:cNvSpPr/>
              <p:nvPr/>
            </p:nvSpPr>
            <p:spPr>
              <a:xfrm>
                <a:off x="1581475" y="2249156"/>
                <a:ext cx="2505600" cy="1097100"/>
              </a:xfrm>
              <a:prstGeom prst="roundRect">
                <a:avLst>
                  <a:gd name="adj" fmla="val 16667"/>
                </a:avLst>
              </a:prstGeom>
              <a:solidFill>
                <a:srgbClr val="1399C5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00">
                  <a:solidFill>
                    <a:srgbClr val="28282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Shape 278"/>
              <p:cNvSpPr/>
              <p:nvPr/>
            </p:nvSpPr>
            <p:spPr>
              <a:xfrm rot="9839788" flipH="1">
                <a:off x="466281" y="2272019"/>
                <a:ext cx="1258993" cy="855729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19791" y="0"/>
                    </a:moveTo>
                    <a:lnTo>
                      <a:pt x="0" y="120000"/>
                    </a:lnTo>
                    <a:lnTo>
                      <a:pt x="120000" y="35699"/>
                    </a:lnTo>
                    <a:cubicBezTo>
                      <a:pt x="119930" y="23799"/>
                      <a:pt x="119861" y="11899"/>
                      <a:pt x="119791" y="0"/>
                    </a:cubicBezTo>
                    <a:close/>
                  </a:path>
                </a:pathLst>
              </a:custGeom>
              <a:solidFill>
                <a:srgbClr val="1399C5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00">
                  <a:solidFill>
                    <a:srgbClr val="28282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9" name="Shape 279"/>
            <p:cNvSpPr/>
            <p:nvPr/>
          </p:nvSpPr>
          <p:spPr>
            <a:xfrm>
              <a:off x="8631261" y="1657085"/>
              <a:ext cx="2397300" cy="68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28575" rIns="57150" bIns="285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Gateway: MX Series (or other router) or EX9200 serve as gateway eliminating need for SW gateway &amp; improving scale &amp; performance</a:t>
              </a:r>
              <a:endParaRPr sz="900"/>
            </a:p>
          </p:txBody>
        </p:sp>
      </p:grpSp>
      <p:cxnSp>
        <p:nvCxnSpPr>
          <p:cNvPr id="280" name="Shape 280"/>
          <p:cNvCxnSpPr>
            <a:stCxn id="246" idx="1"/>
            <a:endCxn id="217" idx="3"/>
          </p:cNvCxnSpPr>
          <p:nvPr/>
        </p:nvCxnSpPr>
        <p:spPr>
          <a:xfrm rot="10800000">
            <a:off x="4620236" y="1502337"/>
            <a:ext cx="1200" cy="242400"/>
          </a:xfrm>
          <a:prstGeom prst="straightConnector1">
            <a:avLst/>
          </a:prstGeom>
          <a:noFill/>
          <a:ln w="28575" cap="flat" cmpd="sng">
            <a:solidFill>
              <a:srgbClr val="FF9539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281" name="Shape 281"/>
          <p:cNvPicPr preferRelativeResize="0"/>
          <p:nvPr/>
        </p:nvPicPr>
        <p:blipFill rotWithShape="1">
          <a:blip r:embed="rId5">
            <a:alphaModFix/>
          </a:blip>
          <a:srcRect l="59372" t="58878" r="7012"/>
          <a:stretch/>
        </p:blipFill>
        <p:spPr>
          <a:xfrm>
            <a:off x="5770043" y="2783808"/>
            <a:ext cx="1765927" cy="1461458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Shape 282"/>
          <p:cNvSpPr/>
          <p:nvPr/>
        </p:nvSpPr>
        <p:spPr>
          <a:xfrm>
            <a:off x="7589447" y="2783808"/>
            <a:ext cx="1474800" cy="521400"/>
          </a:xfrm>
          <a:prstGeom prst="horizontalScroll">
            <a:avLst>
              <a:gd name="adj" fmla="val 12500"/>
            </a:avLst>
          </a:prstGeom>
          <a:solidFill>
            <a:srgbClr val="4A86E8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 sz="900">
                <a:solidFill>
                  <a:srgbClr val="FFFFFF"/>
                </a:solidFill>
              </a:rPr>
              <a:t>Emulated vRouter for testing objective</a:t>
            </a:r>
            <a:endParaRPr sz="900">
              <a:solidFill>
                <a:srgbClr val="FFFFFF"/>
              </a:solidFill>
            </a:endParaRPr>
          </a:p>
        </p:txBody>
      </p:sp>
      <p:sp>
        <p:nvSpPr>
          <p:cNvPr id="283" name="Shape 283"/>
          <p:cNvSpPr/>
          <p:nvPr/>
        </p:nvSpPr>
        <p:spPr>
          <a:xfrm>
            <a:off x="2400479" y="3573790"/>
            <a:ext cx="785400" cy="206100"/>
          </a:xfrm>
          <a:prstGeom prst="roundRect">
            <a:avLst>
              <a:gd name="adj" fmla="val 16667"/>
            </a:avLst>
          </a:prstGeom>
          <a:solidFill>
            <a:srgbClr val="486782"/>
          </a:solidFill>
          <a:ln w="19050" cap="flat" cmpd="sng">
            <a:solidFill>
              <a:srgbClr val="37B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 sz="1100">
                <a:solidFill>
                  <a:srgbClr val="FFFFFF"/>
                </a:solidFill>
              </a:rPr>
              <a:t>Nova Agent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284" name="Shape 284"/>
          <p:cNvSpPr/>
          <p:nvPr/>
        </p:nvSpPr>
        <p:spPr>
          <a:xfrm>
            <a:off x="5001427" y="2068337"/>
            <a:ext cx="842400" cy="306600"/>
          </a:xfrm>
          <a:prstGeom prst="roundRect">
            <a:avLst>
              <a:gd name="adj" fmla="val 16667"/>
            </a:avLst>
          </a:prstGeom>
          <a:solidFill>
            <a:srgbClr val="486782"/>
          </a:solidFill>
          <a:ln w="19050" cap="flat" cmpd="sng">
            <a:solidFill>
              <a:srgbClr val="37B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 sz="1300">
                <a:solidFill>
                  <a:srgbClr val="FFFFFF"/>
                </a:solidFill>
              </a:rPr>
              <a:t>BGP</a:t>
            </a:r>
            <a:endParaRPr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28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The concept of XMPP as SBI</a:t>
            </a:r>
            <a:endParaRPr/>
          </a:p>
        </p:txBody>
      </p:sp>
      <p:sp>
        <p:nvSpPr>
          <p:cNvPr id="290" name="Shape 29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dirty="0"/>
              <a:t>We use XMPP Publish/Subscribe extension</a:t>
            </a:r>
            <a:endParaRPr dirty="0"/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dirty="0"/>
              <a:t>XMPP PubSub introduces new communication model between devices and SDN controller</a:t>
            </a:r>
            <a:endParaRPr dirty="0"/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dirty="0"/>
              <a:t>SDN controller as a communication </a:t>
            </a:r>
            <a:r>
              <a:rPr lang="pl" dirty="0" smtClean="0"/>
              <a:t>bus</a:t>
            </a: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dirty="0" smtClean="0"/>
              <a:t>XMPP is a „container protocol”</a:t>
            </a:r>
            <a:endParaRPr dirty="0"/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dirty="0"/>
              <a:t>How it differs from OpenFlow</a:t>
            </a:r>
            <a:r>
              <a:rPr lang="pl" dirty="0" smtClean="0"/>
              <a:t>?</a:t>
            </a: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pl" dirty="0"/>
          </a:p>
          <a:p>
            <a:pPr marL="114300" lvl="0" indent="0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pic>
        <p:nvPicPr>
          <p:cNvPr id="4" name="Picture 11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3851" y="2211710"/>
            <a:ext cx="3248135" cy="2518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Shape 68" descr="Znalezione obrazy dla zapytania openflow 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87844" y="2709518"/>
            <a:ext cx="1124626" cy="46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Shape 69" descr="Znalezione obrazy dla zapytania xmpp ico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93736" y="2654055"/>
            <a:ext cx="556500" cy="5727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Obiek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0440979"/>
              </p:ext>
            </p:extLst>
          </p:nvPr>
        </p:nvGraphicFramePr>
        <p:xfrm>
          <a:off x="4932040" y="3795886"/>
          <a:ext cx="9144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" name="Visio" r:id="rId7" imgW="914448" imgH="314228" progId="Visio.Drawing.15">
                  <p:link updateAutomatic="1"/>
                </p:oleObj>
              </mc:Choice>
              <mc:Fallback>
                <p:oleObj name="Visio" r:id="rId7" imgW="914448" imgH="314228" progId="Visio.Drawing.15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32040" y="3795886"/>
                        <a:ext cx="914400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iek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2258088"/>
              </p:ext>
            </p:extLst>
          </p:nvPr>
        </p:nvGraphicFramePr>
        <p:xfrm>
          <a:off x="6372200" y="2783242"/>
          <a:ext cx="9525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" name="Visio" r:id="rId9" imgW="952339" imgH="314228" progId="Visio.Drawing.15">
                  <p:link updateAutomatic="1"/>
                </p:oleObj>
              </mc:Choice>
              <mc:Fallback>
                <p:oleObj name="Visio" r:id="rId9" imgW="952339" imgH="314228" progId="Visio.Drawing.15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372200" y="2783242"/>
                        <a:ext cx="952500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iek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699018"/>
              </p:ext>
            </p:extLst>
          </p:nvPr>
        </p:nvGraphicFramePr>
        <p:xfrm>
          <a:off x="6372200" y="2783242"/>
          <a:ext cx="9525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" name="Visio" r:id="rId9" imgW="952339" imgH="314228" progId="Visio.Drawing.15">
                  <p:link updateAutomatic="1"/>
                </p:oleObj>
              </mc:Choice>
              <mc:Fallback>
                <p:oleObj name="Visio" r:id="rId9" imgW="952339" imgH="314228" progId="Visio.Drawing.15">
                  <p:link updateAutomatic="1"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00" y="2783242"/>
                        <a:ext cx="952500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iek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5641922"/>
              </p:ext>
            </p:extLst>
          </p:nvPr>
        </p:nvGraphicFramePr>
        <p:xfrm>
          <a:off x="6372200" y="2783242"/>
          <a:ext cx="9525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" name="Visio" r:id="rId9" imgW="952339" imgH="314228" progId="Visio.Drawing.15">
                  <p:link updateAutomatic="1"/>
                </p:oleObj>
              </mc:Choice>
              <mc:Fallback>
                <p:oleObj name="Visio" r:id="rId9" imgW="952339" imgH="314228" progId="Visio.Drawing.15">
                  <p:link updateAutomatic="1"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00" y="2783242"/>
                        <a:ext cx="952500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iek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8308886"/>
              </p:ext>
            </p:extLst>
          </p:nvPr>
        </p:nvGraphicFramePr>
        <p:xfrm>
          <a:off x="6372200" y="2807055"/>
          <a:ext cx="9144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" name="Visio" r:id="rId12" imgW="914448" imgH="266587" progId="Visio.Drawing.15">
                  <p:link updateAutomatic="1"/>
                </p:oleObj>
              </mc:Choice>
              <mc:Fallback>
                <p:oleObj name="Visio" r:id="rId12" imgW="914448" imgH="266587" progId="Visio.Drawing.15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372200" y="2807055"/>
                        <a:ext cx="9144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iek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3288596"/>
              </p:ext>
            </p:extLst>
          </p:nvPr>
        </p:nvGraphicFramePr>
        <p:xfrm>
          <a:off x="5148064" y="4011910"/>
          <a:ext cx="9144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" name="Visio" r:id="rId14" imgW="914448" imgH="314228" progId="Visio.Drawing.15">
                  <p:link updateAutomatic="1"/>
                </p:oleObj>
              </mc:Choice>
              <mc:Fallback>
                <p:oleObj name="Visio" r:id="rId14" imgW="914448" imgH="314228" progId="Visio.Drawing.15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148064" y="4011910"/>
                        <a:ext cx="914400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iek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4972353"/>
              </p:ext>
            </p:extLst>
          </p:nvPr>
        </p:nvGraphicFramePr>
        <p:xfrm>
          <a:off x="7627557" y="3939902"/>
          <a:ext cx="9144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" name="Visio" r:id="rId14" imgW="914448" imgH="314228" progId="Visio.Drawing.15">
                  <p:link updateAutomatic="1"/>
                </p:oleObj>
              </mc:Choice>
              <mc:Fallback>
                <p:oleObj name="Visio" r:id="rId14" imgW="914448" imgH="314228" progId="Visio.Drawing.15">
                  <p:link updateAutomatic="1"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7557" y="3939902"/>
                        <a:ext cx="914400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iek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9535011"/>
              </p:ext>
            </p:extLst>
          </p:nvPr>
        </p:nvGraphicFramePr>
        <p:xfrm>
          <a:off x="5148064" y="4011910"/>
          <a:ext cx="9144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0" name="Visio" r:id="rId16" imgW="914448" imgH="314228" progId="Visio.Drawing.15">
                  <p:link updateAutomatic="1"/>
                </p:oleObj>
              </mc:Choice>
              <mc:Fallback>
                <p:oleObj name="Visio" r:id="rId16" imgW="914448" imgH="314228" progId="Visio.Drawing.15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148064" y="4011910"/>
                        <a:ext cx="914400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iek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0167357"/>
              </p:ext>
            </p:extLst>
          </p:nvPr>
        </p:nvGraphicFramePr>
        <p:xfrm>
          <a:off x="6372200" y="2783242"/>
          <a:ext cx="9144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1" name="Visio" r:id="rId18" imgW="914448" imgH="314228" progId="Visio.Drawing.15">
                  <p:link updateAutomatic="1"/>
                </p:oleObj>
              </mc:Choice>
              <mc:Fallback>
                <p:oleObj name="Visio" r:id="rId18" imgW="914448" imgH="314228" progId="Visio.Drawing.15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372200" y="2783242"/>
                        <a:ext cx="914400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1.39463E-6 L 0.16267 -0.19839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25" y="-99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13 -0.00154 L -0.13559 0.24869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44" y="12496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13 -0.00154 L 0.01407 0.31873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8" y="16014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1623E-6 L 0.14948 0.224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65" y="11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21 -0.00154 L -0.13143 0.23481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40" y="118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0.00987 L 0.13941 -0.23048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44" y="-12033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2.64425E-6 L -0.12465 -0.23634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33" y="-118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0.00987 L 0.13941 -0.23048 " pathEditMode="relative" rAng="0" ptsTypes="AA">
                                      <p:cBhvr>
                                        <p:cTn id="8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44" y="-120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000"/>
                            </p:stCondLst>
                            <p:childTnLst>
                              <p:par>
                                <p:cTn id="8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21 -0.00154 L 0.15989 0.22092 " pathEditMode="relative" rAng="0" ptsTypes="AA">
                                      <p:cBhvr>
                                        <p:cTn id="93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26" y="111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000"/>
                            </p:stCondLst>
                            <p:childTnLst>
                              <p:par>
                                <p:cTn id="9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295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Design &amp; Implementation</a:t>
            </a:r>
            <a:endParaRPr/>
          </a:p>
        </p:txBody>
      </p:sp>
      <p:sp>
        <p:nvSpPr>
          <p:cNvPr id="296" name="Shape 296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XMPP as SBI for ONOS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30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Solution design</a:t>
            </a:r>
            <a:endParaRPr/>
          </a:p>
        </p:txBody>
      </p:sp>
      <p:sp>
        <p:nvSpPr>
          <p:cNvPr id="302" name="Shape 30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75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dirty="0"/>
              <a:t>ONOS with XMPP SBI and Route Server</a:t>
            </a:r>
            <a:endParaRPr dirty="0"/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dirty="0"/>
              <a:t>Virtual routers in the data plane</a:t>
            </a:r>
            <a:endParaRPr dirty="0"/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dirty="0" smtClean="0"/>
              <a:t>BGP over XMPP</a:t>
            </a: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dirty="0" smtClean="0"/>
              <a:t>vRouters </a:t>
            </a:r>
            <a:r>
              <a:rPr lang="pl" dirty="0"/>
              <a:t>subscribes to ONOS for a VPN topic (SUBSCRIBE)</a:t>
            </a:r>
            <a:endParaRPr dirty="0"/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dirty="0"/>
              <a:t>vRouter publishes BGP NLRI associated with VPN (PUBLISH)</a:t>
            </a:r>
            <a:endParaRPr dirty="0"/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dirty="0"/>
              <a:t>Peer vRouters are notified about new virtual interface (UPDATE)</a:t>
            </a:r>
            <a:endParaRPr dirty="0"/>
          </a:p>
          <a:p>
            <a:pPr marL="0" lvl="0" indent="0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303" name="Shape 3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9400" y="1170125"/>
            <a:ext cx="4252198" cy="3284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30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XMPP as SBI implementation</a:t>
            </a:r>
            <a:endParaRPr/>
          </a:p>
        </p:txBody>
      </p:sp>
      <p:sp>
        <p:nvSpPr>
          <p:cNvPr id="309" name="Shape 30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558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dirty="0"/>
              <a:t>XMPP as SBI implementation is main contribution of the project</a:t>
            </a:r>
            <a:endParaRPr dirty="0"/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dirty="0"/>
              <a:t>Main functionalities of XMPP SBI:</a:t>
            </a:r>
            <a:endParaRPr dirty="0"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 dirty="0"/>
              <a:t>Asynchronous, non-blocking XML parsing</a:t>
            </a:r>
            <a:endParaRPr dirty="0"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 dirty="0"/>
              <a:t>Decoding/encoding XMPP messages</a:t>
            </a:r>
            <a:endParaRPr dirty="0"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 dirty="0"/>
              <a:t>Abstracting underlaying devices</a:t>
            </a:r>
            <a:endParaRPr dirty="0"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 dirty="0"/>
              <a:t>Maintaining the state of connected devices</a:t>
            </a:r>
            <a:endParaRPr dirty="0"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 dirty="0"/>
              <a:t>XMPP events distribution to Providers</a:t>
            </a:r>
            <a:endParaRPr dirty="0"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 dirty="0"/>
              <a:t>Device Provider</a:t>
            </a:r>
            <a:endParaRPr dirty="0"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 dirty="0"/>
              <a:t>Extensible implementation to add new XMPP extensions (e.g. Publish/Subscribe)</a:t>
            </a:r>
            <a:endParaRPr dirty="0"/>
          </a:p>
        </p:txBody>
      </p:sp>
      <p:pic>
        <p:nvPicPr>
          <p:cNvPr id="310" name="Shape 310" descr="ONOS southbound architecture"/>
          <p:cNvPicPr preferRelativeResize="0"/>
          <p:nvPr/>
        </p:nvPicPr>
        <p:blipFill rotWithShape="1">
          <a:blip r:embed="rId3">
            <a:alphaModFix/>
          </a:blip>
          <a:srcRect r="20083"/>
          <a:stretch/>
        </p:blipFill>
        <p:spPr>
          <a:xfrm>
            <a:off x="5131100" y="1152475"/>
            <a:ext cx="3855000" cy="385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3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Implementation architecture</a:t>
            </a:r>
            <a:endParaRPr/>
          </a:p>
        </p:txBody>
      </p:sp>
      <p:sp>
        <p:nvSpPr>
          <p:cNvPr id="316" name="Shape 3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920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dirty="0"/>
              <a:t>Principles:</a:t>
            </a:r>
            <a:endParaRPr dirty="0"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 dirty="0"/>
              <a:t>extensibility</a:t>
            </a:r>
            <a:endParaRPr dirty="0"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 dirty="0"/>
              <a:t>re-use of ONOS abstractions and subsystems</a:t>
            </a:r>
            <a:endParaRPr dirty="0"/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dirty="0"/>
              <a:t>Protocols layer</a:t>
            </a:r>
            <a:endParaRPr dirty="0"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 dirty="0"/>
              <a:t>decomposed into core XMPP and XEP implementation</a:t>
            </a:r>
            <a:endParaRPr dirty="0"/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dirty="0"/>
              <a:t>Providers layer</a:t>
            </a:r>
            <a:endParaRPr dirty="0"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 dirty="0"/>
              <a:t>Route provider (RouteService subsystem)</a:t>
            </a:r>
            <a:endParaRPr dirty="0"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 dirty="0"/>
              <a:t>Flow provider (FlowRuleService subsystem)</a:t>
            </a:r>
            <a:endParaRPr dirty="0"/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dirty="0"/>
              <a:t>Route Server application</a:t>
            </a:r>
            <a:endParaRPr dirty="0"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 dirty="0"/>
              <a:t>make use of RouteService, FlowRuleService</a:t>
            </a:r>
            <a:endParaRPr dirty="0"/>
          </a:p>
          <a:p>
            <a: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 dirty="0"/>
              <a:t>VpnInstanceService</a:t>
            </a:r>
            <a:endParaRPr dirty="0"/>
          </a:p>
        </p:txBody>
      </p:sp>
      <p:pic>
        <p:nvPicPr>
          <p:cNvPr id="317" name="Shape 317" descr="figs/software_architec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9500" y="445025"/>
            <a:ext cx="3402500" cy="4427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Shape 3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Tests of XMPP SBI</a:t>
            </a:r>
            <a:endParaRPr/>
          </a:p>
        </p:txBody>
      </p:sp>
      <p:sp>
        <p:nvSpPr>
          <p:cNvPr id="349" name="Shape 3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578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Unit tests coverage</a:t>
            </a:r>
            <a:endParaRPr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Merged with master branch</a:t>
            </a:r>
            <a:endParaRPr/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Functional tests using Python sleekxmpp library:</a:t>
            </a:r>
            <a:endParaRPr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Establishing XMPP stream</a:t>
            </a:r>
            <a:endParaRPr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Closing XMPP stream</a:t>
            </a:r>
            <a:endParaRPr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XMPP SUBSCRIBE / UNSUBSCRIBE test cases</a:t>
            </a:r>
            <a:endParaRPr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XMPP PUBLISH / RETRACT test cases</a:t>
            </a:r>
            <a:endParaRPr/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Validation based on:</a:t>
            </a:r>
            <a:endParaRPr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RFC 6120 - XMPP Core specification</a:t>
            </a:r>
            <a:endParaRPr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XEP-0060 - XMPP Publish/Subscribe extension</a:t>
            </a:r>
            <a:endParaRPr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IETF draft - BGP-signaled IP/VPNs system</a:t>
            </a:r>
            <a:endParaRPr/>
          </a:p>
        </p:txBody>
      </p:sp>
      <p:pic>
        <p:nvPicPr>
          <p:cNvPr id="350" name="Shape 3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2600" y="1170125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Shape 342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Evaluation</a:t>
            </a:r>
            <a:endParaRPr/>
          </a:p>
        </p:txBody>
      </p:sp>
      <p:sp>
        <p:nvSpPr>
          <p:cNvPr id="343" name="Shape 343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XMPP as SBI for ONOS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Shape 3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l" dirty="0" smtClean="0"/>
              <a:t>SBI’s f</a:t>
            </a:r>
            <a:r>
              <a:rPr lang="pl" dirty="0" smtClean="0"/>
              <a:t>unctionality</a:t>
            </a:r>
            <a:endParaRPr dirty="0"/>
          </a:p>
        </p:txBody>
      </p:sp>
      <p:sp>
        <p:nvSpPr>
          <p:cNvPr id="356" name="Shape 35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0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dirty="0"/>
              <a:t>XMPP is a general-purpose protocol!</a:t>
            </a:r>
            <a:endParaRPr dirty="0"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 dirty="0"/>
              <a:t>BGPoXMPP is Virtual interface-oriented (VRF tables)</a:t>
            </a:r>
            <a:endParaRPr dirty="0"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 dirty="0"/>
              <a:t>“container protocol”, it’s all about data model design</a:t>
            </a:r>
            <a:endParaRPr dirty="0"/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dirty="0"/>
              <a:t>OpenFlow is flow-oriented (multiple-flow-tables)</a:t>
            </a:r>
            <a:endParaRPr dirty="0"/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dirty="0"/>
              <a:t>PCEP is used to compute the paths and requires IGP and TE protocols</a:t>
            </a:r>
            <a:endParaRPr dirty="0"/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dirty="0"/>
              <a:t>Our BGP over XMPP is positioned between OpenFlow and PCE … </a:t>
            </a:r>
            <a:endParaRPr dirty="0"/>
          </a:p>
          <a:p>
            <a:pPr marL="0" lvl="0" indent="0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graphicFrame>
        <p:nvGraphicFramePr>
          <p:cNvPr id="357" name="Shape 357"/>
          <p:cNvGraphicFramePr/>
          <p:nvPr/>
        </p:nvGraphicFramePr>
        <p:xfrm>
          <a:off x="311700" y="3336125"/>
          <a:ext cx="8520600" cy="1645860"/>
        </p:xfrm>
        <a:graphic>
          <a:graphicData uri="http://schemas.openxmlformats.org/drawingml/2006/table">
            <a:tbl>
              <a:tblPr>
                <a:noFill/>
                <a:tableStyleId>{8F103823-9D80-430B-BE83-918672A8F3E2}</a:tableStyleId>
              </a:tblPr>
              <a:tblGrid>
                <a:gridCol w="1420100"/>
                <a:gridCol w="1420100"/>
                <a:gridCol w="1420100"/>
                <a:gridCol w="1420100"/>
                <a:gridCol w="1420100"/>
                <a:gridCol w="1420100"/>
              </a:tblGrid>
              <a:tr h="53022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NETCONF,</a:t>
                      </a:r>
                      <a:br>
                        <a:rPr lang="pl"/>
                      </a:br>
                      <a:r>
                        <a:rPr lang="pl"/>
                        <a:t>SNMP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OpenFlow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BGP over XMPP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LISP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PCEP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BGP, OSPF, IS-IS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899375"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Device management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Flow-oriented traffic engineering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Routing (L3VPN), Bridging (EVPN)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Tunneling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Traffic engineering mainly with legacy devices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East-west communication with legacy systems</a:t>
                      </a:r>
                      <a:endParaRPr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Shape 36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l" dirty="0" smtClean="0"/>
              <a:t>Performance of OpenFlow vs XMPP</a:t>
            </a:r>
            <a:endParaRPr dirty="0"/>
          </a:p>
        </p:txBody>
      </p:sp>
      <p:sp>
        <p:nvSpPr>
          <p:cNvPr id="370" name="Shape 37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dirty="0" smtClean="0"/>
              <a:t>Experiment setup:</a:t>
            </a:r>
            <a:endParaRPr dirty="0"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 dirty="0" smtClean="0">
                <a:solidFill>
                  <a:srgbClr val="FF0000"/>
                </a:solidFill>
              </a:rPr>
              <a:t>Single ONOS </a:t>
            </a:r>
            <a:r>
              <a:rPr lang="pl" dirty="0">
                <a:solidFill>
                  <a:srgbClr val="FF0000"/>
                </a:solidFill>
              </a:rPr>
              <a:t>instance </a:t>
            </a:r>
            <a:r>
              <a:rPr lang="pl" dirty="0"/>
              <a:t>- control plane </a:t>
            </a:r>
            <a:r>
              <a:rPr lang="pl" dirty="0" smtClean="0"/>
              <a:t>performance</a:t>
            </a:r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-PL" dirty="0" err="1" smtClean="0"/>
              <a:t>up</a:t>
            </a:r>
            <a:r>
              <a:rPr lang="pl-PL" dirty="0" smtClean="0"/>
              <a:t> to 5 </a:t>
            </a:r>
            <a:r>
              <a:rPr lang="pl-PL" dirty="0" err="1" smtClean="0"/>
              <a:t>vRouters</a:t>
            </a:r>
            <a:r>
              <a:rPr lang="pl-PL" dirty="0" smtClean="0"/>
              <a:t> (</a:t>
            </a:r>
            <a:r>
              <a:rPr lang="pl-PL" dirty="0" err="1" smtClean="0"/>
              <a:t>compute</a:t>
            </a:r>
            <a:r>
              <a:rPr lang="pl-PL" dirty="0" smtClean="0"/>
              <a:t> </a:t>
            </a:r>
            <a:r>
              <a:rPr lang="pl-PL" dirty="0" err="1" smtClean="0"/>
              <a:t>nodes</a:t>
            </a:r>
            <a:r>
              <a:rPr lang="pl-PL" dirty="0" smtClean="0"/>
              <a:t>)</a:t>
            </a:r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-PL" b="1" dirty="0" err="1" smtClean="0"/>
              <a:t>Scenario</a:t>
            </a:r>
            <a:r>
              <a:rPr lang="pl-PL" b="1" dirty="0" smtClean="0"/>
              <a:t> 1: </a:t>
            </a:r>
          </a:p>
          <a:p>
            <a:pPr lvl="2">
              <a:spcBef>
                <a:spcPts val="0"/>
              </a:spcBef>
              <a:buChar char="○"/>
            </a:pPr>
            <a:r>
              <a:rPr lang="pl-PL" dirty="0" smtClean="0"/>
              <a:t>1 VM per </a:t>
            </a:r>
            <a:r>
              <a:rPr lang="pl-PL" dirty="0" err="1" smtClean="0"/>
              <a:t>compute</a:t>
            </a:r>
            <a:r>
              <a:rPr lang="pl-PL" dirty="0" smtClean="0"/>
              <a:t> </a:t>
            </a:r>
            <a:r>
              <a:rPr lang="pl-PL" dirty="0" err="1" smtClean="0"/>
              <a:t>node</a:t>
            </a:r>
            <a:endParaRPr lang="pl-PL" dirty="0" smtClean="0"/>
          </a:p>
          <a:p>
            <a:pPr lvl="2">
              <a:spcBef>
                <a:spcPts val="0"/>
              </a:spcBef>
              <a:buChar char="○"/>
            </a:pPr>
            <a:r>
              <a:rPr lang="pl-PL" dirty="0" err="1" smtClean="0"/>
              <a:t>Increasing</a:t>
            </a:r>
            <a:r>
              <a:rPr lang="pl-PL" dirty="0" smtClean="0"/>
              <a:t> </a:t>
            </a:r>
            <a:r>
              <a:rPr lang="pl-PL" dirty="0" err="1" smtClean="0"/>
              <a:t>number</a:t>
            </a:r>
            <a:r>
              <a:rPr lang="pl-PL" dirty="0" smtClean="0"/>
              <a:t> of </a:t>
            </a:r>
            <a:r>
              <a:rPr lang="pl-PL" dirty="0" err="1" smtClean="0"/>
              <a:t>compute</a:t>
            </a:r>
            <a:r>
              <a:rPr lang="pl-PL" dirty="0"/>
              <a:t/>
            </a:r>
            <a:br>
              <a:rPr lang="pl-PL" dirty="0"/>
            </a:br>
            <a:r>
              <a:rPr lang="pl-PL" dirty="0" err="1" smtClean="0"/>
              <a:t>nodes</a:t>
            </a:r>
            <a:r>
              <a:rPr lang="pl-PL" dirty="0" smtClean="0"/>
              <a:t> (1..5)</a:t>
            </a:r>
          </a:p>
          <a:p>
            <a:pPr lvl="2">
              <a:spcBef>
                <a:spcPts val="0"/>
              </a:spcBef>
              <a:buChar char="○"/>
            </a:pPr>
            <a:r>
              <a:rPr lang="pl-PL" dirty="0" smtClean="0"/>
              <a:t>ICMP ping </a:t>
            </a:r>
            <a:r>
              <a:rPr lang="pl-PL" dirty="0" err="1" smtClean="0"/>
              <a:t>between</a:t>
            </a:r>
            <a:r>
              <a:rPr lang="pl-PL" dirty="0" smtClean="0"/>
              <a:t> </a:t>
            </a:r>
            <a:r>
              <a:rPr lang="pl-PL" dirty="0" err="1" smtClean="0"/>
              <a:t>each</a:t>
            </a:r>
            <a:r>
              <a:rPr lang="pl-PL" dirty="0" smtClean="0"/>
              <a:t> </a:t>
            </a:r>
            <a:r>
              <a:rPr lang="pl-PL" dirty="0" err="1" smtClean="0"/>
              <a:t>unique</a:t>
            </a:r>
            <a:r>
              <a:rPr lang="pl-PL" dirty="0" smtClean="0"/>
              <a:t> </a:t>
            </a:r>
            <a:br>
              <a:rPr lang="pl-PL" dirty="0" smtClean="0"/>
            </a:br>
            <a:r>
              <a:rPr lang="pl-PL" dirty="0" err="1" smtClean="0"/>
              <a:t>pair</a:t>
            </a:r>
            <a:r>
              <a:rPr lang="pl-PL" dirty="0" smtClean="0"/>
              <a:t> of </a:t>
            </a:r>
            <a:r>
              <a:rPr lang="pl-PL" dirty="0" err="1" smtClean="0"/>
              <a:t>VMs</a:t>
            </a:r>
            <a:endParaRPr lang="pl-PL" dirty="0" smtClean="0"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-PL" b="1" dirty="0" err="1" smtClean="0"/>
              <a:t>Scenario</a:t>
            </a:r>
            <a:r>
              <a:rPr lang="pl-PL" b="1" dirty="0" smtClean="0"/>
              <a:t> 2:</a:t>
            </a:r>
          </a:p>
          <a:p>
            <a:pPr lvl="2">
              <a:spcBef>
                <a:spcPts val="0"/>
              </a:spcBef>
              <a:buChar char="○"/>
            </a:pPr>
            <a:r>
              <a:rPr lang="pl-PL" dirty="0" smtClean="0"/>
              <a:t>2 </a:t>
            </a:r>
            <a:r>
              <a:rPr lang="pl-PL" dirty="0" err="1" smtClean="0"/>
              <a:t>compute</a:t>
            </a:r>
            <a:r>
              <a:rPr lang="pl-PL" dirty="0" smtClean="0"/>
              <a:t> </a:t>
            </a:r>
            <a:r>
              <a:rPr lang="pl-PL" dirty="0" err="1" smtClean="0"/>
              <a:t>nodes</a:t>
            </a:r>
            <a:endParaRPr lang="pl-PL" dirty="0" smtClean="0"/>
          </a:p>
          <a:p>
            <a:pPr lvl="2">
              <a:spcBef>
                <a:spcPts val="0"/>
              </a:spcBef>
              <a:buChar char="○"/>
            </a:pPr>
            <a:r>
              <a:rPr lang="pl-PL" dirty="0" err="1" smtClean="0"/>
              <a:t>Increasing</a:t>
            </a:r>
            <a:r>
              <a:rPr lang="pl-PL" dirty="0" smtClean="0"/>
              <a:t> </a:t>
            </a:r>
            <a:r>
              <a:rPr lang="pl-PL" dirty="0" err="1" smtClean="0"/>
              <a:t>number</a:t>
            </a:r>
            <a:r>
              <a:rPr lang="pl-PL" dirty="0" smtClean="0"/>
              <a:t> of </a:t>
            </a:r>
            <a:r>
              <a:rPr lang="pl-PL" dirty="0" err="1" smtClean="0"/>
              <a:t>VMs</a:t>
            </a:r>
            <a:r>
              <a:rPr lang="pl-PL" dirty="0" smtClean="0"/>
              <a:t> (1..5)</a:t>
            </a:r>
          </a:p>
          <a:p>
            <a:pPr lvl="2">
              <a:spcBef>
                <a:spcPts val="0"/>
              </a:spcBef>
              <a:buFont typeface="Proxima Nova"/>
              <a:buChar char="○"/>
            </a:pPr>
            <a:r>
              <a:rPr lang="pl-PL" dirty="0"/>
              <a:t>ICMP ping </a:t>
            </a:r>
            <a:r>
              <a:rPr lang="pl-PL" dirty="0" err="1"/>
              <a:t>between</a:t>
            </a:r>
            <a:r>
              <a:rPr lang="pl-PL" dirty="0"/>
              <a:t> </a:t>
            </a:r>
            <a:r>
              <a:rPr lang="pl-PL" dirty="0" err="1"/>
              <a:t>each</a:t>
            </a:r>
            <a:r>
              <a:rPr lang="pl-PL" dirty="0"/>
              <a:t> </a:t>
            </a:r>
            <a:r>
              <a:rPr lang="pl-PL" dirty="0" err="1"/>
              <a:t>unique</a:t>
            </a:r>
            <a:r>
              <a:rPr lang="pl-PL" dirty="0"/>
              <a:t> </a:t>
            </a:r>
            <a:br>
              <a:rPr lang="pl-PL" dirty="0"/>
            </a:br>
            <a:r>
              <a:rPr lang="pl-PL" dirty="0" err="1"/>
              <a:t>pair</a:t>
            </a:r>
            <a:r>
              <a:rPr lang="pl-PL" dirty="0"/>
              <a:t> of </a:t>
            </a:r>
            <a:r>
              <a:rPr lang="pl-PL" dirty="0" err="1"/>
              <a:t>VMs</a:t>
            </a:r>
            <a:endParaRPr lang="pl-PL" dirty="0"/>
          </a:p>
          <a:p>
            <a:pPr lvl="2">
              <a:spcBef>
                <a:spcPts val="0"/>
              </a:spcBef>
              <a:buChar char="○"/>
            </a:pPr>
            <a:endParaRPr lang="pl-PL" dirty="0" smtClean="0"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/>
          </a:p>
        </p:txBody>
      </p:sp>
      <p:pic>
        <p:nvPicPr>
          <p:cNvPr id="6" name="Shape 3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8400" y="1282500"/>
            <a:ext cx="4473197" cy="32645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6495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Shape 36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l" dirty="0" smtClean="0"/>
              <a:t>Performance of OpenFlow vs XMPP</a:t>
            </a:r>
            <a:endParaRPr dirty="0"/>
          </a:p>
        </p:txBody>
      </p:sp>
      <p:sp>
        <p:nvSpPr>
          <p:cNvPr id="370" name="Shape 37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Experiments:</a:t>
            </a:r>
            <a:endParaRPr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Single instance - control plane performance (done)</a:t>
            </a:r>
            <a:endParaRPr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ONOS cluster - control plane performance (to be done)</a:t>
            </a:r>
            <a:endParaRPr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Data plane performance (to be done)</a:t>
            </a:r>
            <a:endParaRPr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Control plane delay (to be done)</a:t>
            </a:r>
            <a:endParaRPr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371" name="Shape 3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9108" y="2623175"/>
            <a:ext cx="3929967" cy="2372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Shape 3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427" y="2623175"/>
            <a:ext cx="4297422" cy="237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Shape 3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Use case</a:t>
            </a:r>
            <a:endParaRPr/>
          </a:p>
        </p:txBody>
      </p:sp>
      <p:sp>
        <p:nvSpPr>
          <p:cNvPr id="363" name="Shape 36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0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We propose BGP over XMPP, but XMPP is agnostic to use case!</a:t>
            </a:r>
            <a:endParaRPr/>
          </a:p>
        </p:txBody>
      </p:sp>
      <p:graphicFrame>
        <p:nvGraphicFramePr>
          <p:cNvPr id="364" name="Shape 364"/>
          <p:cNvGraphicFramePr/>
          <p:nvPr/>
        </p:nvGraphicFramePr>
        <p:xfrm>
          <a:off x="1493500" y="1668025"/>
          <a:ext cx="5841175" cy="3352395"/>
        </p:xfrm>
        <a:graphic>
          <a:graphicData uri="http://schemas.openxmlformats.org/drawingml/2006/table">
            <a:tbl>
              <a:tblPr>
                <a:noFill/>
                <a:tableStyleId>{8F103823-9D80-430B-BE83-918672A8F3E2}</a:tableStyleId>
              </a:tblPr>
              <a:tblGrid>
                <a:gridCol w="1099350"/>
                <a:gridCol w="1237125"/>
                <a:gridCol w="1168225"/>
                <a:gridCol w="1309800"/>
                <a:gridCol w="1026675"/>
              </a:tblGrid>
              <a:tr h="63590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Main use case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Area of usage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Approach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Scalability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</a:tr>
              <a:tr h="857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BGP over </a:t>
                      </a:r>
                      <a:endParaRPr/>
                    </a:p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XMPP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L3VPN,</a:t>
                      </a:r>
                      <a:endParaRPr/>
                    </a:p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EVPN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Intra-DC,</a:t>
                      </a:r>
                      <a:endParaRPr/>
                    </a:p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Inter-DC (with BGP)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Evolutionary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Good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85727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OpenFlow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Traffic engineering, NAT, ACL, etc., multi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Intra-DC,</a:t>
                      </a:r>
                      <a:br>
                        <a:rPr lang="pl"/>
                      </a:br>
                      <a:r>
                        <a:rPr lang="pl"/>
                        <a:t>Inter-DC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Revolutionary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Limited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06666"/>
                    </a:solidFill>
                  </a:tcPr>
                </a:tc>
              </a:tr>
              <a:tr h="635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PCEP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TE, path compute and tunnels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Inter-DC (with IS-IS or OSPF)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Evolutionary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very Good</a:t>
                      </a:r>
                      <a:endParaRPr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Shape 377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Conclusions</a:t>
            </a:r>
            <a:endParaRPr/>
          </a:p>
        </p:txBody>
      </p:sp>
      <p:sp>
        <p:nvSpPr>
          <p:cNvPr id="378" name="Shape 378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XMPP as SBI for ONOS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Shape 38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Summary</a:t>
            </a:r>
            <a:endParaRPr/>
          </a:p>
        </p:txBody>
      </p:sp>
      <p:sp>
        <p:nvSpPr>
          <p:cNvPr id="384" name="Shape 38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XMPP SBI for ONOS is ready!</a:t>
            </a:r>
            <a:endParaRPr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BGP over XMPP as a new control plane solution</a:t>
            </a:r>
            <a:endParaRPr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extensible architecture</a:t>
            </a:r>
            <a:endParaRPr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XMPP as “container protocol”</a:t>
            </a:r>
            <a:endParaRPr/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Evaluation:</a:t>
            </a:r>
            <a:endParaRPr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BGP over XMPP positioned between OpenFlow and PCEP</a:t>
            </a:r>
            <a:endParaRPr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In case of intra-DC connectivity BGP over XMPP performs much better than OpenFlow!</a:t>
            </a:r>
            <a:endParaRPr/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Further work:</a:t>
            </a:r>
            <a:endParaRPr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Complete performance analysis</a:t>
            </a:r>
            <a:endParaRPr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Research paper publication</a:t>
            </a:r>
            <a:endParaRPr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Integration with OpenContrail vRouter</a:t>
            </a:r>
            <a:endParaRPr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Integration with OpenStack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322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Demo</a:t>
            </a:r>
            <a:endParaRPr/>
          </a:p>
        </p:txBody>
      </p:sp>
      <p:sp>
        <p:nvSpPr>
          <p:cNvPr id="323" name="Shape 323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XMPP as SBI for ONOS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Shape 3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Demo scenario</a:t>
            </a:r>
            <a:endParaRPr/>
          </a:p>
        </p:txBody>
      </p:sp>
      <p:sp>
        <p:nvSpPr>
          <p:cNvPr id="329" name="Shape 3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75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pl"/>
              <a:t>Instantiate ONOS controller and 3 vRouters</a:t>
            </a:r>
            <a:endParaRPr/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pl"/>
              <a:t>Run Mininet hosts and attach them to vRouter (with overlapping IP addresses)</a:t>
            </a:r>
            <a:endParaRPr/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pl"/>
              <a:t>Test connectivity between “red” hosts</a:t>
            </a:r>
            <a:endParaRPr/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pl"/>
              <a:t>Test connectivity between “blue” hosts</a:t>
            </a:r>
            <a:endParaRPr/>
          </a:p>
        </p:txBody>
      </p:sp>
      <p:pic>
        <p:nvPicPr>
          <p:cNvPr id="330" name="Shape 3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8400" y="1282500"/>
            <a:ext cx="4473197" cy="3264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Shape 3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Demo recording</a:t>
            </a:r>
            <a:endParaRPr/>
          </a:p>
        </p:txBody>
      </p:sp>
      <p:sp>
        <p:nvSpPr>
          <p:cNvPr id="336" name="Shape 3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337" name="Shape 337" title="xmpp-demo.mp4">
            <a:hlinkClick r:id="rId3"/>
          </p:cNvPr>
          <p:cNvSpPr/>
          <p:nvPr/>
        </p:nvSpPr>
        <p:spPr>
          <a:xfrm>
            <a:off x="2286000" y="1146175"/>
            <a:ext cx="4572000" cy="3429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Shape 389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Q&amp;A</a:t>
            </a:r>
            <a:endParaRPr/>
          </a:p>
        </p:txBody>
      </p:sp>
      <p:sp>
        <p:nvSpPr>
          <p:cNvPr id="390" name="Shape 390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Thank you!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Shape 39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Functionality (2/2)</a:t>
            </a:r>
            <a:endParaRPr/>
          </a:p>
        </p:txBody>
      </p:sp>
      <p:sp>
        <p:nvSpPr>
          <p:cNvPr id="396" name="Shape 39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BGP over XMPP vs. OpenFlow</a:t>
            </a:r>
            <a:endParaRPr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Both are used to exchange routing information inside DC</a:t>
            </a:r>
            <a:endParaRPr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OpenFlow is flow-oriented (multiple-flow-tables), while BGPoXMPP is Virtual interface-oriented (VRF tables)</a:t>
            </a:r>
            <a:endParaRPr/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BGP over XMPP vs. PCEP</a:t>
            </a:r>
            <a:endParaRPr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Both are used at the edge of network</a:t>
            </a:r>
            <a:endParaRPr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PCEP cannot be applied inside DC, but few devices need to communicate with the controllers</a:t>
            </a:r>
            <a:endParaRPr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BGP over XMPP allows to span VPN across multiple DC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937</Words>
  <Application>Microsoft Office PowerPoint</Application>
  <PresentationFormat>Pokaz na ekranie (16:9)</PresentationFormat>
  <Paragraphs>216</Paragraphs>
  <Slides>23</Slides>
  <Notes>23</Notes>
  <HiddenSlides>1</HiddenSlides>
  <MMClips>0</MMClips>
  <ScaleCrop>false</ScaleCrop>
  <HeadingPairs>
    <vt:vector size="8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Łącza</vt:lpstr>
      </vt:variant>
      <vt:variant>
        <vt:i4>9</vt:i4>
      </vt:variant>
      <vt:variant>
        <vt:lpstr>Tytuły slajdów</vt:lpstr>
      </vt:variant>
      <vt:variant>
        <vt:i4>23</vt:i4>
      </vt:variant>
    </vt:vector>
  </HeadingPairs>
  <TitlesOfParts>
    <vt:vector size="37" baseType="lpstr">
      <vt:lpstr>Arial</vt:lpstr>
      <vt:lpstr>Calibri</vt:lpstr>
      <vt:lpstr>Proxima Nova</vt:lpstr>
      <vt:lpstr>Times New Roman</vt:lpstr>
      <vt:lpstr>Spearmint</vt:lpstr>
      <vt:lpstr>C:\Users\PC\Documents\Drawing1.vsdx\Drawing\~Page-2\Sheet.57</vt:lpstr>
      <vt:lpstr>C:\Users\PC\Documents\Drawing1.vsdx\Drawing\~Page-2\Sheet.58</vt:lpstr>
      <vt:lpstr>C:\Users\PC\Documents\Drawing1.vsdx\Drawing\~Page-2\Sheet.58</vt:lpstr>
      <vt:lpstr>C:\Users\PC\Documents\Drawing1.vsdx\Drawing\~Page-2\Sheet.58</vt:lpstr>
      <vt:lpstr>C:\Users\PC\Documents\Drawing1.vsdx\Drawing\~Page-2\Sheet.59</vt:lpstr>
      <vt:lpstr>C:\Users\PC\Documents\Drawing1.vsdx\Drawing\~Page-2\Sheet.60</vt:lpstr>
      <vt:lpstr>C:\Users\PC\Documents\Drawing1.vsdx\Drawing\~Page-2\Sheet.60</vt:lpstr>
      <vt:lpstr>C:\Users\PC\Documents\Drawing1.vsdx\Drawing\~Page-2\Sheet.61</vt:lpstr>
      <vt:lpstr>C:\Users\PC\Documents\Drawing1.vsdx\Drawing\~Page-2\Sheet.62</vt:lpstr>
      <vt:lpstr>XMPP as SBI implementation  Tomek Osiński: Orange Labs, Warsaw, Poland Abdulhalim Dandoush: ESME Sudria engineering school, France</vt:lpstr>
      <vt:lpstr>Agenda</vt:lpstr>
      <vt:lpstr>XMPP protocol</vt:lpstr>
      <vt:lpstr>Overview of MPLS/L3VPN-XMPP solution</vt:lpstr>
      <vt:lpstr>Proposed solution for ONOS</vt:lpstr>
      <vt:lpstr>The concept of XMPP as SBI</vt:lpstr>
      <vt:lpstr>Design &amp; Implementation</vt:lpstr>
      <vt:lpstr>Solution design</vt:lpstr>
      <vt:lpstr>XMPP as SBI implementation</vt:lpstr>
      <vt:lpstr>Implementation architecture</vt:lpstr>
      <vt:lpstr>Tests of XMPP SBI</vt:lpstr>
      <vt:lpstr>Evaluation</vt:lpstr>
      <vt:lpstr>SBI’s functionality</vt:lpstr>
      <vt:lpstr>Performance of OpenFlow vs XMPP</vt:lpstr>
      <vt:lpstr>Performance of OpenFlow vs XMPP</vt:lpstr>
      <vt:lpstr>Use case</vt:lpstr>
      <vt:lpstr>Conclusions</vt:lpstr>
      <vt:lpstr>Summary</vt:lpstr>
      <vt:lpstr>Demo</vt:lpstr>
      <vt:lpstr>Demo scenario</vt:lpstr>
      <vt:lpstr>Demo recording</vt:lpstr>
      <vt:lpstr>Q&amp;A</vt:lpstr>
      <vt:lpstr>Functionality (2/2)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XMPP as SBI implementation  Tomek Osiński: Orange Labs, Warsaw, Poland Abdulhalim Dandoush: ESME Sudria engineering school, France</dc:title>
  <dc:creator>PC</dc:creator>
  <cp:lastModifiedBy>Osiński Tomasz - Korpo</cp:lastModifiedBy>
  <cp:revision>13</cp:revision>
  <dcterms:modified xsi:type="dcterms:W3CDTF">2018-04-10T19:29:27Z</dcterms:modified>
</cp:coreProperties>
</file>