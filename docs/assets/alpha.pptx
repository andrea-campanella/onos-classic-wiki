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0080625" cy="7559675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956" autoAdjust="0"/>
  </p:normalViewPr>
  <p:slideViewPr>
    <p:cSldViewPr>
      <p:cViewPr varScale="1">
        <p:scale>
          <a:sx n="49" d="100"/>
          <a:sy n="49" d="100"/>
        </p:scale>
        <p:origin x="-1842" y="-102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1121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/>
        </p:nvSpPr>
        <p:spPr>
          <a:xfrm>
            <a:off x="4281480" y="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Shape 59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Shape 60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</p:txBody>
      </p:sp>
      <p:sp>
        <p:nvSpPr>
          <p:cNvPr id="62" name="Shape 62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/>
          <p:nvPr/>
        </p:nvSpPr>
        <p:spPr>
          <a:xfrm>
            <a:off x="4281480" y="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Shape 69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/>
          </a:p>
        </p:txBody>
      </p:sp>
      <p:sp>
        <p:nvSpPr>
          <p:cNvPr id="72" name="Shape 72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/>
        </p:nvSpPr>
        <p:spPr>
          <a:xfrm>
            <a:off x="4281480" y="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Shape 78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</p:txBody>
      </p:sp>
      <p:sp>
        <p:nvSpPr>
          <p:cNvPr id="81" name="Shape 81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/>
          <p:nvPr/>
        </p:nvSpPr>
        <p:spPr>
          <a:xfrm>
            <a:off x="4281480" y="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Shape 87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Shape 88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</p:txBody>
      </p:sp>
      <p:sp>
        <p:nvSpPr>
          <p:cNvPr id="90" name="Shape 90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/>
        </p:nvSpPr>
        <p:spPr>
          <a:xfrm>
            <a:off x="4281480" y="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Shape 96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Shape 97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/>
        </p:nvSpPr>
        <p:spPr>
          <a:xfrm>
            <a:off x="4281480" y="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Shape 107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</p:txBody>
      </p:sp>
      <p:sp>
        <p:nvSpPr>
          <p:cNvPr id="109" name="Shape 109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/>
          <p:nvPr/>
        </p:nvSpPr>
        <p:spPr>
          <a:xfrm>
            <a:off x="4281480" y="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Shape 116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Shape 117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</p:txBody>
      </p:sp>
      <p:sp>
        <p:nvSpPr>
          <p:cNvPr id="119" name="Shape 119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4281480" y="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Shape 127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Shape 128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</p:txBody>
      </p:sp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/>
          <p:nvPr/>
        </p:nvSpPr>
        <p:spPr>
          <a:xfrm>
            <a:off x="4281480" y="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Shape 139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Shape 140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highlight>
                <a:srgbClr val="FFFFFF"/>
              </a:highlight>
            </a:endParaRPr>
          </a:p>
        </p:txBody>
      </p:sp>
      <p:sp>
        <p:nvSpPr>
          <p:cNvPr id="142" name="Shape 142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/>
          <p:nvPr/>
        </p:nvSpPr>
        <p:spPr>
          <a:xfrm>
            <a:off x="4281480" y="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Shape 148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Shape 149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Shape 150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000" dirty="0"/>
          </a:p>
        </p:txBody>
      </p:sp>
      <p:sp>
        <p:nvSpPr>
          <p:cNvPr id="151" name="Shape 151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Shape 158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/>
          <p:nvPr/>
        </p:nvSpPr>
        <p:spPr>
          <a:xfrm>
            <a:off x="4281480" y="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Shape 163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Shape 164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Shape 165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000" dirty="0"/>
          </a:p>
        </p:txBody>
      </p:sp>
      <p:sp>
        <p:nvSpPr>
          <p:cNvPr id="166" name="Shape 166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Shape 172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/>
          <p:nvPr/>
        </p:nvSpPr>
        <p:spPr>
          <a:xfrm>
            <a:off x="4281480" y="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Shape 177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Shape 178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Shape 180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/>
          <p:nvPr/>
        </p:nvSpPr>
        <p:spPr>
          <a:xfrm>
            <a:off x="4281480" y="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Shape 191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Shape 192"/>
          <p:cNvSpPr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Shape 193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Shape 194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/>
          <p:nvPr/>
        </p:nvSpPr>
        <p:spPr>
          <a:xfrm>
            <a:off x="4281480" y="0"/>
            <a:ext cx="32763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Shape 200"/>
          <p:cNvSpPr/>
          <p:nvPr/>
        </p:nvSpPr>
        <p:spPr>
          <a:xfrm>
            <a:off x="4278960" y="10157400"/>
            <a:ext cx="328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Shape 201"/>
          <p:cNvSpPr/>
          <p:nvPr/>
        </p:nvSpPr>
        <p:spPr>
          <a:xfrm>
            <a:off x="4278960" y="10157400"/>
            <a:ext cx="328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Shape 202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400" cy="48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Shape 203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/>
          <p:nvPr/>
        </p:nvSpPr>
        <p:spPr>
          <a:xfrm>
            <a:off x="4281480" y="0"/>
            <a:ext cx="32763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Shape 209"/>
          <p:cNvSpPr/>
          <p:nvPr/>
        </p:nvSpPr>
        <p:spPr>
          <a:xfrm>
            <a:off x="4278960" y="10157400"/>
            <a:ext cx="328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Shape 210"/>
          <p:cNvSpPr/>
          <p:nvPr/>
        </p:nvSpPr>
        <p:spPr>
          <a:xfrm>
            <a:off x="4278960" y="10157400"/>
            <a:ext cx="328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Shape 211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400" cy="48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Shape 212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body" idx="1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2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subTitle" idx="1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2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2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3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1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2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body" idx="1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2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3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4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body" idx="1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body" idx="2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5" name="Shape 55"/>
          <p:cNvSpPr/>
          <p:nvPr/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Shape 56"/>
          <p:cNvSpPr/>
          <p:nvPr/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dt" idx="10"/>
          </p:nvPr>
        </p:nvSpPr>
        <p:spPr>
          <a:xfrm>
            <a:off x="504000" y="6887160"/>
            <a:ext cx="2347920" cy="52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3447360" y="6887160"/>
            <a:ext cx="3194640" cy="52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7227360" y="6887160"/>
            <a:ext cx="2347920" cy="52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body" idx="1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tools.ietf.org/html/rfc4741" TargetMode="External"/><Relationship Id="rId7" Type="http://schemas.openxmlformats.org/officeDocument/2006/relationships/hyperlink" Target="http://downloads.onosproject.org/vm/onos-ofconfig-netconf.ova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Paxterra/TestON" TargetMode="External"/><Relationship Id="rId5" Type="http://schemas.openxmlformats.org/officeDocument/2006/relationships/hyperlink" Target="https://wiki.onosproject.org/pages/viewpage.action?pageId=2133836" TargetMode="External"/><Relationship Id="rId4" Type="http://schemas.openxmlformats.org/officeDocument/2006/relationships/hyperlink" Target="https://wiki.onosproject.org/display/ONOS/NETCONF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Netconf South-Bound Interface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Shape 65"/>
          <p:cNvSpPr txBox="1"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Shape 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0000" y="2520000"/>
            <a:ext cx="3170520" cy="2031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Shape 75"/>
          <p:cNvSpPr txBox="1"/>
          <p:nvPr/>
        </p:nvSpPr>
        <p:spPr>
          <a:xfrm>
            <a:off x="432720" y="1512000"/>
            <a:ext cx="9071280" cy="4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North Bound / South Bound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Netconf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Capabilities Exchanges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Remote Procedure Call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Working environment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TestON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Configuration files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TestON results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Useful links</a:t>
            </a:r>
            <a:endParaRPr sz="2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Q&amp;A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North </a:t>
            </a:r>
            <a:r>
              <a:rPr lang="en-US" sz="4400"/>
              <a:t>b</a:t>
            </a:r>
            <a:r>
              <a:rPr lang="en-US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ound / South </a:t>
            </a:r>
            <a:r>
              <a:rPr lang="en-US" sz="4400"/>
              <a:t>b</a:t>
            </a:r>
            <a:r>
              <a:rPr lang="en-US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ound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Shape 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1720" y="1656000"/>
            <a:ext cx="8719920" cy="5000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Netconf 1.0 RFC 4741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Shape 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720" y="1769040"/>
            <a:ext cx="8871480" cy="4384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Capabilities exchanges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Shape 102"/>
          <p:cNvSpPr txBox="1"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the device :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Shape 103"/>
          <p:cNvSpPr/>
          <p:nvPr/>
        </p:nvSpPr>
        <p:spPr>
          <a:xfrm>
            <a:off x="720000" y="3325675"/>
            <a:ext cx="9162900" cy="26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&lt;hello xmlns="urn:ietf:params:xml:ns:netconf:base:1.0"&gt;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&lt;capabilities&gt;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&lt;capability&gt;urn:ietf:params:netconf:base:1.0&lt;/capability&gt;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&lt;capability&gt;urn:ietf:params:netconf:base:1.1&lt;/capability&gt;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&lt;capability&gt;urn:ietf:params:netconf:capability:writable-running:1.0&lt;/capability&gt;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&lt;capability&gt;urn:ietf:params:netconf:capability:candidate:1.0&lt;/capability&gt;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&lt;capability&gt;urn:ietf:params:netconf:capability:startup:1.0&lt;/capability&gt;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&lt;capability&gt;urn:ietf:params:netconf:capability:rollback-on-error:1.0&lt;/capability&gt;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&lt;/capabilities&gt;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&lt;/hello&gt;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Remote Procedure Call</a:t>
            </a:r>
            <a:endParaRPr sz="1800" b="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Shape 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9480" y="1914275"/>
            <a:ext cx="6333121" cy="209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Shape 113"/>
          <p:cNvSpPr txBox="1"/>
          <p:nvPr/>
        </p:nvSpPr>
        <p:spPr>
          <a:xfrm>
            <a:off x="1163113" y="3848300"/>
            <a:ext cx="77544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&lt;rpc xmlns="urn:ietf:params:xml:ns:netconf:base:1.0" message-id="1"&gt;</a:t>
            </a:r>
            <a:endParaRPr sz="1800">
              <a:solidFill>
                <a:schemeClr val="dk1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&lt;get-config&gt;</a:t>
            </a:r>
            <a:endParaRPr sz="1800">
              <a:solidFill>
                <a:schemeClr val="dk1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 &lt;source&gt;</a:t>
            </a:r>
            <a:endParaRPr sz="1800">
              <a:solidFill>
                <a:schemeClr val="dk1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   &lt;running/&gt;</a:t>
            </a:r>
            <a:endParaRPr sz="1800">
              <a:solidFill>
                <a:schemeClr val="dk1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 &lt;/source&gt;</a:t>
            </a:r>
            <a:endParaRPr sz="1800">
              <a:solidFill>
                <a:schemeClr val="dk1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&lt;/get-config&gt;</a:t>
            </a:r>
            <a:endParaRPr sz="1800">
              <a:solidFill>
                <a:schemeClr val="dk1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&lt;/rpc&gt;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 station</a:t>
            </a:r>
            <a:endParaRPr sz="1800" b="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Shape 122"/>
          <p:cNvSpPr txBox="1"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CentOS 7 system, 3.20 GHz 8-core CPU, 5.7 Go</a:t>
            </a:r>
            <a:endParaRPr sz="3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			</a:t>
            </a:r>
            <a:endParaRPr sz="2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</a:t>
            </a:r>
            <a:r>
              <a:rPr lang="en-US" sz="22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Virtual Machine</a:t>
            </a:r>
            <a:endParaRPr sz="3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Shape 1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00" y="2737800"/>
            <a:ext cx="1227960" cy="789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Shape 1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00" y="4168080"/>
            <a:ext cx="647640" cy="94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of the VM</a:t>
            </a:r>
            <a:endParaRPr sz="1800" b="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Shape 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640" y="2880000"/>
            <a:ext cx="8355960" cy="2363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" name="Shape 134"/>
          <p:cNvCxnSpPr/>
          <p:nvPr/>
        </p:nvCxnSpPr>
        <p:spPr>
          <a:xfrm>
            <a:off x="4781850" y="2162750"/>
            <a:ext cx="0" cy="384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" name="Shape 135"/>
          <p:cNvSpPr txBox="1"/>
          <p:nvPr/>
        </p:nvSpPr>
        <p:spPr>
          <a:xfrm>
            <a:off x="6428675" y="1927500"/>
            <a:ext cx="18849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VM</a:t>
            </a:r>
            <a:endParaRPr sz="1800"/>
          </a:p>
        </p:txBody>
      </p:sp>
      <p:sp>
        <p:nvSpPr>
          <p:cNvPr id="136" name="Shape 136"/>
          <p:cNvSpPr txBox="1"/>
          <p:nvPr/>
        </p:nvSpPr>
        <p:spPr>
          <a:xfrm>
            <a:off x="1561125" y="1927500"/>
            <a:ext cx="18849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HOST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TestON</a:t>
            </a:r>
            <a:endParaRPr sz="1800" b="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Shape 1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4000" y="1548000"/>
            <a:ext cx="6767640" cy="5075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 txBox="1"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topo</a:t>
            </a:r>
            <a:endParaRPr sz="1800" b="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Shape 154"/>
          <p:cNvSpPr txBox="1"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155" name="Shape 155"/>
          <p:cNvSpPr txBox="1"/>
          <p:nvPr/>
        </p:nvSpPr>
        <p:spPr>
          <a:xfrm>
            <a:off x="1090100" y="1348125"/>
            <a:ext cx="8093700" cy="9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&lt;ONOScell&gt;</a:t>
            </a:r>
            <a:endParaRPr sz="200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&lt;host&gt;192.168.3.10&lt;/host&gt;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&lt;user&gt;sdn&lt;/user&gt;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&lt;password&gt;&lt;/password&gt;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&lt;type&gt;OnosClusterDriver&lt;/type&gt;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&lt;connect_order&gt;1&lt;/connect_order&gt;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&lt;COMPONENTS&gt;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    &lt;cluster_name&gt;&lt;/cluster_name&gt;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    &lt;diff_clihost&gt;&lt;/diff_clihost&gt;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    &lt;karaf_username&gt;&lt;/karaf_username&gt;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    &lt;karaf_password&gt;&lt;/karaf_password&gt;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    &lt;web_user&gt;onos&lt;/web_user&gt;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    &lt;web_pass&gt;rocks&lt;/web_pass&gt;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    &lt;rest_port&gt;&lt;/rest_port&gt;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    &lt;prompt&gt;onos&lt;/prompt&gt;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    &lt;onos_home&gt;~/onos&lt;/onos_home&gt;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    &lt;nodes&gt; 1 &lt;/nodes&gt;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&lt;/COMPONENTS&gt;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&lt;/ONOScell&gt;</a:t>
            </a:r>
            <a:endParaRPr sz="2000"/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 txBox="1"/>
          <p:nvPr/>
        </p:nvSpPr>
        <p:spPr>
          <a:xfrm>
            <a:off x="1342225" y="1064525"/>
            <a:ext cx="7189500" cy="43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&lt;Mininet1&gt;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&lt;host&gt;192.168.3.12&lt;/host&gt;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&lt;user&gt;mininet&lt;/user&gt;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&lt;password&gt;mininet&lt;/password&gt;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&lt;type&gt;MininetCliDriver&lt;/type&gt;</a:t>
            </a:r>
            <a:endParaRPr sz="2000"/>
          </a:p>
          <a:p>
            <a:pPr marL="91440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&lt;connect_order&gt;2&lt;/connect_order&gt;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&lt;COMPONENTS&gt;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    &lt;home&gt;~/mininet&lt;/home&gt;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&lt;/COMPONENTS&gt;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&lt;/Mininet1&gt;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 txBox="1"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</a:t>
            </a:r>
            <a:endParaRPr sz="1800" b="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Shape 169"/>
          <p:cNvSpPr txBox="1"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&lt;PARAMS&gt;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&lt;!--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    CASE0: pull onos code - this case should be skipped on Jenkins-driven prod test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    CASE1: setup and clean test env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    CASE2: get onos warnings, errors from log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    CASE10: start a 1-node ONOS Cluster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    CASE11: Start Mininet and assign controllers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    CASE12: Connect to a physical network and assign controllers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    CASE20: Sample case of using onos cli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    CASE30: Sample case of using onos rest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    CASE40: Configure fwd apps and run pingall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    Sample testcases for physical network: 0,1,10,12,20,2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--&gt;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&lt;testcases&gt;0,1,10,11,20,2&lt;/testcases&gt;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/>
          <p:nvPr/>
        </p:nvSpPr>
        <p:spPr>
          <a:xfrm>
            <a:off x="1882225" y="1141675"/>
            <a:ext cx="5507700" cy="48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&lt;CASE1&gt;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&lt;SleepTimers&gt;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&lt;onosStartup&gt;60&lt;/onosStartup&gt;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&lt;onosCfg&gt;5&lt;/onosCfg&gt;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&lt;mnStartup&gt;15&lt;/mnStartup&gt;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&lt;mnCfg&gt;10&lt;/mnCfg&gt;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&lt;/SleepTimers&gt;</a:t>
            </a:r>
            <a:endParaRPr sz="20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&lt;/CASE1&gt;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TestON results</a:t>
            </a:r>
            <a:endParaRPr sz="1800" b="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Shape 183"/>
          <p:cNvSpPr txBox="1"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Case 1: Constructing test variables and building ONOS package - PASS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For loading from params file, and pull and build the latest ONOS package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	1.1 Constructing test variables - PASS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Case 10: Starting up 1 node(s) ONOS cluster - PASS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Set up ONOS with 1 node(s) ONOS cluster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	10.1 Start ONOS cluster with basic (drivers) app. - No Result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	10.2 Apply cell to environment - PASS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	10.3 Uninstalling ONOS package - PASS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	10.4 Creating ONOS package - PASS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	10.5 Set up ONOS secure SSH - PASS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	10.6 Checking ONOS service - PASS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	10.7 Starting ONOS CLI sessions - PASS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Case 12: Test some onos commands through CLI.  - PASS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/>
          <p:nvPr/>
        </p:nvSpPr>
        <p:spPr>
          <a:xfrm>
            <a:off x="2437625" y="1619950"/>
            <a:ext cx="6176400" cy="3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*************************************</a:t>
            </a:r>
            <a:endParaRPr sz="15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	Test Execution Summary</a:t>
            </a:r>
            <a:endParaRPr sz="15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************************************* </a:t>
            </a:r>
            <a:endParaRPr sz="15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 Test Start           : 30 Mar 2018 18:00:13</a:t>
            </a:r>
            <a:endParaRPr sz="15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 Test End             : 30 Mar 2018 18:00:23</a:t>
            </a:r>
            <a:endParaRPr sz="15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 Execution Time       : 0:00:10.277623</a:t>
            </a:r>
            <a:endParaRPr sz="15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 Total tests planned  : 4</a:t>
            </a:r>
            <a:endParaRPr sz="15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 Total tests RUN      : 4</a:t>
            </a:r>
            <a:endParaRPr sz="15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 Total Pass           : 4</a:t>
            </a:r>
            <a:endParaRPr sz="15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 Total Fail           : 0</a:t>
            </a:r>
            <a:endParaRPr sz="15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 Total No Result      : 0</a:t>
            </a:r>
            <a:endParaRPr sz="15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 Success Percentage   : 100%</a:t>
            </a:r>
            <a:endParaRPr sz="15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 Execution Result     : 100%</a:t>
            </a:r>
            <a:endParaRPr sz="15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 Case Executed        : [0, 1, 10, 12]</a:t>
            </a:r>
            <a:endParaRPr sz="15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 Case Not Executed    : []</a:t>
            </a:r>
            <a:endParaRPr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 txBox="1"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do</a:t>
            </a:r>
            <a:endParaRPr sz="1800" b="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Shape 197"/>
          <p:cNvSpPr txBox="1"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849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lang="en-US" sz="24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on a larger topology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32000" marR="0" lvl="0" indent="-3849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lang="en-US" sz="2400"/>
              <a:t>Test the set command</a:t>
            </a: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849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lang="en-US" sz="24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timers on more </a:t>
            </a:r>
            <a:r>
              <a:rPr lang="en-US" sz="2400"/>
              <a:t>code portion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849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lang="en-US" sz="24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on a physical device</a:t>
            </a: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Timer on more code portion</a:t>
            </a: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 txBox="1"/>
          <p:nvPr/>
        </p:nvSpPr>
        <p:spPr>
          <a:xfrm>
            <a:off x="504000" y="301320"/>
            <a:ext cx="907140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Useful links</a:t>
            </a:r>
            <a:endParaRPr sz="1800" b="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Shape 206"/>
          <p:cNvSpPr txBox="1"/>
          <p:nvPr/>
        </p:nvSpPr>
        <p:spPr>
          <a:xfrm>
            <a:off x="504000" y="1769050"/>
            <a:ext cx="9071400" cy="52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849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lang="en-US" sz="2400"/>
              <a:t>RFC NETCONF 1.0 : </a:t>
            </a:r>
            <a:r>
              <a:rPr lang="en-US" sz="2400" u="sng">
                <a:solidFill>
                  <a:schemeClr val="hlink"/>
                </a:solidFill>
                <a:hlinkClick r:id="rId3"/>
              </a:rPr>
              <a:t>https://tools.ietf.org/html/rfc4741</a:t>
            </a: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31999" marR="0" lvl="0" indent="-3849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lang="en-US" sz="2400"/>
              <a:t>Wiki ONOS NETCONF overview </a:t>
            </a:r>
            <a:r>
              <a:rPr lang="en-US" sz="2400" u="sng">
                <a:solidFill>
                  <a:schemeClr val="hlink"/>
                </a:solidFill>
                <a:hlinkClick r:id="rId4"/>
              </a:rPr>
              <a:t>https://wiki.onosproject.org/display/ONOS/NETCONF</a:t>
            </a: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31999" marR="0" lvl="0" indent="-3849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lang="en-US" sz="2400"/>
              <a:t>Wiki ONOS TestON tutorial </a:t>
            </a:r>
            <a:r>
              <a:rPr lang="en-US" sz="2400" u="sng">
                <a:solidFill>
                  <a:schemeClr val="hlink"/>
                </a:solidFill>
                <a:hlinkClick r:id="rId5"/>
              </a:rPr>
              <a:t>https://wiki.onosproject.org/pages/viewpage.action?pageId=2133836</a:t>
            </a: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31999" marR="0" lvl="0" indent="-3849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lang="en-US" sz="2400"/>
              <a:t>Github Paxterra TestON : </a:t>
            </a:r>
            <a:r>
              <a:rPr lang="en-US" sz="2400" u="sng">
                <a:solidFill>
                  <a:schemeClr val="hlink"/>
                </a:solidFill>
                <a:hlinkClick r:id="rId6"/>
              </a:rPr>
              <a:t>https://github.com/Paxterra/TestON</a:t>
            </a: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31999" marR="0" lvl="0" indent="-3849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lang="en-US" sz="2400"/>
              <a:t>VM NETCONF simulator OFC and OVS : </a:t>
            </a:r>
            <a:r>
              <a:rPr lang="en-US" sz="2400" u="sng">
                <a:solidFill>
                  <a:schemeClr val="hlink"/>
                </a:solidFill>
                <a:hlinkClick r:id="rId7"/>
              </a:rPr>
              <a:t>http://downloads.onosproject.org/vm/onos-ofconfig-netconf.ova</a:t>
            </a: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 txBox="1"/>
          <p:nvPr/>
        </p:nvSpPr>
        <p:spPr>
          <a:xfrm>
            <a:off x="504000" y="301320"/>
            <a:ext cx="907140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Q&amp;A</a:t>
            </a:r>
            <a:endParaRPr sz="1800" b="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504000" y="1769040"/>
            <a:ext cx="9071400" cy="43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Any questions ?</a:t>
            </a: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</Words>
  <Application>Microsoft Office PowerPoint</Application>
  <PresentationFormat>Personnalisé</PresentationFormat>
  <Paragraphs>170</Paragraphs>
  <Slides>18</Slides>
  <Notes>18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Sow, Alpha [FR]</cp:lastModifiedBy>
  <cp:revision>1</cp:revision>
  <dcterms:modified xsi:type="dcterms:W3CDTF">2018-04-18T07:54:20Z</dcterms:modified>
</cp:coreProperties>
</file>