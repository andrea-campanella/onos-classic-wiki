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y="5143500" cx="9144000"/>
  <p:notesSz cx="6858000" cy="9144000"/>
  <p:embeddedFontLst>
    <p:embeddedFont>
      <p:font typeface="Helvetica Neue"/>
      <p:regular r:id="rId59"/>
      <p:bold r:id="rId60"/>
      <p:italic r:id="rId61"/>
      <p:boldItalic r:id="rId62"/>
    </p:embeddedFont>
    <p:embeddedFont>
      <p:font typeface="Droid Sans"/>
      <p:regular r:id="rId63"/>
      <p:bold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tableStyles.xml><?xml version="1.0" encoding="utf-8"?>
<a:tblStyleLst xmlns:a="http://schemas.openxmlformats.org/drawingml/2006/main" xmlns:r="http://schemas.openxmlformats.org/officeDocument/2006/relationships" def="{8A59A1B7-CD78-43B1-B6B9-115EB682D11B}">
  <a:tblStyle styleId="{8A59A1B7-CD78-43B1-B6B9-115EB682D11B}" styleName="Table_0">
    <a:wholeTbl>
      <a:tcTxStyle b="off" i="off">
        <a:font>
          <a:latin typeface="Arial"/>
          <a:ea typeface="Arial"/>
          <a:cs typeface="Arial"/>
        </a:font>
        <a:schemeClr val="dk1"/>
      </a:tcTxStyle>
      <a:tcStyle>
        <a:tcBdr>
          <a:left>
            <a:ln cap="flat" cmpd="sng" w="12700">
              <a:solidFill>
                <a:schemeClr val="lt1"/>
              </a:solidFill>
              <a:prstDash val="solid"/>
              <a:round/>
              <a:headEnd len="med" w="med" type="none"/>
              <a:tailEnd len="med" w="med" type="none"/>
            </a:ln>
          </a:left>
          <a:right>
            <a:ln cap="flat" cmpd="sng" w="12700">
              <a:solidFill>
                <a:schemeClr val="lt1"/>
              </a:solidFill>
              <a:prstDash val="solid"/>
              <a:round/>
              <a:headEnd len="med" w="med" type="none"/>
              <a:tailEnd len="med" w="med" type="none"/>
            </a:ln>
          </a:right>
          <a:top>
            <a:ln cap="flat" cmpd="sng" w="12700">
              <a:solidFill>
                <a:schemeClr val="lt1"/>
              </a:solidFill>
              <a:prstDash val="solid"/>
              <a:round/>
              <a:headEnd len="med" w="med" type="none"/>
              <a:tailEnd len="med" w="med" type="none"/>
            </a:ln>
          </a:top>
          <a:bottom>
            <a:ln cap="flat" cmpd="sng" w="12700">
              <a:solidFill>
                <a:schemeClr val="lt1"/>
              </a:solidFill>
              <a:prstDash val="solid"/>
              <a:round/>
              <a:headEnd len="med" w="med" type="none"/>
              <a:tailEnd len="med" w="med" type="none"/>
            </a:ln>
          </a:bottom>
          <a:insideH>
            <a:ln cap="flat" cmpd="sng" w="12700">
              <a:solidFill>
                <a:schemeClr val="lt1"/>
              </a:solidFill>
              <a:prstDash val="solid"/>
              <a:round/>
              <a:headEnd len="med" w="med" type="none"/>
              <a:tailEnd len="med" w="med" type="none"/>
            </a:ln>
          </a:insideH>
          <a:insideV>
            <a:ln cap="flat" cmpd="sng" w="12700">
              <a:solidFill>
                <a:schemeClr val="lt1"/>
              </a:solidFill>
              <a:prstDash val="solid"/>
              <a:round/>
              <a:headEnd len="med" w="med" type="none"/>
              <a:tailEnd len="med" w="med" type="none"/>
            </a:ln>
          </a:insideV>
        </a:tcBdr>
        <a:fill>
          <a:solidFill>
            <a:srgbClr val="E6F1F6"/>
          </a:solidFill>
        </a:fill>
      </a:tcStyle>
    </a:wholeTbl>
    <a:band1H>
      <a:tcStyle>
        <a:fill>
          <a:solidFill>
            <a:srgbClr val="CAE1ED"/>
          </a:solidFill>
        </a:fill>
      </a:tcStyle>
    </a:band1H>
    <a:band1V>
      <a:tcStyle>
        <a:fill>
          <a:solidFill>
            <a:srgbClr val="CAE1ED"/>
          </a:solidFill>
        </a:fill>
      </a:tcStyle>
    </a:band1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med" w="med" type="none"/>
              <a:tailEnd len="med" w="med" type="none"/>
            </a:ln>
          </a:top>
        </a:tcBdr>
        <a:fill>
          <a:solidFill>
            <a:schemeClr val="accent1"/>
          </a:solidFill>
        </a:fill>
      </a:tcStyle>
    </a:lastRow>
    <a:firstRow>
      <a:tcTxStyle b="on" i="off">
        <a:font>
          <a:latin typeface="Arial"/>
          <a:ea typeface="Arial"/>
          <a:cs typeface="Arial"/>
        </a:font>
        <a:schemeClr val="lt1"/>
      </a:tcTxStyle>
      <a:tcStyle>
        <a:tcBdr>
          <a:bottom>
            <a:ln cap="flat" cmpd="sng" w="38100">
              <a:solidFill>
                <a:schemeClr val="lt1"/>
              </a:solidFill>
              <a:prstDash val="solid"/>
              <a:round/>
              <a:headEnd len="med" w="med" type="none"/>
              <a:tailEnd len="med" w="med" type="none"/>
            </a:ln>
          </a:bottom>
        </a:tcBdr>
        <a:fill>
          <a:solidFill>
            <a:schemeClr val="accent1"/>
          </a:solidFill>
        </a:fill>
      </a:tcStyle>
    </a:firstRow>
  </a:tblStyle>
  <a:tblStyle styleId="{530A87F9-20A3-43DA-95E3-A5313021CD8D}" styleName="Table_1">
    <a:wholeTbl>
      <a:tcTxStyle b="off" i="off">
        <a:font>
          <a:latin typeface="Arial"/>
          <a:ea typeface="Arial"/>
          <a:cs typeface="Arial"/>
        </a:font>
        <a:schemeClr val="dk1"/>
      </a:tcTxStyle>
      <a:tcStyle>
        <a:tcBdr>
          <a:left>
            <a:ln cap="flat" cmpd="sng" w="9525">
              <a:solidFill>
                <a:schemeClr val="accent1"/>
              </a:solidFill>
              <a:prstDash val="solid"/>
              <a:round/>
              <a:headEnd len="med" w="med" type="none"/>
              <a:tailEnd len="med" w="med" type="none"/>
            </a:ln>
          </a:left>
          <a:right>
            <a:ln cap="flat" cmpd="sng" w="9525">
              <a:solidFill>
                <a:schemeClr val="accent1"/>
              </a:solidFill>
              <a:prstDash val="solid"/>
              <a:round/>
              <a:headEnd len="med" w="med" type="none"/>
              <a:tailEnd len="med" w="med" type="none"/>
            </a:ln>
          </a:right>
          <a:top>
            <a:ln cap="flat" cmpd="sng" w="9525">
              <a:solidFill>
                <a:schemeClr val="accent1"/>
              </a:solidFill>
              <a:prstDash val="solid"/>
              <a:round/>
              <a:headEnd len="med" w="med" type="none"/>
              <a:tailEnd len="med" w="med" type="none"/>
            </a:ln>
          </a:top>
          <a:bottom>
            <a:ln cap="flat" cmpd="sng" w="9525">
              <a:solidFill>
                <a:schemeClr val="accent1"/>
              </a:solidFill>
              <a:prstDash val="solid"/>
              <a:round/>
              <a:headEnd len="med" w="med" type="none"/>
              <a:tailEnd len="med" w="med" type="none"/>
            </a:ln>
          </a:bottom>
          <a:insideH>
            <a:ln cap="flat" cmpd="sng" w="9525">
              <a:solidFill>
                <a:srgbClr val="000000">
                  <a:alpha val="0"/>
                </a:srgbClr>
              </a:solidFill>
              <a:prstDash val="solid"/>
              <a:round/>
              <a:headEnd len="med" w="med" type="none"/>
              <a:tailEnd len="med" w="med" type="none"/>
            </a:ln>
          </a:insideH>
          <a:insideV>
            <a:ln cap="flat" cmpd="sng" w="9525">
              <a:solidFill>
                <a:srgbClr val="000000">
                  <a:alpha val="0"/>
                </a:srgbClr>
              </a:solidFill>
              <a:prstDash val="solid"/>
              <a:round/>
              <a:headEnd len="med" w="med" type="none"/>
              <a:tailEnd len="med" w="med" type="none"/>
            </a:ln>
          </a:insideV>
        </a:tcBdr>
        <a:fill>
          <a:solidFill>
            <a:srgbClr val="FFFFFF">
              <a:alpha val="0"/>
            </a:srgbClr>
          </a:solidFill>
        </a:fill>
      </a:tcStyle>
    </a:wholeTbl>
    <a:band1H>
      <a:tcStyle>
        <a:tcBdr>
          <a:top>
            <a:ln cap="flat" cmpd="sng" w="9525">
              <a:solidFill>
                <a:schemeClr val="accent1"/>
              </a:solidFill>
              <a:prstDash val="solid"/>
              <a:round/>
              <a:headEnd len="med" w="med" type="none"/>
              <a:tailEnd len="med" w="med" type="none"/>
            </a:ln>
          </a:top>
          <a:bottom>
            <a:ln cap="flat" cmpd="sng" w="9525">
              <a:solidFill>
                <a:schemeClr val="accent1"/>
              </a:solidFill>
              <a:prstDash val="solid"/>
              <a:round/>
              <a:headEnd len="med" w="med" type="none"/>
              <a:tailEnd len="med" w="med" type="none"/>
            </a:ln>
          </a:bottom>
        </a:tcBdr>
      </a:tcStyle>
    </a:band1H>
    <a:band1V>
      <a:tcStyle>
        <a:tcBdr>
          <a:left>
            <a:ln cap="flat" cmpd="sng" w="9525">
              <a:solidFill>
                <a:schemeClr val="accent1"/>
              </a:solidFill>
              <a:prstDash val="solid"/>
              <a:round/>
              <a:headEnd len="med" w="med" type="none"/>
              <a:tailEnd len="med" w="med" type="none"/>
            </a:ln>
          </a:left>
          <a:right>
            <a:ln cap="flat" cmpd="sng" w="9525">
              <a:solidFill>
                <a:schemeClr val="accent1"/>
              </a:solidFill>
              <a:prstDash val="solid"/>
              <a:round/>
              <a:headEnd len="med" w="med" type="none"/>
              <a:tailEnd len="med" w="med" type="none"/>
            </a:ln>
          </a:right>
        </a:tcBdr>
      </a:tcStyle>
    </a:band1V>
    <a:band2V>
      <a:tcStyle>
        <a:tcBdr>
          <a:left>
            <a:ln cap="flat" cmpd="sng" w="9525">
              <a:solidFill>
                <a:schemeClr val="accent1"/>
              </a:solidFill>
              <a:prstDash val="solid"/>
              <a:round/>
              <a:headEnd len="med" w="med" type="none"/>
              <a:tailEnd len="med" w="med" type="none"/>
            </a:ln>
          </a:left>
          <a:right>
            <a:ln cap="flat" cmpd="sng" w="9525">
              <a:solidFill>
                <a:schemeClr val="accent1"/>
              </a:solidFill>
              <a:prstDash val="solid"/>
              <a:round/>
              <a:headEnd len="med" w="med" type="none"/>
              <a:tailEnd len="med" w="med"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med" w="med" type="none"/>
              <a:tailEnd len="med" w="med" type="none"/>
            </a:ln>
          </a:top>
        </a:tcBdr>
      </a:tcStyle>
    </a:lastRow>
    <a:firstRow>
      <a:tcTxStyle b="on" i="off">
        <a:font>
          <a:latin typeface="Arial"/>
          <a:ea typeface="Arial"/>
          <a:cs typeface="Arial"/>
        </a:font>
        <a:schemeClr val="lt1"/>
      </a:tcTxStyle>
      <a:tcStyle>
        <a:fill>
          <a:solidFill>
            <a:schemeClr val="accent1"/>
          </a:solidFill>
        </a:fill>
      </a:tcStyle>
    </a:firstRow>
  </a:tblStyle>
  <a:tblStyle styleId="{166D7E62-824E-484D-8639-DB79E850F34F}" styleName="Table_2">
    <a:wholeTbl>
      <a:tcTxStyle b="off" i="off">
        <a:font>
          <a:latin typeface="Arial"/>
          <a:ea typeface="Arial"/>
          <a:cs typeface="Arial"/>
        </a:font>
        <a:schemeClr val="dk1"/>
      </a:tcTxStyle>
      <a:tcStyle>
        <a:tcBdr>
          <a:left>
            <a:ln cap="flat" cmpd="sng" w="9525">
              <a:solidFill>
                <a:schemeClr val="accent1"/>
              </a:solidFill>
              <a:prstDash val="solid"/>
              <a:round/>
              <a:headEnd len="med" w="med" type="none"/>
              <a:tailEnd len="med" w="med" type="none"/>
            </a:ln>
          </a:left>
          <a:right>
            <a:ln cap="flat" cmpd="sng" w="9525">
              <a:solidFill>
                <a:schemeClr val="accent1"/>
              </a:solidFill>
              <a:prstDash val="solid"/>
              <a:round/>
              <a:headEnd len="med" w="med" type="none"/>
              <a:tailEnd len="med" w="med" type="none"/>
            </a:ln>
          </a:right>
          <a:top>
            <a:ln cap="flat" cmpd="sng" w="9525">
              <a:solidFill>
                <a:schemeClr val="accent1"/>
              </a:solidFill>
              <a:prstDash val="solid"/>
              <a:round/>
              <a:headEnd len="med" w="med" type="none"/>
              <a:tailEnd len="med" w="med" type="none"/>
            </a:ln>
          </a:top>
          <a:bottom>
            <a:ln cap="flat" cmpd="sng" w="9525">
              <a:solidFill>
                <a:schemeClr val="accent1"/>
              </a:solidFill>
              <a:prstDash val="solid"/>
              <a:round/>
              <a:headEnd len="med" w="med" type="none"/>
              <a:tailEnd len="med" w="med" type="none"/>
            </a:ln>
          </a:bottom>
          <a:insideH>
            <a:ln cap="flat" cmpd="sng" w="9525">
              <a:solidFill>
                <a:srgbClr val="000000">
                  <a:alpha val="0"/>
                </a:srgbClr>
              </a:solidFill>
              <a:prstDash val="solid"/>
              <a:round/>
              <a:headEnd len="med" w="med" type="none"/>
              <a:tailEnd len="med" w="med" type="none"/>
            </a:ln>
          </a:insideH>
          <a:insideV>
            <a:ln cap="flat" cmpd="sng" w="9525">
              <a:solidFill>
                <a:srgbClr val="000000">
                  <a:alpha val="0"/>
                </a:srgbClr>
              </a:solidFill>
              <a:prstDash val="solid"/>
              <a:round/>
              <a:headEnd len="med" w="med" type="none"/>
              <a:tailEnd len="med" w="med" type="none"/>
            </a:ln>
          </a:insideV>
        </a:tcBdr>
        <a:fill>
          <a:solidFill>
            <a:srgbClr val="FFFFFF">
              <a:alpha val="0"/>
            </a:srgbClr>
          </a:solidFill>
        </a:fill>
      </a:tcStyle>
    </a:wholeTbl>
    <a:band1H>
      <a:tcStyle>
        <a:tcBdr>
          <a:top>
            <a:ln cap="flat" cmpd="sng" w="9525">
              <a:solidFill>
                <a:schemeClr val="accent1"/>
              </a:solidFill>
              <a:prstDash val="solid"/>
              <a:round/>
              <a:headEnd len="med" w="med" type="none"/>
              <a:tailEnd len="med" w="med" type="none"/>
            </a:ln>
          </a:top>
          <a:bottom>
            <a:ln cap="flat" cmpd="sng" w="9525">
              <a:solidFill>
                <a:schemeClr val="accent1"/>
              </a:solidFill>
              <a:prstDash val="solid"/>
              <a:round/>
              <a:headEnd len="med" w="med" type="none"/>
              <a:tailEnd len="med" w="med" type="none"/>
            </a:ln>
          </a:bottom>
        </a:tcBdr>
      </a:tcStyle>
    </a:band1H>
    <a:band1V>
      <a:tcStyle>
        <a:tcBdr>
          <a:left>
            <a:ln cap="flat" cmpd="sng" w="9525">
              <a:solidFill>
                <a:schemeClr val="accent1"/>
              </a:solidFill>
              <a:prstDash val="solid"/>
              <a:round/>
              <a:headEnd len="med" w="med" type="none"/>
              <a:tailEnd len="med" w="med" type="none"/>
            </a:ln>
          </a:left>
          <a:right>
            <a:ln cap="flat" cmpd="sng" w="9525">
              <a:solidFill>
                <a:schemeClr val="accent1"/>
              </a:solidFill>
              <a:prstDash val="solid"/>
              <a:round/>
              <a:headEnd len="med" w="med" type="none"/>
              <a:tailEnd len="med" w="med" type="none"/>
            </a:ln>
          </a:right>
        </a:tcBdr>
      </a:tcStyle>
    </a:band1V>
    <a:band2V>
      <a:tcStyle>
        <a:tcBdr>
          <a:left>
            <a:ln cap="flat" cmpd="sng" w="9525">
              <a:solidFill>
                <a:schemeClr val="accent1"/>
              </a:solidFill>
              <a:prstDash val="solid"/>
              <a:round/>
              <a:headEnd len="med" w="med" type="none"/>
              <a:tailEnd len="med" w="med" type="none"/>
            </a:ln>
          </a:left>
          <a:right>
            <a:ln cap="flat" cmpd="sng" w="9525">
              <a:solidFill>
                <a:schemeClr val="accent1"/>
              </a:solidFill>
              <a:prstDash val="solid"/>
              <a:round/>
              <a:headEnd len="med" w="med" type="none"/>
              <a:tailEnd len="med" w="med"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med" w="med" type="none"/>
              <a:tailEnd len="med" w="med" type="none"/>
            </a:ln>
          </a:top>
        </a:tcBdr>
      </a:tcStyle>
    </a:lastRow>
    <a:firstRow>
      <a:tcTxStyle b="on" i="off">
        <a:font>
          <a:latin typeface="Arial"/>
          <a:ea typeface="Arial"/>
          <a:cs typeface="Arial"/>
        </a:font>
        <a:schemeClr val="lt1"/>
      </a:tcTxStyle>
      <a:tcStyle>
        <a:fill>
          <a:solidFill>
            <a:schemeClr val="accent1"/>
          </a:solidFill>
        </a:fill>
      </a:tcStyle>
    </a:firstRow>
  </a:tblStyle>
  <a:tblStyle styleId="{77D80D4C-8B5A-475F-9331-FA072D31F56C}" styleName="Table_3">
    <a:wholeTbl>
      <a:tcStyle>
        <a:tcBdr>
          <a:left>
            <a:ln cap="flat" cmpd="sng" w="9525">
              <a:solidFill>
                <a:srgbClr val="9E9E9E"/>
              </a:solidFill>
              <a:prstDash val="solid"/>
              <a:round/>
              <a:headEnd len="med" w="med" type="none"/>
              <a:tailEnd len="med" w="med" type="none"/>
            </a:ln>
          </a:left>
          <a:right>
            <a:ln cap="flat" cmpd="sng" w="9525">
              <a:solidFill>
                <a:srgbClr val="9E9E9E"/>
              </a:solidFill>
              <a:prstDash val="solid"/>
              <a:round/>
              <a:headEnd len="med" w="med" type="none"/>
              <a:tailEnd len="med" w="med" type="none"/>
            </a:ln>
          </a:right>
          <a:top>
            <a:ln cap="flat" cmpd="sng" w="9525">
              <a:solidFill>
                <a:srgbClr val="9E9E9E"/>
              </a:solidFill>
              <a:prstDash val="solid"/>
              <a:round/>
              <a:headEnd len="med" w="med" type="none"/>
              <a:tailEnd len="med" w="med" type="none"/>
            </a:ln>
          </a:top>
          <a:bottom>
            <a:ln cap="flat" cmpd="sng" w="9525">
              <a:solidFill>
                <a:srgbClr val="9E9E9E"/>
              </a:solidFill>
              <a:prstDash val="solid"/>
              <a:round/>
              <a:headEnd len="med" w="med" type="none"/>
              <a:tailEnd len="med" w="med" type="none"/>
            </a:ln>
          </a:bottom>
          <a:insideH>
            <a:ln cap="flat" cmpd="sng" w="9525">
              <a:solidFill>
                <a:srgbClr val="9E9E9E"/>
              </a:solidFill>
              <a:prstDash val="solid"/>
              <a:round/>
              <a:headEnd len="med" w="med" type="none"/>
              <a:tailEnd len="med" w="med" type="none"/>
            </a:ln>
          </a:insideH>
          <a:insideV>
            <a:ln cap="flat" cmpd="sng" w="9525">
              <a:solidFill>
                <a:srgbClr val="9E9E9E"/>
              </a:solidFill>
              <a:prstDash val="solid"/>
              <a:round/>
              <a:headEnd len="med" w="med" type="none"/>
              <a:tailEnd len="med" w="med" type="none"/>
            </a:ln>
          </a:insideV>
        </a:tcBdr>
      </a:tcStyle>
    </a:wholeTb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HelveticaNeue-boldItalic.fntdata"/><Relationship Id="rId61" Type="http://schemas.openxmlformats.org/officeDocument/2006/relationships/font" Target="fonts/HelveticaNeue-italic.fntdata"/><Relationship Id="rId20" Type="http://schemas.openxmlformats.org/officeDocument/2006/relationships/slide" Target="slides/slide15.xml"/><Relationship Id="rId64" Type="http://schemas.openxmlformats.org/officeDocument/2006/relationships/font" Target="fonts/DroidSans-bold.fntdata"/><Relationship Id="rId63" Type="http://schemas.openxmlformats.org/officeDocument/2006/relationships/font" Target="fonts/DroidSans-regular.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HelveticaNeue-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HelveticaNeue-regular.fntdata"/><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4" name="Shape 74"/>
        <p:cNvGrpSpPr/>
        <p:nvPr/>
      </p:nvGrpSpPr>
      <p:grpSpPr>
        <a:xfrm>
          <a:off x="0" y="0"/>
          <a:ext cx="0" cy="0"/>
          <a:chOff x="0" y="0"/>
          <a:chExt cx="0" cy="0"/>
        </a:xfrm>
      </p:grpSpPr>
      <p:sp>
        <p:nvSpPr>
          <p:cNvPr id="75" name="Shape 75"/>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76" name="Shape 7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1" name="Shape 81"/>
        <p:cNvGrpSpPr/>
        <p:nvPr/>
      </p:nvGrpSpPr>
      <p:grpSpPr>
        <a:xfrm>
          <a:off x="0" y="0"/>
          <a:ext cx="0" cy="0"/>
          <a:chOff x="0" y="0"/>
          <a:chExt cx="0" cy="0"/>
        </a:xfrm>
      </p:grpSpPr>
      <p:sp>
        <p:nvSpPr>
          <p:cNvPr id="82" name="Shape 82"/>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83" name="Shape 83"/>
          <p:cNvSpPr txBox="1"/>
          <p:nvPr>
            <p:ph idx="1" type="body"/>
          </p:nvPr>
        </p:nvSpPr>
        <p:spPr>
          <a:xfrm>
            <a:off x="685800" y="4343400"/>
            <a:ext cx="5486400"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Font typeface="Arial"/>
              <a:buNone/>
            </a:pPr>
            <a:r>
              <a:rPr lang="en"/>
              <a:t>Before getting to the community details, it’s important to step back and talk about the community’s mission.  This is why the community exists and why people should care.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8" name="Shape 88"/>
        <p:cNvGrpSpPr/>
        <p:nvPr/>
      </p:nvGrpSpPr>
      <p:grpSpPr>
        <a:xfrm>
          <a:off x="0" y="0"/>
          <a:ext cx="0" cy="0"/>
          <a:chOff x="0" y="0"/>
          <a:chExt cx="0" cy="0"/>
        </a:xfrm>
      </p:grpSpPr>
      <p:sp>
        <p:nvSpPr>
          <p:cNvPr id="89" name="Shape 89"/>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90" name="Shape 90"/>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1" name="Shape 111"/>
        <p:cNvGrpSpPr/>
        <p:nvPr/>
      </p:nvGrpSpPr>
      <p:grpSpPr>
        <a:xfrm>
          <a:off x="0" y="0"/>
          <a:ext cx="0" cy="0"/>
          <a:chOff x="0" y="0"/>
          <a:chExt cx="0" cy="0"/>
        </a:xfrm>
      </p:grpSpPr>
      <p:sp>
        <p:nvSpPr>
          <p:cNvPr id="112" name="Shape 11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3" name="Shape 11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7" name="Shape 117"/>
        <p:cNvGrpSpPr/>
        <p:nvPr/>
      </p:nvGrpSpPr>
      <p:grpSpPr>
        <a:xfrm>
          <a:off x="0" y="0"/>
          <a:ext cx="0" cy="0"/>
          <a:chOff x="0" y="0"/>
          <a:chExt cx="0" cy="0"/>
        </a:xfrm>
      </p:grpSpPr>
      <p:sp>
        <p:nvSpPr>
          <p:cNvPr id="118" name="Shape 11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rPr lang="en"/>
              <a:t>This list of partners is current as of August 1, 2016</a:t>
            </a:r>
          </a:p>
        </p:txBody>
      </p:sp>
      <p:sp>
        <p:nvSpPr>
          <p:cNvPr id="119" name="Shape 119"/>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9" name="Shape 139"/>
        <p:cNvGrpSpPr/>
        <p:nvPr/>
      </p:nvGrpSpPr>
      <p:grpSpPr>
        <a:xfrm>
          <a:off x="0" y="0"/>
          <a:ext cx="0" cy="0"/>
          <a:chOff x="0" y="0"/>
          <a:chExt cx="0" cy="0"/>
        </a:xfrm>
      </p:grpSpPr>
      <p:sp>
        <p:nvSpPr>
          <p:cNvPr id="140" name="Shape 140"/>
          <p:cNvSpPr txBox="1"/>
          <p:nvPr>
            <p:ph idx="1" type="body"/>
          </p:nvPr>
        </p:nvSpPr>
        <p:spPr>
          <a:xfrm>
            <a:off x="685800" y="4343400"/>
            <a:ext cx="5486400" cy="4114800"/>
          </a:xfrm>
          <a:prstGeom prst="rect">
            <a:avLst/>
          </a:prstGeom>
          <a:noFill/>
          <a:ln>
            <a:noFill/>
          </a:ln>
        </p:spPr>
        <p:txBody>
          <a:bodyPr anchorCtr="0" anchor="ctr" bIns="91425" lIns="91425" rIns="91425" tIns="91425">
            <a:noAutofit/>
          </a:bodyPr>
          <a:lstStyle/>
          <a:p>
            <a:pPr lvl="0" rtl="0">
              <a:spcBef>
                <a:spcPts val="0"/>
              </a:spcBef>
              <a:buNone/>
            </a:pPr>
            <a:r>
              <a:t/>
            </a:r>
            <a:endParaRPr/>
          </a:p>
        </p:txBody>
      </p:sp>
      <p:sp>
        <p:nvSpPr>
          <p:cNvPr id="141" name="Shape 14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5" name="Shape 175"/>
        <p:cNvGrpSpPr/>
        <p:nvPr/>
      </p:nvGrpSpPr>
      <p:grpSpPr>
        <a:xfrm>
          <a:off x="0" y="0"/>
          <a:ext cx="0" cy="0"/>
          <a:chOff x="0" y="0"/>
          <a:chExt cx="0" cy="0"/>
        </a:xfrm>
      </p:grpSpPr>
      <p:sp>
        <p:nvSpPr>
          <p:cNvPr id="176" name="Shape 176"/>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77" name="Shape 177"/>
          <p:cNvSpPr txBox="1"/>
          <p:nvPr>
            <p:ph idx="1" type="body"/>
          </p:nvPr>
        </p:nvSpPr>
        <p:spPr>
          <a:xfrm>
            <a:off x="685800" y="4343400"/>
            <a:ext cx="5486400"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Font typeface="Arial"/>
              <a:buNone/>
            </a:pPr>
            <a:r>
              <a:rPr lang="en"/>
              <a:t>This chart is current as of September 9, 2016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1" name="Shape 181"/>
        <p:cNvGrpSpPr/>
        <p:nvPr/>
      </p:nvGrpSpPr>
      <p:grpSpPr>
        <a:xfrm>
          <a:off x="0" y="0"/>
          <a:ext cx="0" cy="0"/>
          <a:chOff x="0" y="0"/>
          <a:chExt cx="0" cy="0"/>
        </a:xfrm>
      </p:grpSpPr>
      <p:sp>
        <p:nvSpPr>
          <p:cNvPr id="182" name="Shape 182"/>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83" name="Shape 183"/>
          <p:cNvSpPr txBox="1"/>
          <p:nvPr>
            <p:ph idx="1" type="body"/>
          </p:nvPr>
        </p:nvSpPr>
        <p:spPr>
          <a:xfrm>
            <a:off x="685800" y="4343400"/>
            <a:ext cx="5486400"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8" name="Shape 188"/>
        <p:cNvGrpSpPr/>
        <p:nvPr/>
      </p:nvGrpSpPr>
      <p:grpSpPr>
        <a:xfrm>
          <a:off x="0" y="0"/>
          <a:ext cx="0" cy="0"/>
          <a:chOff x="0" y="0"/>
          <a:chExt cx="0" cy="0"/>
        </a:xfrm>
      </p:grpSpPr>
      <p:sp>
        <p:nvSpPr>
          <p:cNvPr id="189" name="Shape 18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90" name="Shape 190"/>
          <p:cNvSpPr/>
          <p:nvPr>
            <p:ph idx="2" type="sldImg"/>
          </p:nvPr>
        </p:nvSpPr>
        <p:spPr>
          <a:xfrm>
            <a:off x="381187" y="685800"/>
            <a:ext cx="60963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4" name="Shape 194"/>
        <p:cNvGrpSpPr/>
        <p:nvPr/>
      </p:nvGrpSpPr>
      <p:grpSpPr>
        <a:xfrm>
          <a:off x="0" y="0"/>
          <a:ext cx="0" cy="0"/>
          <a:chOff x="0" y="0"/>
          <a:chExt cx="0" cy="0"/>
        </a:xfrm>
      </p:grpSpPr>
      <p:sp>
        <p:nvSpPr>
          <p:cNvPr id="195" name="Shape 195"/>
          <p:cNvSpPr txBox="1"/>
          <p:nvPr>
            <p:ph idx="1" type="body"/>
          </p:nvPr>
        </p:nvSpPr>
        <p:spPr>
          <a:xfrm>
            <a:off x="685800" y="4343400"/>
            <a:ext cx="5486400" cy="4114800"/>
          </a:xfrm>
          <a:prstGeom prst="rect">
            <a:avLst/>
          </a:prstGeom>
          <a:noFill/>
          <a:ln>
            <a:noFill/>
          </a:ln>
        </p:spPr>
        <p:txBody>
          <a:bodyPr anchorCtr="0" anchor="ctr" bIns="91425" lIns="91425" rIns="91425" tIns="91425">
            <a:noAutofit/>
          </a:bodyPr>
          <a:lstStyle/>
          <a:p>
            <a:pPr lvl="0" rtl="0">
              <a:spcBef>
                <a:spcPts val="0"/>
              </a:spcBef>
              <a:buNone/>
            </a:pPr>
            <a:r>
              <a:t/>
            </a:r>
            <a:endParaRPr/>
          </a:p>
        </p:txBody>
      </p:sp>
      <p:sp>
        <p:nvSpPr>
          <p:cNvPr id="196" name="Shape 196"/>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0" name="Shape 200"/>
        <p:cNvGrpSpPr/>
        <p:nvPr/>
      </p:nvGrpSpPr>
      <p:grpSpPr>
        <a:xfrm>
          <a:off x="0" y="0"/>
          <a:ext cx="0" cy="0"/>
          <a:chOff x="0" y="0"/>
          <a:chExt cx="0" cy="0"/>
        </a:xfrm>
      </p:grpSpPr>
      <p:sp>
        <p:nvSpPr>
          <p:cNvPr id="201" name="Shape 201"/>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a:headEnd len="med" w="med" type="none"/>
            <a:tailEnd len="med" w="med" type="none"/>
          </a:ln>
        </p:spPr>
      </p:sp>
      <p:sp>
        <p:nvSpPr>
          <p:cNvPr id="202" name="Shape 202"/>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buNone/>
            </a:pPr>
            <a:r>
              <a:t/>
            </a:r>
            <a:endParaRPr b="0" i="0" sz="1100" u="none" cap="none" strike="noStrike">
              <a:solidFill>
                <a:schemeClr val="dk1"/>
              </a:solidFill>
              <a:latin typeface="Arial"/>
              <a:ea typeface="Arial"/>
              <a:cs typeface="Arial"/>
              <a:sym typeface="Arial"/>
            </a:endParaRPr>
          </a:p>
        </p:txBody>
      </p:sp>
      <p:sp>
        <p:nvSpPr>
          <p:cNvPr id="203" name="Shape 203"/>
          <p:cNvSpPr txBox="1"/>
          <p:nvPr>
            <p:ph idx="12" type="sldNum"/>
          </p:nvPr>
        </p:nvSpPr>
        <p:spPr>
          <a:xfrm>
            <a:off x="3884612" y="8685213"/>
            <a:ext cx="2971799"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Calibri"/>
              <a:buNone/>
            </a:pPr>
            <a:fld id="{00000000-1234-1234-1234-123412341234}" type="slidenum">
              <a:rPr b="0" i="0" lang="en" sz="1400" u="none" cap="none" strike="noStrike">
                <a:solidFill>
                  <a:srgbClr val="000000"/>
                </a:solidFill>
                <a:latin typeface="Calibri"/>
                <a:ea typeface="Calibri"/>
                <a:cs typeface="Calibri"/>
                <a:sym typeface="Calibri"/>
              </a:rPr>
              <a:t>‹#›</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49" name="Shape 249"/>
        <p:cNvGrpSpPr/>
        <p:nvPr/>
      </p:nvGrpSpPr>
      <p:grpSpPr>
        <a:xfrm>
          <a:off x="0" y="0"/>
          <a:ext cx="0" cy="0"/>
          <a:chOff x="0" y="0"/>
          <a:chExt cx="0" cy="0"/>
        </a:xfrm>
      </p:grpSpPr>
      <p:sp>
        <p:nvSpPr>
          <p:cNvPr id="250" name="Shape 25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51" name="Shape 25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56" name="Shape 256"/>
        <p:cNvGrpSpPr/>
        <p:nvPr/>
      </p:nvGrpSpPr>
      <p:grpSpPr>
        <a:xfrm>
          <a:off x="0" y="0"/>
          <a:ext cx="0" cy="0"/>
          <a:chOff x="0" y="0"/>
          <a:chExt cx="0" cy="0"/>
        </a:xfrm>
      </p:grpSpPr>
      <p:sp>
        <p:nvSpPr>
          <p:cNvPr id="257" name="Shape 25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58" name="Shape 25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62" name="Shape 262"/>
        <p:cNvGrpSpPr/>
        <p:nvPr/>
      </p:nvGrpSpPr>
      <p:grpSpPr>
        <a:xfrm>
          <a:off x="0" y="0"/>
          <a:ext cx="0" cy="0"/>
          <a:chOff x="0" y="0"/>
          <a:chExt cx="0" cy="0"/>
        </a:xfrm>
      </p:grpSpPr>
      <p:sp>
        <p:nvSpPr>
          <p:cNvPr id="263" name="Shape 263"/>
          <p:cNvSpPr txBox="1"/>
          <p:nvPr>
            <p:ph idx="1" type="body"/>
          </p:nvPr>
        </p:nvSpPr>
        <p:spPr>
          <a:xfrm>
            <a:off x="457200" y="4343400"/>
            <a:ext cx="5943599" cy="43434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64" name="Shape 264"/>
          <p:cNvSpPr/>
          <p:nvPr>
            <p:ph idx="2" type="sldImg"/>
          </p:nvPr>
        </p:nvSpPr>
        <p:spPr>
          <a:xfrm>
            <a:off x="381794" y="685800"/>
            <a:ext cx="6094412"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85" name="Shape 285"/>
        <p:cNvGrpSpPr/>
        <p:nvPr/>
      </p:nvGrpSpPr>
      <p:grpSpPr>
        <a:xfrm>
          <a:off x="0" y="0"/>
          <a:ext cx="0" cy="0"/>
          <a:chOff x="0" y="0"/>
          <a:chExt cx="0" cy="0"/>
        </a:xfrm>
      </p:grpSpPr>
      <p:sp>
        <p:nvSpPr>
          <p:cNvPr id="286" name="Shape 28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87" name="Shape 28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91" name="Shape 291"/>
        <p:cNvGrpSpPr/>
        <p:nvPr/>
      </p:nvGrpSpPr>
      <p:grpSpPr>
        <a:xfrm>
          <a:off x="0" y="0"/>
          <a:ext cx="0" cy="0"/>
          <a:chOff x="0" y="0"/>
          <a:chExt cx="0" cy="0"/>
        </a:xfrm>
      </p:grpSpPr>
      <p:sp>
        <p:nvSpPr>
          <p:cNvPr id="292" name="Shape 292"/>
          <p:cNvSpPr/>
          <p:nvPr>
            <p:ph idx="2" type="sldImg"/>
          </p:nvPr>
        </p:nvSpPr>
        <p:spPr>
          <a:xfrm>
            <a:off x="381000" y="685800"/>
            <a:ext cx="6095999"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med" w="med" type="none"/>
            <a:tailEnd len="med" w="med" type="none"/>
          </a:ln>
        </p:spPr>
      </p:sp>
      <p:sp>
        <p:nvSpPr>
          <p:cNvPr id="293" name="Shape 293"/>
          <p:cNvSpPr txBox="1"/>
          <p:nvPr>
            <p:ph idx="1" type="body"/>
          </p:nvPr>
        </p:nvSpPr>
        <p:spPr>
          <a:xfrm>
            <a:off x="685800" y="4343400"/>
            <a:ext cx="5486399" cy="4114800"/>
          </a:xfrm>
          <a:prstGeom prst="rect">
            <a:avLst/>
          </a:prstGeom>
          <a:noFill/>
          <a:ln>
            <a:noFill/>
          </a:ln>
        </p:spPr>
        <p:txBody>
          <a:bodyPr anchorCtr="0" anchor="t" bIns="45700" lIns="91425" rIns="91425" tIns="45700">
            <a:noAutofit/>
          </a:bodyPr>
          <a:lstStyle/>
          <a:p>
            <a:pPr indent="0" lvl="0" marL="0" marR="0" rtl="0" algn="l">
              <a:spcBef>
                <a:spcPts val="0"/>
              </a:spcBef>
              <a:buNone/>
            </a:pPr>
            <a:r>
              <a:t/>
            </a:r>
            <a:endParaRPr b="0" i="0" sz="1200" u="none" cap="none" strike="noStrike">
              <a:solidFill>
                <a:schemeClr val="dk1"/>
              </a:solidFill>
              <a:latin typeface="Calibri"/>
              <a:ea typeface="Calibri"/>
              <a:cs typeface="Calibri"/>
              <a:sym typeface="Calibri"/>
            </a:endParaRPr>
          </a:p>
        </p:txBody>
      </p:sp>
      <p:sp>
        <p:nvSpPr>
          <p:cNvPr id="294" name="Shape 294"/>
          <p:cNvSpPr txBox="1"/>
          <p:nvPr>
            <p:ph idx="12" type="sldNum"/>
          </p:nvPr>
        </p:nvSpPr>
        <p:spPr>
          <a:xfrm>
            <a:off x="3884612" y="8685213"/>
            <a:ext cx="2971799" cy="457200"/>
          </a:xfrm>
          <a:prstGeom prst="rect">
            <a:avLst/>
          </a:prstGeom>
          <a:noFill/>
          <a:ln>
            <a:noFill/>
          </a:ln>
        </p:spPr>
        <p:txBody>
          <a:bodyPr anchorCtr="0" anchor="b" bIns="45700" lIns="91425" rIns="91425" tIns="45700">
            <a:noAutofit/>
          </a:bodyPr>
          <a:lstStyle/>
          <a:p>
            <a:pPr indent="0" lvl="0" marL="0" marR="0" rtl="0" algn="r">
              <a:spcBef>
                <a:spcPts val="0"/>
              </a:spcBef>
              <a:buSzPct val="25000"/>
              <a:buNone/>
            </a:pPr>
            <a:fld id="{00000000-1234-1234-1234-123412341234}" type="slidenum">
              <a:rPr lang="en" sz="1200">
                <a:solidFill>
                  <a:schemeClr val="dk1"/>
                </a:solidFill>
                <a:latin typeface="Calibri"/>
                <a:ea typeface="Calibri"/>
                <a:cs typeface="Calibri"/>
                <a:sym typeface="Calibri"/>
              </a:rPr>
              <a:t>‹#›</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34" name="Shape 334"/>
        <p:cNvGrpSpPr/>
        <p:nvPr/>
      </p:nvGrpSpPr>
      <p:grpSpPr>
        <a:xfrm>
          <a:off x="0" y="0"/>
          <a:ext cx="0" cy="0"/>
          <a:chOff x="0" y="0"/>
          <a:chExt cx="0" cy="0"/>
        </a:xfrm>
      </p:grpSpPr>
      <p:sp>
        <p:nvSpPr>
          <p:cNvPr id="335" name="Shape 33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36" name="Shape 33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40" name="Shape 340"/>
        <p:cNvGrpSpPr/>
        <p:nvPr/>
      </p:nvGrpSpPr>
      <p:grpSpPr>
        <a:xfrm>
          <a:off x="0" y="0"/>
          <a:ext cx="0" cy="0"/>
          <a:chOff x="0" y="0"/>
          <a:chExt cx="0" cy="0"/>
        </a:xfrm>
      </p:grpSpPr>
      <p:sp>
        <p:nvSpPr>
          <p:cNvPr id="341" name="Shape 34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42" name="Shape 34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46" name="Shape 346"/>
        <p:cNvGrpSpPr/>
        <p:nvPr/>
      </p:nvGrpSpPr>
      <p:grpSpPr>
        <a:xfrm>
          <a:off x="0" y="0"/>
          <a:ext cx="0" cy="0"/>
          <a:chOff x="0" y="0"/>
          <a:chExt cx="0" cy="0"/>
        </a:xfrm>
      </p:grpSpPr>
      <p:sp>
        <p:nvSpPr>
          <p:cNvPr id="347" name="Shape 347"/>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348" name="Shape 348"/>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None/>
            </a:pPr>
            <a:r>
              <a:t/>
            </a:r>
            <a:endParaRPr b="0" i="0" sz="1100" u="none" cap="none" strike="noStrike">
              <a:solidFill>
                <a:schemeClr val="dk1"/>
              </a:solidFill>
              <a:latin typeface="Arial"/>
              <a:ea typeface="Arial"/>
              <a:cs typeface="Arial"/>
              <a:sym typeface="Arial"/>
            </a:endParaRPr>
          </a:p>
        </p:txBody>
      </p:sp>
      <p:sp>
        <p:nvSpPr>
          <p:cNvPr id="349" name="Shape 349"/>
          <p:cNvSpPr txBox="1"/>
          <p:nvPr>
            <p:ph idx="12" type="sldNum"/>
          </p:nvPr>
        </p:nvSpPr>
        <p:spPr>
          <a:xfrm>
            <a:off x="3884612" y="8685213"/>
            <a:ext cx="2971799"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Calibri"/>
              <a:buNone/>
            </a:pPr>
            <a:fld id="{00000000-1234-1234-1234-123412341234}" type="slidenum">
              <a:rPr b="0" i="0" lang="en" sz="1400" u="none" cap="none" strike="noStrike">
                <a:solidFill>
                  <a:srgbClr val="000000"/>
                </a:solidFill>
                <a:latin typeface="Calibri"/>
                <a:ea typeface="Calibri"/>
                <a:cs typeface="Calibri"/>
                <a:sym typeface="Calibri"/>
              </a:rPr>
              <a:t>‹#›</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67" name="Shape 367"/>
        <p:cNvGrpSpPr/>
        <p:nvPr/>
      </p:nvGrpSpPr>
      <p:grpSpPr>
        <a:xfrm>
          <a:off x="0" y="0"/>
          <a:ext cx="0" cy="0"/>
          <a:chOff x="0" y="0"/>
          <a:chExt cx="0" cy="0"/>
        </a:xfrm>
      </p:grpSpPr>
      <p:sp>
        <p:nvSpPr>
          <p:cNvPr id="368" name="Shape 368"/>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369" name="Shape 369"/>
          <p:cNvSpPr txBox="1"/>
          <p:nvPr>
            <p:ph idx="1" type="body"/>
          </p:nvPr>
        </p:nvSpPr>
        <p:spPr>
          <a:xfrm>
            <a:off x="685800" y="4343400"/>
            <a:ext cx="5486400" cy="4114800"/>
          </a:xfrm>
          <a:prstGeom prst="rect">
            <a:avLst/>
          </a:prstGeom>
          <a:noFill/>
          <a:ln>
            <a:noFill/>
          </a:ln>
        </p:spPr>
        <p:txBody>
          <a:bodyPr anchorCtr="0" anchor="t" bIns="91425" lIns="91425" rIns="91425" tIns="91425">
            <a:noAutofit/>
          </a:bodyPr>
          <a:lstStyle/>
          <a:p>
            <a:pPr indent="0" lvl="0" marL="0" marR="0" rtl="0" algn="l">
              <a:spcBef>
                <a:spcPts val="0"/>
              </a:spcBef>
              <a:buNone/>
            </a:pPr>
            <a:r>
              <a:t/>
            </a:r>
            <a:endParaRPr b="0" i="0" sz="1100" u="none" cap="none" strike="noStrike">
              <a:solidFill>
                <a:schemeClr val="dk1"/>
              </a:solidFill>
              <a:latin typeface="Arial"/>
              <a:ea typeface="Arial"/>
              <a:cs typeface="Arial"/>
              <a:sym typeface="Arial"/>
            </a:endParaRPr>
          </a:p>
        </p:txBody>
      </p:sp>
      <p:sp>
        <p:nvSpPr>
          <p:cNvPr id="370" name="Shape 370"/>
          <p:cNvSpPr txBox="1"/>
          <p:nvPr>
            <p:ph idx="12" type="sldNum"/>
          </p:nvPr>
        </p:nvSpPr>
        <p:spPr>
          <a:xfrm>
            <a:off x="3884612" y="8685213"/>
            <a:ext cx="2971800"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Calibri"/>
              <a:buNone/>
            </a:pPr>
            <a:fld id="{00000000-1234-1234-1234-123412341234}" type="slidenum">
              <a:rPr b="0" i="0" lang="en" sz="1400" u="none" cap="none" strike="noStrike">
                <a:solidFill>
                  <a:srgbClr val="000000"/>
                </a:solidFill>
                <a:latin typeface="Calibri"/>
                <a:ea typeface="Calibri"/>
                <a:cs typeface="Calibri"/>
                <a:sym typeface="Calibri"/>
              </a:rPr>
              <a:t>‹#›</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94" name="Shape 394"/>
        <p:cNvGrpSpPr/>
        <p:nvPr/>
      </p:nvGrpSpPr>
      <p:grpSpPr>
        <a:xfrm>
          <a:off x="0" y="0"/>
          <a:ext cx="0" cy="0"/>
          <a:chOff x="0" y="0"/>
          <a:chExt cx="0" cy="0"/>
        </a:xfrm>
      </p:grpSpPr>
      <p:sp>
        <p:nvSpPr>
          <p:cNvPr id="395" name="Shape 39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96" name="Shape 396"/>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73" name="Shape 473"/>
        <p:cNvGrpSpPr/>
        <p:nvPr/>
      </p:nvGrpSpPr>
      <p:grpSpPr>
        <a:xfrm>
          <a:off x="0" y="0"/>
          <a:ext cx="0" cy="0"/>
          <a:chOff x="0" y="0"/>
          <a:chExt cx="0" cy="0"/>
        </a:xfrm>
      </p:grpSpPr>
      <p:sp>
        <p:nvSpPr>
          <p:cNvPr id="474" name="Shape 47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lnSpc>
                <a:spcPct val="115000"/>
              </a:lnSpc>
              <a:spcBef>
                <a:spcPts val="0"/>
              </a:spcBef>
              <a:buClr>
                <a:schemeClr val="dk1"/>
              </a:buClr>
              <a:buSzPct val="61111"/>
              <a:buFont typeface="Arial"/>
              <a:buNone/>
            </a:pPr>
            <a:r>
              <a:rPr lang="en" sz="1800">
                <a:solidFill>
                  <a:srgbClr val="1F497D"/>
                </a:solidFill>
                <a:highlight>
                  <a:srgbClr val="FFFFFF"/>
                </a:highlight>
                <a:latin typeface="Calibri"/>
                <a:ea typeface="Calibri"/>
                <a:cs typeface="Calibri"/>
                <a:sym typeface="Calibri"/>
              </a:rPr>
              <a:t>ACTN provides a unified architecture to support traffic-engineered SDN control in multi-vendor, multi-domain network environment built of IP and transport networks.  Through standard IETF-defined YANG model-based northbound and southbound interfaces and hierarchical network abstraction, ACTN provide means to control heterogeneous network domains for hybrid and green-field SDN network deployment.</a:t>
            </a:r>
          </a:p>
          <a:p>
            <a:pPr lvl="0" rtl="0">
              <a:lnSpc>
                <a:spcPct val="115000"/>
              </a:lnSpc>
              <a:spcBef>
                <a:spcPts val="0"/>
              </a:spcBef>
              <a:buNone/>
            </a:pPr>
            <a:r>
              <a:rPr lang="en" sz="1800">
                <a:solidFill>
                  <a:srgbClr val="1F497D"/>
                </a:solidFill>
                <a:highlight>
                  <a:srgbClr val="FFFFFF"/>
                </a:highlight>
                <a:latin typeface="Calibri"/>
                <a:ea typeface="Calibri"/>
                <a:cs typeface="Calibri"/>
                <a:sym typeface="Calibri"/>
              </a:rPr>
              <a:t> </a:t>
            </a:r>
          </a:p>
        </p:txBody>
      </p:sp>
      <p:sp>
        <p:nvSpPr>
          <p:cNvPr id="475" name="Shape 475"/>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81" name="Shape 581"/>
        <p:cNvGrpSpPr/>
        <p:nvPr/>
      </p:nvGrpSpPr>
      <p:grpSpPr>
        <a:xfrm>
          <a:off x="0" y="0"/>
          <a:ext cx="0" cy="0"/>
          <a:chOff x="0" y="0"/>
          <a:chExt cx="0" cy="0"/>
        </a:xfrm>
      </p:grpSpPr>
      <p:sp>
        <p:nvSpPr>
          <p:cNvPr id="582" name="Shape 582"/>
          <p:cNvSpPr txBox="1"/>
          <p:nvPr>
            <p:ph idx="1" type="body"/>
          </p:nvPr>
        </p:nvSpPr>
        <p:spPr>
          <a:xfrm>
            <a:off x="685800" y="4343400"/>
            <a:ext cx="5486400" cy="4114800"/>
          </a:xfrm>
          <a:prstGeom prst="rect">
            <a:avLst/>
          </a:prstGeom>
          <a:noFill/>
          <a:ln>
            <a:noFill/>
          </a:ln>
        </p:spPr>
        <p:txBody>
          <a:bodyPr anchorCtr="0" anchor="ctr" bIns="91425" lIns="91425" rIns="91425" tIns="91425">
            <a:noAutofit/>
          </a:bodyPr>
          <a:lstStyle/>
          <a:p>
            <a:pPr lvl="0" rtl="0">
              <a:spcBef>
                <a:spcPts val="0"/>
              </a:spcBef>
              <a:buNone/>
            </a:pPr>
            <a:r>
              <a:rPr lang="en"/>
              <a:t>This list of partners is current as of August 1, 2016</a:t>
            </a:r>
          </a:p>
        </p:txBody>
      </p:sp>
      <p:sp>
        <p:nvSpPr>
          <p:cNvPr id="583" name="Shape 58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91" name="Shape 591"/>
        <p:cNvGrpSpPr/>
        <p:nvPr/>
      </p:nvGrpSpPr>
      <p:grpSpPr>
        <a:xfrm>
          <a:off x="0" y="0"/>
          <a:ext cx="0" cy="0"/>
          <a:chOff x="0" y="0"/>
          <a:chExt cx="0" cy="0"/>
        </a:xfrm>
      </p:grpSpPr>
      <p:sp>
        <p:nvSpPr>
          <p:cNvPr id="592" name="Shape 59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93" name="Shape 59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97" name="Shape 597"/>
        <p:cNvGrpSpPr/>
        <p:nvPr/>
      </p:nvGrpSpPr>
      <p:grpSpPr>
        <a:xfrm>
          <a:off x="0" y="0"/>
          <a:ext cx="0" cy="0"/>
          <a:chOff x="0" y="0"/>
          <a:chExt cx="0" cy="0"/>
        </a:xfrm>
      </p:grpSpPr>
      <p:sp>
        <p:nvSpPr>
          <p:cNvPr id="598" name="Shape 59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99" name="Shape 59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03" name="Shape 603"/>
        <p:cNvGrpSpPr/>
        <p:nvPr/>
      </p:nvGrpSpPr>
      <p:grpSpPr>
        <a:xfrm>
          <a:off x="0" y="0"/>
          <a:ext cx="0" cy="0"/>
          <a:chOff x="0" y="0"/>
          <a:chExt cx="0" cy="0"/>
        </a:xfrm>
      </p:grpSpPr>
      <p:sp>
        <p:nvSpPr>
          <p:cNvPr id="604" name="Shape 60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05" name="Shape 60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09" name="Shape 609"/>
        <p:cNvGrpSpPr/>
        <p:nvPr/>
      </p:nvGrpSpPr>
      <p:grpSpPr>
        <a:xfrm>
          <a:off x="0" y="0"/>
          <a:ext cx="0" cy="0"/>
          <a:chOff x="0" y="0"/>
          <a:chExt cx="0" cy="0"/>
        </a:xfrm>
      </p:grpSpPr>
      <p:sp>
        <p:nvSpPr>
          <p:cNvPr id="610" name="Shape 61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611" name="Shape 611"/>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22" name="Shape 622"/>
        <p:cNvGrpSpPr/>
        <p:nvPr/>
      </p:nvGrpSpPr>
      <p:grpSpPr>
        <a:xfrm>
          <a:off x="0" y="0"/>
          <a:ext cx="0" cy="0"/>
          <a:chOff x="0" y="0"/>
          <a:chExt cx="0" cy="0"/>
        </a:xfrm>
      </p:grpSpPr>
      <p:sp>
        <p:nvSpPr>
          <p:cNvPr id="623" name="Shape 623"/>
          <p:cNvSpPr txBox="1"/>
          <p:nvPr>
            <p:ph idx="1" type="body"/>
          </p:nvPr>
        </p:nvSpPr>
        <p:spPr>
          <a:xfrm>
            <a:off x="914400" y="4343400"/>
            <a:ext cx="50291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624" name="Shape 62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06" name="Shape 706"/>
        <p:cNvGrpSpPr/>
        <p:nvPr/>
      </p:nvGrpSpPr>
      <p:grpSpPr>
        <a:xfrm>
          <a:off x="0" y="0"/>
          <a:ext cx="0" cy="0"/>
          <a:chOff x="0" y="0"/>
          <a:chExt cx="0" cy="0"/>
        </a:xfrm>
      </p:grpSpPr>
      <p:sp>
        <p:nvSpPr>
          <p:cNvPr id="707" name="Shape 707"/>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708" name="Shape 708"/>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None/>
            </a:pPr>
            <a:r>
              <a:t/>
            </a:r>
            <a:endParaRPr b="0" i="0" sz="1100" u="none" cap="none" strike="noStrike">
              <a:solidFill>
                <a:schemeClr val="dk1"/>
              </a:solidFill>
              <a:latin typeface="Arial"/>
              <a:ea typeface="Arial"/>
              <a:cs typeface="Arial"/>
              <a:sym typeface="Arial"/>
            </a:endParaRPr>
          </a:p>
        </p:txBody>
      </p:sp>
      <p:sp>
        <p:nvSpPr>
          <p:cNvPr id="709" name="Shape 709"/>
          <p:cNvSpPr txBox="1"/>
          <p:nvPr>
            <p:ph idx="12" type="sldNum"/>
          </p:nvPr>
        </p:nvSpPr>
        <p:spPr>
          <a:xfrm>
            <a:off x="3884612" y="8685213"/>
            <a:ext cx="2971799"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20" name="Shape 720"/>
        <p:cNvGrpSpPr/>
        <p:nvPr/>
      </p:nvGrpSpPr>
      <p:grpSpPr>
        <a:xfrm>
          <a:off x="0" y="0"/>
          <a:ext cx="0" cy="0"/>
          <a:chOff x="0" y="0"/>
          <a:chExt cx="0" cy="0"/>
        </a:xfrm>
      </p:grpSpPr>
      <p:sp>
        <p:nvSpPr>
          <p:cNvPr id="721" name="Shape 721"/>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722" name="Shape 722"/>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Demonstration with real hardware at both packet &amp; optical layers</a:t>
            </a:r>
            <a:br>
              <a:rPr b="0" i="0" lang="en" sz="1100" u="none" cap="none" strike="noStrike">
                <a:solidFill>
                  <a:schemeClr val="dk1"/>
                </a:solidFill>
                <a:latin typeface="Arial"/>
                <a:ea typeface="Arial"/>
                <a:cs typeface="Arial"/>
                <a:sym typeface="Arial"/>
              </a:rPr>
            </a:b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Single control plane supports multi-vendor, multi-protocol network</a:t>
            </a:r>
            <a:br>
              <a:rPr b="0" i="0" lang="en" sz="1100" u="none" cap="none" strike="noStrike">
                <a:solidFill>
                  <a:schemeClr val="dk1"/>
                </a:solidFill>
                <a:latin typeface="Arial"/>
                <a:ea typeface="Arial"/>
                <a:cs typeface="Arial"/>
                <a:sym typeface="Arial"/>
              </a:rPr>
            </a:br>
          </a:p>
          <a:p>
            <a:pPr indent="0" lvl="0" marL="0" marR="0" rtl="0" algn="l">
              <a:spcBef>
                <a:spcPts val="0"/>
              </a:spcBef>
              <a:buSzPct val="25000"/>
              <a:buNone/>
            </a:pPr>
            <a:r>
              <a:rPr b="0" i="0" lang="en" sz="1100" u="none" cap="none" strike="noStrike">
                <a:solidFill>
                  <a:schemeClr val="dk1"/>
                </a:solidFill>
                <a:latin typeface="Arial"/>
                <a:ea typeface="Arial"/>
                <a:cs typeface="Arial"/>
                <a:sym typeface="Arial"/>
              </a:rPr>
              <a:t>Any application can apply policies for multiple layers</a:t>
            </a:r>
            <a:br>
              <a:rPr b="0"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based on resource availability, economics and policies</a:t>
            </a:r>
          </a:p>
        </p:txBody>
      </p:sp>
      <p:sp>
        <p:nvSpPr>
          <p:cNvPr id="723" name="Shape 723"/>
          <p:cNvSpPr txBox="1"/>
          <p:nvPr>
            <p:ph idx="12" type="sldNum"/>
          </p:nvPr>
        </p:nvSpPr>
        <p:spPr>
          <a:xfrm>
            <a:off x="3884612" y="8685213"/>
            <a:ext cx="2971799"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28" name="Shape 728"/>
        <p:cNvGrpSpPr/>
        <p:nvPr/>
      </p:nvGrpSpPr>
      <p:grpSpPr>
        <a:xfrm>
          <a:off x="0" y="0"/>
          <a:ext cx="0" cy="0"/>
          <a:chOff x="0" y="0"/>
          <a:chExt cx="0" cy="0"/>
        </a:xfrm>
      </p:grpSpPr>
      <p:sp>
        <p:nvSpPr>
          <p:cNvPr id="729" name="Shape 729"/>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730" name="Shape 730"/>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Eliminate vendor lock in</a:t>
            </a: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Innovation in terminal equipment is 2-3 years, ROADMs/amps live 5-7 years</a:t>
            </a:r>
          </a:p>
          <a:p>
            <a:pPr indent="0" lvl="0" marL="0" marR="0" rtl="0" algn="l">
              <a:spcBef>
                <a:spcPts val="0"/>
              </a:spcBef>
              <a:spcAft>
                <a:spcPts val="0"/>
              </a:spcAft>
              <a:buSzPct val="25000"/>
              <a:buNone/>
            </a:pPr>
            <a:r>
              <a:rPr b="0" i="0" lang="en" sz="1100" u="none" cap="none" strike="noStrike">
                <a:solidFill>
                  <a:schemeClr val="dk1"/>
                </a:solidFill>
                <a:latin typeface="Arial"/>
                <a:ea typeface="Arial"/>
                <a:cs typeface="Arial"/>
                <a:sym typeface="Arial"/>
              </a:rPr>
              <a:t>Right-size your equipment, take advantage of best of breed (port density, power efficiency, capacity, programmability)</a:t>
            </a:r>
          </a:p>
          <a:p>
            <a:pPr indent="0" lvl="0" marL="0" marR="0" rtl="0" algn="l">
              <a:spcBef>
                <a:spcPts val="0"/>
              </a:spcBef>
              <a:buSzPct val="25000"/>
              <a:buNone/>
            </a:pPr>
            <a:r>
              <a:rPr b="0" i="0" lang="en" sz="1100" u="none" cap="none" strike="noStrike">
                <a:solidFill>
                  <a:schemeClr val="dk1"/>
                </a:solidFill>
                <a:latin typeface="Arial"/>
                <a:ea typeface="Arial"/>
                <a:cs typeface="Arial"/>
                <a:sym typeface="Arial"/>
              </a:rPr>
              <a:t>Opportunity for open interfaces</a:t>
            </a:r>
          </a:p>
        </p:txBody>
      </p:sp>
      <p:sp>
        <p:nvSpPr>
          <p:cNvPr id="731" name="Shape 731"/>
          <p:cNvSpPr txBox="1"/>
          <p:nvPr>
            <p:ph idx="12" type="sldNum"/>
          </p:nvPr>
        </p:nvSpPr>
        <p:spPr>
          <a:xfrm>
            <a:off x="3884612" y="8685213"/>
            <a:ext cx="2971799"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94" name="Shape 794"/>
        <p:cNvGrpSpPr/>
        <p:nvPr/>
      </p:nvGrpSpPr>
      <p:grpSpPr>
        <a:xfrm>
          <a:off x="0" y="0"/>
          <a:ext cx="0" cy="0"/>
          <a:chOff x="0" y="0"/>
          <a:chExt cx="0" cy="0"/>
        </a:xfrm>
      </p:grpSpPr>
      <p:sp>
        <p:nvSpPr>
          <p:cNvPr id="795" name="Shape 795"/>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796" name="Shape 796"/>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97" name="Shape 897"/>
        <p:cNvGrpSpPr/>
        <p:nvPr/>
      </p:nvGrpSpPr>
      <p:grpSpPr>
        <a:xfrm>
          <a:off x="0" y="0"/>
          <a:ext cx="0" cy="0"/>
          <a:chOff x="0" y="0"/>
          <a:chExt cx="0" cy="0"/>
        </a:xfrm>
      </p:grpSpPr>
      <p:sp>
        <p:nvSpPr>
          <p:cNvPr id="898" name="Shape 89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899" name="Shape 899"/>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14" name="Shape 1014"/>
        <p:cNvGrpSpPr/>
        <p:nvPr/>
      </p:nvGrpSpPr>
      <p:grpSpPr>
        <a:xfrm>
          <a:off x="0" y="0"/>
          <a:ext cx="0" cy="0"/>
          <a:chOff x="0" y="0"/>
          <a:chExt cx="0" cy="0"/>
        </a:xfrm>
      </p:grpSpPr>
      <p:sp>
        <p:nvSpPr>
          <p:cNvPr id="1015" name="Shape 101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16" name="Shape 101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20" name="Shape 1020"/>
        <p:cNvGrpSpPr/>
        <p:nvPr/>
      </p:nvGrpSpPr>
      <p:grpSpPr>
        <a:xfrm>
          <a:off x="0" y="0"/>
          <a:ext cx="0" cy="0"/>
          <a:chOff x="0" y="0"/>
          <a:chExt cx="0" cy="0"/>
        </a:xfrm>
      </p:grpSpPr>
      <p:sp>
        <p:nvSpPr>
          <p:cNvPr id="1021" name="Shape 102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22" name="Shape 102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26" name="Shape 1026"/>
        <p:cNvGrpSpPr/>
        <p:nvPr/>
      </p:nvGrpSpPr>
      <p:grpSpPr>
        <a:xfrm>
          <a:off x="0" y="0"/>
          <a:ext cx="0" cy="0"/>
          <a:chOff x="0" y="0"/>
          <a:chExt cx="0" cy="0"/>
        </a:xfrm>
      </p:grpSpPr>
      <p:sp>
        <p:nvSpPr>
          <p:cNvPr id="1027" name="Shape 102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28" name="Shape 102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32" name="Shape 1032"/>
        <p:cNvGrpSpPr/>
        <p:nvPr/>
      </p:nvGrpSpPr>
      <p:grpSpPr>
        <a:xfrm>
          <a:off x="0" y="0"/>
          <a:ext cx="0" cy="0"/>
          <a:chOff x="0" y="0"/>
          <a:chExt cx="0" cy="0"/>
        </a:xfrm>
      </p:grpSpPr>
      <p:sp>
        <p:nvSpPr>
          <p:cNvPr id="1033" name="Shape 103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34" name="Shape 103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38" name="Shape 1038"/>
        <p:cNvGrpSpPr/>
        <p:nvPr/>
      </p:nvGrpSpPr>
      <p:grpSpPr>
        <a:xfrm>
          <a:off x="0" y="0"/>
          <a:ext cx="0" cy="0"/>
          <a:chOff x="0" y="0"/>
          <a:chExt cx="0" cy="0"/>
        </a:xfrm>
      </p:grpSpPr>
      <p:sp>
        <p:nvSpPr>
          <p:cNvPr id="1039" name="Shape 103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40" name="Shape 1040"/>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65" name="Shape 1065"/>
        <p:cNvGrpSpPr/>
        <p:nvPr/>
      </p:nvGrpSpPr>
      <p:grpSpPr>
        <a:xfrm>
          <a:off x="0" y="0"/>
          <a:ext cx="0" cy="0"/>
          <a:chOff x="0" y="0"/>
          <a:chExt cx="0" cy="0"/>
        </a:xfrm>
      </p:grpSpPr>
      <p:sp>
        <p:nvSpPr>
          <p:cNvPr id="1066" name="Shape 106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67" name="Shape 106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71" name="Shape 1071"/>
        <p:cNvGrpSpPr/>
        <p:nvPr/>
      </p:nvGrpSpPr>
      <p:grpSpPr>
        <a:xfrm>
          <a:off x="0" y="0"/>
          <a:ext cx="0" cy="0"/>
          <a:chOff x="0" y="0"/>
          <a:chExt cx="0" cy="0"/>
        </a:xfrm>
      </p:grpSpPr>
      <p:sp>
        <p:nvSpPr>
          <p:cNvPr id="1072" name="Shape 107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73" name="Shape 107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77" name="Shape 1077"/>
        <p:cNvGrpSpPr/>
        <p:nvPr/>
      </p:nvGrpSpPr>
      <p:grpSpPr>
        <a:xfrm>
          <a:off x="0" y="0"/>
          <a:ext cx="0" cy="0"/>
          <a:chOff x="0" y="0"/>
          <a:chExt cx="0" cy="0"/>
        </a:xfrm>
      </p:grpSpPr>
      <p:sp>
        <p:nvSpPr>
          <p:cNvPr id="1078" name="Shape 107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79" name="Shape 107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83" name="Shape 1083"/>
        <p:cNvGrpSpPr/>
        <p:nvPr/>
      </p:nvGrpSpPr>
      <p:grpSpPr>
        <a:xfrm>
          <a:off x="0" y="0"/>
          <a:ext cx="0" cy="0"/>
          <a:chOff x="0" y="0"/>
          <a:chExt cx="0" cy="0"/>
        </a:xfrm>
      </p:grpSpPr>
      <p:sp>
        <p:nvSpPr>
          <p:cNvPr id="1084" name="Shape 108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85" name="Shape 108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89" name="Shape 1089"/>
        <p:cNvGrpSpPr/>
        <p:nvPr/>
      </p:nvGrpSpPr>
      <p:grpSpPr>
        <a:xfrm>
          <a:off x="0" y="0"/>
          <a:ext cx="0" cy="0"/>
          <a:chOff x="0" y="0"/>
          <a:chExt cx="0" cy="0"/>
        </a:xfrm>
      </p:grpSpPr>
      <p:sp>
        <p:nvSpPr>
          <p:cNvPr id="1090" name="Shape 109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91" name="Shape 109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95" name="Shape 1095"/>
        <p:cNvGrpSpPr/>
        <p:nvPr/>
      </p:nvGrpSpPr>
      <p:grpSpPr>
        <a:xfrm>
          <a:off x="0" y="0"/>
          <a:ext cx="0" cy="0"/>
          <a:chOff x="0" y="0"/>
          <a:chExt cx="0" cy="0"/>
        </a:xfrm>
      </p:grpSpPr>
      <p:sp>
        <p:nvSpPr>
          <p:cNvPr id="1096" name="Shape 109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97" name="Shape 109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01" name="Shape 1101"/>
        <p:cNvGrpSpPr/>
        <p:nvPr/>
      </p:nvGrpSpPr>
      <p:grpSpPr>
        <a:xfrm>
          <a:off x="0" y="0"/>
          <a:ext cx="0" cy="0"/>
          <a:chOff x="0" y="0"/>
          <a:chExt cx="0" cy="0"/>
        </a:xfrm>
      </p:grpSpPr>
      <p:sp>
        <p:nvSpPr>
          <p:cNvPr id="1102" name="Shape 110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103" name="Shape 1103"/>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07" name="Shape 1107"/>
        <p:cNvGrpSpPr/>
        <p:nvPr/>
      </p:nvGrpSpPr>
      <p:grpSpPr>
        <a:xfrm>
          <a:off x="0" y="0"/>
          <a:ext cx="0" cy="0"/>
          <a:chOff x="0" y="0"/>
          <a:chExt cx="0" cy="0"/>
        </a:xfrm>
      </p:grpSpPr>
      <p:sp>
        <p:nvSpPr>
          <p:cNvPr id="1108" name="Shape 110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09" name="Shape 110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12" name="Shape 1112"/>
        <p:cNvGrpSpPr/>
        <p:nvPr/>
      </p:nvGrpSpPr>
      <p:grpSpPr>
        <a:xfrm>
          <a:off x="0" y="0"/>
          <a:ext cx="0" cy="0"/>
          <a:chOff x="0" y="0"/>
          <a:chExt cx="0" cy="0"/>
        </a:xfrm>
      </p:grpSpPr>
      <p:sp>
        <p:nvSpPr>
          <p:cNvPr id="1113" name="Shape 1113"/>
          <p:cNvSpPr/>
          <p:nvPr>
            <p:ph idx="2" type="sldImg"/>
          </p:nvPr>
        </p:nvSpPr>
        <p:spPr>
          <a:xfrm>
            <a:off x="685800" y="685800"/>
            <a:ext cx="5486399"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114" name="Shape 1114"/>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69" name="Shape 1169"/>
        <p:cNvGrpSpPr/>
        <p:nvPr/>
      </p:nvGrpSpPr>
      <p:grpSpPr>
        <a:xfrm>
          <a:off x="0" y="0"/>
          <a:ext cx="0" cy="0"/>
          <a:chOff x="0" y="0"/>
          <a:chExt cx="0" cy="0"/>
        </a:xfrm>
      </p:grpSpPr>
      <p:sp>
        <p:nvSpPr>
          <p:cNvPr id="1170" name="Shape 1170"/>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171" name="Shape 1171"/>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29" name="Shape 1229"/>
        <p:cNvGrpSpPr/>
        <p:nvPr/>
      </p:nvGrpSpPr>
      <p:grpSpPr>
        <a:xfrm>
          <a:off x="0" y="0"/>
          <a:ext cx="0" cy="0"/>
          <a:chOff x="0" y="0"/>
          <a:chExt cx="0" cy="0"/>
        </a:xfrm>
      </p:grpSpPr>
      <p:sp>
        <p:nvSpPr>
          <p:cNvPr id="1230" name="Shape 1230"/>
          <p:cNvSpPr/>
          <p:nvPr>
            <p:ph idx="2" type="sldImg"/>
          </p:nvPr>
        </p:nvSpPr>
        <p:spPr>
          <a:xfrm>
            <a:off x="381000" y="685800"/>
            <a:ext cx="6095999"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231" name="Shape 1231"/>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SzPct val="25000"/>
              <a:buNone/>
            </a:pPr>
            <a:r>
              <a:rPr b="0" i="0" lang="en" sz="1200" u="none" cap="none" strike="noStrike">
                <a:solidFill>
                  <a:schemeClr val="dk1"/>
                </a:solidFill>
                <a:latin typeface="Arial"/>
                <a:ea typeface="Arial"/>
                <a:cs typeface="Arial"/>
                <a:sym typeface="Arial"/>
              </a:rPr>
              <a:t>Cbench rudimentary - doesn’t cut it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90" name="Shape 1290"/>
        <p:cNvGrpSpPr/>
        <p:nvPr/>
      </p:nvGrpSpPr>
      <p:grpSpPr>
        <a:xfrm>
          <a:off x="0" y="0"/>
          <a:ext cx="0" cy="0"/>
          <a:chOff x="0" y="0"/>
          <a:chExt cx="0" cy="0"/>
        </a:xfrm>
      </p:grpSpPr>
      <p:sp>
        <p:nvSpPr>
          <p:cNvPr id="1291" name="Shape 129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92" name="Shape 129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96" name="Shape 1296"/>
        <p:cNvGrpSpPr/>
        <p:nvPr/>
      </p:nvGrpSpPr>
      <p:grpSpPr>
        <a:xfrm>
          <a:off x="0" y="0"/>
          <a:ext cx="0" cy="0"/>
          <a:chOff x="0" y="0"/>
          <a:chExt cx="0" cy="0"/>
        </a:xfrm>
      </p:grpSpPr>
      <p:sp>
        <p:nvSpPr>
          <p:cNvPr id="1297" name="Shape 129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298" name="Shape 1298"/>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02" name="Shape 1302"/>
        <p:cNvGrpSpPr/>
        <p:nvPr/>
      </p:nvGrpSpPr>
      <p:grpSpPr>
        <a:xfrm>
          <a:off x="0" y="0"/>
          <a:ext cx="0" cy="0"/>
          <a:chOff x="0" y="0"/>
          <a:chExt cx="0" cy="0"/>
        </a:xfrm>
      </p:grpSpPr>
      <p:sp>
        <p:nvSpPr>
          <p:cNvPr id="1303" name="Shape 130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304" name="Shape 1304"/>
          <p:cNvSpPr/>
          <p:nvPr>
            <p:ph idx="2" type="sldImg"/>
          </p:nvPr>
        </p:nvSpPr>
        <p:spPr>
          <a:xfrm>
            <a:off x="381187" y="685800"/>
            <a:ext cx="60963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51" name="Shape 1351"/>
        <p:cNvGrpSpPr/>
        <p:nvPr/>
      </p:nvGrpSpPr>
      <p:grpSpPr>
        <a:xfrm>
          <a:off x="0" y="0"/>
          <a:ext cx="0" cy="0"/>
          <a:chOff x="0" y="0"/>
          <a:chExt cx="0" cy="0"/>
        </a:xfrm>
      </p:grpSpPr>
      <p:sp>
        <p:nvSpPr>
          <p:cNvPr id="1352" name="Shape 135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353" name="Shape 1353"/>
          <p:cNvSpPr/>
          <p:nvPr>
            <p:ph idx="2" type="sldImg"/>
          </p:nvPr>
        </p:nvSpPr>
        <p:spPr>
          <a:xfrm>
            <a:off x="381187" y="685800"/>
            <a:ext cx="60963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3.jpg"/><Relationship Id="rId3" Type="http://schemas.openxmlformats.org/officeDocument/2006/relationships/image" Target="../media/image0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9" name="Shape 9"/>
        <p:cNvGrpSpPr/>
        <p:nvPr/>
      </p:nvGrpSpPr>
      <p:grpSpPr>
        <a:xfrm>
          <a:off x="0" y="0"/>
          <a:ext cx="0" cy="0"/>
          <a:chOff x="0" y="0"/>
          <a:chExt cx="0" cy="0"/>
        </a:xfrm>
      </p:grpSpPr>
      <p:pic>
        <p:nvPicPr>
          <p:cNvPr descr="road.jpg" id="10" name="Shape 10"/>
          <p:cNvPicPr preferRelativeResize="0"/>
          <p:nvPr/>
        </p:nvPicPr>
        <p:blipFill rotWithShape="1">
          <a:blip r:embed="rId2">
            <a:alphaModFix/>
          </a:blip>
          <a:srcRect b="43638" l="0" r="0" t="15840"/>
          <a:stretch/>
        </p:blipFill>
        <p:spPr>
          <a:xfrm>
            <a:off x="-12450" y="0"/>
            <a:ext cx="9168902" cy="2476502"/>
          </a:xfrm>
          <a:prstGeom prst="rect">
            <a:avLst/>
          </a:prstGeom>
          <a:noFill/>
          <a:ln>
            <a:noFill/>
          </a:ln>
        </p:spPr>
      </p:pic>
      <p:sp>
        <p:nvSpPr>
          <p:cNvPr id="11" name="Shape 11"/>
          <p:cNvSpPr txBox="1"/>
          <p:nvPr>
            <p:ph type="ctrTitle"/>
          </p:nvPr>
        </p:nvSpPr>
        <p:spPr>
          <a:xfrm>
            <a:off x="-24900" y="1800900"/>
            <a:ext cx="9181200" cy="1266000"/>
          </a:xfrm>
          <a:prstGeom prst="rect">
            <a:avLst/>
          </a:prstGeom>
          <a:solidFill>
            <a:srgbClr val="980000"/>
          </a:solidFill>
        </p:spPr>
        <p:txBody>
          <a:bodyPr anchorCtr="0" anchor="ctr" bIns="91425" lIns="91425" rIns="91425" tIns="91425"/>
          <a:lstStyle>
            <a:lvl1pPr lvl="0" algn="ctr">
              <a:spcBef>
                <a:spcPts val="0"/>
              </a:spcBef>
              <a:buClr>
                <a:srgbClr val="FFFFFF"/>
              </a:buClr>
              <a:buSzPct val="100000"/>
              <a:defRPr b="0" sz="3200">
                <a:solidFill>
                  <a:srgbClr val="FFFFFF"/>
                </a:solidFill>
              </a:defRPr>
            </a:lvl1pPr>
            <a:lvl2pPr lvl="1" algn="ctr">
              <a:spcBef>
                <a:spcPts val="0"/>
              </a:spcBef>
              <a:buSzPct val="100000"/>
              <a:defRPr sz="4800"/>
            </a:lvl2pPr>
            <a:lvl3pPr lvl="2" algn="ctr">
              <a:spcBef>
                <a:spcPts val="0"/>
              </a:spcBef>
              <a:buSzPct val="100000"/>
              <a:defRPr sz="4800"/>
            </a:lvl3pPr>
            <a:lvl4pPr lvl="3" algn="ctr">
              <a:spcBef>
                <a:spcPts val="0"/>
              </a:spcBef>
              <a:buSzPct val="100000"/>
              <a:defRPr sz="4800"/>
            </a:lvl4pPr>
            <a:lvl5pPr lvl="4" algn="ctr">
              <a:spcBef>
                <a:spcPts val="0"/>
              </a:spcBef>
              <a:buSzPct val="100000"/>
              <a:defRPr sz="4800"/>
            </a:lvl5pPr>
            <a:lvl6pPr lvl="5" algn="ctr">
              <a:spcBef>
                <a:spcPts val="0"/>
              </a:spcBef>
              <a:buSzPct val="100000"/>
              <a:defRPr sz="4800"/>
            </a:lvl6pPr>
            <a:lvl7pPr lvl="6" algn="ctr">
              <a:spcBef>
                <a:spcPts val="0"/>
              </a:spcBef>
              <a:buSzPct val="100000"/>
              <a:defRPr sz="4800"/>
            </a:lvl7pPr>
            <a:lvl8pPr lvl="7" algn="ctr">
              <a:spcBef>
                <a:spcPts val="0"/>
              </a:spcBef>
              <a:buSzPct val="100000"/>
              <a:defRPr sz="4800"/>
            </a:lvl8pPr>
            <a:lvl9pPr lvl="8" algn="ctr">
              <a:spcBef>
                <a:spcPts val="0"/>
              </a:spcBef>
              <a:buSzPct val="100000"/>
              <a:defRPr sz="4800"/>
            </a:lvl9pPr>
          </a:lstStyle>
          <a:p/>
        </p:txBody>
      </p:sp>
      <p:sp>
        <p:nvSpPr>
          <p:cNvPr id="12" name="Shape 12"/>
          <p:cNvSpPr txBox="1"/>
          <p:nvPr>
            <p:ph idx="1" type="subTitle"/>
          </p:nvPr>
        </p:nvSpPr>
        <p:spPr>
          <a:xfrm>
            <a:off x="723900" y="3174725"/>
            <a:ext cx="7696200" cy="932100"/>
          </a:xfrm>
          <a:prstGeom prst="rect">
            <a:avLst/>
          </a:prstGeom>
        </p:spPr>
        <p:txBody>
          <a:bodyPr anchorCtr="0" anchor="t" bIns="91425" lIns="91425" rIns="91425" tIns="91425"/>
          <a:lstStyle>
            <a:lvl1pPr lvl="0" algn="ctr">
              <a:spcBef>
                <a:spcPts val="0"/>
              </a:spcBef>
              <a:buClr>
                <a:schemeClr val="dk2"/>
              </a:buClr>
              <a:buSzPct val="100000"/>
              <a:buNone/>
              <a:defRPr sz="1800">
                <a:solidFill>
                  <a:schemeClr val="dk2"/>
                </a:solidFill>
              </a:defRPr>
            </a:lvl1pPr>
            <a:lvl2pPr lvl="1" algn="ctr">
              <a:spcBef>
                <a:spcPts val="0"/>
              </a:spcBef>
              <a:buClr>
                <a:schemeClr val="dk2"/>
              </a:buClr>
              <a:buSzPct val="100000"/>
              <a:buNone/>
              <a:defRPr sz="1800">
                <a:solidFill>
                  <a:schemeClr val="dk2"/>
                </a:solidFill>
              </a:defRPr>
            </a:lvl2pPr>
            <a:lvl3pPr lvl="2" algn="ctr">
              <a:spcBef>
                <a:spcPts val="0"/>
              </a:spcBef>
              <a:buClr>
                <a:schemeClr val="dk2"/>
              </a:buClr>
              <a:buSzPct val="100000"/>
              <a:buNone/>
              <a:defRPr sz="1800">
                <a:solidFill>
                  <a:schemeClr val="dk2"/>
                </a:solidFill>
              </a:defRPr>
            </a:lvl3pPr>
            <a:lvl4pPr lvl="3" algn="ctr">
              <a:spcBef>
                <a:spcPts val="0"/>
              </a:spcBef>
              <a:buClr>
                <a:schemeClr val="dk2"/>
              </a:buClr>
              <a:buSzPct val="100000"/>
              <a:buNone/>
              <a:defRPr sz="1800">
                <a:solidFill>
                  <a:schemeClr val="dk2"/>
                </a:solidFill>
              </a:defRPr>
            </a:lvl4pPr>
            <a:lvl5pPr lvl="4" algn="ctr">
              <a:spcBef>
                <a:spcPts val="0"/>
              </a:spcBef>
              <a:buClr>
                <a:schemeClr val="dk2"/>
              </a:buClr>
              <a:buSzPct val="100000"/>
              <a:buNone/>
              <a:defRPr sz="1800">
                <a:solidFill>
                  <a:schemeClr val="dk2"/>
                </a:solidFill>
              </a:defRPr>
            </a:lvl5pPr>
            <a:lvl6pPr lvl="5" algn="ctr">
              <a:spcBef>
                <a:spcPts val="0"/>
              </a:spcBef>
              <a:buClr>
                <a:schemeClr val="dk2"/>
              </a:buClr>
              <a:buNone/>
              <a:defRPr>
                <a:solidFill>
                  <a:schemeClr val="dk2"/>
                </a:solidFill>
              </a:defRPr>
            </a:lvl6pPr>
            <a:lvl7pPr lvl="6" algn="ctr">
              <a:spcBef>
                <a:spcPts val="0"/>
              </a:spcBef>
              <a:buClr>
                <a:schemeClr val="dk2"/>
              </a:buClr>
              <a:buNone/>
              <a:defRPr>
                <a:solidFill>
                  <a:schemeClr val="dk2"/>
                </a:solidFill>
              </a:defRPr>
            </a:lvl7pPr>
            <a:lvl8pPr lvl="7" algn="ctr">
              <a:spcBef>
                <a:spcPts val="0"/>
              </a:spcBef>
              <a:buClr>
                <a:schemeClr val="dk2"/>
              </a:buClr>
              <a:buNone/>
              <a:defRPr>
                <a:solidFill>
                  <a:schemeClr val="dk2"/>
                </a:solidFill>
              </a:defRPr>
            </a:lvl8pPr>
            <a:lvl9pPr lvl="8" algn="ctr">
              <a:spcBef>
                <a:spcPts val="0"/>
              </a:spcBef>
              <a:buClr>
                <a:schemeClr val="dk2"/>
              </a:buClr>
              <a:buNone/>
              <a:defRPr>
                <a:solidFill>
                  <a:schemeClr val="dk2"/>
                </a:solidFill>
              </a:defRPr>
            </a:lvl9pPr>
          </a:lstStyle>
          <a:p/>
        </p:txBody>
      </p:sp>
      <p:pic>
        <p:nvPicPr>
          <p:cNvPr descr="onos-logo.png" id="13" name="Shape 13"/>
          <p:cNvPicPr preferRelativeResize="0"/>
          <p:nvPr/>
        </p:nvPicPr>
        <p:blipFill>
          <a:blip r:embed="rId3">
            <a:alphaModFix amt="96000"/>
          </a:blip>
          <a:stretch>
            <a:fillRect/>
          </a:stretch>
        </p:blipFill>
        <p:spPr>
          <a:xfrm>
            <a:off x="7369200" y="3563068"/>
            <a:ext cx="1491550" cy="1381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14" name="Shape 14"/>
        <p:cNvGrpSpPr/>
        <p:nvPr/>
      </p:nvGrpSpPr>
      <p:grpSpPr>
        <a:xfrm>
          <a:off x="0" y="0"/>
          <a:ext cx="0" cy="0"/>
          <a:chOff x="0" y="0"/>
          <a:chExt cx="0" cy="0"/>
        </a:xfrm>
      </p:grpSpPr>
      <p:sp>
        <p:nvSpPr>
          <p:cNvPr id="15" name="Shape 15"/>
          <p:cNvSpPr txBox="1"/>
          <p:nvPr>
            <p:ph type="title"/>
          </p:nvPr>
        </p:nvSpPr>
        <p:spPr>
          <a:xfrm>
            <a:off x="377775" y="3"/>
            <a:ext cx="8229600" cy="857400"/>
          </a:xfrm>
          <a:prstGeom prst="rect">
            <a:avLst/>
          </a:prstGeom>
        </p:spPr>
        <p:txBody>
          <a:bodyPr anchorCtr="0" anchor="b"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6" name="Shape 16"/>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descr="onos-logo.png" id="17" name="Shape 17"/>
          <p:cNvPicPr preferRelativeResize="0"/>
          <p:nvPr/>
        </p:nvPicPr>
        <p:blipFill>
          <a:blip r:embed="rId2">
            <a:alphaModFix amt="96000"/>
          </a:blip>
          <a:stretch>
            <a:fillRect/>
          </a:stretch>
        </p:blipFill>
        <p:spPr>
          <a:xfrm>
            <a:off x="8344100" y="131246"/>
            <a:ext cx="623100" cy="577293"/>
          </a:xfrm>
          <a:prstGeom prst="rect">
            <a:avLst/>
          </a:prstGeom>
          <a:noFill/>
          <a:ln>
            <a:noFill/>
          </a:ln>
        </p:spPr>
      </p:pic>
      <p:sp>
        <p:nvSpPr>
          <p:cNvPr id="18" name="Shape 18"/>
          <p:cNvSpPr txBox="1"/>
          <p:nvPr>
            <p:ph idx="1" type="body"/>
          </p:nvPr>
        </p:nvSpPr>
        <p:spPr>
          <a:xfrm>
            <a:off x="457200" y="751498"/>
            <a:ext cx="8229600" cy="3989400"/>
          </a:xfrm>
          <a:prstGeom prst="rect">
            <a:avLst/>
          </a:prstGeom>
        </p:spPr>
        <p:txBody>
          <a:bodyPr anchorCtr="0" anchor="t" bIns="91425" lIns="91425" rIns="91425" tIns="91425"/>
          <a:lstStyle>
            <a:lvl1pPr lvl="0">
              <a:spcBef>
                <a:spcPts val="0"/>
              </a:spcBef>
              <a:buSzPct val="100000"/>
              <a:defRPr sz="2400"/>
            </a:lvl1pPr>
            <a:lvl2pPr lvl="1">
              <a:spcBef>
                <a:spcPts val="0"/>
              </a:spcBef>
              <a:buSzPct val="100000"/>
              <a:defRPr sz="1800"/>
            </a:lvl2pPr>
            <a:lvl3pPr lvl="2">
              <a:spcBef>
                <a:spcPts val="0"/>
              </a:spcBef>
              <a:buSzPct val="100000"/>
              <a:defRPr sz="1400"/>
            </a:lvl3pPr>
            <a:lvl4pPr lvl="3">
              <a:spcBef>
                <a:spcPts val="0"/>
              </a:spcBef>
              <a:buSzPct val="100000"/>
              <a:defRPr sz="1200"/>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19" name="Shape 19"/>
        <p:cNvGrpSpPr/>
        <p:nvPr/>
      </p:nvGrpSpPr>
      <p:grpSpPr>
        <a:xfrm>
          <a:off x="0" y="0"/>
          <a:ext cx="0" cy="0"/>
          <a:chOff x="0" y="0"/>
          <a:chExt cx="0" cy="0"/>
        </a:xfrm>
      </p:grpSpPr>
      <p:sp>
        <p:nvSpPr>
          <p:cNvPr id="20" name="Shape 20"/>
          <p:cNvSpPr txBox="1"/>
          <p:nvPr>
            <p:ph type="title"/>
          </p:nvPr>
        </p:nvSpPr>
        <p:spPr>
          <a:xfrm>
            <a:off x="377775" y="3"/>
            <a:ext cx="8229600" cy="857400"/>
          </a:xfrm>
          <a:prstGeom prst="rect">
            <a:avLst/>
          </a:prstGeom>
        </p:spPr>
        <p:txBody>
          <a:bodyPr anchorCtr="0" anchor="b"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1" name="Shape 21"/>
          <p:cNvSpPr txBox="1"/>
          <p:nvPr>
            <p:ph idx="1" type="body"/>
          </p:nvPr>
        </p:nvSpPr>
        <p:spPr>
          <a:xfrm>
            <a:off x="457200" y="758825"/>
            <a:ext cx="3994500" cy="3725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2" name="Shape 22"/>
          <p:cNvSpPr txBox="1"/>
          <p:nvPr>
            <p:ph idx="2" type="body"/>
          </p:nvPr>
        </p:nvSpPr>
        <p:spPr>
          <a:xfrm>
            <a:off x="4692273" y="758825"/>
            <a:ext cx="3994500" cy="3725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3" name="Shape 23"/>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descr="onos-logo.png" id="24" name="Shape 24"/>
          <p:cNvPicPr preferRelativeResize="0"/>
          <p:nvPr/>
        </p:nvPicPr>
        <p:blipFill>
          <a:blip r:embed="rId2">
            <a:alphaModFix amt="96000"/>
          </a:blip>
          <a:stretch>
            <a:fillRect/>
          </a:stretch>
        </p:blipFill>
        <p:spPr>
          <a:xfrm>
            <a:off x="8344100" y="131246"/>
            <a:ext cx="623100" cy="57729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25" name="Shape 25"/>
        <p:cNvGrpSpPr/>
        <p:nvPr/>
      </p:nvGrpSpPr>
      <p:grpSpPr>
        <a:xfrm>
          <a:off x="0" y="0"/>
          <a:ext cx="0" cy="0"/>
          <a:chOff x="0" y="0"/>
          <a:chExt cx="0" cy="0"/>
        </a:xfrm>
      </p:grpSpPr>
      <p:sp>
        <p:nvSpPr>
          <p:cNvPr id="26" name="Shape 26"/>
          <p:cNvSpPr txBox="1"/>
          <p:nvPr>
            <p:ph type="title"/>
          </p:nvPr>
        </p:nvSpPr>
        <p:spPr>
          <a:xfrm>
            <a:off x="377775" y="3"/>
            <a:ext cx="8229600" cy="857400"/>
          </a:xfrm>
          <a:prstGeom prst="rect">
            <a:avLst/>
          </a:prstGeom>
        </p:spPr>
        <p:txBody>
          <a:bodyPr anchorCtr="0" anchor="b"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7" name="Shape 27"/>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descr="onos-logo.png" id="28" name="Shape 28"/>
          <p:cNvPicPr preferRelativeResize="0"/>
          <p:nvPr/>
        </p:nvPicPr>
        <p:blipFill>
          <a:blip r:embed="rId2">
            <a:alphaModFix amt="96000"/>
          </a:blip>
          <a:stretch>
            <a:fillRect/>
          </a:stretch>
        </p:blipFill>
        <p:spPr>
          <a:xfrm>
            <a:off x="8344100" y="131246"/>
            <a:ext cx="623100" cy="57729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29" name="Shape 29"/>
        <p:cNvGrpSpPr/>
        <p:nvPr/>
      </p:nvGrpSpPr>
      <p:grpSpPr>
        <a:xfrm>
          <a:off x="0" y="0"/>
          <a:ext cx="0" cy="0"/>
          <a:chOff x="0" y="0"/>
          <a:chExt cx="0" cy="0"/>
        </a:xfrm>
      </p:grpSpPr>
      <p:sp>
        <p:nvSpPr>
          <p:cNvPr id="30" name="Shape 30"/>
          <p:cNvSpPr txBox="1"/>
          <p:nvPr>
            <p:ph idx="1" type="body"/>
          </p:nvPr>
        </p:nvSpPr>
        <p:spPr>
          <a:xfrm>
            <a:off x="457200" y="4406309"/>
            <a:ext cx="8229600" cy="519600"/>
          </a:xfrm>
          <a:prstGeom prst="rect">
            <a:avLst/>
          </a:prstGeom>
        </p:spPr>
        <p:txBody>
          <a:bodyPr anchorCtr="0" anchor="t" bIns="91425" lIns="91425" rIns="91425" tIns="91425"/>
          <a:lstStyle>
            <a:lvl1pPr lvl="0" algn="ctr">
              <a:spcBef>
                <a:spcPts val="360"/>
              </a:spcBef>
              <a:buSzPct val="100000"/>
              <a:buNone/>
              <a:defRPr sz="1800"/>
            </a:lvl1pPr>
          </a:lstStyle>
          <a:p/>
        </p:txBody>
      </p:sp>
      <p:sp>
        <p:nvSpPr>
          <p:cNvPr id="31" name="Shape 31"/>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descr="onos-logo.png" id="32" name="Shape 32"/>
          <p:cNvPicPr preferRelativeResize="0"/>
          <p:nvPr/>
        </p:nvPicPr>
        <p:blipFill>
          <a:blip r:embed="rId2">
            <a:alphaModFix amt="96000"/>
          </a:blip>
          <a:stretch>
            <a:fillRect/>
          </a:stretch>
        </p:blipFill>
        <p:spPr>
          <a:xfrm>
            <a:off x="8344100" y="131246"/>
            <a:ext cx="623100" cy="577293"/>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33" name="Shape 33"/>
        <p:cNvGrpSpPr/>
        <p:nvPr/>
      </p:nvGrpSpPr>
      <p:grpSpPr>
        <a:xfrm>
          <a:off x="0" y="0"/>
          <a:ext cx="0" cy="0"/>
          <a:chOff x="0" y="0"/>
          <a:chExt cx="0" cy="0"/>
        </a:xfrm>
      </p:grpSpPr>
      <p:sp>
        <p:nvSpPr>
          <p:cNvPr id="34" name="Shape 34"/>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descr="onos-logo.png" id="35" name="Shape 35"/>
          <p:cNvPicPr preferRelativeResize="0"/>
          <p:nvPr/>
        </p:nvPicPr>
        <p:blipFill>
          <a:blip r:embed="rId2">
            <a:alphaModFix amt="96000"/>
          </a:blip>
          <a:stretch>
            <a:fillRect/>
          </a:stretch>
        </p:blipFill>
        <p:spPr>
          <a:xfrm>
            <a:off x="8344100" y="131246"/>
            <a:ext cx="623100" cy="57729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End Slide">
    <p:spTree>
      <p:nvGrpSpPr>
        <p:cNvPr id="36" name="Shape 36"/>
        <p:cNvGrpSpPr/>
        <p:nvPr/>
      </p:nvGrpSpPr>
      <p:grpSpPr>
        <a:xfrm>
          <a:off x="0" y="0"/>
          <a:ext cx="0" cy="0"/>
          <a:chOff x="0" y="0"/>
          <a:chExt cx="0" cy="0"/>
        </a:xfrm>
      </p:grpSpPr>
      <p:sp>
        <p:nvSpPr>
          <p:cNvPr id="37" name="Shape 37"/>
          <p:cNvSpPr txBox="1"/>
          <p:nvPr/>
        </p:nvSpPr>
        <p:spPr>
          <a:xfrm>
            <a:off x="2779350" y="4745219"/>
            <a:ext cx="3585300" cy="356700"/>
          </a:xfrm>
          <a:prstGeom prst="rect">
            <a:avLst/>
          </a:prstGeom>
          <a:noFill/>
          <a:ln>
            <a:noFill/>
          </a:ln>
        </p:spPr>
        <p:txBody>
          <a:bodyPr anchorCtr="0" anchor="t" bIns="91425" lIns="91425" rIns="91425" tIns="91425">
            <a:noAutofit/>
          </a:bodyPr>
          <a:lstStyle/>
          <a:p>
            <a:pPr lvl="0" rtl="0" algn="ctr">
              <a:spcBef>
                <a:spcPts val="0"/>
              </a:spcBef>
              <a:buNone/>
            </a:pPr>
            <a:r>
              <a:rPr i="1" lang="en"/>
              <a:t>Join the journey @ onosproject.org</a:t>
            </a:r>
          </a:p>
        </p:txBody>
      </p:sp>
      <p:sp>
        <p:nvSpPr>
          <p:cNvPr id="38" name="Shape 38"/>
          <p:cNvSpPr txBox="1"/>
          <p:nvPr/>
        </p:nvSpPr>
        <p:spPr>
          <a:xfrm>
            <a:off x="1787850" y="2741250"/>
            <a:ext cx="5568300" cy="356700"/>
          </a:xfrm>
          <a:prstGeom prst="rect">
            <a:avLst/>
          </a:prstGeom>
          <a:noFill/>
          <a:ln>
            <a:noFill/>
          </a:ln>
        </p:spPr>
        <p:txBody>
          <a:bodyPr anchorCtr="0" anchor="t" bIns="91425" lIns="91425" rIns="91425" tIns="91425">
            <a:noAutofit/>
          </a:bodyPr>
          <a:lstStyle/>
          <a:p>
            <a:pPr lvl="0" rtl="0" algn="ctr">
              <a:spcBef>
                <a:spcPts val="0"/>
              </a:spcBef>
              <a:buNone/>
            </a:pPr>
            <a:r>
              <a:rPr lang="en"/>
              <a:t>Software Defined Transformation of Service Provider Networks</a:t>
            </a:r>
          </a:p>
        </p:txBody>
      </p:sp>
      <p:pic>
        <p:nvPicPr>
          <p:cNvPr descr="onos-logo-fliprotate.png" id="39" name="Shape 39"/>
          <p:cNvPicPr preferRelativeResize="0"/>
          <p:nvPr/>
        </p:nvPicPr>
        <p:blipFill>
          <a:blip r:embed="rId2">
            <a:alphaModFix/>
          </a:blip>
          <a:stretch>
            <a:fillRect/>
          </a:stretch>
        </p:blipFill>
        <p:spPr>
          <a:xfrm>
            <a:off x="3675512" y="1260250"/>
            <a:ext cx="1792975" cy="1481000"/>
          </a:xfrm>
          <a:prstGeom prst="rect">
            <a:avLst/>
          </a:prstGeom>
          <a:noFill/>
          <a:ln>
            <a:noFill/>
          </a:ln>
        </p:spPr>
      </p:pic>
      <p:sp>
        <p:nvSpPr>
          <p:cNvPr id="40" name="Shape 40"/>
          <p:cNvSpPr/>
          <p:nvPr/>
        </p:nvSpPr>
        <p:spPr>
          <a:xfrm>
            <a:off x="8026800" y="0"/>
            <a:ext cx="1117200" cy="854100"/>
          </a:xfrm>
          <a:prstGeom prst="rect">
            <a:avLst/>
          </a:prstGeom>
          <a:solidFill>
            <a:srgbClr val="FFFFFF"/>
          </a:solidFill>
          <a:ln>
            <a:noFill/>
          </a:ln>
        </p:spPr>
        <p:txBody>
          <a:bodyPr anchorCtr="0" anchor="ctr" bIns="91425" lIns="91425" rIns="91425" tIns="91425">
            <a:noAutofit/>
          </a:bodyPr>
          <a:lstStyle/>
          <a:p>
            <a:pPr lvl="0">
              <a:spcBef>
                <a:spcPts val="0"/>
              </a:spcBef>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41" name="Shape 41"/>
        <p:cNvGrpSpPr/>
        <p:nvPr/>
      </p:nvGrpSpPr>
      <p:grpSpPr>
        <a:xfrm>
          <a:off x="0" y="0"/>
          <a:ext cx="0" cy="0"/>
          <a:chOff x="0" y="0"/>
          <a:chExt cx="0" cy="0"/>
        </a:xfrm>
      </p:grpSpPr>
      <p:sp>
        <p:nvSpPr>
          <p:cNvPr id="42" name="Shape 42"/>
          <p:cNvSpPr txBox="1"/>
          <p:nvPr>
            <p:ph idx="1" type="body"/>
          </p:nvPr>
        </p:nvSpPr>
        <p:spPr>
          <a:xfrm>
            <a:off x="457200" y="4406334"/>
            <a:ext cx="8229600" cy="519599"/>
          </a:xfrm>
          <a:prstGeom prst="rect">
            <a:avLst/>
          </a:prstGeom>
          <a:noFill/>
          <a:ln>
            <a:noFill/>
          </a:ln>
        </p:spPr>
        <p:txBody>
          <a:bodyPr anchorCtr="0" anchor="t" bIns="91425" lIns="91425" rIns="91425" tIns="91425"/>
          <a:lstStyle>
            <a:lvl1pPr indent="0" lvl="0" marL="0" marR="0" rtl="0" algn="ctr">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1pPr>
            <a:lvl2pPr indent="0" lvl="1" marL="457200" marR="0" rtl="0" algn="l">
              <a:lnSpc>
                <a:spcPct val="100000"/>
              </a:lnSpc>
              <a:spcBef>
                <a:spcPts val="480"/>
              </a:spcBef>
              <a:spcAft>
                <a:spcPts val="0"/>
              </a:spcAft>
              <a:buClr>
                <a:schemeClr val="dk1"/>
              </a:buClr>
              <a:buFont typeface="Arial"/>
              <a:buNone/>
              <a:defRPr b="0" i="0" sz="2800" u="none" cap="none" strike="noStrike">
                <a:solidFill>
                  <a:schemeClr val="dk1"/>
                </a:solidFill>
                <a:latin typeface="Arial"/>
                <a:ea typeface="Arial"/>
                <a:cs typeface="Arial"/>
                <a:sym typeface="Arial"/>
              </a:defRPr>
            </a:lvl2pPr>
            <a:lvl3pPr indent="0" lvl="2" marL="914400" marR="0" rtl="0" algn="l">
              <a:lnSpc>
                <a:spcPct val="100000"/>
              </a:lnSpc>
              <a:spcBef>
                <a:spcPts val="480"/>
              </a:spcBef>
              <a:spcAft>
                <a:spcPts val="0"/>
              </a:spcAft>
              <a:buClr>
                <a:schemeClr val="dk1"/>
              </a:buClr>
              <a:buFont typeface="Arial"/>
              <a:buNone/>
              <a:defRPr b="0" i="0" sz="2400" u="none" cap="none" strike="noStrike">
                <a:solidFill>
                  <a:schemeClr val="dk1"/>
                </a:solidFill>
                <a:latin typeface="Arial"/>
                <a:ea typeface="Arial"/>
                <a:cs typeface="Arial"/>
                <a:sym typeface="Arial"/>
              </a:defRPr>
            </a:lvl3pPr>
            <a:lvl4pPr indent="0" lvl="3" marL="1371600" marR="0" rtl="0" algn="l">
              <a:lnSpc>
                <a:spcPct val="100000"/>
              </a:lnSpc>
              <a:spcBef>
                <a:spcPts val="360"/>
              </a:spcBef>
              <a:spcAft>
                <a:spcPts val="0"/>
              </a:spcAft>
              <a:buClr>
                <a:schemeClr val="dk1"/>
              </a:buClr>
              <a:buFont typeface="Arial"/>
              <a:buNone/>
              <a:defRPr b="0" i="0" sz="2200" u="none" cap="none" strike="noStrike">
                <a:solidFill>
                  <a:schemeClr val="dk1"/>
                </a:solidFill>
                <a:latin typeface="Arial"/>
                <a:ea typeface="Arial"/>
                <a:cs typeface="Arial"/>
                <a:sym typeface="Arial"/>
              </a:defRPr>
            </a:lvl4pPr>
            <a:lvl5pPr indent="0" lvl="4" marL="1828800" marR="0" rtl="0" algn="l">
              <a:lnSpc>
                <a:spcPct val="100000"/>
              </a:lnSpc>
              <a:spcBef>
                <a:spcPts val="360"/>
              </a:spcBef>
              <a:spcAft>
                <a:spcPts val="0"/>
              </a:spcAft>
              <a:buClr>
                <a:schemeClr val="dk1"/>
              </a:buClr>
              <a:buFont typeface="Arial"/>
              <a:buNone/>
              <a:defRPr b="0" i="0" sz="2000" u="none" cap="none" strike="noStrike">
                <a:solidFill>
                  <a:schemeClr val="dk1"/>
                </a:solidFill>
                <a:latin typeface="Arial"/>
                <a:ea typeface="Arial"/>
                <a:cs typeface="Arial"/>
                <a:sym typeface="Arial"/>
              </a:defRPr>
            </a:lvl5pPr>
            <a:lvl6pPr indent="0" lvl="5" marL="22860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
        <p:nvSpPr>
          <p:cNvPr id="43" name="Shape 43"/>
          <p:cNvSpPr txBox="1"/>
          <p:nvPr>
            <p:ph idx="12" type="sldNum"/>
          </p:nvPr>
        </p:nvSpPr>
        <p:spPr>
          <a:xfrm>
            <a:off x="8556836" y="4749849"/>
            <a:ext cx="548699" cy="393599"/>
          </a:xfrm>
          <a:prstGeom prst="rect">
            <a:avLst/>
          </a:prstGeom>
          <a:noFill/>
          <a:ln>
            <a:noFill/>
          </a:ln>
        </p:spPr>
        <p:txBody>
          <a:bodyPr anchorCtr="0" anchor="ctr" bIns="91375" lIns="91375" rIns="91375" tIns="91375">
            <a:noAutofit/>
          </a:bodyPr>
          <a:lstStyle/>
          <a:p>
            <a:pPr indent="0" lvl="0" marL="0" marR="0" rtl="0" algn="r">
              <a:spcBef>
                <a:spcPts val="0"/>
              </a:spcBef>
              <a:buClr>
                <a:srgbClr val="000000"/>
              </a:buClr>
              <a:buSzPct val="25000"/>
              <a:buFont typeface="Arial"/>
              <a:buNone/>
            </a:pPr>
            <a:fld id="{00000000-1234-1234-1234-123412341234}" type="slidenum">
              <a:rPr b="0" i="0" lang="en" sz="1300" u="none" cap="none" strike="noStrike">
                <a:solidFill>
                  <a:srgbClr val="000000"/>
                </a:solidFill>
                <a:latin typeface="Arial"/>
                <a:ea typeface="Arial"/>
                <a:cs typeface="Arial"/>
                <a:sym typeface="Arial"/>
              </a:rPr>
              <a:t>‹#›</a:t>
            </a:fld>
          </a:p>
        </p:txBody>
      </p:sp>
      <p:sp>
        <p:nvSpPr>
          <p:cNvPr id="44" name="Shape 44"/>
          <p:cNvSpPr/>
          <p:nvPr/>
        </p:nvSpPr>
        <p:spPr>
          <a:xfrm>
            <a:off x="0" y="0"/>
            <a:ext cx="9144000" cy="566984"/>
          </a:xfrm>
          <a:prstGeom prst="rect">
            <a:avLst/>
          </a:prstGeom>
          <a:solidFill>
            <a:srgbClr val="007EC4"/>
          </a:solidFill>
          <a:ln>
            <a:noFill/>
          </a:ln>
        </p:spPr>
        <p:txBody>
          <a:bodyPr anchorCtr="0" anchor="ctr" bIns="91425" lIns="91425" rIns="91425" tIns="91425">
            <a:noAutofit/>
          </a:bodyPr>
          <a:lstStyle/>
          <a:p>
            <a:pPr indent="0" lvl="0" marL="0" marR="0" rtl="0" algn="l">
              <a:spcBef>
                <a:spcPts val="0"/>
              </a:spcBef>
              <a:buClr>
                <a:schemeClr val="dk1"/>
              </a:buClr>
              <a:buFont typeface="Arial"/>
              <a:buNone/>
            </a:pPr>
            <a:r>
              <a:t/>
            </a:r>
            <a:endParaRPr b="0" i="0" sz="3200" u="none" cap="none" strike="noStrike">
              <a:solidFill>
                <a:schemeClr val="lt1"/>
              </a:solidFill>
              <a:latin typeface="Arial"/>
              <a:ea typeface="Arial"/>
              <a:cs typeface="Arial"/>
              <a:sym typeface="Arial"/>
            </a:endParaRPr>
          </a:p>
        </p:txBody>
      </p:sp>
      <p:pic>
        <p:nvPicPr>
          <p:cNvPr id="45" name="Shape 45"/>
          <p:cNvPicPr preferRelativeResize="0"/>
          <p:nvPr/>
        </p:nvPicPr>
        <p:blipFill rotWithShape="1">
          <a:blip r:embed="rId2">
            <a:alphaModFix/>
          </a:blip>
          <a:srcRect b="0" l="0" r="0" t="0"/>
          <a:stretch/>
        </p:blipFill>
        <p:spPr>
          <a:xfrm>
            <a:off x="8472442" y="49842"/>
            <a:ext cx="548699" cy="456662"/>
          </a:xfrm>
          <a:prstGeom prst="rect">
            <a:avLst/>
          </a:prstGeom>
          <a:noFill/>
          <a:ln>
            <a:noFill/>
          </a:ln>
        </p:spPr>
      </p:pic>
      <p:sp>
        <p:nvSpPr>
          <p:cNvPr id="46" name="Shape 46"/>
          <p:cNvSpPr txBox="1"/>
          <p:nvPr>
            <p:ph type="title"/>
          </p:nvPr>
        </p:nvSpPr>
        <p:spPr>
          <a:xfrm>
            <a:off x="311701" y="37279"/>
            <a:ext cx="8520599" cy="572699"/>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rgbClr val="85200C"/>
              </a:buClr>
              <a:buFont typeface="Arial"/>
              <a:buNone/>
              <a:defRPr b="1" i="0" sz="32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85200C"/>
              </a:buClr>
              <a:buFont typeface="Arial"/>
              <a:buNone/>
              <a:defRPr b="1" i="0" sz="3600" u="none" cap="none" strike="noStrike">
                <a:solidFill>
                  <a:srgbClr val="85200C"/>
                </a:solidFill>
                <a:latin typeface="Arial"/>
                <a:ea typeface="Arial"/>
                <a:cs typeface="Arial"/>
                <a:sym typeface="Arial"/>
              </a:defRPr>
            </a:lvl2pPr>
            <a:lvl3pPr indent="0" lvl="2" rtl="0">
              <a:spcBef>
                <a:spcPts val="0"/>
              </a:spcBef>
              <a:buClr>
                <a:srgbClr val="85200C"/>
              </a:buClr>
              <a:buFont typeface="Arial"/>
              <a:buNone/>
              <a:defRPr b="1" sz="3600">
                <a:solidFill>
                  <a:srgbClr val="85200C"/>
                </a:solidFill>
              </a:defRPr>
            </a:lvl3pPr>
            <a:lvl4pPr indent="0" lvl="3" rtl="0">
              <a:spcBef>
                <a:spcPts val="0"/>
              </a:spcBef>
              <a:buClr>
                <a:srgbClr val="85200C"/>
              </a:buClr>
              <a:buFont typeface="Arial"/>
              <a:buNone/>
              <a:defRPr b="1" sz="3600">
                <a:solidFill>
                  <a:srgbClr val="85200C"/>
                </a:solidFill>
              </a:defRPr>
            </a:lvl4pPr>
            <a:lvl5pPr indent="0" lvl="4" rtl="0">
              <a:spcBef>
                <a:spcPts val="0"/>
              </a:spcBef>
              <a:buClr>
                <a:srgbClr val="85200C"/>
              </a:buClr>
              <a:buFont typeface="Arial"/>
              <a:buNone/>
              <a:defRPr b="1" sz="3600">
                <a:solidFill>
                  <a:srgbClr val="85200C"/>
                </a:solidFill>
              </a:defRPr>
            </a:lvl5pPr>
            <a:lvl6pPr indent="0" lvl="5" rtl="0">
              <a:spcBef>
                <a:spcPts val="0"/>
              </a:spcBef>
              <a:buClr>
                <a:srgbClr val="85200C"/>
              </a:buClr>
              <a:buFont typeface="Arial"/>
              <a:buNone/>
              <a:defRPr b="1" sz="3600">
                <a:solidFill>
                  <a:srgbClr val="85200C"/>
                </a:solidFill>
              </a:defRPr>
            </a:lvl6pPr>
            <a:lvl7pPr indent="0" lvl="6" rtl="0">
              <a:spcBef>
                <a:spcPts val="0"/>
              </a:spcBef>
              <a:buClr>
                <a:srgbClr val="85200C"/>
              </a:buClr>
              <a:buFont typeface="Arial"/>
              <a:buNone/>
              <a:defRPr b="1" sz="3600">
                <a:solidFill>
                  <a:srgbClr val="85200C"/>
                </a:solidFill>
              </a:defRPr>
            </a:lvl7pPr>
            <a:lvl8pPr indent="0" lvl="7" rtl="0">
              <a:spcBef>
                <a:spcPts val="0"/>
              </a:spcBef>
              <a:buClr>
                <a:srgbClr val="85200C"/>
              </a:buClr>
              <a:buFont typeface="Arial"/>
              <a:buNone/>
              <a:defRPr b="1" sz="3600">
                <a:solidFill>
                  <a:srgbClr val="85200C"/>
                </a:solidFill>
              </a:defRPr>
            </a:lvl8pPr>
            <a:lvl9pPr indent="0" lvl="8" rtl="0">
              <a:spcBef>
                <a:spcPts val="0"/>
              </a:spcBef>
              <a:buClr>
                <a:srgbClr val="85200C"/>
              </a:buClr>
              <a:buFont typeface="Arial"/>
              <a:buNone/>
              <a:defRPr b="1" sz="3600">
                <a:solidFill>
                  <a:srgbClr val="85200C"/>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47" name="Shape 47"/>
        <p:cNvGrpSpPr/>
        <p:nvPr/>
      </p:nvGrpSpPr>
      <p:grpSpPr>
        <a:xfrm>
          <a:off x="0" y="0"/>
          <a:ext cx="0" cy="0"/>
          <a:chOff x="0" y="0"/>
          <a:chExt cx="0" cy="0"/>
        </a:xfrm>
      </p:grpSpPr>
      <p:sp>
        <p:nvSpPr>
          <p:cNvPr id="48" name="Shape 48"/>
          <p:cNvSpPr txBox="1"/>
          <p:nvPr>
            <p:ph type="title"/>
          </p:nvPr>
        </p:nvSpPr>
        <p:spPr>
          <a:xfrm>
            <a:off x="457200" y="205978"/>
            <a:ext cx="8229600" cy="857250"/>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44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9" name="Shape 49"/>
          <p:cNvSpPr txBox="1"/>
          <p:nvPr>
            <p:ph idx="1" type="body"/>
          </p:nvPr>
        </p:nvSpPr>
        <p:spPr>
          <a:xfrm>
            <a:off x="457200" y="1200150"/>
            <a:ext cx="8229600" cy="3394472"/>
          </a:xfrm>
          <a:prstGeom prst="rect">
            <a:avLst/>
          </a:prstGeom>
          <a:noFill/>
          <a:ln>
            <a:noFill/>
          </a:ln>
        </p:spPr>
        <p:txBody>
          <a:bodyPr anchorCtr="0" anchor="t" bIns="91425" lIns="91425" rIns="91425" tIns="91425"/>
          <a:lstStyle>
            <a:lvl1pPr indent="-139700" lvl="0" marL="342900" marR="0" rtl="0" algn="l">
              <a:spcBef>
                <a:spcPts val="640"/>
              </a:spcBef>
              <a:buClr>
                <a:schemeClr val="dk1"/>
              </a:buClr>
              <a:buSzPct val="100000"/>
              <a:buFont typeface="Arial"/>
              <a:buChar char="•"/>
              <a:defRPr b="0" i="0" sz="3200" u="none" cap="none" strike="noStrike">
                <a:solidFill>
                  <a:schemeClr val="dk1"/>
                </a:solidFill>
                <a:latin typeface="Calibri"/>
                <a:ea typeface="Calibri"/>
                <a:cs typeface="Calibri"/>
                <a:sym typeface="Calibri"/>
              </a:defRPr>
            </a:lvl1pPr>
            <a:lvl2pPr indent="-107950" lvl="1" marL="74295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2pPr>
            <a:lvl3pPr indent="-76200" lvl="2" marL="11430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3pPr>
            <a:lvl4pPr indent="-101600" lvl="3" marL="1600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4pPr>
            <a:lvl5pPr indent="-101600" lvl="4" marL="20574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50" name="Shape 50"/>
          <p:cNvSpPr txBox="1"/>
          <p:nvPr>
            <p:ph idx="10" type="dt"/>
          </p:nvPr>
        </p:nvSpPr>
        <p:spPr>
          <a:xfrm>
            <a:off x="457200" y="4767262"/>
            <a:ext cx="2133599" cy="273843"/>
          </a:xfrm>
          <a:prstGeom prst="rect">
            <a:avLst/>
          </a:prstGeom>
          <a:noFill/>
          <a:ln>
            <a:noFill/>
          </a:ln>
        </p:spPr>
        <p:txBody>
          <a:bodyPr anchorCtr="0" anchor="ctr" bIns="91425" lIns="91425" rIns="91425" tIns="91425"/>
          <a:lstStyle>
            <a:lvl1pPr indent="0" lvl="0" marL="0" marR="0" rtl="0" algn="l">
              <a:spcBef>
                <a:spcPts val="0"/>
              </a:spcBef>
              <a:buNone/>
              <a:defRPr sz="12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51" name="Shape 51"/>
          <p:cNvSpPr txBox="1"/>
          <p:nvPr>
            <p:ph idx="11" type="ftr"/>
          </p:nvPr>
        </p:nvSpPr>
        <p:spPr>
          <a:xfrm>
            <a:off x="3124200" y="4767262"/>
            <a:ext cx="2895600" cy="273843"/>
          </a:xfrm>
          <a:prstGeom prst="rect">
            <a:avLst/>
          </a:prstGeom>
          <a:noFill/>
          <a:ln>
            <a:noFill/>
          </a:ln>
        </p:spPr>
        <p:txBody>
          <a:bodyPr anchorCtr="0" anchor="ctr" bIns="91425" lIns="91425" rIns="91425" tIns="91425"/>
          <a:lstStyle>
            <a:lvl1pPr indent="0" lvl="0" marL="0" marR="0" rtl="0" algn="ctr">
              <a:spcBef>
                <a:spcPts val="0"/>
              </a:spcBef>
              <a:buNone/>
              <a:defRPr sz="1200">
                <a:solidFill>
                  <a:srgbClr val="888888"/>
                </a:solidFill>
                <a:latin typeface="Calibri"/>
                <a:ea typeface="Calibri"/>
                <a:cs typeface="Calibri"/>
                <a:sym typeface="Calibri"/>
              </a:defRPr>
            </a:lvl1pPr>
            <a:lvl2pPr indent="0" lvl="1" marL="457200" marR="0" rtl="0" algn="l">
              <a:spcBef>
                <a:spcPts val="0"/>
              </a:spcBef>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buNone/>
              <a:defRPr b="0" i="0" sz="1800" u="none" cap="none" strike="noStrike">
                <a:solidFill>
                  <a:schemeClr val="dk1"/>
                </a:solidFill>
                <a:latin typeface="Calibri"/>
                <a:ea typeface="Calibri"/>
                <a:cs typeface="Calibri"/>
                <a:sym typeface="Calibri"/>
              </a:defRPr>
            </a:lvl9pPr>
          </a:lstStyle>
          <a:p/>
        </p:txBody>
      </p:sp>
      <p:sp>
        <p:nvSpPr>
          <p:cNvPr id="52" name="Shape 52"/>
          <p:cNvSpPr txBox="1"/>
          <p:nvPr>
            <p:ph idx="12" type="sldNum"/>
          </p:nvPr>
        </p:nvSpPr>
        <p:spPr>
          <a:xfrm>
            <a:off x="6553200" y="4767262"/>
            <a:ext cx="2133599" cy="273843"/>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lang="en" sz="1200">
                <a:solidFill>
                  <a:srgbClr val="888888"/>
                </a:solidFill>
                <a:latin typeface="Calibri"/>
                <a:ea typeface="Calibri"/>
                <a:cs typeface="Calibri"/>
                <a:sym typeface="Calibri"/>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Title only">
    <p:spTree>
      <p:nvGrpSpPr>
        <p:cNvPr id="53" name="Shape 53"/>
        <p:cNvGrpSpPr/>
        <p:nvPr/>
      </p:nvGrpSpPr>
      <p:grpSpPr>
        <a:xfrm>
          <a:off x="0" y="0"/>
          <a:ext cx="0" cy="0"/>
          <a:chOff x="0" y="0"/>
          <a:chExt cx="0" cy="0"/>
        </a:xfrm>
      </p:grpSpPr>
      <p:sp>
        <p:nvSpPr>
          <p:cNvPr id="54" name="Shape 54"/>
          <p:cNvSpPr txBox="1"/>
          <p:nvPr>
            <p:ph type="title"/>
          </p:nvPr>
        </p:nvSpPr>
        <p:spPr>
          <a:xfrm>
            <a:off x="377775" y="2"/>
            <a:ext cx="8229600" cy="857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rgbClr val="85200C"/>
              </a:buClr>
              <a:buFont typeface="Arial"/>
              <a:buNone/>
              <a:defRPr b="1" i="0" sz="3600" u="none" cap="none" strike="noStrike">
                <a:solidFill>
                  <a:srgbClr val="85200C"/>
                </a:solidFill>
                <a:latin typeface="Arial"/>
                <a:ea typeface="Arial"/>
                <a:cs typeface="Arial"/>
                <a:sym typeface="Arial"/>
              </a:defRPr>
            </a:lvl1pPr>
            <a:lvl2pPr indent="0" lvl="1" rtl="0">
              <a:spcBef>
                <a:spcPts val="0"/>
              </a:spcBef>
              <a:buClr>
                <a:srgbClr val="85200C"/>
              </a:buClr>
              <a:buFont typeface="Arial"/>
              <a:buNone/>
              <a:defRPr b="1" sz="3600">
                <a:solidFill>
                  <a:srgbClr val="85200C"/>
                </a:solidFill>
              </a:defRPr>
            </a:lvl2pPr>
            <a:lvl3pPr indent="0" lvl="2" rtl="0">
              <a:spcBef>
                <a:spcPts val="0"/>
              </a:spcBef>
              <a:buClr>
                <a:srgbClr val="85200C"/>
              </a:buClr>
              <a:buFont typeface="Arial"/>
              <a:buNone/>
              <a:defRPr b="1" sz="3600">
                <a:solidFill>
                  <a:srgbClr val="85200C"/>
                </a:solidFill>
              </a:defRPr>
            </a:lvl3pPr>
            <a:lvl4pPr indent="0" lvl="3" rtl="0">
              <a:spcBef>
                <a:spcPts val="0"/>
              </a:spcBef>
              <a:buClr>
                <a:srgbClr val="85200C"/>
              </a:buClr>
              <a:buFont typeface="Arial"/>
              <a:buNone/>
              <a:defRPr b="1" sz="3600">
                <a:solidFill>
                  <a:srgbClr val="85200C"/>
                </a:solidFill>
              </a:defRPr>
            </a:lvl4pPr>
            <a:lvl5pPr indent="0" lvl="4" rtl="0">
              <a:spcBef>
                <a:spcPts val="0"/>
              </a:spcBef>
              <a:buClr>
                <a:srgbClr val="85200C"/>
              </a:buClr>
              <a:buFont typeface="Arial"/>
              <a:buNone/>
              <a:defRPr b="1" sz="3600">
                <a:solidFill>
                  <a:srgbClr val="85200C"/>
                </a:solidFill>
              </a:defRPr>
            </a:lvl5pPr>
            <a:lvl6pPr indent="0" lvl="5" rtl="0">
              <a:spcBef>
                <a:spcPts val="0"/>
              </a:spcBef>
              <a:buClr>
                <a:srgbClr val="85200C"/>
              </a:buClr>
              <a:buFont typeface="Arial"/>
              <a:buNone/>
              <a:defRPr b="1" sz="3600">
                <a:solidFill>
                  <a:srgbClr val="85200C"/>
                </a:solidFill>
              </a:defRPr>
            </a:lvl6pPr>
            <a:lvl7pPr indent="0" lvl="6" rtl="0">
              <a:spcBef>
                <a:spcPts val="0"/>
              </a:spcBef>
              <a:buClr>
                <a:srgbClr val="85200C"/>
              </a:buClr>
              <a:buFont typeface="Arial"/>
              <a:buNone/>
              <a:defRPr b="1" sz="3600">
                <a:solidFill>
                  <a:srgbClr val="85200C"/>
                </a:solidFill>
              </a:defRPr>
            </a:lvl7pPr>
            <a:lvl8pPr indent="0" lvl="7" rtl="0">
              <a:spcBef>
                <a:spcPts val="0"/>
              </a:spcBef>
              <a:buClr>
                <a:srgbClr val="85200C"/>
              </a:buClr>
              <a:buFont typeface="Arial"/>
              <a:buNone/>
              <a:defRPr b="1" sz="3600">
                <a:solidFill>
                  <a:srgbClr val="85200C"/>
                </a:solidFill>
              </a:defRPr>
            </a:lvl8pPr>
            <a:lvl9pPr indent="0" lvl="8" rtl="0">
              <a:spcBef>
                <a:spcPts val="0"/>
              </a:spcBef>
              <a:buClr>
                <a:srgbClr val="85200C"/>
              </a:buClr>
              <a:buFont typeface="Arial"/>
              <a:buNone/>
              <a:defRPr b="1" sz="3600">
                <a:solidFill>
                  <a:srgbClr val="85200C"/>
                </a:solidFill>
              </a:defRPr>
            </a:lvl9pPr>
          </a:lstStyle>
          <a:p/>
        </p:txBody>
      </p:sp>
      <p:sp>
        <p:nvSpPr>
          <p:cNvPr id="55" name="Shape 55"/>
          <p:cNvSpPr txBox="1"/>
          <p:nvPr>
            <p:ph idx="12" type="sldNum"/>
          </p:nvPr>
        </p:nvSpPr>
        <p:spPr>
          <a:xfrm>
            <a:off x="8556790" y="4749850"/>
            <a:ext cx="548700" cy="3936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pic>
        <p:nvPicPr>
          <p:cNvPr id="56" name="Shape 56"/>
          <p:cNvPicPr preferRelativeResize="0"/>
          <p:nvPr/>
        </p:nvPicPr>
        <p:blipFill rotWithShape="1">
          <a:blip r:embed="rId2">
            <a:alphaModFix amt="96000"/>
          </a:blip>
          <a:srcRect b="0" l="0" r="0" t="0"/>
          <a:stretch/>
        </p:blipFill>
        <p:spPr>
          <a:xfrm>
            <a:off x="8344100" y="131245"/>
            <a:ext cx="623100" cy="5772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Title and Content">
    <p:spTree>
      <p:nvGrpSpPr>
        <p:cNvPr id="57" name="Shape 57"/>
        <p:cNvGrpSpPr/>
        <p:nvPr/>
      </p:nvGrpSpPr>
      <p:grpSpPr>
        <a:xfrm>
          <a:off x="0" y="0"/>
          <a:ext cx="0" cy="0"/>
          <a:chOff x="0" y="0"/>
          <a:chExt cx="0" cy="0"/>
        </a:xfrm>
      </p:grpSpPr>
      <p:sp>
        <p:nvSpPr>
          <p:cNvPr id="58" name="Shape 58"/>
          <p:cNvSpPr txBox="1"/>
          <p:nvPr>
            <p:ph idx="12" type="sldNum"/>
          </p:nvPr>
        </p:nvSpPr>
        <p:spPr>
          <a:xfrm>
            <a:off x="8729600" y="4868867"/>
            <a:ext cx="413409" cy="274636"/>
          </a:xfrm>
          <a:prstGeom prst="rect">
            <a:avLst/>
          </a:prstGeom>
          <a:noFill/>
          <a:ln>
            <a:noFill/>
          </a:ln>
        </p:spPr>
        <p:txBody>
          <a:bodyPr anchorCtr="0" anchor="t" bIns="45700" lIns="91400" rIns="91400" tIns="45700">
            <a:noAutofit/>
          </a:bodyPr>
          <a:lstStyle/>
          <a:p>
            <a:pPr indent="0" lvl="0" marL="0" marR="0" rtl="0" algn="r">
              <a:spcBef>
                <a:spcPts val="0"/>
              </a:spcBef>
              <a:spcAft>
                <a:spcPts val="0"/>
              </a:spcAft>
              <a:buSzPct val="25000"/>
              <a:buNone/>
            </a:pPr>
            <a:fld id="{00000000-1234-1234-1234-123412341234}" type="slidenum">
              <a:rPr b="0" i="0" lang="en" sz="1200" u="none" cap="none" strike="noStrike">
                <a:solidFill>
                  <a:srgbClr val="FFFFFF"/>
                </a:solidFill>
                <a:latin typeface="Calibri"/>
                <a:ea typeface="Calibri"/>
                <a:cs typeface="Calibri"/>
                <a:sym typeface="Calibri"/>
              </a:rPr>
              <a:t>‹#›</a:t>
            </a:fld>
          </a:p>
        </p:txBody>
      </p:sp>
      <p:sp>
        <p:nvSpPr>
          <p:cNvPr id="59" name="Shape 59"/>
          <p:cNvSpPr txBox="1"/>
          <p:nvPr>
            <p:ph type="title"/>
          </p:nvPr>
        </p:nvSpPr>
        <p:spPr>
          <a:xfrm>
            <a:off x="467545" y="45892"/>
            <a:ext cx="8424935" cy="653652"/>
          </a:xfrm>
          <a:prstGeom prst="rect">
            <a:avLst/>
          </a:prstGeom>
          <a:noFill/>
          <a:ln>
            <a:noFill/>
          </a:ln>
        </p:spPr>
        <p:txBody>
          <a:bodyPr anchorCtr="0" anchor="ctr" bIns="91425" lIns="91425" rIns="91425" tIns="91425"/>
          <a:lstStyle>
            <a:lvl1pPr indent="0" lvl="0" marL="0" marR="0" rtl="0" algn="l">
              <a:spcBef>
                <a:spcPts val="0"/>
              </a:spcBef>
              <a:spcAft>
                <a:spcPts val="0"/>
              </a:spcAft>
              <a:buNone/>
              <a:defRPr b="1" i="0" sz="3200" u="none" cap="none" strike="noStrike">
                <a:solidFill>
                  <a:srgbClr val="990000"/>
                </a:solidFill>
                <a:latin typeface="Arial"/>
                <a:ea typeface="Arial"/>
                <a:cs typeface="Arial"/>
                <a:sym typeface="Arial"/>
              </a:defRPr>
            </a:lvl1pPr>
            <a:lvl2pPr indent="0" lvl="1" marL="0" marR="0" rtl="0" algn="l">
              <a:spcBef>
                <a:spcPts val="0"/>
              </a:spcBef>
              <a:spcAft>
                <a:spcPts val="0"/>
              </a:spcAft>
              <a:buNone/>
              <a:defRPr b="1" i="0" sz="3200" u="none" cap="none" strike="noStrike">
                <a:solidFill>
                  <a:srgbClr val="990000"/>
                </a:solidFill>
                <a:latin typeface="Arial"/>
                <a:ea typeface="Arial"/>
                <a:cs typeface="Arial"/>
                <a:sym typeface="Arial"/>
              </a:defRPr>
            </a:lvl2pPr>
            <a:lvl3pPr indent="0" lvl="2" marL="0" marR="0" rtl="0" algn="l">
              <a:spcBef>
                <a:spcPts val="0"/>
              </a:spcBef>
              <a:spcAft>
                <a:spcPts val="0"/>
              </a:spcAft>
              <a:buNone/>
              <a:defRPr b="1" i="0" sz="3200" u="none" cap="none" strike="noStrike">
                <a:solidFill>
                  <a:srgbClr val="990000"/>
                </a:solidFill>
                <a:latin typeface="Arial"/>
                <a:ea typeface="Arial"/>
                <a:cs typeface="Arial"/>
                <a:sym typeface="Arial"/>
              </a:defRPr>
            </a:lvl3pPr>
            <a:lvl4pPr indent="0" lvl="3" marL="0" marR="0" rtl="0" algn="l">
              <a:spcBef>
                <a:spcPts val="0"/>
              </a:spcBef>
              <a:spcAft>
                <a:spcPts val="0"/>
              </a:spcAft>
              <a:buNone/>
              <a:defRPr b="1" i="0" sz="3200" u="none" cap="none" strike="noStrike">
                <a:solidFill>
                  <a:srgbClr val="990000"/>
                </a:solidFill>
                <a:latin typeface="Arial"/>
                <a:ea typeface="Arial"/>
                <a:cs typeface="Arial"/>
                <a:sym typeface="Arial"/>
              </a:defRPr>
            </a:lvl4pPr>
            <a:lvl5pPr indent="0" lvl="4" marL="0" marR="0" rtl="0" algn="l">
              <a:spcBef>
                <a:spcPts val="0"/>
              </a:spcBef>
              <a:spcAft>
                <a:spcPts val="0"/>
              </a:spcAft>
              <a:buNone/>
              <a:defRPr b="1" i="0" sz="3200" u="none" cap="none" strike="noStrike">
                <a:solidFill>
                  <a:srgbClr val="990000"/>
                </a:solidFill>
                <a:latin typeface="Arial"/>
                <a:ea typeface="Arial"/>
                <a:cs typeface="Arial"/>
                <a:sym typeface="Arial"/>
              </a:defRPr>
            </a:lvl5pPr>
            <a:lvl6pPr indent="0" lvl="5" marL="457200" marR="0" rtl="0" algn="l">
              <a:spcBef>
                <a:spcPts val="0"/>
              </a:spcBef>
              <a:spcAft>
                <a:spcPts val="0"/>
              </a:spcAft>
              <a:buNone/>
              <a:defRPr b="1" i="0" sz="3200" u="none" cap="none" strike="noStrike">
                <a:solidFill>
                  <a:srgbClr val="990000"/>
                </a:solidFill>
                <a:latin typeface="Arial"/>
                <a:ea typeface="Arial"/>
                <a:cs typeface="Arial"/>
                <a:sym typeface="Arial"/>
              </a:defRPr>
            </a:lvl6pPr>
            <a:lvl7pPr indent="0" lvl="6" marL="914400" marR="0" rtl="0" algn="l">
              <a:spcBef>
                <a:spcPts val="0"/>
              </a:spcBef>
              <a:spcAft>
                <a:spcPts val="0"/>
              </a:spcAft>
              <a:buNone/>
              <a:defRPr b="1" i="0" sz="3200" u="none" cap="none" strike="noStrike">
                <a:solidFill>
                  <a:srgbClr val="990000"/>
                </a:solidFill>
                <a:latin typeface="Arial"/>
                <a:ea typeface="Arial"/>
                <a:cs typeface="Arial"/>
                <a:sym typeface="Arial"/>
              </a:defRPr>
            </a:lvl7pPr>
            <a:lvl8pPr indent="0" lvl="7" marL="1371600" marR="0" rtl="0" algn="l">
              <a:spcBef>
                <a:spcPts val="0"/>
              </a:spcBef>
              <a:spcAft>
                <a:spcPts val="0"/>
              </a:spcAft>
              <a:buNone/>
              <a:defRPr b="1" i="0" sz="3200" u="none" cap="none" strike="noStrike">
                <a:solidFill>
                  <a:srgbClr val="990000"/>
                </a:solidFill>
                <a:latin typeface="Arial"/>
                <a:ea typeface="Arial"/>
                <a:cs typeface="Arial"/>
                <a:sym typeface="Arial"/>
              </a:defRPr>
            </a:lvl8pPr>
            <a:lvl9pPr indent="0" lvl="8" marL="1828800" marR="0" rtl="0" algn="l">
              <a:spcBef>
                <a:spcPts val="0"/>
              </a:spcBef>
              <a:spcAft>
                <a:spcPts val="0"/>
              </a:spcAft>
              <a:buNone/>
              <a:defRPr b="1" i="0" sz="3200" u="none" cap="none" strike="noStrike">
                <a:solidFill>
                  <a:srgbClr val="990000"/>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ONOS">
    <p:spTree>
      <p:nvGrpSpPr>
        <p:cNvPr id="60" name="Shape 60"/>
        <p:cNvGrpSpPr/>
        <p:nvPr/>
      </p:nvGrpSpPr>
      <p:grpSpPr>
        <a:xfrm>
          <a:off x="0" y="0"/>
          <a:ext cx="0" cy="0"/>
          <a:chOff x="0" y="0"/>
          <a:chExt cx="0" cy="0"/>
        </a:xfrm>
      </p:grpSpPr>
      <p:sp>
        <p:nvSpPr>
          <p:cNvPr id="61" name="Shape 61"/>
          <p:cNvSpPr txBox="1"/>
          <p:nvPr/>
        </p:nvSpPr>
        <p:spPr>
          <a:xfrm>
            <a:off x="20209" y="4785249"/>
            <a:ext cx="2002200" cy="423000"/>
          </a:xfrm>
          <a:prstGeom prst="rect">
            <a:avLst/>
          </a:prstGeom>
          <a:noFill/>
          <a:ln>
            <a:noFill/>
          </a:ln>
        </p:spPr>
        <p:txBody>
          <a:bodyPr anchorCtr="0" anchor="t" bIns="91425" lIns="91425" rIns="91425" tIns="91425">
            <a:noAutofit/>
          </a:bodyPr>
          <a:lstStyle/>
          <a:p>
            <a:pPr lvl="0" rtl="0">
              <a:spcBef>
                <a:spcPts val="0"/>
              </a:spcBef>
              <a:buNone/>
            </a:pPr>
            <a:r>
              <a:rPr b="1" lang="en" sz="1400">
                <a:latin typeface="Droid Sans"/>
                <a:ea typeface="Droid Sans"/>
                <a:cs typeface="Droid Sans"/>
                <a:sym typeface="Droid Sans"/>
              </a:rPr>
              <a:t>#</a:t>
            </a:r>
            <a:r>
              <a:rPr b="1" lang="en" sz="1400">
                <a:solidFill>
                  <a:srgbClr val="222222"/>
                </a:solidFill>
                <a:highlight>
                  <a:srgbClr val="FFFFFF"/>
                </a:highlight>
                <a:latin typeface="Droid Sans"/>
                <a:ea typeface="Droid Sans"/>
                <a:cs typeface="Droid Sans"/>
                <a:sym typeface="Droid Sans"/>
              </a:rPr>
              <a:t>ONOSProject</a:t>
            </a:r>
          </a:p>
        </p:txBody>
      </p:sp>
      <p:sp>
        <p:nvSpPr>
          <p:cNvPr id="62" name="Shape 62"/>
          <p:cNvSpPr/>
          <p:nvPr/>
        </p:nvSpPr>
        <p:spPr>
          <a:xfrm>
            <a:off x="0" y="0"/>
            <a:ext cx="9144000" cy="594600"/>
          </a:xfrm>
          <a:prstGeom prst="rect">
            <a:avLst/>
          </a:prstGeom>
          <a:solidFill>
            <a:srgbClr val="B43232"/>
          </a:solidFill>
          <a:ln>
            <a:noFill/>
          </a:ln>
        </p:spPr>
        <p:txBody>
          <a:bodyPr anchorCtr="0" anchor="ctr" bIns="91425" lIns="91425" rIns="91425" tIns="91425">
            <a:noAutofit/>
          </a:bodyPr>
          <a:lstStyle/>
          <a:p>
            <a:pPr lvl="0">
              <a:spcBef>
                <a:spcPts val="0"/>
              </a:spcBef>
              <a:buNone/>
            </a:pPr>
            <a:r>
              <a:t/>
            </a:r>
            <a:endParaRPr/>
          </a:p>
        </p:txBody>
      </p:sp>
      <p:sp>
        <p:nvSpPr>
          <p:cNvPr id="63" name="Shape 63"/>
          <p:cNvSpPr txBox="1"/>
          <p:nvPr/>
        </p:nvSpPr>
        <p:spPr>
          <a:xfrm>
            <a:off x="8472457" y="4663216"/>
            <a:ext cx="548700" cy="393600"/>
          </a:xfrm>
          <a:prstGeom prst="rect">
            <a:avLst/>
          </a:prstGeom>
          <a:noFill/>
          <a:ln>
            <a:noFill/>
          </a:ln>
        </p:spPr>
        <p:txBody>
          <a:bodyPr anchorCtr="0" anchor="ctr" bIns="91425" lIns="91425" rIns="91425" tIns="91425">
            <a:noAutofit/>
          </a:bodyPr>
          <a:lstStyle/>
          <a:p>
            <a:pPr lvl="0" rtl="0" algn="r">
              <a:spcBef>
                <a:spcPts val="0"/>
              </a:spcBef>
              <a:buNone/>
            </a:pPr>
            <a:fld id="{00000000-1234-1234-1234-123412341234}" type="slidenum">
              <a:rPr lang="en" sz="1000">
                <a:solidFill>
                  <a:srgbClr val="595959"/>
                </a:solidFill>
              </a:rPr>
              <a:t>‹#›</a:t>
            </a:fld>
          </a:p>
        </p:txBody>
      </p:sp>
      <p:pic>
        <p:nvPicPr>
          <p:cNvPr descr="Screen Shot 2016-02-22 at 11.58.40 AM copy.png" id="64" name="Shape 64"/>
          <p:cNvPicPr preferRelativeResize="0"/>
          <p:nvPr/>
        </p:nvPicPr>
        <p:blipFill>
          <a:blip r:embed="rId2">
            <a:alphaModFix/>
          </a:blip>
          <a:stretch>
            <a:fillRect/>
          </a:stretch>
        </p:blipFill>
        <p:spPr>
          <a:xfrm>
            <a:off x="8262134" y="-130396"/>
            <a:ext cx="759036" cy="783520"/>
          </a:xfrm>
          <a:prstGeom prst="rect">
            <a:avLst/>
          </a:prstGeom>
          <a:noFill/>
          <a:ln>
            <a:noFill/>
          </a:ln>
        </p:spPr>
      </p:pic>
      <p:sp>
        <p:nvSpPr>
          <p:cNvPr id="65" name="Shape 65"/>
          <p:cNvSpPr txBox="1"/>
          <p:nvPr>
            <p:ph type="ctrTitle"/>
          </p:nvPr>
        </p:nvSpPr>
        <p:spPr>
          <a:xfrm>
            <a:off x="311736" y="68990"/>
            <a:ext cx="8520600" cy="423000"/>
          </a:xfrm>
          <a:prstGeom prst="rect">
            <a:avLst/>
          </a:prstGeom>
        </p:spPr>
        <p:txBody>
          <a:bodyPr anchorCtr="0" anchor="ctr" bIns="34275" lIns="34275" rIns="34275" tIns="34275"/>
          <a:lstStyle>
            <a:lvl1pPr lvl="0" rtl="0">
              <a:spcBef>
                <a:spcPts val="0"/>
              </a:spcBef>
              <a:buClr>
                <a:srgbClr val="FFFFFF"/>
              </a:buClr>
              <a:buSzPct val="100000"/>
              <a:buFont typeface="Droid Sans"/>
              <a:defRPr b="1" sz="2800">
                <a:solidFill>
                  <a:srgbClr val="FFFFFF"/>
                </a:solidFill>
                <a:latin typeface="Droid Sans"/>
                <a:ea typeface="Droid Sans"/>
                <a:cs typeface="Droid Sans"/>
                <a:sym typeface="Droid Sans"/>
              </a:defRPr>
            </a:lvl1pPr>
            <a:lvl2pPr lvl="1" rtl="0">
              <a:spcBef>
                <a:spcPts val="0"/>
              </a:spcBef>
              <a:buClr>
                <a:srgbClr val="FFFFFF"/>
              </a:buClr>
              <a:buSzPct val="100000"/>
              <a:defRPr sz="5200">
                <a:solidFill>
                  <a:srgbClr val="FFFFFF"/>
                </a:solidFill>
              </a:defRPr>
            </a:lvl2pPr>
            <a:lvl3pPr lvl="2" rtl="0">
              <a:spcBef>
                <a:spcPts val="0"/>
              </a:spcBef>
              <a:buClr>
                <a:srgbClr val="FFFFFF"/>
              </a:buClr>
              <a:buSzPct val="100000"/>
              <a:defRPr sz="5200">
                <a:solidFill>
                  <a:srgbClr val="FFFFFF"/>
                </a:solidFill>
              </a:defRPr>
            </a:lvl3pPr>
            <a:lvl4pPr lvl="3" rtl="0">
              <a:spcBef>
                <a:spcPts val="0"/>
              </a:spcBef>
              <a:buClr>
                <a:srgbClr val="FFFFFF"/>
              </a:buClr>
              <a:buSzPct val="100000"/>
              <a:defRPr sz="5200">
                <a:solidFill>
                  <a:srgbClr val="FFFFFF"/>
                </a:solidFill>
              </a:defRPr>
            </a:lvl4pPr>
            <a:lvl5pPr lvl="4" rtl="0">
              <a:spcBef>
                <a:spcPts val="0"/>
              </a:spcBef>
              <a:buClr>
                <a:srgbClr val="FFFFFF"/>
              </a:buClr>
              <a:buSzPct val="100000"/>
              <a:defRPr sz="5200">
                <a:solidFill>
                  <a:srgbClr val="FFFFFF"/>
                </a:solidFill>
              </a:defRPr>
            </a:lvl5pPr>
            <a:lvl6pPr lvl="5" rtl="0">
              <a:spcBef>
                <a:spcPts val="0"/>
              </a:spcBef>
              <a:buClr>
                <a:srgbClr val="FFFFFF"/>
              </a:buClr>
              <a:buSzPct val="100000"/>
              <a:defRPr sz="5200">
                <a:solidFill>
                  <a:srgbClr val="FFFFFF"/>
                </a:solidFill>
              </a:defRPr>
            </a:lvl6pPr>
            <a:lvl7pPr lvl="6" rtl="0">
              <a:spcBef>
                <a:spcPts val="0"/>
              </a:spcBef>
              <a:buClr>
                <a:srgbClr val="FFFFFF"/>
              </a:buClr>
              <a:buSzPct val="100000"/>
              <a:defRPr sz="5200">
                <a:solidFill>
                  <a:srgbClr val="FFFFFF"/>
                </a:solidFill>
              </a:defRPr>
            </a:lvl7pPr>
            <a:lvl8pPr lvl="7" rtl="0">
              <a:spcBef>
                <a:spcPts val="0"/>
              </a:spcBef>
              <a:buClr>
                <a:srgbClr val="FFFFFF"/>
              </a:buClr>
              <a:buSzPct val="100000"/>
              <a:defRPr sz="5200">
                <a:solidFill>
                  <a:srgbClr val="FFFFFF"/>
                </a:solidFill>
              </a:defRPr>
            </a:lvl8pPr>
            <a:lvl9pPr lvl="8" rtl="0">
              <a:spcBef>
                <a:spcPts val="0"/>
              </a:spcBef>
              <a:buClr>
                <a:srgbClr val="FFFFFF"/>
              </a:buClr>
              <a:buSzPct val="100000"/>
              <a:defRPr sz="5200">
                <a:solidFill>
                  <a:srgbClr val="FFFFFF"/>
                </a:solidFill>
              </a:defRPr>
            </a:lvl9pPr>
          </a:lstStyle>
          <a:p/>
        </p:txBody>
      </p:sp>
      <p:sp>
        <p:nvSpPr>
          <p:cNvPr id="66" name="Shape 66"/>
          <p:cNvSpPr txBox="1"/>
          <p:nvPr>
            <p:ph idx="1" type="body"/>
          </p:nvPr>
        </p:nvSpPr>
        <p:spPr>
          <a:xfrm>
            <a:off x="311736" y="935306"/>
            <a:ext cx="8646600" cy="3849900"/>
          </a:xfrm>
          <a:prstGeom prst="rect">
            <a:avLst/>
          </a:prstGeom>
        </p:spPr>
        <p:txBody>
          <a:bodyPr anchorCtr="0" anchor="t" bIns="34275" lIns="34275" rIns="34275" tIns="34275"/>
          <a:lstStyle>
            <a:lvl1pPr lvl="0" rtl="0">
              <a:spcBef>
                <a:spcPts val="0"/>
              </a:spcBef>
              <a:buSzPct val="100000"/>
              <a:buFont typeface="Droid Sans"/>
              <a:defRPr sz="900">
                <a:latin typeface="Droid Sans"/>
                <a:ea typeface="Droid Sans"/>
                <a:cs typeface="Droid Sans"/>
                <a:sym typeface="Droid Sans"/>
              </a:defRPr>
            </a:lvl1pPr>
            <a:lvl2pPr lvl="1" rtl="0">
              <a:spcBef>
                <a:spcPts val="0"/>
              </a:spcBef>
              <a:buSzPct val="100000"/>
              <a:buFont typeface="Droid Sans"/>
              <a:defRPr sz="900">
                <a:latin typeface="Droid Sans"/>
                <a:ea typeface="Droid Sans"/>
                <a:cs typeface="Droid Sans"/>
                <a:sym typeface="Droid Sans"/>
              </a:defRPr>
            </a:lvl2pPr>
            <a:lvl3pPr lvl="2" rtl="0">
              <a:spcBef>
                <a:spcPts val="0"/>
              </a:spcBef>
              <a:buSzPct val="100000"/>
              <a:buFont typeface="Droid Sans"/>
              <a:defRPr sz="900">
                <a:latin typeface="Droid Sans"/>
                <a:ea typeface="Droid Sans"/>
                <a:cs typeface="Droid Sans"/>
                <a:sym typeface="Droid Sans"/>
              </a:defRPr>
            </a:lvl3pPr>
            <a:lvl4pPr lvl="3" rtl="0">
              <a:spcBef>
                <a:spcPts val="0"/>
              </a:spcBef>
              <a:buSzPct val="100000"/>
              <a:buFont typeface="Droid Sans"/>
              <a:defRPr sz="900">
                <a:latin typeface="Droid Sans"/>
                <a:ea typeface="Droid Sans"/>
                <a:cs typeface="Droid Sans"/>
                <a:sym typeface="Droid Sans"/>
              </a:defRPr>
            </a:lvl4pPr>
            <a:lvl5pPr lvl="4" rtl="0">
              <a:spcBef>
                <a:spcPts val="0"/>
              </a:spcBef>
              <a:buSzPct val="100000"/>
              <a:buFont typeface="Droid Sans"/>
              <a:defRPr sz="900">
                <a:latin typeface="Droid Sans"/>
                <a:ea typeface="Droid Sans"/>
                <a:cs typeface="Droid Sans"/>
                <a:sym typeface="Droid Sans"/>
              </a:defRPr>
            </a:lvl5pPr>
            <a:lvl6pPr lvl="5" rtl="0">
              <a:spcBef>
                <a:spcPts val="0"/>
              </a:spcBef>
              <a:buSzPct val="100000"/>
              <a:buFont typeface="Droid Sans"/>
              <a:defRPr sz="900">
                <a:latin typeface="Droid Sans"/>
                <a:ea typeface="Droid Sans"/>
                <a:cs typeface="Droid Sans"/>
                <a:sym typeface="Droid Sans"/>
              </a:defRPr>
            </a:lvl6pPr>
            <a:lvl7pPr lvl="6" rtl="0">
              <a:spcBef>
                <a:spcPts val="0"/>
              </a:spcBef>
              <a:buSzPct val="100000"/>
              <a:buFont typeface="Droid Sans"/>
              <a:defRPr sz="900">
                <a:latin typeface="Droid Sans"/>
                <a:ea typeface="Droid Sans"/>
                <a:cs typeface="Droid Sans"/>
                <a:sym typeface="Droid Sans"/>
              </a:defRPr>
            </a:lvl7pPr>
            <a:lvl8pPr lvl="7" rtl="0">
              <a:spcBef>
                <a:spcPts val="0"/>
              </a:spcBef>
              <a:buSzPct val="100000"/>
              <a:buFont typeface="Droid Sans"/>
              <a:defRPr sz="900">
                <a:latin typeface="Droid Sans"/>
                <a:ea typeface="Droid Sans"/>
                <a:cs typeface="Droid Sans"/>
                <a:sym typeface="Droid Sans"/>
              </a:defRPr>
            </a:lvl8pPr>
            <a:lvl9pPr lvl="8" rtl="0">
              <a:spcBef>
                <a:spcPts val="0"/>
              </a:spcBef>
              <a:buSzPct val="100000"/>
              <a:buFont typeface="Droid Sans"/>
              <a:defRPr sz="900">
                <a:latin typeface="Droid Sans"/>
                <a:ea typeface="Droid Sans"/>
                <a:cs typeface="Droid Sans"/>
                <a:sym typeface="Droid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ONOS 1">
    <p:spTree>
      <p:nvGrpSpPr>
        <p:cNvPr id="67" name="Shape 67"/>
        <p:cNvGrpSpPr/>
        <p:nvPr/>
      </p:nvGrpSpPr>
      <p:grpSpPr>
        <a:xfrm>
          <a:off x="0" y="0"/>
          <a:ext cx="0" cy="0"/>
          <a:chOff x="0" y="0"/>
          <a:chExt cx="0" cy="0"/>
        </a:xfrm>
      </p:grpSpPr>
      <p:sp>
        <p:nvSpPr>
          <p:cNvPr id="68" name="Shape 68"/>
          <p:cNvSpPr txBox="1"/>
          <p:nvPr/>
        </p:nvSpPr>
        <p:spPr>
          <a:xfrm>
            <a:off x="20209" y="4785250"/>
            <a:ext cx="2002200" cy="423000"/>
          </a:xfrm>
          <a:prstGeom prst="rect">
            <a:avLst/>
          </a:prstGeom>
          <a:noFill/>
          <a:ln>
            <a:noFill/>
          </a:ln>
        </p:spPr>
        <p:txBody>
          <a:bodyPr anchorCtr="0" anchor="t" bIns="91425" lIns="91425" rIns="91425" tIns="91425">
            <a:noAutofit/>
          </a:bodyPr>
          <a:lstStyle/>
          <a:p>
            <a:pPr indent="0" lvl="0" marL="0" marR="0" rtl="0" algn="ctr">
              <a:spcBef>
                <a:spcPts val="0"/>
              </a:spcBef>
              <a:spcAft>
                <a:spcPts val="0"/>
              </a:spcAft>
              <a:buClr>
                <a:srgbClr val="000000"/>
              </a:buClr>
              <a:buSzPct val="25000"/>
              <a:buFont typeface="Droid Sans"/>
              <a:buNone/>
            </a:pPr>
            <a:r>
              <a:rPr b="1" i="0" lang="en" sz="1400" u="none" cap="none" strike="noStrike">
                <a:solidFill>
                  <a:srgbClr val="000000"/>
                </a:solidFill>
                <a:latin typeface="Droid Sans"/>
                <a:ea typeface="Droid Sans"/>
                <a:cs typeface="Droid Sans"/>
                <a:sym typeface="Droid Sans"/>
              </a:rPr>
              <a:t>#</a:t>
            </a:r>
            <a:r>
              <a:rPr b="1" i="0" lang="en" sz="1400" u="none" cap="none" strike="noStrike">
                <a:solidFill>
                  <a:srgbClr val="222222"/>
                </a:solidFill>
                <a:highlight>
                  <a:srgbClr val="FFFFFF"/>
                </a:highlight>
                <a:latin typeface="Droid Sans"/>
                <a:ea typeface="Droid Sans"/>
                <a:cs typeface="Droid Sans"/>
                <a:sym typeface="Droid Sans"/>
              </a:rPr>
              <a:t>ONOSProject</a:t>
            </a:r>
          </a:p>
        </p:txBody>
      </p:sp>
      <p:sp>
        <p:nvSpPr>
          <p:cNvPr id="69" name="Shape 69"/>
          <p:cNvSpPr/>
          <p:nvPr/>
        </p:nvSpPr>
        <p:spPr>
          <a:xfrm>
            <a:off x="0" y="0"/>
            <a:ext cx="9144000" cy="593700"/>
          </a:xfrm>
          <a:prstGeom prst="rect">
            <a:avLst/>
          </a:prstGeom>
          <a:solidFill>
            <a:srgbClr val="B43232"/>
          </a:solidFill>
          <a:ln>
            <a:noFill/>
          </a:ln>
        </p:spPr>
        <p:txBody>
          <a:bodyPr anchorCtr="0" anchor="ctr" bIns="91425" lIns="91425" rIns="91425" tIns="91425">
            <a:noAutofit/>
          </a:bodyPr>
          <a:lstStyle/>
          <a:p>
            <a:pPr indent="0" lvl="0" marL="0" marR="0" rtl="0" algn="ctr">
              <a:spcBef>
                <a:spcPts val="0"/>
              </a:spcBef>
              <a:spcAft>
                <a:spcPts val="0"/>
              </a:spcAft>
              <a:buClr>
                <a:srgbClr val="000000"/>
              </a:buClr>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70" name="Shape 70"/>
          <p:cNvSpPr txBox="1"/>
          <p:nvPr/>
        </p:nvSpPr>
        <p:spPr>
          <a:xfrm>
            <a:off x="8472488" y="4662487"/>
            <a:ext cx="549300" cy="393600"/>
          </a:xfrm>
          <a:prstGeom prst="rect">
            <a:avLst/>
          </a:prstGeom>
          <a:noFill/>
          <a:ln>
            <a:noFill/>
          </a:ln>
        </p:spPr>
        <p:txBody>
          <a:bodyPr anchorCtr="0" anchor="ctr" bIns="91425" lIns="91425" rIns="91425" tIns="91425">
            <a:noAutofit/>
          </a:bodyPr>
          <a:lstStyle/>
          <a:p>
            <a:pPr indent="0" lvl="0" marL="0" marR="0" rtl="0" algn="r">
              <a:spcBef>
                <a:spcPts val="0"/>
              </a:spcBef>
              <a:spcAft>
                <a:spcPts val="0"/>
              </a:spcAft>
              <a:buClr>
                <a:srgbClr val="595959"/>
              </a:buClr>
              <a:buSzPct val="25000"/>
              <a:buFont typeface="Helvetica Neue"/>
              <a:buNone/>
            </a:pPr>
            <a:fld id="{00000000-1234-1234-1234-123412341234}" type="slidenum">
              <a:rPr b="0" i="0" lang="en" sz="1000" u="none" cap="none" strike="noStrike">
                <a:solidFill>
                  <a:srgbClr val="595959"/>
                </a:solidFill>
                <a:latin typeface="Helvetica Neue"/>
                <a:ea typeface="Helvetica Neue"/>
                <a:cs typeface="Helvetica Neue"/>
                <a:sym typeface="Helvetica Neue"/>
              </a:rPr>
              <a:t>‹#›</a:t>
            </a:fld>
          </a:p>
        </p:txBody>
      </p:sp>
      <p:pic>
        <p:nvPicPr>
          <p:cNvPr id="71" name="Shape 71"/>
          <p:cNvPicPr preferRelativeResize="0"/>
          <p:nvPr/>
        </p:nvPicPr>
        <p:blipFill rotWithShape="1">
          <a:blip r:embed="rId2">
            <a:alphaModFix/>
          </a:blip>
          <a:srcRect b="0" l="0" r="0" t="0"/>
          <a:stretch/>
        </p:blipFill>
        <p:spPr>
          <a:xfrm>
            <a:off x="8261350" y="-130175"/>
            <a:ext cx="760500" cy="782700"/>
          </a:xfrm>
          <a:prstGeom prst="rect">
            <a:avLst/>
          </a:prstGeom>
          <a:noFill/>
          <a:ln>
            <a:noFill/>
          </a:ln>
        </p:spPr>
      </p:pic>
      <p:sp>
        <p:nvSpPr>
          <p:cNvPr id="72" name="Shape 72"/>
          <p:cNvSpPr txBox="1"/>
          <p:nvPr>
            <p:ph type="ctrTitle"/>
          </p:nvPr>
        </p:nvSpPr>
        <p:spPr>
          <a:xfrm>
            <a:off x="311734" y="68990"/>
            <a:ext cx="8520600" cy="423000"/>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FFFFFF"/>
              </a:buClr>
              <a:buFont typeface="Droid Sans"/>
              <a:buNone/>
              <a:defRPr b="1" i="0" sz="2800" u="none" cap="none" strike="noStrike">
                <a:solidFill>
                  <a:srgbClr val="FFFFFF"/>
                </a:solidFill>
                <a:latin typeface="Droid Sans"/>
                <a:ea typeface="Droid Sans"/>
                <a:cs typeface="Droid Sans"/>
                <a:sym typeface="Droid Sans"/>
              </a:defRPr>
            </a:lvl1pPr>
            <a:lvl2pPr indent="0" lvl="1" marL="0" marR="0" rtl="0" algn="l">
              <a:spcBef>
                <a:spcPts val="0"/>
              </a:spcBef>
              <a:spcAft>
                <a:spcPts val="0"/>
              </a:spcAft>
              <a:buClr>
                <a:srgbClr val="FFFFFF"/>
              </a:buClr>
              <a:buFont typeface="Arial"/>
              <a:buNone/>
              <a:defRPr b="0" i="0" sz="5200" u="none" cap="none" strike="noStrike">
                <a:solidFill>
                  <a:srgbClr val="FFFFFF"/>
                </a:solidFill>
                <a:latin typeface="Arial"/>
                <a:ea typeface="Arial"/>
                <a:cs typeface="Arial"/>
                <a:sym typeface="Arial"/>
              </a:defRPr>
            </a:lvl2pPr>
            <a:lvl3pPr indent="0" lvl="2" marL="0" marR="0" rtl="0" algn="l">
              <a:spcBef>
                <a:spcPts val="0"/>
              </a:spcBef>
              <a:spcAft>
                <a:spcPts val="0"/>
              </a:spcAft>
              <a:buClr>
                <a:srgbClr val="FFFFFF"/>
              </a:buClr>
              <a:buFont typeface="Arial"/>
              <a:buNone/>
              <a:defRPr b="0" i="0" sz="5200" u="none" cap="none" strike="noStrike">
                <a:solidFill>
                  <a:srgbClr val="FFFFFF"/>
                </a:solidFill>
                <a:latin typeface="Arial"/>
                <a:ea typeface="Arial"/>
                <a:cs typeface="Arial"/>
                <a:sym typeface="Arial"/>
              </a:defRPr>
            </a:lvl3pPr>
            <a:lvl4pPr indent="0" lvl="3" marL="0" marR="0" rtl="0" algn="l">
              <a:spcBef>
                <a:spcPts val="0"/>
              </a:spcBef>
              <a:spcAft>
                <a:spcPts val="0"/>
              </a:spcAft>
              <a:buClr>
                <a:srgbClr val="FFFFFF"/>
              </a:buClr>
              <a:buFont typeface="Arial"/>
              <a:buNone/>
              <a:defRPr b="0" i="0" sz="5200" u="none" cap="none" strike="noStrike">
                <a:solidFill>
                  <a:srgbClr val="FFFFFF"/>
                </a:solidFill>
                <a:latin typeface="Arial"/>
                <a:ea typeface="Arial"/>
                <a:cs typeface="Arial"/>
                <a:sym typeface="Arial"/>
              </a:defRPr>
            </a:lvl4pPr>
            <a:lvl5pPr indent="0" lvl="4" marL="0" marR="0" rtl="0" algn="l">
              <a:spcBef>
                <a:spcPts val="0"/>
              </a:spcBef>
              <a:spcAft>
                <a:spcPts val="0"/>
              </a:spcAft>
              <a:buClr>
                <a:srgbClr val="FFFFFF"/>
              </a:buClr>
              <a:buFont typeface="Arial"/>
              <a:buNone/>
              <a:defRPr b="0" i="0" sz="5200" u="none" cap="none" strike="noStrike">
                <a:solidFill>
                  <a:srgbClr val="FFFFFF"/>
                </a:solidFill>
                <a:latin typeface="Arial"/>
                <a:ea typeface="Arial"/>
                <a:cs typeface="Arial"/>
                <a:sym typeface="Arial"/>
              </a:defRPr>
            </a:lvl5pPr>
            <a:lvl6pPr indent="0" lvl="5" marL="457200" marR="0" rtl="0" algn="l">
              <a:spcBef>
                <a:spcPts val="0"/>
              </a:spcBef>
              <a:spcAft>
                <a:spcPts val="0"/>
              </a:spcAft>
              <a:buClr>
                <a:srgbClr val="FFFFFF"/>
              </a:buClr>
              <a:buFont typeface="Arial"/>
              <a:buNone/>
              <a:defRPr b="0" i="0" sz="5200" u="none" cap="none" strike="noStrike">
                <a:solidFill>
                  <a:srgbClr val="FFFFFF"/>
                </a:solidFill>
                <a:latin typeface="Arial"/>
                <a:ea typeface="Arial"/>
                <a:cs typeface="Arial"/>
                <a:sym typeface="Arial"/>
              </a:defRPr>
            </a:lvl6pPr>
            <a:lvl7pPr indent="0" lvl="6" marL="914400" marR="0" rtl="0" algn="l">
              <a:spcBef>
                <a:spcPts val="0"/>
              </a:spcBef>
              <a:spcAft>
                <a:spcPts val="0"/>
              </a:spcAft>
              <a:buClr>
                <a:srgbClr val="FFFFFF"/>
              </a:buClr>
              <a:buFont typeface="Arial"/>
              <a:buNone/>
              <a:defRPr b="0" i="0" sz="5200" u="none" cap="none" strike="noStrike">
                <a:solidFill>
                  <a:srgbClr val="FFFFFF"/>
                </a:solidFill>
                <a:latin typeface="Arial"/>
                <a:ea typeface="Arial"/>
                <a:cs typeface="Arial"/>
                <a:sym typeface="Arial"/>
              </a:defRPr>
            </a:lvl7pPr>
            <a:lvl8pPr indent="0" lvl="7" marL="1371600" marR="0" rtl="0" algn="l">
              <a:spcBef>
                <a:spcPts val="0"/>
              </a:spcBef>
              <a:spcAft>
                <a:spcPts val="0"/>
              </a:spcAft>
              <a:buClr>
                <a:srgbClr val="FFFFFF"/>
              </a:buClr>
              <a:buFont typeface="Arial"/>
              <a:buNone/>
              <a:defRPr b="0" i="0" sz="5200" u="none" cap="none" strike="noStrike">
                <a:solidFill>
                  <a:srgbClr val="FFFFFF"/>
                </a:solidFill>
                <a:latin typeface="Arial"/>
                <a:ea typeface="Arial"/>
                <a:cs typeface="Arial"/>
                <a:sym typeface="Arial"/>
              </a:defRPr>
            </a:lvl8pPr>
            <a:lvl9pPr indent="0" lvl="8" marL="1828800" marR="0" rtl="0" algn="l">
              <a:spcBef>
                <a:spcPts val="0"/>
              </a:spcBef>
              <a:spcAft>
                <a:spcPts val="0"/>
              </a:spcAft>
              <a:buClr>
                <a:srgbClr val="FFFFFF"/>
              </a:buClr>
              <a:buFont typeface="Arial"/>
              <a:buNone/>
              <a:defRPr b="0" i="0" sz="5200" u="none" cap="none" strike="noStrike">
                <a:solidFill>
                  <a:srgbClr val="FFFFFF"/>
                </a:solidFill>
                <a:latin typeface="Arial"/>
                <a:ea typeface="Arial"/>
                <a:cs typeface="Arial"/>
                <a:sym typeface="Arial"/>
              </a:defRPr>
            </a:lvl9pPr>
          </a:lstStyle>
          <a:p/>
        </p:txBody>
      </p:sp>
      <p:sp>
        <p:nvSpPr>
          <p:cNvPr id="73" name="Shape 73"/>
          <p:cNvSpPr txBox="1"/>
          <p:nvPr>
            <p:ph idx="2" type="ctrTitle"/>
          </p:nvPr>
        </p:nvSpPr>
        <p:spPr>
          <a:xfrm>
            <a:off x="311734" y="754789"/>
            <a:ext cx="8520600" cy="40305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Droid Sans"/>
              <a:buNone/>
              <a:defRPr b="0" i="0" sz="1400" u="none" cap="none" strike="noStrike">
                <a:solidFill>
                  <a:srgbClr val="000000"/>
                </a:solidFill>
                <a:latin typeface="Droid Sans"/>
                <a:ea typeface="Droid Sans"/>
                <a:cs typeface="Droid Sans"/>
                <a:sym typeface="Droid Sans"/>
              </a:defRPr>
            </a:lvl1pPr>
            <a:lvl2pPr indent="0" lvl="1" marL="0" marR="0" rtl="0" algn="l">
              <a:spcBef>
                <a:spcPts val="0"/>
              </a:spcBef>
              <a:spcAft>
                <a:spcPts val="0"/>
              </a:spcAft>
              <a:buClr>
                <a:srgbClr val="000000"/>
              </a:buClr>
              <a:buFont typeface="Arial"/>
              <a:buNone/>
              <a:defRPr b="0" i="0" sz="5200" u="none" cap="none" strike="noStrike">
                <a:solidFill>
                  <a:srgbClr val="000000"/>
                </a:solidFill>
                <a:latin typeface="Arial"/>
                <a:ea typeface="Arial"/>
                <a:cs typeface="Arial"/>
                <a:sym typeface="Arial"/>
              </a:defRPr>
            </a:lvl2pPr>
            <a:lvl3pPr indent="0" lvl="2" marL="0" marR="0" rtl="0" algn="l">
              <a:spcBef>
                <a:spcPts val="0"/>
              </a:spcBef>
              <a:spcAft>
                <a:spcPts val="0"/>
              </a:spcAft>
              <a:buClr>
                <a:srgbClr val="000000"/>
              </a:buClr>
              <a:buFont typeface="Arial"/>
              <a:buNone/>
              <a:defRPr b="0" i="0" sz="5200" u="none" cap="none" strike="noStrike">
                <a:solidFill>
                  <a:srgbClr val="000000"/>
                </a:solidFill>
                <a:latin typeface="Arial"/>
                <a:ea typeface="Arial"/>
                <a:cs typeface="Arial"/>
                <a:sym typeface="Arial"/>
              </a:defRPr>
            </a:lvl3pPr>
            <a:lvl4pPr indent="0" lvl="3" marL="0" marR="0" rtl="0" algn="l">
              <a:spcBef>
                <a:spcPts val="0"/>
              </a:spcBef>
              <a:spcAft>
                <a:spcPts val="0"/>
              </a:spcAft>
              <a:buClr>
                <a:srgbClr val="000000"/>
              </a:buClr>
              <a:buFont typeface="Arial"/>
              <a:buNone/>
              <a:defRPr b="0" i="0" sz="5200" u="none" cap="none" strike="noStrike">
                <a:solidFill>
                  <a:srgbClr val="000000"/>
                </a:solidFill>
                <a:latin typeface="Arial"/>
                <a:ea typeface="Arial"/>
                <a:cs typeface="Arial"/>
                <a:sym typeface="Arial"/>
              </a:defRPr>
            </a:lvl4pPr>
            <a:lvl5pPr indent="0" lvl="4" marL="0" marR="0" rtl="0" algn="l">
              <a:spcBef>
                <a:spcPts val="0"/>
              </a:spcBef>
              <a:spcAft>
                <a:spcPts val="0"/>
              </a:spcAft>
              <a:buClr>
                <a:srgbClr val="000000"/>
              </a:buClr>
              <a:buFont typeface="Arial"/>
              <a:buNone/>
              <a:defRPr b="0" i="0" sz="5200" u="none" cap="none" strike="noStrike">
                <a:solidFill>
                  <a:srgbClr val="000000"/>
                </a:solidFill>
                <a:latin typeface="Arial"/>
                <a:ea typeface="Arial"/>
                <a:cs typeface="Arial"/>
                <a:sym typeface="Arial"/>
              </a:defRPr>
            </a:lvl5pPr>
            <a:lvl6pPr indent="0" lvl="5" marL="457200" marR="0" rtl="0" algn="l">
              <a:spcBef>
                <a:spcPts val="0"/>
              </a:spcBef>
              <a:spcAft>
                <a:spcPts val="0"/>
              </a:spcAft>
              <a:buClr>
                <a:srgbClr val="000000"/>
              </a:buClr>
              <a:buFont typeface="Arial"/>
              <a:buNone/>
              <a:defRPr b="0" i="0" sz="5200" u="none" cap="none" strike="noStrike">
                <a:solidFill>
                  <a:srgbClr val="000000"/>
                </a:solidFill>
                <a:latin typeface="Arial"/>
                <a:ea typeface="Arial"/>
                <a:cs typeface="Arial"/>
                <a:sym typeface="Arial"/>
              </a:defRPr>
            </a:lvl6pPr>
            <a:lvl7pPr indent="0" lvl="6" marL="914400" marR="0" rtl="0" algn="l">
              <a:spcBef>
                <a:spcPts val="0"/>
              </a:spcBef>
              <a:spcAft>
                <a:spcPts val="0"/>
              </a:spcAft>
              <a:buClr>
                <a:srgbClr val="000000"/>
              </a:buClr>
              <a:buFont typeface="Arial"/>
              <a:buNone/>
              <a:defRPr b="0" i="0" sz="5200" u="none" cap="none" strike="noStrike">
                <a:solidFill>
                  <a:srgbClr val="000000"/>
                </a:solidFill>
                <a:latin typeface="Arial"/>
                <a:ea typeface="Arial"/>
                <a:cs typeface="Arial"/>
                <a:sym typeface="Arial"/>
              </a:defRPr>
            </a:lvl7pPr>
            <a:lvl8pPr indent="0" lvl="7" marL="1371600" marR="0" rtl="0" algn="l">
              <a:spcBef>
                <a:spcPts val="0"/>
              </a:spcBef>
              <a:spcAft>
                <a:spcPts val="0"/>
              </a:spcAft>
              <a:buClr>
                <a:srgbClr val="000000"/>
              </a:buClr>
              <a:buFont typeface="Arial"/>
              <a:buNone/>
              <a:defRPr b="0" i="0" sz="5200" u="none" cap="none" strike="noStrike">
                <a:solidFill>
                  <a:srgbClr val="000000"/>
                </a:solidFill>
                <a:latin typeface="Arial"/>
                <a:ea typeface="Arial"/>
                <a:cs typeface="Arial"/>
                <a:sym typeface="Arial"/>
              </a:defRPr>
            </a:lvl8pPr>
            <a:lvl9pPr indent="0" lvl="8" marL="1828800" marR="0" rtl="0" algn="l">
              <a:spcBef>
                <a:spcPts val="0"/>
              </a:spcBef>
              <a:spcAft>
                <a:spcPts val="0"/>
              </a:spcAft>
              <a:buClr>
                <a:srgbClr val="000000"/>
              </a:buClr>
              <a:buFont typeface="Arial"/>
              <a:buNone/>
              <a:defRPr b="0" i="0" sz="5200" u="none" cap="none" strike="noStrike">
                <a:solidFill>
                  <a:srgbClr val="000000"/>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377775" y="3"/>
            <a:ext cx="8229600" cy="857400"/>
          </a:xfrm>
          <a:prstGeom prst="rect">
            <a:avLst/>
          </a:prstGeom>
          <a:noFill/>
          <a:ln>
            <a:noFill/>
          </a:ln>
        </p:spPr>
        <p:txBody>
          <a:bodyPr anchorCtr="0" anchor="b" bIns="91425" lIns="91425" rIns="91425" tIns="91425"/>
          <a:lstStyle>
            <a:lvl1pPr lvl="0">
              <a:spcBef>
                <a:spcPts val="0"/>
              </a:spcBef>
              <a:buClr>
                <a:srgbClr val="85200C"/>
              </a:buClr>
              <a:buSzPct val="100000"/>
              <a:buNone/>
              <a:defRPr b="1" sz="3600">
                <a:solidFill>
                  <a:srgbClr val="85200C"/>
                </a:solidFill>
              </a:defRPr>
            </a:lvl1pPr>
            <a:lvl2pPr lvl="1">
              <a:spcBef>
                <a:spcPts val="0"/>
              </a:spcBef>
              <a:buClr>
                <a:srgbClr val="85200C"/>
              </a:buClr>
              <a:buSzPct val="100000"/>
              <a:buNone/>
              <a:defRPr b="1" sz="3600">
                <a:solidFill>
                  <a:srgbClr val="85200C"/>
                </a:solidFill>
              </a:defRPr>
            </a:lvl2pPr>
            <a:lvl3pPr lvl="2">
              <a:spcBef>
                <a:spcPts val="0"/>
              </a:spcBef>
              <a:buClr>
                <a:srgbClr val="85200C"/>
              </a:buClr>
              <a:buSzPct val="100000"/>
              <a:buNone/>
              <a:defRPr b="1" sz="3600">
                <a:solidFill>
                  <a:srgbClr val="85200C"/>
                </a:solidFill>
              </a:defRPr>
            </a:lvl3pPr>
            <a:lvl4pPr lvl="3">
              <a:spcBef>
                <a:spcPts val="0"/>
              </a:spcBef>
              <a:buClr>
                <a:srgbClr val="85200C"/>
              </a:buClr>
              <a:buSzPct val="100000"/>
              <a:buNone/>
              <a:defRPr b="1" sz="3600">
                <a:solidFill>
                  <a:srgbClr val="85200C"/>
                </a:solidFill>
              </a:defRPr>
            </a:lvl4pPr>
            <a:lvl5pPr lvl="4">
              <a:spcBef>
                <a:spcPts val="0"/>
              </a:spcBef>
              <a:buClr>
                <a:srgbClr val="85200C"/>
              </a:buClr>
              <a:buSzPct val="100000"/>
              <a:buNone/>
              <a:defRPr b="1" sz="3600">
                <a:solidFill>
                  <a:srgbClr val="85200C"/>
                </a:solidFill>
              </a:defRPr>
            </a:lvl5pPr>
            <a:lvl6pPr lvl="5">
              <a:spcBef>
                <a:spcPts val="0"/>
              </a:spcBef>
              <a:buClr>
                <a:srgbClr val="85200C"/>
              </a:buClr>
              <a:buSzPct val="100000"/>
              <a:buNone/>
              <a:defRPr b="1" sz="3600">
                <a:solidFill>
                  <a:srgbClr val="85200C"/>
                </a:solidFill>
              </a:defRPr>
            </a:lvl6pPr>
            <a:lvl7pPr lvl="6">
              <a:spcBef>
                <a:spcPts val="0"/>
              </a:spcBef>
              <a:buClr>
                <a:srgbClr val="85200C"/>
              </a:buClr>
              <a:buSzPct val="100000"/>
              <a:buNone/>
              <a:defRPr b="1" sz="3600">
                <a:solidFill>
                  <a:srgbClr val="85200C"/>
                </a:solidFill>
              </a:defRPr>
            </a:lvl7pPr>
            <a:lvl8pPr lvl="7">
              <a:spcBef>
                <a:spcPts val="0"/>
              </a:spcBef>
              <a:buClr>
                <a:srgbClr val="85200C"/>
              </a:buClr>
              <a:buSzPct val="100000"/>
              <a:buNone/>
              <a:defRPr b="1" sz="3600">
                <a:solidFill>
                  <a:srgbClr val="85200C"/>
                </a:solidFill>
              </a:defRPr>
            </a:lvl8pPr>
            <a:lvl9pPr lvl="8">
              <a:spcBef>
                <a:spcPts val="0"/>
              </a:spcBef>
              <a:buClr>
                <a:srgbClr val="85200C"/>
              </a:buClr>
              <a:buSzPct val="100000"/>
              <a:buNone/>
              <a:defRPr b="1" sz="3600">
                <a:solidFill>
                  <a:srgbClr val="85200C"/>
                </a:solidFill>
              </a:defRPr>
            </a:lvl9pPr>
          </a:lstStyle>
          <a:p/>
        </p:txBody>
      </p:sp>
      <p:sp>
        <p:nvSpPr>
          <p:cNvPr id="7" name="Shape 7"/>
          <p:cNvSpPr txBox="1"/>
          <p:nvPr>
            <p:ph idx="1" type="body"/>
          </p:nvPr>
        </p:nvSpPr>
        <p:spPr>
          <a:xfrm>
            <a:off x="457200" y="760325"/>
            <a:ext cx="8229600" cy="3989400"/>
          </a:xfrm>
          <a:prstGeom prst="rect">
            <a:avLst/>
          </a:prstGeom>
          <a:noFill/>
          <a:ln>
            <a:noFill/>
          </a:ln>
        </p:spPr>
        <p:txBody>
          <a:bodyPr anchorCtr="0" anchor="t" bIns="91425" lIns="91425" rIns="91425" tIns="91425"/>
          <a:lstStyle>
            <a:lvl1pPr lvl="0">
              <a:spcBef>
                <a:spcPts val="0"/>
              </a:spcBef>
              <a:buClr>
                <a:schemeClr val="dk1"/>
              </a:buClr>
              <a:buSzPct val="100000"/>
              <a:defRPr sz="3200">
                <a:solidFill>
                  <a:schemeClr val="dk1"/>
                </a:solidFill>
              </a:defRPr>
            </a:lvl1pPr>
            <a:lvl2pPr lvl="1">
              <a:spcBef>
                <a:spcPts val="480"/>
              </a:spcBef>
              <a:buClr>
                <a:schemeClr val="dk1"/>
              </a:buClr>
              <a:buSzPct val="100000"/>
              <a:defRPr sz="2800">
                <a:solidFill>
                  <a:schemeClr val="dk1"/>
                </a:solidFill>
              </a:defRPr>
            </a:lvl2pPr>
            <a:lvl3pPr lvl="2">
              <a:spcBef>
                <a:spcPts val="480"/>
              </a:spcBef>
              <a:buClr>
                <a:schemeClr val="dk1"/>
              </a:buClr>
              <a:buSzPct val="100000"/>
              <a:defRPr sz="2400">
                <a:solidFill>
                  <a:schemeClr val="dk1"/>
                </a:solidFill>
              </a:defRPr>
            </a:lvl3pPr>
            <a:lvl4pPr lvl="3">
              <a:spcBef>
                <a:spcPts val="360"/>
              </a:spcBef>
              <a:buClr>
                <a:schemeClr val="dk1"/>
              </a:buClr>
              <a:buSzPct val="100000"/>
              <a:defRPr sz="2200">
                <a:solidFill>
                  <a:schemeClr val="dk1"/>
                </a:solidFill>
              </a:defRPr>
            </a:lvl4pPr>
            <a:lvl5pPr lvl="4">
              <a:spcBef>
                <a:spcPts val="360"/>
              </a:spcBef>
              <a:buClr>
                <a:schemeClr val="dk1"/>
              </a:buClr>
              <a:buSzPct val="100000"/>
              <a:defRPr sz="2000">
                <a:solidFill>
                  <a:schemeClr val="dk1"/>
                </a:solidFill>
              </a:defRPr>
            </a:lvl5pPr>
            <a:lvl6pPr lvl="5">
              <a:spcBef>
                <a:spcPts val="360"/>
              </a:spcBef>
              <a:buClr>
                <a:schemeClr val="dk1"/>
              </a:buClr>
              <a:buSzPct val="100000"/>
              <a:defRPr sz="1800">
                <a:solidFill>
                  <a:schemeClr val="dk1"/>
                </a:solidFill>
              </a:defRPr>
            </a:lvl6pPr>
            <a:lvl7pPr lvl="6">
              <a:spcBef>
                <a:spcPts val="360"/>
              </a:spcBef>
              <a:buClr>
                <a:schemeClr val="dk1"/>
              </a:buClr>
              <a:buSzPct val="100000"/>
              <a:defRPr sz="1800">
                <a:solidFill>
                  <a:schemeClr val="dk1"/>
                </a:solidFill>
              </a:defRPr>
            </a:lvl7pPr>
            <a:lvl8pPr lvl="7">
              <a:spcBef>
                <a:spcPts val="360"/>
              </a:spcBef>
              <a:buClr>
                <a:schemeClr val="dk1"/>
              </a:buClr>
              <a:buSzPct val="100000"/>
              <a:defRPr sz="1800">
                <a:solidFill>
                  <a:schemeClr val="dk1"/>
                </a:solidFill>
              </a:defRPr>
            </a:lvl8pPr>
            <a:lvl9pPr lvl="8">
              <a:spcBef>
                <a:spcPts val="360"/>
              </a:spcBef>
              <a:buClr>
                <a:schemeClr val="dk1"/>
              </a:buClr>
              <a:buSzPct val="100000"/>
              <a:defRPr sz="1800">
                <a:solidFill>
                  <a:schemeClr val="dk1"/>
                </a:solidFill>
              </a:defRPr>
            </a:lvl9pPr>
          </a:lstStyle>
          <a:p/>
        </p:txBody>
      </p:sp>
      <p:sp>
        <p:nvSpPr>
          <p:cNvPr id="8" name="Shape 8"/>
          <p:cNvSpPr txBox="1"/>
          <p:nvPr>
            <p:ph idx="12" type="sldNum"/>
          </p:nvPr>
        </p:nvSpPr>
        <p:spPr>
          <a:xfrm>
            <a:off x="8556791" y="4749850"/>
            <a:ext cx="548700" cy="393600"/>
          </a:xfrm>
          <a:prstGeom prst="rect">
            <a:avLst/>
          </a:prstGeom>
          <a:noFill/>
          <a:ln>
            <a:noFill/>
          </a:ln>
        </p:spPr>
        <p:txBody>
          <a:bodyPr anchorCtr="0" anchor="ctr" bIns="91425" lIns="91425" rIns="91425" tIns="91425">
            <a:noAutofit/>
          </a:bodyPr>
          <a:lstStyle/>
          <a:p>
            <a:pPr lvl="0" algn="r">
              <a:spcBef>
                <a:spcPts val="0"/>
              </a:spcBef>
              <a:buNone/>
            </a:pPr>
            <a:fld id="{00000000-1234-1234-1234-123412341234}" type="slidenum">
              <a:rPr lang="en" sz="1300">
                <a:solidFill>
                  <a:schemeClr val="dk1"/>
                </a:solidFill>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04.jpg"/></Relationships>
</file>

<file path=ppt/slides/_rels/slide3.xml.rels><?xml version="1.0" encoding="UTF-8" standalone="yes"?><Relationships xmlns="http://schemas.openxmlformats.org/package/2006/relationships"><Relationship Id="rId11" Type="http://schemas.openxmlformats.org/officeDocument/2006/relationships/image" Target="../media/image07.png"/><Relationship Id="rId10" Type="http://schemas.openxmlformats.org/officeDocument/2006/relationships/image" Target="../media/image12.jpg"/><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06.jpg"/><Relationship Id="rId4" Type="http://schemas.openxmlformats.org/officeDocument/2006/relationships/image" Target="../media/image44.jpg"/><Relationship Id="rId9" Type="http://schemas.openxmlformats.org/officeDocument/2006/relationships/image" Target="../media/image08.jpg"/><Relationship Id="rId5" Type="http://schemas.openxmlformats.org/officeDocument/2006/relationships/image" Target="../media/image09.jpg"/><Relationship Id="rId6" Type="http://schemas.openxmlformats.org/officeDocument/2006/relationships/image" Target="../media/image10.png"/><Relationship Id="rId7" Type="http://schemas.openxmlformats.org/officeDocument/2006/relationships/image" Target="../media/image38.jpg"/><Relationship Id="rId8" Type="http://schemas.openxmlformats.org/officeDocument/2006/relationships/image" Target="../media/image1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20" Type="http://schemas.openxmlformats.org/officeDocument/2006/relationships/image" Target="../media/image49.png"/><Relationship Id="rId11" Type="http://schemas.openxmlformats.org/officeDocument/2006/relationships/image" Target="../media/image26.png"/><Relationship Id="rId10" Type="http://schemas.openxmlformats.org/officeDocument/2006/relationships/image" Target="../media/image25.png"/><Relationship Id="rId13" Type="http://schemas.openxmlformats.org/officeDocument/2006/relationships/image" Target="../media/image30.png"/><Relationship Id="rId12" Type="http://schemas.openxmlformats.org/officeDocument/2006/relationships/image" Target="../media/image27.png"/><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20.png"/><Relationship Id="rId9" Type="http://schemas.openxmlformats.org/officeDocument/2006/relationships/image" Target="../media/image24.jpg"/><Relationship Id="rId15" Type="http://schemas.openxmlformats.org/officeDocument/2006/relationships/image" Target="../media/image32.png"/><Relationship Id="rId14" Type="http://schemas.openxmlformats.org/officeDocument/2006/relationships/image" Target="../media/image31.png"/><Relationship Id="rId17" Type="http://schemas.openxmlformats.org/officeDocument/2006/relationships/image" Target="../media/image33.png"/><Relationship Id="rId16" Type="http://schemas.openxmlformats.org/officeDocument/2006/relationships/image" Target="../media/image67.png"/><Relationship Id="rId5" Type="http://schemas.openxmlformats.org/officeDocument/2006/relationships/image" Target="../media/image21.png"/><Relationship Id="rId19" Type="http://schemas.openxmlformats.org/officeDocument/2006/relationships/image" Target="../media/image35.png"/><Relationship Id="rId6" Type="http://schemas.openxmlformats.org/officeDocument/2006/relationships/image" Target="../media/image29.png"/><Relationship Id="rId18" Type="http://schemas.openxmlformats.org/officeDocument/2006/relationships/image" Target="../media/image36.png"/><Relationship Id="rId7" Type="http://schemas.openxmlformats.org/officeDocument/2006/relationships/image" Target="../media/image22.jpg"/><Relationship Id="rId8" Type="http://schemas.openxmlformats.org/officeDocument/2006/relationships/image" Target="../media/image2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40.png"/><Relationship Id="rId4" Type="http://schemas.openxmlformats.org/officeDocument/2006/relationships/image" Target="../media/image6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41.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43.jp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53.png"/><Relationship Id="rId4" Type="http://schemas.openxmlformats.org/officeDocument/2006/relationships/image" Target="../media/image47.png"/><Relationship Id="rId5" Type="http://schemas.openxmlformats.org/officeDocument/2006/relationships/hyperlink" Target="https://datatracker.ietf.org/doc/draft-ietf-teas-actn-framework/" TargetMode="External"/><Relationship Id="rId6" Type="http://schemas.openxmlformats.org/officeDocument/2006/relationships/hyperlink" Target="https://datatracker.ietf.org/doc/draft-ietf-teas-yang-te-topo/" TargetMode="External"/><Relationship Id="rId7" Type="http://schemas.openxmlformats.org/officeDocument/2006/relationships/hyperlink" Target="https://datatracker.ietf.org/doc/draft-ietf-teas-yang-t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5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50.png"/></Relationships>
</file>

<file path=ppt/slides/_rels/slide28.xml.rels><?xml version="1.0" encoding="UTF-8" standalone="yes"?><Relationships xmlns="http://schemas.openxmlformats.org/package/2006/relationships"><Relationship Id="rId11" Type="http://schemas.openxmlformats.org/officeDocument/2006/relationships/image" Target="../media/image60.jpg"/><Relationship Id="rId10" Type="http://schemas.openxmlformats.org/officeDocument/2006/relationships/image" Target="../media/image59.jpg"/><Relationship Id="rId13" Type="http://schemas.openxmlformats.org/officeDocument/2006/relationships/image" Target="../media/image62.png"/><Relationship Id="rId12" Type="http://schemas.openxmlformats.org/officeDocument/2006/relationships/image" Target="../media/image61.png"/><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52.png"/><Relationship Id="rId4" Type="http://schemas.openxmlformats.org/officeDocument/2006/relationships/image" Target="../media/image57.png"/><Relationship Id="rId9" Type="http://schemas.openxmlformats.org/officeDocument/2006/relationships/image" Target="../media/image58.jpg"/><Relationship Id="rId15" Type="http://schemas.openxmlformats.org/officeDocument/2006/relationships/image" Target="../media/image63.png"/><Relationship Id="rId14" Type="http://schemas.openxmlformats.org/officeDocument/2006/relationships/image" Target="../media/image68.png"/><Relationship Id="rId17" Type="http://schemas.openxmlformats.org/officeDocument/2006/relationships/image" Target="../media/image66.png"/><Relationship Id="rId16" Type="http://schemas.openxmlformats.org/officeDocument/2006/relationships/image" Target="../media/image65.gif"/><Relationship Id="rId5" Type="http://schemas.openxmlformats.org/officeDocument/2006/relationships/image" Target="../media/image55.png"/><Relationship Id="rId6" Type="http://schemas.openxmlformats.org/officeDocument/2006/relationships/image" Target="../media/image54.png"/><Relationship Id="rId18" Type="http://schemas.openxmlformats.org/officeDocument/2006/relationships/image" Target="../media/image70.png"/><Relationship Id="rId7" Type="http://schemas.openxmlformats.org/officeDocument/2006/relationships/image" Target="../media/image56.jpg"/><Relationship Id="rId8" Type="http://schemas.openxmlformats.org/officeDocument/2006/relationships/image" Target="../media/image7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78.png"/><Relationship Id="rId4" Type="http://schemas.openxmlformats.org/officeDocument/2006/relationships/image" Target="../media/image7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69.png"/><Relationship Id="rId4" Type="http://schemas.openxmlformats.org/officeDocument/2006/relationships/hyperlink" Target="https://youtu.be/gsfYwJyYfI4"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image" Target="../media/image71.jpg"/><Relationship Id="rId4" Type="http://schemas.openxmlformats.org/officeDocument/2006/relationships/image" Target="../media/image72.png"/><Relationship Id="rId9" Type="http://schemas.openxmlformats.org/officeDocument/2006/relationships/image" Target="../media/image87.png"/><Relationship Id="rId5" Type="http://schemas.openxmlformats.org/officeDocument/2006/relationships/image" Target="../media/image73.png"/><Relationship Id="rId6" Type="http://schemas.openxmlformats.org/officeDocument/2006/relationships/image" Target="../media/image80.png"/><Relationship Id="rId7" Type="http://schemas.openxmlformats.org/officeDocument/2006/relationships/image" Target="../media/image74.png"/><Relationship Id="rId8" Type="http://schemas.openxmlformats.org/officeDocument/2006/relationships/image" Target="../media/image7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gif"/><Relationship Id="rId7" Type="http://schemas.openxmlformats.org/officeDocument/2006/relationships/image" Target="../media/image8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image" Target="../media/image85.jpg"/><Relationship Id="rId4" Type="http://schemas.openxmlformats.org/officeDocument/2006/relationships/image" Target="../media/image86.png"/><Relationship Id="rId5" Type="http://schemas.openxmlformats.org/officeDocument/2006/relationships/image" Target="../media/image88.gif"/><Relationship Id="rId6" Type="http://schemas.openxmlformats.org/officeDocument/2006/relationships/image" Target="../media/image8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0" Type="http://schemas.openxmlformats.org/officeDocument/2006/relationships/image" Target="../media/image19.png"/><Relationship Id="rId11" Type="http://schemas.openxmlformats.org/officeDocument/2006/relationships/image" Target="../media/image100.png"/><Relationship Id="rId22" Type="http://schemas.openxmlformats.org/officeDocument/2006/relationships/image" Target="../media/image102.png"/><Relationship Id="rId10" Type="http://schemas.openxmlformats.org/officeDocument/2006/relationships/image" Target="../media/image98.jpg"/><Relationship Id="rId21" Type="http://schemas.openxmlformats.org/officeDocument/2006/relationships/image" Target="../media/image11.png"/><Relationship Id="rId13" Type="http://schemas.openxmlformats.org/officeDocument/2006/relationships/image" Target="../media/image93.png"/><Relationship Id="rId12" Type="http://schemas.openxmlformats.org/officeDocument/2006/relationships/image" Target="../media/image96.png"/><Relationship Id="rId23" Type="http://schemas.openxmlformats.org/officeDocument/2006/relationships/image" Target="../media/image107.png"/><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24.jpg"/><Relationship Id="rId4" Type="http://schemas.openxmlformats.org/officeDocument/2006/relationships/image" Target="../media/image95.png"/><Relationship Id="rId9" Type="http://schemas.openxmlformats.org/officeDocument/2006/relationships/image" Target="../media/image92.jpg"/><Relationship Id="rId15" Type="http://schemas.openxmlformats.org/officeDocument/2006/relationships/image" Target="../media/image113.png"/><Relationship Id="rId14" Type="http://schemas.openxmlformats.org/officeDocument/2006/relationships/image" Target="../media/image94.png"/><Relationship Id="rId17" Type="http://schemas.openxmlformats.org/officeDocument/2006/relationships/image" Target="../media/image97.png"/><Relationship Id="rId16" Type="http://schemas.openxmlformats.org/officeDocument/2006/relationships/image" Target="../media/image105.jpg"/><Relationship Id="rId5" Type="http://schemas.openxmlformats.org/officeDocument/2006/relationships/image" Target="../media/image91.png"/><Relationship Id="rId19" Type="http://schemas.openxmlformats.org/officeDocument/2006/relationships/image" Target="../media/image101.png"/><Relationship Id="rId6" Type="http://schemas.openxmlformats.org/officeDocument/2006/relationships/image" Target="../media/image90.jpg"/><Relationship Id="rId18" Type="http://schemas.openxmlformats.org/officeDocument/2006/relationships/image" Target="../media/image16.png"/><Relationship Id="rId7" Type="http://schemas.openxmlformats.org/officeDocument/2006/relationships/image" Target="../media/image103.jpg"/><Relationship Id="rId8" Type="http://schemas.openxmlformats.org/officeDocument/2006/relationships/image" Target="../media/image9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0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 Id="rId3" Type="http://schemas.openxmlformats.org/officeDocument/2006/relationships/image" Target="../media/image10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10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2.xml"/><Relationship Id="rId3" Type="http://schemas.openxmlformats.org/officeDocument/2006/relationships/image" Target="../media/image109.png"/><Relationship Id="rId4" Type="http://schemas.openxmlformats.org/officeDocument/2006/relationships/image" Target="../media/image10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7" name="Shape 77"/>
        <p:cNvGrpSpPr/>
        <p:nvPr/>
      </p:nvGrpSpPr>
      <p:grpSpPr>
        <a:xfrm>
          <a:off x="0" y="0"/>
          <a:ext cx="0" cy="0"/>
          <a:chOff x="0" y="0"/>
          <a:chExt cx="0" cy="0"/>
        </a:xfrm>
      </p:grpSpPr>
      <p:sp>
        <p:nvSpPr>
          <p:cNvPr id="78" name="Shape 78"/>
          <p:cNvSpPr txBox="1"/>
          <p:nvPr>
            <p:ph type="ctrTitle"/>
          </p:nvPr>
        </p:nvSpPr>
        <p:spPr>
          <a:xfrm>
            <a:off x="-24900" y="1800900"/>
            <a:ext cx="9181200" cy="1266000"/>
          </a:xfrm>
          <a:prstGeom prst="rect">
            <a:avLst/>
          </a:prstGeom>
        </p:spPr>
        <p:txBody>
          <a:bodyPr anchorCtr="0" anchor="ctr" bIns="91425" lIns="91425" rIns="91425" tIns="91425">
            <a:noAutofit/>
          </a:bodyPr>
          <a:lstStyle/>
          <a:p>
            <a:pPr lvl="0">
              <a:spcBef>
                <a:spcPts val="0"/>
              </a:spcBef>
              <a:buNone/>
            </a:pPr>
            <a:r>
              <a:rPr lang="en"/>
              <a:t>ONOS Hummingbird Release</a:t>
            </a:r>
          </a:p>
        </p:txBody>
      </p:sp>
      <p:sp>
        <p:nvSpPr>
          <p:cNvPr id="79" name="Shape 79"/>
          <p:cNvSpPr txBox="1"/>
          <p:nvPr>
            <p:ph idx="1" type="subTitle"/>
          </p:nvPr>
        </p:nvSpPr>
        <p:spPr>
          <a:xfrm>
            <a:off x="723900" y="3174725"/>
            <a:ext cx="7696200" cy="932100"/>
          </a:xfrm>
          <a:prstGeom prst="rect">
            <a:avLst/>
          </a:prstGeom>
        </p:spPr>
        <p:txBody>
          <a:bodyPr anchorCtr="0" anchor="t" bIns="91425" lIns="91425" rIns="91425" tIns="91425">
            <a:noAutofit/>
          </a:bodyPr>
          <a:lstStyle/>
          <a:p>
            <a:pPr lvl="0">
              <a:spcBef>
                <a:spcPts val="0"/>
              </a:spcBef>
              <a:buNone/>
            </a:pPr>
            <a:r>
              <a:rPr lang="en"/>
              <a:t>Bill Snow</a:t>
            </a:r>
          </a:p>
          <a:p>
            <a:pPr lvl="0">
              <a:spcBef>
                <a:spcPts val="0"/>
              </a:spcBef>
              <a:buNone/>
            </a:pPr>
            <a:r>
              <a:rPr lang="en"/>
              <a:t>bill@onlab.us</a:t>
            </a:r>
          </a:p>
        </p:txBody>
      </p:sp>
      <p:sp>
        <p:nvSpPr>
          <p:cNvPr id="80" name="Shape 80"/>
          <p:cNvSpPr txBox="1"/>
          <p:nvPr/>
        </p:nvSpPr>
        <p:spPr>
          <a:xfrm>
            <a:off x="1123025" y="2197800"/>
            <a:ext cx="4047300" cy="472200"/>
          </a:xfrm>
          <a:prstGeom prst="rect">
            <a:avLst/>
          </a:prstGeom>
          <a:noFill/>
          <a:ln>
            <a:noFill/>
          </a:ln>
        </p:spPr>
        <p:txBody>
          <a:bodyPr anchorCtr="0" anchor="t" bIns="91425" lIns="91425" rIns="91425" tIns="91425">
            <a:noAutofit/>
          </a:bodyPr>
          <a:lstStyle/>
          <a:p>
            <a:pPr lvl="0" rtl="0" algn="ctr">
              <a:spcBef>
                <a:spcPts val="0"/>
              </a:spcBef>
              <a:buClr>
                <a:schemeClr val="dk1"/>
              </a:buClr>
              <a:buFont typeface="Arial"/>
              <a:buNone/>
            </a:pPr>
            <a:r>
              <a:rPr baseline="30000" lang="en">
                <a:solidFill>
                  <a:schemeClr val="lt1"/>
                </a:solidFill>
              </a:rPr>
              <a:t>®</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4" name="Shape 84"/>
        <p:cNvGrpSpPr/>
        <p:nvPr/>
      </p:nvGrpSpPr>
      <p:grpSpPr>
        <a:xfrm>
          <a:off x="0" y="0"/>
          <a:ext cx="0" cy="0"/>
          <a:chOff x="0" y="0"/>
          <a:chExt cx="0" cy="0"/>
        </a:xfrm>
      </p:grpSpPr>
      <p:sp>
        <p:nvSpPr>
          <p:cNvPr id="85" name="Shape 85"/>
          <p:cNvSpPr txBox="1"/>
          <p:nvPr>
            <p:ph type="title"/>
          </p:nvPr>
        </p:nvSpPr>
        <p:spPr>
          <a:xfrm>
            <a:off x="377775" y="3"/>
            <a:ext cx="8229600" cy="857400"/>
          </a:xfrm>
          <a:prstGeom prst="rect">
            <a:avLst/>
          </a:prstGeom>
          <a:noFill/>
          <a:ln>
            <a:noFill/>
          </a:ln>
        </p:spPr>
        <p:txBody>
          <a:bodyPr anchorCtr="0" anchor="b" bIns="91425" lIns="91425" rIns="91425" tIns="91425">
            <a:noAutofit/>
          </a:bodyPr>
          <a:lstStyle/>
          <a:p>
            <a:pPr indent="0" lvl="0" marL="0" marR="0" rtl="0" algn="l">
              <a:lnSpc>
                <a:spcPct val="100000"/>
              </a:lnSpc>
              <a:spcBef>
                <a:spcPts val="0"/>
              </a:spcBef>
              <a:spcAft>
                <a:spcPts val="0"/>
              </a:spcAft>
              <a:buClr>
                <a:srgbClr val="85200C"/>
              </a:buClr>
              <a:buSzPct val="25000"/>
              <a:buFont typeface="Arial"/>
              <a:buNone/>
            </a:pPr>
            <a:r>
              <a:rPr lang="en"/>
              <a:t>Our Mission</a:t>
            </a:r>
          </a:p>
        </p:txBody>
      </p:sp>
      <p:sp>
        <p:nvSpPr>
          <p:cNvPr id="86" name="Shape 86"/>
          <p:cNvSpPr txBox="1"/>
          <p:nvPr>
            <p:ph idx="1" type="body"/>
          </p:nvPr>
        </p:nvSpPr>
        <p:spPr>
          <a:xfrm>
            <a:off x="3883950" y="857400"/>
            <a:ext cx="4759500" cy="3989400"/>
          </a:xfrm>
          <a:prstGeom prst="rect">
            <a:avLst/>
          </a:prstGeom>
          <a:noFill/>
          <a:ln>
            <a:noFill/>
          </a:ln>
        </p:spPr>
        <p:txBody>
          <a:bodyPr anchorCtr="0" anchor="t" bIns="91425" lIns="91425" rIns="91425" tIns="91425">
            <a:noAutofit/>
          </a:bodyPr>
          <a:lstStyle/>
          <a:p>
            <a:pPr lvl="0" rtl="0">
              <a:lnSpc>
                <a:spcPct val="120000"/>
              </a:lnSpc>
              <a:spcBef>
                <a:spcPts val="0"/>
              </a:spcBef>
              <a:buClr>
                <a:srgbClr val="000000"/>
              </a:buClr>
              <a:buSzPct val="61111"/>
              <a:buNone/>
            </a:pPr>
            <a:r>
              <a:rPr lang="en" sz="1800"/>
              <a:t>ONOS is building a better network</a:t>
            </a:r>
          </a:p>
          <a:p>
            <a:pPr indent="-342900" lvl="0" marL="457200" rtl="0">
              <a:lnSpc>
                <a:spcPct val="120000"/>
              </a:lnSpc>
              <a:spcBef>
                <a:spcPts val="1000"/>
              </a:spcBef>
              <a:spcAft>
                <a:spcPts val="1000"/>
              </a:spcAft>
              <a:buSzPct val="100000"/>
              <a:buFont typeface="Arial"/>
              <a:buChar char="●"/>
            </a:pPr>
            <a:r>
              <a:rPr lang="en" sz="1800"/>
              <a:t>We are pursuing our vision of what networking could be for the public good</a:t>
            </a:r>
          </a:p>
          <a:p>
            <a:pPr indent="-342900" lvl="0" marL="457200" rtl="0">
              <a:lnSpc>
                <a:spcPct val="120000"/>
              </a:lnSpc>
              <a:spcBef>
                <a:spcPts val="1000"/>
              </a:spcBef>
              <a:spcAft>
                <a:spcPts val="1000"/>
              </a:spcAft>
              <a:buSzPct val="100000"/>
              <a:buFont typeface="Arial"/>
              <a:buChar char="●"/>
            </a:pPr>
            <a:r>
              <a:rPr lang="en" sz="1800"/>
              <a:t>We want to fix closed, proprietary, complex, expensive and inflexible networks through open source collaboration</a:t>
            </a:r>
          </a:p>
          <a:p>
            <a:pPr indent="-342900" lvl="0" marL="457200" rtl="0">
              <a:lnSpc>
                <a:spcPct val="120000"/>
              </a:lnSpc>
              <a:spcBef>
                <a:spcPts val="1000"/>
              </a:spcBef>
              <a:spcAft>
                <a:spcPts val="1000"/>
              </a:spcAft>
              <a:buSzPct val="100000"/>
              <a:buFont typeface="Arial"/>
              <a:buChar char="●"/>
            </a:pPr>
            <a:r>
              <a:rPr lang="en" sz="1800"/>
              <a:t>We want networks that are enabling innovation rather than impeding innovation</a:t>
            </a:r>
          </a:p>
          <a:p>
            <a:pPr lvl="0" rtl="0">
              <a:lnSpc>
                <a:spcPct val="120000"/>
              </a:lnSpc>
              <a:spcBef>
                <a:spcPts val="0"/>
              </a:spcBef>
              <a:buClr>
                <a:srgbClr val="000000"/>
              </a:buClr>
              <a:buSzPct val="61111"/>
              <a:buNone/>
            </a:pPr>
            <a:r>
              <a:rPr b="1" lang="en" sz="1800"/>
              <a:t>Join us on our mission!</a:t>
            </a:r>
          </a:p>
        </p:txBody>
      </p:sp>
      <p:pic>
        <p:nvPicPr>
          <p:cNvPr descr="onos-birds_cropped.jpeg" id="87" name="Shape 87"/>
          <p:cNvPicPr preferRelativeResize="0"/>
          <p:nvPr/>
        </p:nvPicPr>
        <p:blipFill>
          <a:blip r:embed="rId3">
            <a:alphaModFix/>
          </a:blip>
          <a:stretch>
            <a:fillRect/>
          </a:stretch>
        </p:blipFill>
        <p:spPr>
          <a:xfrm>
            <a:off x="0" y="1162537"/>
            <a:ext cx="3883949" cy="3167324"/>
          </a:xfrm>
          <a:prstGeom prst="rect">
            <a:avLst/>
          </a:prstGeom>
          <a:noFill/>
          <a:ln>
            <a:noFill/>
          </a:ln>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1" name="Shape 91"/>
        <p:cNvGrpSpPr/>
        <p:nvPr/>
      </p:nvGrpSpPr>
      <p:grpSpPr>
        <a:xfrm>
          <a:off x="0" y="0"/>
          <a:ext cx="0" cy="0"/>
          <a:chOff x="0" y="0"/>
          <a:chExt cx="0" cy="0"/>
        </a:xfrm>
      </p:grpSpPr>
      <p:sp>
        <p:nvSpPr>
          <p:cNvPr id="92" name="Shape 92"/>
          <p:cNvSpPr txBox="1"/>
          <p:nvPr>
            <p:ph type="title"/>
          </p:nvPr>
        </p:nvSpPr>
        <p:spPr>
          <a:xfrm>
            <a:off x="377775" y="0"/>
            <a:ext cx="8229600" cy="615600"/>
          </a:xfrm>
          <a:prstGeom prst="rect">
            <a:avLst/>
          </a:prstGeom>
        </p:spPr>
        <p:txBody>
          <a:bodyPr anchorCtr="0" anchor="b" bIns="91425" lIns="91425" rIns="91425" tIns="91425">
            <a:noAutofit/>
          </a:bodyPr>
          <a:lstStyle/>
          <a:p>
            <a:pPr lvl="0">
              <a:spcBef>
                <a:spcPts val="0"/>
              </a:spcBef>
              <a:buNone/>
            </a:pPr>
            <a:r>
              <a:rPr lang="en"/>
              <a:t>Welcome </a:t>
            </a:r>
            <a:r>
              <a:rPr i="1" lang="en"/>
              <a:t>Hummingbird</a:t>
            </a:r>
            <a:r>
              <a:rPr lang="en"/>
              <a:t> Release</a:t>
            </a:r>
          </a:p>
        </p:txBody>
      </p:sp>
      <p:pic>
        <p:nvPicPr>
          <p:cNvPr descr="Tree, Landscape, Field, Branch" id="93" name="Shape 93"/>
          <p:cNvPicPr preferRelativeResize="0"/>
          <p:nvPr/>
        </p:nvPicPr>
        <p:blipFill>
          <a:blip r:embed="rId3">
            <a:alphaModFix amt="58999"/>
          </a:blip>
          <a:stretch>
            <a:fillRect/>
          </a:stretch>
        </p:blipFill>
        <p:spPr>
          <a:xfrm>
            <a:off x="0" y="615475"/>
            <a:ext cx="9144000" cy="4528025"/>
          </a:xfrm>
          <a:prstGeom prst="rect">
            <a:avLst/>
          </a:prstGeom>
          <a:noFill/>
          <a:ln>
            <a:noFill/>
          </a:ln>
        </p:spPr>
      </p:pic>
      <p:pic>
        <p:nvPicPr>
          <p:cNvPr descr="File:Pied Avocet RWD.jpg" id="94" name="Shape 94"/>
          <p:cNvPicPr preferRelativeResize="0"/>
          <p:nvPr/>
        </p:nvPicPr>
        <p:blipFill>
          <a:blip r:embed="rId4">
            <a:alphaModFix/>
          </a:blip>
          <a:stretch>
            <a:fillRect/>
          </a:stretch>
        </p:blipFill>
        <p:spPr>
          <a:xfrm>
            <a:off x="96126" y="989469"/>
            <a:ext cx="1076322" cy="807249"/>
          </a:xfrm>
          <a:prstGeom prst="rect">
            <a:avLst/>
          </a:prstGeom>
          <a:noFill/>
          <a:ln>
            <a:noFill/>
          </a:ln>
        </p:spPr>
      </p:pic>
      <p:pic>
        <p:nvPicPr>
          <p:cNvPr descr="Tricolored blackbird" id="95" name="Shape 95"/>
          <p:cNvPicPr preferRelativeResize="0"/>
          <p:nvPr/>
        </p:nvPicPr>
        <p:blipFill>
          <a:blip r:embed="rId5">
            <a:alphaModFix/>
          </a:blip>
          <a:stretch>
            <a:fillRect/>
          </a:stretch>
        </p:blipFill>
        <p:spPr>
          <a:xfrm>
            <a:off x="28850" y="2151674"/>
            <a:ext cx="1210875" cy="807250"/>
          </a:xfrm>
          <a:prstGeom prst="rect">
            <a:avLst/>
          </a:prstGeom>
          <a:noFill/>
          <a:ln>
            <a:noFill/>
          </a:ln>
        </p:spPr>
      </p:pic>
      <p:pic>
        <p:nvPicPr>
          <p:cNvPr descr="Cardinal, Bird, Cardinalidae" id="96" name="Shape 96"/>
          <p:cNvPicPr preferRelativeResize="0"/>
          <p:nvPr/>
        </p:nvPicPr>
        <p:blipFill>
          <a:blip r:embed="rId6">
            <a:alphaModFix/>
          </a:blip>
          <a:stretch>
            <a:fillRect/>
          </a:stretch>
        </p:blipFill>
        <p:spPr>
          <a:xfrm>
            <a:off x="173412" y="3266712"/>
            <a:ext cx="921750" cy="1106100"/>
          </a:xfrm>
          <a:prstGeom prst="rect">
            <a:avLst/>
          </a:prstGeom>
          <a:noFill/>
          <a:ln>
            <a:noFill/>
          </a:ln>
        </p:spPr>
      </p:pic>
      <p:pic>
        <p:nvPicPr>
          <p:cNvPr descr="Description[edit]" id="97" name="Shape 97"/>
          <p:cNvPicPr preferRelativeResize="0"/>
          <p:nvPr/>
        </p:nvPicPr>
        <p:blipFill>
          <a:blip r:embed="rId7">
            <a:alphaModFix/>
          </a:blip>
          <a:stretch>
            <a:fillRect/>
          </a:stretch>
        </p:blipFill>
        <p:spPr>
          <a:xfrm>
            <a:off x="3079408" y="989469"/>
            <a:ext cx="1174925" cy="807250"/>
          </a:xfrm>
          <a:prstGeom prst="rect">
            <a:avLst/>
          </a:prstGeom>
          <a:noFill/>
          <a:ln>
            <a:noFill/>
          </a:ln>
        </p:spPr>
      </p:pic>
      <p:pic>
        <p:nvPicPr>
          <p:cNvPr descr="File:Emu Searching for a Shiny" id="98" name="Shape 98"/>
          <p:cNvPicPr preferRelativeResize="0"/>
          <p:nvPr/>
        </p:nvPicPr>
        <p:blipFill>
          <a:blip r:embed="rId8">
            <a:alphaModFix/>
          </a:blip>
          <a:stretch>
            <a:fillRect/>
          </a:stretch>
        </p:blipFill>
        <p:spPr>
          <a:xfrm>
            <a:off x="2952091" y="2080273"/>
            <a:ext cx="1429559" cy="950052"/>
          </a:xfrm>
          <a:prstGeom prst="rect">
            <a:avLst/>
          </a:prstGeom>
          <a:noFill/>
          <a:ln>
            <a:noFill/>
          </a:ln>
        </p:spPr>
      </p:pic>
      <p:pic>
        <p:nvPicPr>
          <p:cNvPr descr="Prairie falcon" id="99" name="Shape 99"/>
          <p:cNvPicPr preferRelativeResize="0"/>
          <p:nvPr/>
        </p:nvPicPr>
        <p:blipFill>
          <a:blip r:embed="rId9">
            <a:alphaModFix/>
          </a:blip>
          <a:stretch>
            <a:fillRect/>
          </a:stretch>
        </p:blipFill>
        <p:spPr>
          <a:xfrm>
            <a:off x="3196381" y="3344737"/>
            <a:ext cx="940980" cy="950050"/>
          </a:xfrm>
          <a:prstGeom prst="rect">
            <a:avLst/>
          </a:prstGeom>
          <a:noFill/>
          <a:ln>
            <a:noFill/>
          </a:ln>
        </p:spPr>
      </p:pic>
      <p:pic>
        <p:nvPicPr>
          <p:cNvPr descr="Barrow&amp;#39;s goldeneye" id="100" name="Shape 100"/>
          <p:cNvPicPr preferRelativeResize="0"/>
          <p:nvPr/>
        </p:nvPicPr>
        <p:blipFill>
          <a:blip r:embed="rId10">
            <a:alphaModFix/>
          </a:blip>
          <a:stretch>
            <a:fillRect/>
          </a:stretch>
        </p:blipFill>
        <p:spPr>
          <a:xfrm>
            <a:off x="6150050" y="1120600"/>
            <a:ext cx="1029925" cy="807250"/>
          </a:xfrm>
          <a:prstGeom prst="rect">
            <a:avLst/>
          </a:prstGeom>
          <a:noFill/>
          <a:ln>
            <a:noFill/>
          </a:ln>
        </p:spPr>
      </p:pic>
      <p:sp>
        <p:nvSpPr>
          <p:cNvPr id="101" name="Shape 101"/>
          <p:cNvSpPr txBox="1"/>
          <p:nvPr/>
        </p:nvSpPr>
        <p:spPr>
          <a:xfrm>
            <a:off x="1382037" y="918044"/>
            <a:ext cx="1347600" cy="950100"/>
          </a:xfrm>
          <a:prstGeom prst="rect">
            <a:avLst/>
          </a:prstGeom>
          <a:solidFill>
            <a:srgbClr val="000000"/>
          </a:solidFill>
          <a:ln>
            <a:noFill/>
          </a:ln>
        </p:spPr>
        <p:txBody>
          <a:bodyPr anchorCtr="0" anchor="t" bIns="91425" lIns="91425" rIns="91425" tIns="91425">
            <a:noAutofit/>
          </a:bodyPr>
          <a:lstStyle/>
          <a:p>
            <a:pPr lvl="0" rtl="0">
              <a:spcBef>
                <a:spcPts val="0"/>
              </a:spcBef>
              <a:buNone/>
            </a:pPr>
            <a:r>
              <a:rPr lang="en" u="sng">
                <a:solidFill>
                  <a:srgbClr val="FFFFFF"/>
                </a:solidFill>
              </a:rPr>
              <a:t>Q4/14 Avocet</a:t>
            </a:r>
          </a:p>
          <a:p>
            <a:pPr lvl="0" rtl="0">
              <a:spcBef>
                <a:spcPts val="0"/>
              </a:spcBef>
              <a:buNone/>
            </a:pPr>
            <a:r>
              <a:rPr lang="en" sz="1000">
                <a:solidFill>
                  <a:srgbClr val="FFFFFF"/>
                </a:solidFill>
              </a:rPr>
              <a:t>Base Architecture</a:t>
            </a:r>
          </a:p>
        </p:txBody>
      </p:sp>
      <p:sp>
        <p:nvSpPr>
          <p:cNvPr id="102" name="Shape 102"/>
          <p:cNvSpPr txBox="1"/>
          <p:nvPr/>
        </p:nvSpPr>
        <p:spPr>
          <a:xfrm>
            <a:off x="1305687" y="2185700"/>
            <a:ext cx="1500300" cy="739200"/>
          </a:xfrm>
          <a:prstGeom prst="rect">
            <a:avLst/>
          </a:prstGeom>
          <a:solidFill>
            <a:srgbClr val="000000"/>
          </a:solidFill>
          <a:ln>
            <a:noFill/>
          </a:ln>
        </p:spPr>
        <p:txBody>
          <a:bodyPr anchorCtr="0" anchor="t" bIns="91425" lIns="91425" rIns="91425" tIns="91425">
            <a:noAutofit/>
          </a:bodyPr>
          <a:lstStyle/>
          <a:p>
            <a:pPr lvl="0">
              <a:spcBef>
                <a:spcPts val="0"/>
              </a:spcBef>
              <a:buNone/>
            </a:pPr>
            <a:r>
              <a:rPr lang="en" u="sng">
                <a:solidFill>
                  <a:schemeClr val="lt1"/>
                </a:solidFill>
              </a:rPr>
              <a:t>Q1/15 Blackbird</a:t>
            </a:r>
          </a:p>
          <a:p>
            <a:pPr lvl="0" rtl="0">
              <a:spcBef>
                <a:spcPts val="0"/>
              </a:spcBef>
              <a:buNone/>
            </a:pPr>
            <a:r>
              <a:rPr lang="en" sz="1000">
                <a:solidFill>
                  <a:schemeClr val="lt1"/>
                </a:solidFill>
              </a:rPr>
              <a:t>Performance</a:t>
            </a:r>
          </a:p>
        </p:txBody>
      </p:sp>
      <p:sp>
        <p:nvSpPr>
          <p:cNvPr id="103" name="Shape 103"/>
          <p:cNvSpPr txBox="1"/>
          <p:nvPr/>
        </p:nvSpPr>
        <p:spPr>
          <a:xfrm>
            <a:off x="1275087" y="3329412"/>
            <a:ext cx="1561500" cy="980700"/>
          </a:xfrm>
          <a:prstGeom prst="rect">
            <a:avLst/>
          </a:prstGeom>
          <a:solidFill>
            <a:srgbClr val="000000"/>
          </a:solidFill>
          <a:ln>
            <a:noFill/>
          </a:ln>
        </p:spPr>
        <p:txBody>
          <a:bodyPr anchorCtr="0" anchor="t" bIns="91425" lIns="91425" rIns="91425" tIns="91425">
            <a:noAutofit/>
          </a:bodyPr>
          <a:lstStyle/>
          <a:p>
            <a:pPr lvl="0">
              <a:spcBef>
                <a:spcPts val="0"/>
              </a:spcBef>
              <a:buNone/>
            </a:pPr>
            <a:r>
              <a:rPr lang="en" u="sng">
                <a:solidFill>
                  <a:schemeClr val="lt1"/>
                </a:solidFill>
              </a:rPr>
              <a:t>Q2/15 Cardinal</a:t>
            </a:r>
          </a:p>
          <a:p>
            <a:pPr lvl="0">
              <a:spcBef>
                <a:spcPts val="0"/>
              </a:spcBef>
              <a:buNone/>
            </a:pPr>
            <a:r>
              <a:rPr lang="en" sz="1000">
                <a:solidFill>
                  <a:schemeClr val="lt1"/>
                </a:solidFill>
              </a:rPr>
              <a:t>ONS Use Cases</a:t>
            </a:r>
          </a:p>
          <a:p>
            <a:pPr lvl="0">
              <a:spcBef>
                <a:spcPts val="0"/>
              </a:spcBef>
              <a:buNone/>
            </a:pPr>
            <a:r>
              <a:rPr lang="en" sz="1000">
                <a:solidFill>
                  <a:schemeClr val="lt1"/>
                </a:solidFill>
              </a:rPr>
              <a:t>SDN-IP</a:t>
            </a:r>
          </a:p>
          <a:p>
            <a:pPr lvl="0">
              <a:spcBef>
                <a:spcPts val="0"/>
              </a:spcBef>
              <a:buNone/>
            </a:pPr>
            <a:r>
              <a:rPr lang="en" sz="1000">
                <a:solidFill>
                  <a:schemeClr val="lt1"/>
                </a:solidFill>
              </a:rPr>
              <a:t>Packet Optical</a:t>
            </a:r>
          </a:p>
          <a:p>
            <a:pPr lvl="0" rtl="0">
              <a:spcBef>
                <a:spcPts val="0"/>
              </a:spcBef>
              <a:buNone/>
            </a:pPr>
            <a:r>
              <a:rPr lang="en" sz="1000">
                <a:solidFill>
                  <a:schemeClr val="lt1"/>
                </a:solidFill>
              </a:rPr>
              <a:t>R-CORD</a:t>
            </a:r>
          </a:p>
        </p:txBody>
      </p:sp>
      <p:sp>
        <p:nvSpPr>
          <p:cNvPr id="104" name="Shape 104"/>
          <p:cNvSpPr txBox="1"/>
          <p:nvPr/>
        </p:nvSpPr>
        <p:spPr>
          <a:xfrm>
            <a:off x="4454450" y="902744"/>
            <a:ext cx="1429500" cy="980700"/>
          </a:xfrm>
          <a:prstGeom prst="rect">
            <a:avLst/>
          </a:prstGeom>
          <a:solidFill>
            <a:srgbClr val="000000"/>
          </a:solidFill>
          <a:ln>
            <a:noFill/>
          </a:ln>
        </p:spPr>
        <p:txBody>
          <a:bodyPr anchorCtr="0" anchor="t" bIns="91425" lIns="91425" rIns="91425" tIns="91425">
            <a:noAutofit/>
          </a:bodyPr>
          <a:lstStyle/>
          <a:p>
            <a:pPr lvl="0">
              <a:spcBef>
                <a:spcPts val="0"/>
              </a:spcBef>
              <a:buNone/>
            </a:pPr>
            <a:r>
              <a:rPr lang="en" u="sng">
                <a:solidFill>
                  <a:schemeClr val="lt1"/>
                </a:solidFill>
              </a:rPr>
              <a:t>Q3/15 Drake</a:t>
            </a:r>
          </a:p>
          <a:p>
            <a:pPr lvl="0">
              <a:spcBef>
                <a:spcPts val="0"/>
              </a:spcBef>
              <a:buNone/>
            </a:pPr>
            <a:r>
              <a:rPr lang="en" sz="1000">
                <a:solidFill>
                  <a:schemeClr val="lt1"/>
                </a:solidFill>
              </a:rPr>
              <a:t>ONF ATRIUM</a:t>
            </a:r>
          </a:p>
          <a:p>
            <a:pPr lvl="0">
              <a:spcBef>
                <a:spcPts val="0"/>
              </a:spcBef>
              <a:buNone/>
            </a:pPr>
            <a:r>
              <a:rPr lang="en" sz="1000">
                <a:solidFill>
                  <a:schemeClr val="lt1"/>
                </a:solidFill>
              </a:rPr>
              <a:t>Secure Mode ONOS</a:t>
            </a:r>
          </a:p>
          <a:p>
            <a:pPr lvl="0">
              <a:spcBef>
                <a:spcPts val="0"/>
              </a:spcBef>
              <a:buNone/>
            </a:pPr>
            <a:r>
              <a:rPr lang="en" sz="1000">
                <a:solidFill>
                  <a:schemeClr val="lt1"/>
                </a:solidFill>
              </a:rPr>
              <a:t>VXLAN</a:t>
            </a:r>
          </a:p>
          <a:p>
            <a:pPr lvl="0">
              <a:spcBef>
                <a:spcPts val="0"/>
              </a:spcBef>
              <a:buNone/>
            </a:pPr>
            <a:r>
              <a:rPr lang="en" sz="1000">
                <a:solidFill>
                  <a:schemeClr val="lt1"/>
                </a:solidFill>
              </a:rPr>
              <a:t>Device Config</a:t>
            </a:r>
          </a:p>
          <a:p>
            <a:pPr lvl="0" rtl="0">
              <a:spcBef>
                <a:spcPts val="0"/>
              </a:spcBef>
              <a:buNone/>
            </a:pPr>
            <a:r>
              <a:t/>
            </a:r>
            <a:endParaRPr sz="1000">
              <a:solidFill>
                <a:schemeClr val="lt1"/>
              </a:solidFill>
            </a:endParaRPr>
          </a:p>
        </p:txBody>
      </p:sp>
      <p:sp>
        <p:nvSpPr>
          <p:cNvPr id="105" name="Shape 105"/>
          <p:cNvSpPr txBox="1"/>
          <p:nvPr/>
        </p:nvSpPr>
        <p:spPr>
          <a:xfrm>
            <a:off x="4540250" y="2002250"/>
            <a:ext cx="1257900" cy="1106100"/>
          </a:xfrm>
          <a:prstGeom prst="rect">
            <a:avLst/>
          </a:prstGeom>
          <a:solidFill>
            <a:srgbClr val="000000"/>
          </a:solidFill>
          <a:ln>
            <a:noFill/>
          </a:ln>
        </p:spPr>
        <p:txBody>
          <a:bodyPr anchorCtr="0" anchor="t" bIns="91425" lIns="91425" rIns="91425" tIns="91425">
            <a:noAutofit/>
          </a:bodyPr>
          <a:lstStyle/>
          <a:p>
            <a:pPr lvl="0">
              <a:spcBef>
                <a:spcPts val="0"/>
              </a:spcBef>
              <a:buNone/>
            </a:pPr>
            <a:r>
              <a:rPr lang="en" u="sng">
                <a:solidFill>
                  <a:schemeClr val="lt1"/>
                </a:solidFill>
              </a:rPr>
              <a:t>Q4/15 Emu</a:t>
            </a:r>
          </a:p>
          <a:p>
            <a:pPr lvl="0">
              <a:spcBef>
                <a:spcPts val="0"/>
              </a:spcBef>
              <a:buNone/>
            </a:pPr>
            <a:r>
              <a:rPr lang="en" sz="1000">
                <a:solidFill>
                  <a:schemeClr val="lt1"/>
                </a:solidFill>
              </a:rPr>
              <a:t>OPNFV</a:t>
            </a:r>
          </a:p>
          <a:p>
            <a:pPr lvl="0">
              <a:spcBef>
                <a:spcPts val="0"/>
              </a:spcBef>
              <a:buNone/>
            </a:pPr>
            <a:r>
              <a:rPr lang="en" sz="1000">
                <a:solidFill>
                  <a:schemeClr val="lt1"/>
                </a:solidFill>
              </a:rPr>
              <a:t>SONA</a:t>
            </a:r>
          </a:p>
          <a:p>
            <a:pPr lvl="0">
              <a:spcBef>
                <a:spcPts val="0"/>
              </a:spcBef>
              <a:buNone/>
            </a:pPr>
            <a:r>
              <a:rPr lang="en" sz="1000">
                <a:solidFill>
                  <a:schemeClr val="lt1"/>
                </a:solidFill>
              </a:rPr>
              <a:t>AARNET</a:t>
            </a:r>
          </a:p>
          <a:p>
            <a:pPr lvl="0" rtl="0">
              <a:spcBef>
                <a:spcPts val="0"/>
              </a:spcBef>
              <a:buNone/>
            </a:pPr>
            <a:r>
              <a:rPr lang="en" sz="1000">
                <a:solidFill>
                  <a:schemeClr val="lt1"/>
                </a:solidFill>
              </a:rPr>
              <a:t>KREONET-S</a:t>
            </a:r>
          </a:p>
        </p:txBody>
      </p:sp>
      <p:sp>
        <p:nvSpPr>
          <p:cNvPr id="106" name="Shape 106"/>
          <p:cNvSpPr txBox="1"/>
          <p:nvPr/>
        </p:nvSpPr>
        <p:spPr>
          <a:xfrm>
            <a:off x="4388450" y="3246462"/>
            <a:ext cx="1561500" cy="1146600"/>
          </a:xfrm>
          <a:prstGeom prst="rect">
            <a:avLst/>
          </a:prstGeom>
          <a:solidFill>
            <a:srgbClr val="000000"/>
          </a:solidFill>
          <a:ln>
            <a:noFill/>
          </a:ln>
        </p:spPr>
        <p:txBody>
          <a:bodyPr anchorCtr="0" anchor="t" bIns="91425" lIns="91425" rIns="91425" tIns="91425">
            <a:noAutofit/>
          </a:bodyPr>
          <a:lstStyle/>
          <a:p>
            <a:pPr lvl="0">
              <a:spcBef>
                <a:spcPts val="0"/>
              </a:spcBef>
              <a:buNone/>
            </a:pPr>
            <a:r>
              <a:rPr lang="en" u="sng">
                <a:solidFill>
                  <a:schemeClr val="lt1"/>
                </a:solidFill>
              </a:rPr>
              <a:t>Q1/16 Falcon</a:t>
            </a:r>
          </a:p>
          <a:p>
            <a:pPr lvl="0">
              <a:spcBef>
                <a:spcPts val="0"/>
              </a:spcBef>
              <a:buNone/>
            </a:pPr>
            <a:r>
              <a:rPr lang="en" sz="1000">
                <a:solidFill>
                  <a:schemeClr val="lt1"/>
                </a:solidFill>
              </a:rPr>
              <a:t>ONS Use Cases</a:t>
            </a:r>
          </a:p>
          <a:p>
            <a:pPr lvl="0">
              <a:spcBef>
                <a:spcPts val="0"/>
              </a:spcBef>
              <a:buNone/>
            </a:pPr>
            <a:r>
              <a:rPr lang="en" sz="1000">
                <a:solidFill>
                  <a:schemeClr val="lt1"/>
                </a:solidFill>
              </a:rPr>
              <a:t>{A, E, M, R} CORD</a:t>
            </a:r>
          </a:p>
          <a:p>
            <a:pPr lvl="0">
              <a:spcBef>
                <a:spcPts val="0"/>
              </a:spcBef>
              <a:buNone/>
            </a:pPr>
            <a:r>
              <a:rPr lang="en" sz="1000">
                <a:solidFill>
                  <a:schemeClr val="lt1"/>
                </a:solidFill>
              </a:rPr>
              <a:t>Disaggregated ROADM</a:t>
            </a:r>
          </a:p>
          <a:p>
            <a:pPr lvl="0" rtl="0">
              <a:spcBef>
                <a:spcPts val="0"/>
              </a:spcBef>
              <a:buNone/>
            </a:pPr>
            <a:r>
              <a:rPr lang="en" sz="1000">
                <a:solidFill>
                  <a:schemeClr val="lt1"/>
                </a:solidFill>
              </a:rPr>
              <a:t>DC Fabric Control</a:t>
            </a:r>
          </a:p>
          <a:p>
            <a:pPr lvl="0" rtl="0">
              <a:spcBef>
                <a:spcPts val="0"/>
              </a:spcBef>
              <a:buNone/>
            </a:pPr>
            <a:r>
              <a:rPr lang="en" sz="1000">
                <a:solidFill>
                  <a:schemeClr val="lt1"/>
                </a:solidFill>
              </a:rPr>
              <a:t>Global R&amp;E Deployment</a:t>
            </a:r>
          </a:p>
        </p:txBody>
      </p:sp>
      <p:sp>
        <p:nvSpPr>
          <p:cNvPr id="107" name="Shape 107"/>
          <p:cNvSpPr txBox="1"/>
          <p:nvPr/>
        </p:nvSpPr>
        <p:spPr>
          <a:xfrm>
            <a:off x="7306350" y="972975"/>
            <a:ext cx="1783800" cy="1106100"/>
          </a:xfrm>
          <a:prstGeom prst="rect">
            <a:avLst/>
          </a:prstGeom>
          <a:solidFill>
            <a:srgbClr val="000000"/>
          </a:solidFill>
          <a:ln>
            <a:noFill/>
          </a:ln>
        </p:spPr>
        <p:txBody>
          <a:bodyPr anchorCtr="0" anchor="t" bIns="91425" lIns="91425" rIns="91425" tIns="91425">
            <a:noAutofit/>
          </a:bodyPr>
          <a:lstStyle/>
          <a:p>
            <a:pPr lvl="0">
              <a:spcBef>
                <a:spcPts val="0"/>
              </a:spcBef>
              <a:buNone/>
            </a:pPr>
            <a:r>
              <a:rPr lang="en" u="sng">
                <a:solidFill>
                  <a:schemeClr val="lt1"/>
                </a:solidFill>
              </a:rPr>
              <a:t>Q2/16 Goldeneye</a:t>
            </a:r>
          </a:p>
          <a:p>
            <a:pPr lvl="0">
              <a:spcBef>
                <a:spcPts val="0"/>
              </a:spcBef>
              <a:buNone/>
            </a:pPr>
            <a:r>
              <a:rPr lang="en" sz="1000">
                <a:solidFill>
                  <a:schemeClr val="lt1"/>
                </a:solidFill>
              </a:rPr>
              <a:t>CPMAN monitoring apps</a:t>
            </a:r>
          </a:p>
          <a:p>
            <a:pPr lvl="0">
              <a:spcBef>
                <a:spcPts val="0"/>
              </a:spcBef>
              <a:buNone/>
            </a:pPr>
            <a:r>
              <a:rPr lang="en" sz="1000">
                <a:solidFill>
                  <a:schemeClr val="lt1"/>
                </a:solidFill>
              </a:rPr>
              <a:t>Intents using Flow Objectives</a:t>
            </a:r>
          </a:p>
          <a:p>
            <a:pPr lvl="0">
              <a:spcBef>
                <a:spcPts val="0"/>
              </a:spcBef>
              <a:buNone/>
            </a:pPr>
            <a:r>
              <a:rPr lang="en" sz="1000">
                <a:solidFill>
                  <a:schemeClr val="lt1"/>
                </a:solidFill>
              </a:rPr>
              <a:t>P4 demo support</a:t>
            </a:r>
          </a:p>
          <a:p>
            <a:pPr lvl="0" rtl="0">
              <a:spcBef>
                <a:spcPts val="0"/>
              </a:spcBef>
              <a:buNone/>
            </a:pPr>
            <a:r>
              <a:rPr lang="en" sz="1000">
                <a:solidFill>
                  <a:schemeClr val="lt1"/>
                </a:solidFill>
              </a:rPr>
              <a:t>YANG tool chain</a:t>
            </a:r>
          </a:p>
        </p:txBody>
      </p:sp>
      <p:sp>
        <p:nvSpPr>
          <p:cNvPr id="108" name="Shape 108"/>
          <p:cNvSpPr/>
          <p:nvPr/>
        </p:nvSpPr>
        <p:spPr>
          <a:xfrm>
            <a:off x="520800" y="4374575"/>
            <a:ext cx="8120700" cy="739200"/>
          </a:xfrm>
          <a:prstGeom prst="rightArrow">
            <a:avLst>
              <a:gd fmla="val 50000" name="adj1"/>
              <a:gd fmla="val 50000" name="adj2"/>
            </a:avLst>
          </a:prstGeom>
          <a:solidFill>
            <a:schemeClr val="lt2"/>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a:spcBef>
                <a:spcPts val="0"/>
              </a:spcBef>
              <a:buNone/>
            </a:pPr>
            <a:r>
              <a:rPr lang="en"/>
              <a:t>Every release: ++ Deployments, Applications, NB, CORE, SB, Test, Community, Performance….</a:t>
            </a:r>
          </a:p>
        </p:txBody>
      </p:sp>
      <p:sp>
        <p:nvSpPr>
          <p:cNvPr id="109" name="Shape 109"/>
          <p:cNvSpPr txBox="1"/>
          <p:nvPr/>
        </p:nvSpPr>
        <p:spPr>
          <a:xfrm>
            <a:off x="6383700" y="3142775"/>
            <a:ext cx="2615100" cy="1231800"/>
          </a:xfrm>
          <a:prstGeom prst="rect">
            <a:avLst/>
          </a:prstGeom>
          <a:solidFill>
            <a:srgbClr val="000000"/>
          </a:solidFill>
          <a:ln>
            <a:noFill/>
          </a:ln>
        </p:spPr>
        <p:txBody>
          <a:bodyPr anchorCtr="0" anchor="t" bIns="91425" lIns="91425" rIns="91425" tIns="91425">
            <a:noAutofit/>
          </a:bodyPr>
          <a:lstStyle/>
          <a:p>
            <a:pPr lvl="0" rtl="0">
              <a:spcBef>
                <a:spcPts val="0"/>
              </a:spcBef>
              <a:buNone/>
            </a:pPr>
            <a:r>
              <a:rPr lang="en" u="sng">
                <a:solidFill>
                  <a:schemeClr val="lt1"/>
                </a:solidFill>
              </a:rPr>
              <a:t>Q3/16 Hummingbird</a:t>
            </a:r>
          </a:p>
          <a:p>
            <a:pPr lvl="0">
              <a:spcBef>
                <a:spcPts val="0"/>
              </a:spcBef>
              <a:buNone/>
            </a:pPr>
            <a:r>
              <a:rPr lang="en" sz="1200">
                <a:solidFill>
                  <a:schemeClr val="lt1"/>
                </a:solidFill>
              </a:rPr>
              <a:t>RabbitMQ, Kafka Message buses</a:t>
            </a:r>
          </a:p>
          <a:p>
            <a:pPr lvl="0">
              <a:spcBef>
                <a:spcPts val="0"/>
              </a:spcBef>
              <a:buNone/>
            </a:pPr>
            <a:r>
              <a:rPr lang="en" sz="1200">
                <a:solidFill>
                  <a:schemeClr val="lt1"/>
                </a:solidFill>
              </a:rPr>
              <a:t>YANG NBI, SBI CODECs</a:t>
            </a:r>
          </a:p>
          <a:p>
            <a:pPr lvl="0">
              <a:spcBef>
                <a:spcPts val="0"/>
              </a:spcBef>
              <a:buNone/>
            </a:pPr>
            <a:r>
              <a:rPr lang="en" sz="1200">
                <a:solidFill>
                  <a:schemeClr val="lt1"/>
                </a:solidFill>
              </a:rPr>
              <a:t>ACTN Traffic Engineering</a:t>
            </a:r>
          </a:p>
          <a:p>
            <a:pPr lvl="0">
              <a:spcBef>
                <a:spcPts val="0"/>
              </a:spcBef>
              <a:buNone/>
            </a:pPr>
            <a:r>
              <a:rPr lang="en" sz="1200">
                <a:solidFill>
                  <a:schemeClr val="lt1"/>
                </a:solidFill>
              </a:rPr>
              <a:t>Distributed system primitives</a:t>
            </a:r>
          </a:p>
          <a:p>
            <a:pPr lvl="0">
              <a:spcBef>
                <a:spcPts val="0"/>
              </a:spcBef>
              <a:buNone/>
            </a:pPr>
            <a:r>
              <a:rPr lang="en" sz="1200">
                <a:solidFill>
                  <a:schemeClr val="lt1"/>
                </a:solidFill>
              </a:rPr>
              <a:t>SB - OSPF, ISIS, REST Client...</a:t>
            </a:r>
          </a:p>
          <a:p>
            <a:pPr lvl="0" rtl="0">
              <a:spcBef>
                <a:spcPts val="0"/>
              </a:spcBef>
              <a:buNone/>
            </a:pPr>
            <a:r>
              <a:t/>
            </a:r>
            <a:endParaRPr sz="1200">
              <a:solidFill>
                <a:schemeClr val="lt1"/>
              </a:solidFill>
            </a:endParaRPr>
          </a:p>
        </p:txBody>
      </p:sp>
      <p:pic>
        <p:nvPicPr>
          <p:cNvPr descr="Hummingbird-PNG-Image-180x180.png" id="110" name="Shape 110"/>
          <p:cNvPicPr preferRelativeResize="0"/>
          <p:nvPr/>
        </p:nvPicPr>
        <p:blipFill>
          <a:blip r:embed="rId11">
            <a:alphaModFix/>
          </a:blip>
          <a:stretch>
            <a:fillRect/>
          </a:stretch>
        </p:blipFill>
        <p:spPr>
          <a:xfrm>
            <a:off x="6915275" y="1971950"/>
            <a:ext cx="1500300" cy="1500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4" name="Shape 114"/>
        <p:cNvGrpSpPr/>
        <p:nvPr/>
      </p:nvGrpSpPr>
      <p:grpSpPr>
        <a:xfrm>
          <a:off x="0" y="0"/>
          <a:ext cx="0" cy="0"/>
          <a:chOff x="0" y="0"/>
          <a:chExt cx="0" cy="0"/>
        </a:xfrm>
      </p:grpSpPr>
      <p:sp>
        <p:nvSpPr>
          <p:cNvPr id="115" name="Shape 115"/>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Hummingbird Release - Takeaways</a:t>
            </a:r>
          </a:p>
        </p:txBody>
      </p:sp>
      <p:sp>
        <p:nvSpPr>
          <p:cNvPr id="116" name="Shape 116"/>
          <p:cNvSpPr txBox="1"/>
          <p:nvPr>
            <p:ph idx="1" type="body"/>
          </p:nvPr>
        </p:nvSpPr>
        <p:spPr>
          <a:xfrm>
            <a:off x="457200" y="1154724"/>
            <a:ext cx="8229600" cy="3768600"/>
          </a:xfrm>
          <a:prstGeom prst="rect">
            <a:avLst/>
          </a:prstGeom>
        </p:spPr>
        <p:txBody>
          <a:bodyPr anchorCtr="0" anchor="t" bIns="91425" lIns="91425" rIns="91425" tIns="91425">
            <a:noAutofit/>
          </a:bodyPr>
          <a:lstStyle/>
          <a:p>
            <a:pPr indent="-355600" lvl="0" marL="457200" marR="0" rtl="0" algn="l">
              <a:lnSpc>
                <a:spcPct val="115000"/>
              </a:lnSpc>
              <a:spcBef>
                <a:spcPts val="0"/>
              </a:spcBef>
              <a:spcAft>
                <a:spcPts val="0"/>
              </a:spcAft>
              <a:buSzPct val="100000"/>
            </a:pPr>
            <a:r>
              <a:rPr b="1" lang="en" sz="2000"/>
              <a:t>ONOS Community is diverse and growing rapidly</a:t>
            </a:r>
          </a:p>
          <a:p>
            <a:pPr lvl="0" marR="0" rtl="0" algn="l">
              <a:lnSpc>
                <a:spcPct val="115000"/>
              </a:lnSpc>
              <a:spcBef>
                <a:spcPts val="0"/>
              </a:spcBef>
              <a:spcAft>
                <a:spcPts val="0"/>
              </a:spcAft>
              <a:buNone/>
            </a:pPr>
            <a:r>
              <a:t/>
            </a:r>
            <a:endParaRPr b="1" sz="2000"/>
          </a:p>
          <a:p>
            <a:pPr indent="-355600" lvl="0" marL="457200" marR="0" rtl="0" algn="l">
              <a:lnSpc>
                <a:spcPct val="115000"/>
              </a:lnSpc>
              <a:spcBef>
                <a:spcPts val="0"/>
              </a:spcBef>
              <a:spcAft>
                <a:spcPts val="0"/>
              </a:spcAft>
              <a:buSzPct val="100000"/>
            </a:pPr>
            <a:r>
              <a:rPr b="1" lang="en" sz="2000"/>
              <a:t>ONOS is the only platform supporting both incremental and true SDN</a:t>
            </a:r>
          </a:p>
          <a:p>
            <a:pPr lvl="0" marR="0" rtl="0" algn="l">
              <a:lnSpc>
                <a:spcPct val="115000"/>
              </a:lnSpc>
              <a:spcBef>
                <a:spcPts val="0"/>
              </a:spcBef>
              <a:spcAft>
                <a:spcPts val="0"/>
              </a:spcAft>
              <a:buNone/>
            </a:pPr>
            <a:r>
              <a:t/>
            </a:r>
            <a:endParaRPr b="1" sz="2000"/>
          </a:p>
          <a:p>
            <a:pPr indent="-355600" lvl="0" marL="457200" marR="0" rtl="0" algn="l">
              <a:lnSpc>
                <a:spcPct val="115000"/>
              </a:lnSpc>
              <a:spcBef>
                <a:spcPts val="0"/>
              </a:spcBef>
              <a:spcAft>
                <a:spcPts val="0"/>
              </a:spcAft>
              <a:buSzPct val="100000"/>
            </a:pPr>
            <a:r>
              <a:rPr b="1" lang="en" sz="2000"/>
              <a:t>ONOS is critical to operator PoCs, Field Trials, Deployments</a:t>
            </a:r>
          </a:p>
          <a:p>
            <a:pPr lvl="0" marR="0" rtl="0" algn="l">
              <a:lnSpc>
                <a:spcPct val="115000"/>
              </a:lnSpc>
              <a:spcBef>
                <a:spcPts val="0"/>
              </a:spcBef>
              <a:spcAft>
                <a:spcPts val="0"/>
              </a:spcAft>
              <a:buNone/>
            </a:pPr>
            <a:r>
              <a:t/>
            </a:r>
            <a:endParaRPr b="1" sz="2000"/>
          </a:p>
          <a:p>
            <a:pPr indent="-355600" lvl="0" marL="457200" marR="0" rtl="0" algn="l">
              <a:lnSpc>
                <a:spcPct val="115000"/>
              </a:lnSpc>
              <a:spcBef>
                <a:spcPts val="0"/>
              </a:spcBef>
              <a:spcAft>
                <a:spcPts val="0"/>
              </a:spcAft>
              <a:buSzPct val="100000"/>
            </a:pPr>
            <a:r>
              <a:rPr b="1" lang="en" sz="2000"/>
              <a:t>Hummingbird: Automation, Integration and Legacy Enablement</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animEffect filter="fade" transition="in">
                                      <p:cBhvr>
                                        <p:cTn dur="1000"/>
                                        <p:tgtEl>
                                          <p:spTgt spid="1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animEffect filter="fade" transition="in">
                                      <p:cBhvr>
                                        <p:cTn dur="1000"/>
                                        <p:tgtEl>
                                          <p:spTgt spid="1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2" st="2"/>
                                            </p:txEl>
                                          </p:spTgt>
                                        </p:tgtEl>
                                        <p:attrNameLst>
                                          <p:attrName>style.visibility</p:attrName>
                                        </p:attrNameLst>
                                      </p:cBhvr>
                                      <p:to>
                                        <p:strVal val="visible"/>
                                      </p:to>
                                    </p:set>
                                    <p:animEffect filter="fade" transition="in">
                                      <p:cBhvr>
                                        <p:cTn dur="1000"/>
                                        <p:tgtEl>
                                          <p:spTgt spid="1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3" st="3"/>
                                            </p:txEl>
                                          </p:spTgt>
                                        </p:tgtEl>
                                        <p:attrNameLst>
                                          <p:attrName>style.visibility</p:attrName>
                                        </p:attrNameLst>
                                      </p:cBhvr>
                                      <p:to>
                                        <p:strVal val="visible"/>
                                      </p:to>
                                    </p:set>
                                    <p:animEffect filter="fade" transition="in">
                                      <p:cBhvr>
                                        <p:cTn dur="1000"/>
                                        <p:tgtEl>
                                          <p:spTgt spid="1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4" st="4"/>
                                            </p:txEl>
                                          </p:spTgt>
                                        </p:tgtEl>
                                        <p:attrNameLst>
                                          <p:attrName>style.visibility</p:attrName>
                                        </p:attrNameLst>
                                      </p:cBhvr>
                                      <p:to>
                                        <p:strVal val="visible"/>
                                      </p:to>
                                    </p:set>
                                    <p:animEffect filter="fade" transition="in">
                                      <p:cBhvr>
                                        <p:cTn dur="1000"/>
                                        <p:tgtEl>
                                          <p:spTgt spid="1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5" st="5"/>
                                            </p:txEl>
                                          </p:spTgt>
                                        </p:tgtEl>
                                        <p:attrNameLst>
                                          <p:attrName>style.visibility</p:attrName>
                                        </p:attrNameLst>
                                      </p:cBhvr>
                                      <p:to>
                                        <p:strVal val="visible"/>
                                      </p:to>
                                    </p:set>
                                    <p:animEffect filter="fade" transition="in">
                                      <p:cBhvr>
                                        <p:cTn dur="1000"/>
                                        <p:tgtEl>
                                          <p:spTgt spid="11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6" st="6"/>
                                            </p:txEl>
                                          </p:spTgt>
                                        </p:tgtEl>
                                        <p:attrNameLst>
                                          <p:attrName>style.visibility</p:attrName>
                                        </p:attrNameLst>
                                      </p:cBhvr>
                                      <p:to>
                                        <p:strVal val="visible"/>
                                      </p:to>
                                    </p:set>
                                    <p:animEffect filter="fade" transition="in">
                                      <p:cBhvr>
                                        <p:cTn dur="1000"/>
                                        <p:tgtEl>
                                          <p:spTgt spid="11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0" name="Shape 120"/>
        <p:cNvGrpSpPr/>
        <p:nvPr/>
      </p:nvGrpSpPr>
      <p:grpSpPr>
        <a:xfrm>
          <a:off x="0" y="0"/>
          <a:ext cx="0" cy="0"/>
          <a:chOff x="0" y="0"/>
          <a:chExt cx="0" cy="0"/>
        </a:xfrm>
      </p:grpSpPr>
      <p:sp>
        <p:nvSpPr>
          <p:cNvPr id="121" name="Shape 121"/>
          <p:cNvSpPr txBox="1"/>
          <p:nvPr>
            <p:ph type="title"/>
          </p:nvPr>
        </p:nvSpPr>
        <p:spPr>
          <a:xfrm>
            <a:off x="377775" y="3"/>
            <a:ext cx="8229600" cy="857400"/>
          </a:xfrm>
          <a:prstGeom prst="rect">
            <a:avLst/>
          </a:prstGeom>
          <a:noFill/>
          <a:ln>
            <a:noFill/>
          </a:ln>
        </p:spPr>
        <p:txBody>
          <a:bodyPr anchorCtr="0" anchor="b" bIns="91425" lIns="91425" rIns="91425" tIns="91425">
            <a:noAutofit/>
          </a:bodyPr>
          <a:lstStyle/>
          <a:p>
            <a:pPr indent="0" lvl="0" marL="0" marR="0" rtl="0" algn="l">
              <a:lnSpc>
                <a:spcPct val="100000"/>
              </a:lnSpc>
              <a:spcBef>
                <a:spcPts val="0"/>
              </a:spcBef>
              <a:spcAft>
                <a:spcPts val="0"/>
              </a:spcAft>
              <a:buClr>
                <a:srgbClr val="85200C"/>
              </a:buClr>
              <a:buSzPct val="25000"/>
              <a:buFont typeface="Arial"/>
              <a:buNone/>
            </a:pPr>
            <a:r>
              <a:rPr lang="en"/>
              <a:t>ONOS Partners</a:t>
            </a:r>
          </a:p>
        </p:txBody>
      </p:sp>
      <p:sp>
        <p:nvSpPr>
          <p:cNvPr id="122" name="Shape 122"/>
          <p:cNvSpPr txBox="1"/>
          <p:nvPr/>
        </p:nvSpPr>
        <p:spPr>
          <a:xfrm>
            <a:off x="225375" y="4324675"/>
            <a:ext cx="7800600" cy="676500"/>
          </a:xfrm>
          <a:prstGeom prst="rect">
            <a:avLst/>
          </a:prstGeom>
          <a:noFill/>
          <a:ln>
            <a:noFill/>
          </a:ln>
        </p:spPr>
        <p:txBody>
          <a:bodyPr anchorCtr="0" anchor="t" bIns="91425" lIns="91425" rIns="91425" tIns="91425">
            <a:noAutofit/>
          </a:bodyPr>
          <a:lstStyle/>
          <a:p>
            <a:pPr lvl="0" rtl="0">
              <a:lnSpc>
                <a:spcPct val="115000"/>
              </a:lnSpc>
              <a:spcBef>
                <a:spcPts val="320"/>
              </a:spcBef>
              <a:buNone/>
            </a:pPr>
            <a:r>
              <a:rPr lang="en">
                <a:solidFill>
                  <a:schemeClr val="dk1"/>
                </a:solidFill>
              </a:rPr>
              <a:t>Leading service providers make ONOS &amp; SDN/NFV solutions </a:t>
            </a:r>
            <a:r>
              <a:rPr lang="en" u="sng"/>
              <a:t>relevant</a:t>
            </a:r>
            <a:r>
              <a:rPr lang="en">
                <a:solidFill>
                  <a:schemeClr val="dk1"/>
                </a:solidFill>
              </a:rPr>
              <a:t> to them</a:t>
            </a:r>
          </a:p>
          <a:p>
            <a:pPr lvl="0" rtl="0">
              <a:lnSpc>
                <a:spcPct val="115000"/>
              </a:lnSpc>
              <a:spcBef>
                <a:spcPts val="320"/>
              </a:spcBef>
              <a:buNone/>
            </a:pPr>
            <a:r>
              <a:rPr lang="en">
                <a:solidFill>
                  <a:schemeClr val="dk1"/>
                </a:solidFill>
              </a:rPr>
              <a:t>Leading vendors help make ONOS and SDN/NFV solutions </a:t>
            </a:r>
            <a:r>
              <a:rPr lang="en" u="sng"/>
              <a:t>real</a:t>
            </a:r>
            <a:r>
              <a:rPr lang="en">
                <a:solidFill>
                  <a:schemeClr val="dk1"/>
                </a:solidFill>
              </a:rPr>
              <a:t> &amp; </a:t>
            </a:r>
            <a:r>
              <a:rPr lang="en" u="sng">
                <a:solidFill>
                  <a:schemeClr val="dk1"/>
                </a:solidFill>
              </a:rPr>
              <a:t>ready</a:t>
            </a:r>
            <a:r>
              <a:rPr lang="en">
                <a:solidFill>
                  <a:schemeClr val="dk1"/>
                </a:solidFill>
              </a:rPr>
              <a:t> for deployment</a:t>
            </a:r>
          </a:p>
        </p:txBody>
      </p:sp>
      <p:pic>
        <p:nvPicPr>
          <p:cNvPr descr="partners_list.png" id="123" name="Shape 123"/>
          <p:cNvPicPr preferRelativeResize="0"/>
          <p:nvPr/>
        </p:nvPicPr>
        <p:blipFill rotWithShape="1">
          <a:blip r:embed="rId3">
            <a:alphaModFix/>
          </a:blip>
          <a:srcRect b="0" l="0" r="16303" t="0"/>
          <a:stretch/>
        </p:blipFill>
        <p:spPr>
          <a:xfrm>
            <a:off x="147797" y="844375"/>
            <a:ext cx="7406000" cy="3454749"/>
          </a:xfrm>
          <a:prstGeom prst="rect">
            <a:avLst/>
          </a:prstGeom>
          <a:noFill/>
          <a:ln>
            <a:noFill/>
          </a:ln>
        </p:spPr>
      </p:pic>
      <p:sp>
        <p:nvSpPr>
          <p:cNvPr id="124" name="Shape 124"/>
          <p:cNvSpPr/>
          <p:nvPr/>
        </p:nvSpPr>
        <p:spPr>
          <a:xfrm>
            <a:off x="1632875" y="2046925"/>
            <a:ext cx="1391100" cy="999900"/>
          </a:xfrm>
          <a:prstGeom prst="rect">
            <a:avLst/>
          </a:prstGeom>
          <a:noFill/>
          <a:ln cap="flat" cmpd="sng" w="76200">
            <a:solidFill>
              <a:srgbClr val="FFFF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25" name="Shape 125"/>
          <p:cNvSpPr/>
          <p:nvPr/>
        </p:nvSpPr>
        <p:spPr>
          <a:xfrm>
            <a:off x="4587275" y="3209318"/>
            <a:ext cx="1391100" cy="999900"/>
          </a:xfrm>
          <a:prstGeom prst="rect">
            <a:avLst/>
          </a:prstGeom>
          <a:noFill/>
          <a:ln cap="flat" cmpd="sng" w="76200">
            <a:solidFill>
              <a:srgbClr val="FFFF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26" name="Shape 126"/>
          <p:cNvSpPr/>
          <p:nvPr/>
        </p:nvSpPr>
        <p:spPr>
          <a:xfrm>
            <a:off x="3086725" y="3209318"/>
            <a:ext cx="1391100" cy="999900"/>
          </a:xfrm>
          <a:prstGeom prst="rect">
            <a:avLst/>
          </a:prstGeom>
          <a:noFill/>
          <a:ln cap="flat" cmpd="sng" w="76200">
            <a:solidFill>
              <a:srgbClr val="FFFF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27" name="Shape 127"/>
          <p:cNvSpPr/>
          <p:nvPr/>
        </p:nvSpPr>
        <p:spPr>
          <a:xfrm>
            <a:off x="3114925" y="844375"/>
            <a:ext cx="1334700" cy="999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28" name="Shape 128"/>
          <p:cNvSpPr/>
          <p:nvPr/>
        </p:nvSpPr>
        <p:spPr>
          <a:xfrm>
            <a:off x="147800" y="2091087"/>
            <a:ext cx="1334700" cy="999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29" name="Shape 129"/>
          <p:cNvSpPr/>
          <p:nvPr/>
        </p:nvSpPr>
        <p:spPr>
          <a:xfrm>
            <a:off x="3114925" y="2041075"/>
            <a:ext cx="1334700" cy="999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30" name="Shape 130"/>
          <p:cNvSpPr/>
          <p:nvPr/>
        </p:nvSpPr>
        <p:spPr>
          <a:xfrm>
            <a:off x="6148325" y="2091087"/>
            <a:ext cx="1334700" cy="999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31" name="Shape 131"/>
          <p:cNvSpPr/>
          <p:nvPr/>
        </p:nvSpPr>
        <p:spPr>
          <a:xfrm>
            <a:off x="6148325" y="3209318"/>
            <a:ext cx="1334700" cy="999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32" name="Shape 132"/>
          <p:cNvSpPr/>
          <p:nvPr/>
        </p:nvSpPr>
        <p:spPr>
          <a:xfrm>
            <a:off x="7630000" y="3209318"/>
            <a:ext cx="1334700" cy="999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33" name="Shape 133"/>
          <p:cNvSpPr/>
          <p:nvPr/>
        </p:nvSpPr>
        <p:spPr>
          <a:xfrm>
            <a:off x="7461150" y="4493900"/>
            <a:ext cx="273000" cy="2766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34" name="Shape 134"/>
          <p:cNvSpPr/>
          <p:nvPr/>
        </p:nvSpPr>
        <p:spPr>
          <a:xfrm>
            <a:off x="7461150" y="4886900"/>
            <a:ext cx="273000" cy="210900"/>
          </a:xfrm>
          <a:prstGeom prst="rect">
            <a:avLst/>
          </a:prstGeom>
          <a:noFill/>
          <a:ln cap="flat" cmpd="sng" w="76200">
            <a:solidFill>
              <a:srgbClr val="FFFF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35" name="Shape 135"/>
          <p:cNvSpPr txBox="1"/>
          <p:nvPr/>
        </p:nvSpPr>
        <p:spPr>
          <a:xfrm>
            <a:off x="7794950" y="4454275"/>
            <a:ext cx="1492200" cy="470700"/>
          </a:xfrm>
          <a:prstGeom prst="rect">
            <a:avLst/>
          </a:prstGeom>
          <a:noFill/>
          <a:ln>
            <a:noFill/>
          </a:ln>
        </p:spPr>
        <p:txBody>
          <a:bodyPr anchorCtr="0" anchor="t" bIns="91425" lIns="91425" rIns="91425" tIns="91425">
            <a:noAutofit/>
          </a:bodyPr>
          <a:lstStyle/>
          <a:p>
            <a:pPr lvl="0" rtl="0">
              <a:spcBef>
                <a:spcPts val="0"/>
              </a:spcBef>
              <a:buNone/>
            </a:pPr>
            <a:r>
              <a:rPr lang="en"/>
              <a:t>Contributed SW</a:t>
            </a:r>
          </a:p>
        </p:txBody>
      </p:sp>
      <p:sp>
        <p:nvSpPr>
          <p:cNvPr id="136" name="Shape 136"/>
          <p:cNvSpPr txBox="1"/>
          <p:nvPr/>
        </p:nvSpPr>
        <p:spPr>
          <a:xfrm>
            <a:off x="7794950" y="4759075"/>
            <a:ext cx="1221300" cy="470700"/>
          </a:xfrm>
          <a:prstGeom prst="rect">
            <a:avLst/>
          </a:prstGeom>
          <a:noFill/>
          <a:ln>
            <a:noFill/>
          </a:ln>
        </p:spPr>
        <p:txBody>
          <a:bodyPr anchorCtr="0" anchor="t" bIns="91425" lIns="91425" rIns="91425" tIns="91425">
            <a:noAutofit/>
          </a:bodyPr>
          <a:lstStyle/>
          <a:p>
            <a:pPr lvl="0" rtl="0">
              <a:spcBef>
                <a:spcPts val="0"/>
              </a:spcBef>
              <a:buNone/>
            </a:pPr>
            <a:r>
              <a:rPr lang="en"/>
              <a:t>Newest</a:t>
            </a:r>
          </a:p>
        </p:txBody>
      </p:sp>
      <p:sp>
        <p:nvSpPr>
          <p:cNvPr id="137" name="Shape 137"/>
          <p:cNvSpPr txBox="1"/>
          <p:nvPr/>
        </p:nvSpPr>
        <p:spPr>
          <a:xfrm>
            <a:off x="8099750" y="4119475"/>
            <a:ext cx="1037100" cy="334800"/>
          </a:xfrm>
          <a:prstGeom prst="rect">
            <a:avLst/>
          </a:prstGeom>
          <a:noFill/>
          <a:ln>
            <a:noFill/>
          </a:ln>
        </p:spPr>
        <p:txBody>
          <a:bodyPr anchorCtr="0" anchor="t" bIns="91425" lIns="91425" rIns="91425" tIns="91425">
            <a:noAutofit/>
          </a:bodyPr>
          <a:lstStyle/>
          <a:p>
            <a:pPr lvl="0" rtl="0">
              <a:spcBef>
                <a:spcPts val="0"/>
              </a:spcBef>
              <a:buNone/>
            </a:pPr>
            <a:r>
              <a:rPr b="1" lang="en"/>
              <a:t>Key</a:t>
            </a:r>
          </a:p>
        </p:txBody>
      </p:sp>
      <p:pic>
        <p:nvPicPr>
          <p:cNvPr descr="verizon-2015-logo.png" id="138" name="Shape 138"/>
          <p:cNvPicPr preferRelativeResize="0"/>
          <p:nvPr/>
        </p:nvPicPr>
        <p:blipFill>
          <a:blip r:embed="rId4">
            <a:alphaModFix/>
          </a:blip>
          <a:stretch>
            <a:fillRect/>
          </a:stretch>
        </p:blipFill>
        <p:spPr>
          <a:xfrm>
            <a:off x="7758925" y="3657593"/>
            <a:ext cx="1116050" cy="247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1000"/>
                                        <p:tgtEl>
                                          <p:spTgt spid="124"/>
                                        </p:tgtEl>
                                      </p:cBhvr>
                                    </p:animEffect>
                                  </p:childTnLst>
                                </p:cTn>
                              </p:par>
                              <p:par>
                                <p:cTn fill="hold" nodeType="with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par>
                                <p:cTn fill="hold" nodeType="with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par>
                                <p:cTn fill="hold" nodeType="with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par>
                                <p:cTn fill="hold" nodeType="with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par>
                                <p:cTn fill="hold" nodeType="with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par>
                                <p:cTn fill="hold" nodeType="with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par>
                                <p:cTn fill="hold" nodeType="with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par>
                                <p:cTn fill="hold" nodeType="with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par>
                                <p:cTn fill="hold" nodeType="with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42" name="Shape 142"/>
        <p:cNvGrpSpPr/>
        <p:nvPr/>
      </p:nvGrpSpPr>
      <p:grpSpPr>
        <a:xfrm>
          <a:off x="0" y="0"/>
          <a:ext cx="0" cy="0"/>
          <a:chOff x="0" y="0"/>
          <a:chExt cx="0" cy="0"/>
        </a:xfrm>
      </p:grpSpPr>
      <p:sp>
        <p:nvSpPr>
          <p:cNvPr id="143" name="Shape 143"/>
          <p:cNvSpPr txBox="1"/>
          <p:nvPr>
            <p:ph type="title"/>
          </p:nvPr>
        </p:nvSpPr>
        <p:spPr>
          <a:xfrm>
            <a:off x="377775" y="2"/>
            <a:ext cx="8229600" cy="857400"/>
          </a:xfrm>
          <a:prstGeom prst="rect">
            <a:avLst/>
          </a:prstGeom>
          <a:noFill/>
          <a:ln>
            <a:noFill/>
          </a:ln>
        </p:spPr>
        <p:txBody>
          <a:bodyPr anchorCtr="0" anchor="b" bIns="91425" lIns="91425" rIns="91425" tIns="91425">
            <a:noAutofit/>
          </a:bodyPr>
          <a:lstStyle/>
          <a:p>
            <a:pPr indent="0" lvl="0" marL="0" marR="0" rtl="0" algn="l">
              <a:lnSpc>
                <a:spcPct val="100000"/>
              </a:lnSpc>
              <a:spcBef>
                <a:spcPts val="0"/>
              </a:spcBef>
              <a:spcAft>
                <a:spcPts val="0"/>
              </a:spcAft>
              <a:buClr>
                <a:srgbClr val="85200C"/>
              </a:buClr>
              <a:buSzPct val="25000"/>
              <a:buFont typeface="Arial"/>
              <a:buNone/>
            </a:pPr>
            <a:r>
              <a:rPr lang="en"/>
              <a:t>ONOS </a:t>
            </a:r>
            <a:r>
              <a:rPr b="1" i="0" lang="en" sz="3600" u="none" cap="none" strike="noStrike">
                <a:solidFill>
                  <a:srgbClr val="85200C"/>
                </a:solidFill>
                <a:latin typeface="Arial"/>
                <a:ea typeface="Arial"/>
                <a:cs typeface="Arial"/>
                <a:sym typeface="Arial"/>
              </a:rPr>
              <a:t>Collaborators</a:t>
            </a:r>
          </a:p>
        </p:txBody>
      </p:sp>
      <p:sp>
        <p:nvSpPr>
          <p:cNvPr id="144" name="Shape 144"/>
          <p:cNvSpPr txBox="1"/>
          <p:nvPr/>
        </p:nvSpPr>
        <p:spPr>
          <a:xfrm>
            <a:off x="377775" y="4520700"/>
            <a:ext cx="7939500" cy="676500"/>
          </a:xfrm>
          <a:prstGeom prst="rect">
            <a:avLst/>
          </a:prstGeom>
          <a:noFill/>
          <a:ln>
            <a:noFill/>
          </a:ln>
        </p:spPr>
        <p:txBody>
          <a:bodyPr anchorCtr="0" anchor="t" bIns="91425" lIns="91425" rIns="91425" tIns="91425">
            <a:noAutofit/>
          </a:bodyPr>
          <a:lstStyle/>
          <a:p>
            <a:pPr lvl="0" rtl="0">
              <a:lnSpc>
                <a:spcPct val="115000"/>
              </a:lnSpc>
              <a:spcBef>
                <a:spcPts val="320"/>
              </a:spcBef>
              <a:buNone/>
            </a:pPr>
            <a:r>
              <a:rPr lang="en">
                <a:solidFill>
                  <a:schemeClr val="dk1"/>
                </a:solidFill>
              </a:rPr>
              <a:t>Collaborating organizations help </a:t>
            </a:r>
            <a:r>
              <a:rPr lang="en" u="sng"/>
              <a:t>grow the community</a:t>
            </a:r>
            <a:r>
              <a:rPr lang="en">
                <a:solidFill>
                  <a:schemeClr val="dk1"/>
                </a:solidFill>
              </a:rPr>
              <a:t> and grow the </a:t>
            </a:r>
            <a:r>
              <a:rPr lang="en" u="sng"/>
              <a:t>impact</a:t>
            </a:r>
            <a:r>
              <a:rPr lang="en" u="sng">
                <a:solidFill>
                  <a:srgbClr val="7F0002"/>
                </a:solidFill>
              </a:rPr>
              <a:t> </a:t>
            </a:r>
          </a:p>
        </p:txBody>
      </p:sp>
      <p:pic>
        <p:nvPicPr>
          <p:cNvPr descr="onos_collaborators_list.png" id="145" name="Shape 145"/>
          <p:cNvPicPr preferRelativeResize="0"/>
          <p:nvPr/>
        </p:nvPicPr>
        <p:blipFill>
          <a:blip r:embed="rId3">
            <a:alphaModFix/>
          </a:blip>
          <a:stretch>
            <a:fillRect/>
          </a:stretch>
        </p:blipFill>
        <p:spPr>
          <a:xfrm>
            <a:off x="457199" y="857389"/>
            <a:ext cx="8229601" cy="3545460"/>
          </a:xfrm>
          <a:prstGeom prst="rect">
            <a:avLst/>
          </a:prstGeom>
          <a:noFill/>
          <a:ln>
            <a:noFill/>
          </a:ln>
        </p:spPr>
      </p:pic>
      <p:sp>
        <p:nvSpPr>
          <p:cNvPr id="146" name="Shape 146"/>
          <p:cNvSpPr/>
          <p:nvPr/>
        </p:nvSpPr>
        <p:spPr>
          <a:xfrm>
            <a:off x="2289400" y="892375"/>
            <a:ext cx="913500" cy="676500"/>
          </a:xfrm>
          <a:prstGeom prst="rect">
            <a:avLst/>
          </a:prstGeom>
          <a:noFill/>
          <a:ln cap="flat" cmpd="sng" w="76200">
            <a:solidFill>
              <a:srgbClr val="FFFF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47" name="Shape 147"/>
          <p:cNvSpPr/>
          <p:nvPr/>
        </p:nvSpPr>
        <p:spPr>
          <a:xfrm>
            <a:off x="1374850" y="1568875"/>
            <a:ext cx="913500" cy="676500"/>
          </a:xfrm>
          <a:prstGeom prst="rect">
            <a:avLst/>
          </a:prstGeom>
          <a:noFill/>
          <a:ln cap="flat" cmpd="sng" w="76200">
            <a:solidFill>
              <a:srgbClr val="FFFF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48" name="Shape 148"/>
          <p:cNvSpPr/>
          <p:nvPr/>
        </p:nvSpPr>
        <p:spPr>
          <a:xfrm>
            <a:off x="6874500" y="2291875"/>
            <a:ext cx="913500" cy="676500"/>
          </a:xfrm>
          <a:prstGeom prst="rect">
            <a:avLst/>
          </a:prstGeom>
          <a:noFill/>
          <a:ln cap="flat" cmpd="sng" w="76200">
            <a:solidFill>
              <a:srgbClr val="FFFF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49" name="Shape 149"/>
          <p:cNvSpPr/>
          <p:nvPr/>
        </p:nvSpPr>
        <p:spPr>
          <a:xfrm>
            <a:off x="3201850" y="2291875"/>
            <a:ext cx="913500" cy="676500"/>
          </a:xfrm>
          <a:prstGeom prst="rect">
            <a:avLst/>
          </a:prstGeom>
          <a:noFill/>
          <a:ln cap="flat" cmpd="sng" w="76200">
            <a:solidFill>
              <a:srgbClr val="FFFF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50" name="Shape 150"/>
          <p:cNvSpPr/>
          <p:nvPr/>
        </p:nvSpPr>
        <p:spPr>
          <a:xfrm>
            <a:off x="7788000" y="3013425"/>
            <a:ext cx="913500" cy="676500"/>
          </a:xfrm>
          <a:prstGeom prst="rect">
            <a:avLst/>
          </a:prstGeom>
          <a:noFill/>
          <a:ln cap="flat" cmpd="sng" w="76200">
            <a:solidFill>
              <a:srgbClr val="FFFF00"/>
            </a:solidFill>
            <a:prstDash val="solid"/>
            <a:round/>
            <a:headEnd len="med" w="med" type="none"/>
            <a:tailEnd len="med" w="med" type="none"/>
          </a:ln>
        </p:spPr>
        <p:txBody>
          <a:bodyPr anchorCtr="0" anchor="ctr" bIns="91425" lIns="91425" rIns="91425" tIns="91425">
            <a:noAutofit/>
          </a:bodyPr>
          <a:lstStyle/>
          <a:p>
            <a:pPr lvl="0">
              <a:spcBef>
                <a:spcPts val="0"/>
              </a:spcBef>
              <a:buNone/>
            </a:pPr>
            <a:r>
              <a:rPr lang="en"/>
              <a:t>d</a:t>
            </a:r>
          </a:p>
        </p:txBody>
      </p:sp>
      <p:sp>
        <p:nvSpPr>
          <p:cNvPr id="151" name="Shape 151"/>
          <p:cNvSpPr/>
          <p:nvPr/>
        </p:nvSpPr>
        <p:spPr>
          <a:xfrm>
            <a:off x="457200" y="2291875"/>
            <a:ext cx="913500" cy="676500"/>
          </a:xfrm>
          <a:prstGeom prst="rect">
            <a:avLst/>
          </a:prstGeom>
          <a:noFill/>
          <a:ln cap="flat" cmpd="sng" w="76200">
            <a:solidFill>
              <a:srgbClr val="FFFF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52" name="Shape 152"/>
          <p:cNvSpPr/>
          <p:nvPr/>
        </p:nvSpPr>
        <p:spPr>
          <a:xfrm>
            <a:off x="1412725" y="880000"/>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53" name="Shape 153"/>
          <p:cNvSpPr/>
          <p:nvPr/>
        </p:nvSpPr>
        <p:spPr>
          <a:xfrm>
            <a:off x="2326450" y="1563175"/>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54" name="Shape 154"/>
          <p:cNvSpPr/>
          <p:nvPr/>
        </p:nvSpPr>
        <p:spPr>
          <a:xfrm>
            <a:off x="5976143" y="857400"/>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55" name="Shape 155"/>
          <p:cNvSpPr/>
          <p:nvPr/>
        </p:nvSpPr>
        <p:spPr>
          <a:xfrm>
            <a:off x="2326450" y="2286175"/>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56" name="Shape 156"/>
          <p:cNvSpPr/>
          <p:nvPr/>
        </p:nvSpPr>
        <p:spPr>
          <a:xfrm>
            <a:off x="494250" y="2968375"/>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pic>
        <p:nvPicPr>
          <p:cNvPr descr="cognizant-logo.png" id="157" name="Shape 157"/>
          <p:cNvPicPr preferRelativeResize="0"/>
          <p:nvPr/>
        </p:nvPicPr>
        <p:blipFill>
          <a:blip r:embed="rId4">
            <a:alphaModFix/>
          </a:blip>
          <a:stretch>
            <a:fillRect/>
          </a:stretch>
        </p:blipFill>
        <p:spPr>
          <a:xfrm>
            <a:off x="3201849" y="3940868"/>
            <a:ext cx="913500" cy="276658"/>
          </a:xfrm>
          <a:prstGeom prst="rect">
            <a:avLst/>
          </a:prstGeom>
          <a:noFill/>
          <a:ln>
            <a:noFill/>
          </a:ln>
        </p:spPr>
      </p:pic>
      <p:sp>
        <p:nvSpPr>
          <p:cNvPr id="158" name="Shape 158"/>
          <p:cNvSpPr/>
          <p:nvPr/>
        </p:nvSpPr>
        <p:spPr>
          <a:xfrm>
            <a:off x="3238900" y="3689925"/>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59" name="Shape 159"/>
          <p:cNvSpPr/>
          <p:nvPr/>
        </p:nvSpPr>
        <p:spPr>
          <a:xfrm>
            <a:off x="494250" y="3735250"/>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60" name="Shape 160"/>
          <p:cNvSpPr/>
          <p:nvPr/>
        </p:nvSpPr>
        <p:spPr>
          <a:xfrm>
            <a:off x="5077025" y="857400"/>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pic>
        <p:nvPicPr>
          <p:cNvPr descr="upatras_logo.png" id="161" name="Shape 161"/>
          <p:cNvPicPr preferRelativeResize="0"/>
          <p:nvPr/>
        </p:nvPicPr>
        <p:blipFill>
          <a:blip r:embed="rId5">
            <a:alphaModFix/>
          </a:blip>
          <a:stretch>
            <a:fillRect/>
          </a:stretch>
        </p:blipFill>
        <p:spPr>
          <a:xfrm>
            <a:off x="4115349" y="3887074"/>
            <a:ext cx="836988" cy="334800"/>
          </a:xfrm>
          <a:prstGeom prst="rect">
            <a:avLst/>
          </a:prstGeom>
          <a:noFill/>
          <a:ln>
            <a:noFill/>
          </a:ln>
        </p:spPr>
      </p:pic>
      <p:sp>
        <p:nvSpPr>
          <p:cNvPr id="162" name="Shape 162"/>
          <p:cNvSpPr/>
          <p:nvPr/>
        </p:nvSpPr>
        <p:spPr>
          <a:xfrm>
            <a:off x="4141125" y="3685587"/>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63" name="Shape 163"/>
          <p:cNvSpPr/>
          <p:nvPr/>
        </p:nvSpPr>
        <p:spPr>
          <a:xfrm>
            <a:off x="5976143" y="1563162"/>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64" name="Shape 164"/>
          <p:cNvSpPr/>
          <p:nvPr/>
        </p:nvSpPr>
        <p:spPr>
          <a:xfrm>
            <a:off x="5976143" y="2268950"/>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65" name="Shape 165"/>
          <p:cNvSpPr/>
          <p:nvPr/>
        </p:nvSpPr>
        <p:spPr>
          <a:xfrm>
            <a:off x="5976143" y="3041925"/>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66" name="Shape 166"/>
          <p:cNvSpPr/>
          <p:nvPr/>
        </p:nvSpPr>
        <p:spPr>
          <a:xfrm>
            <a:off x="6876275" y="3041925"/>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67" name="Shape 167"/>
          <p:cNvSpPr/>
          <p:nvPr/>
        </p:nvSpPr>
        <p:spPr>
          <a:xfrm>
            <a:off x="7835375" y="2345100"/>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pic>
        <p:nvPicPr>
          <p:cNvPr descr="Screen Shot 2016-09-15 at 1.36.22 PM.png" id="168" name="Shape 168"/>
          <p:cNvPicPr preferRelativeResize="0"/>
          <p:nvPr/>
        </p:nvPicPr>
        <p:blipFill>
          <a:blip r:embed="rId6">
            <a:alphaModFix/>
          </a:blip>
          <a:stretch>
            <a:fillRect/>
          </a:stretch>
        </p:blipFill>
        <p:spPr>
          <a:xfrm>
            <a:off x="5159846" y="3685597"/>
            <a:ext cx="675927" cy="687900"/>
          </a:xfrm>
          <a:prstGeom prst="rect">
            <a:avLst/>
          </a:prstGeom>
          <a:noFill/>
          <a:ln>
            <a:noFill/>
          </a:ln>
        </p:spPr>
      </p:pic>
      <p:sp>
        <p:nvSpPr>
          <p:cNvPr id="169" name="Shape 169"/>
          <p:cNvSpPr/>
          <p:nvPr/>
        </p:nvSpPr>
        <p:spPr>
          <a:xfrm>
            <a:off x="5101100" y="3685587"/>
            <a:ext cx="839400" cy="6879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70" name="Shape 170"/>
          <p:cNvSpPr/>
          <p:nvPr/>
        </p:nvSpPr>
        <p:spPr>
          <a:xfrm>
            <a:off x="6903100" y="4211625"/>
            <a:ext cx="273000" cy="276600"/>
          </a:xfrm>
          <a:prstGeom prst="rect">
            <a:avLst/>
          </a:prstGeom>
          <a:noFill/>
          <a:ln cap="flat" cmpd="sng" w="76200">
            <a:solidFill>
              <a:srgbClr val="FF00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71" name="Shape 171"/>
          <p:cNvSpPr/>
          <p:nvPr/>
        </p:nvSpPr>
        <p:spPr>
          <a:xfrm>
            <a:off x="6903100" y="4604625"/>
            <a:ext cx="273000" cy="210900"/>
          </a:xfrm>
          <a:prstGeom prst="rect">
            <a:avLst/>
          </a:prstGeom>
          <a:noFill/>
          <a:ln cap="flat" cmpd="sng" w="76200">
            <a:solidFill>
              <a:srgbClr val="FFFF00"/>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p>
        </p:txBody>
      </p:sp>
      <p:sp>
        <p:nvSpPr>
          <p:cNvPr id="172" name="Shape 172"/>
          <p:cNvSpPr txBox="1"/>
          <p:nvPr/>
        </p:nvSpPr>
        <p:spPr>
          <a:xfrm>
            <a:off x="7236900" y="4172000"/>
            <a:ext cx="1722900" cy="470700"/>
          </a:xfrm>
          <a:prstGeom prst="rect">
            <a:avLst/>
          </a:prstGeom>
          <a:noFill/>
          <a:ln>
            <a:noFill/>
          </a:ln>
        </p:spPr>
        <p:txBody>
          <a:bodyPr anchorCtr="0" anchor="t" bIns="91425" lIns="91425" rIns="91425" tIns="91425">
            <a:noAutofit/>
          </a:bodyPr>
          <a:lstStyle/>
          <a:p>
            <a:pPr lvl="0" rtl="0">
              <a:spcBef>
                <a:spcPts val="0"/>
              </a:spcBef>
              <a:buNone/>
            </a:pPr>
            <a:r>
              <a:rPr lang="en"/>
              <a:t>Contributed SW</a:t>
            </a:r>
          </a:p>
        </p:txBody>
      </p:sp>
      <p:sp>
        <p:nvSpPr>
          <p:cNvPr id="173" name="Shape 173"/>
          <p:cNvSpPr txBox="1"/>
          <p:nvPr/>
        </p:nvSpPr>
        <p:spPr>
          <a:xfrm>
            <a:off x="7236900" y="4476800"/>
            <a:ext cx="1221300" cy="470700"/>
          </a:xfrm>
          <a:prstGeom prst="rect">
            <a:avLst/>
          </a:prstGeom>
          <a:noFill/>
          <a:ln>
            <a:noFill/>
          </a:ln>
        </p:spPr>
        <p:txBody>
          <a:bodyPr anchorCtr="0" anchor="t" bIns="91425" lIns="91425" rIns="91425" tIns="91425">
            <a:noAutofit/>
          </a:bodyPr>
          <a:lstStyle/>
          <a:p>
            <a:pPr lvl="0" rtl="0">
              <a:spcBef>
                <a:spcPts val="0"/>
              </a:spcBef>
              <a:buNone/>
            </a:pPr>
            <a:r>
              <a:rPr lang="en"/>
              <a:t>Newest</a:t>
            </a:r>
          </a:p>
        </p:txBody>
      </p:sp>
      <p:sp>
        <p:nvSpPr>
          <p:cNvPr id="174" name="Shape 174"/>
          <p:cNvSpPr txBox="1"/>
          <p:nvPr/>
        </p:nvSpPr>
        <p:spPr>
          <a:xfrm>
            <a:off x="7922700" y="3837200"/>
            <a:ext cx="1037100" cy="334800"/>
          </a:xfrm>
          <a:prstGeom prst="rect">
            <a:avLst/>
          </a:prstGeom>
          <a:noFill/>
          <a:ln>
            <a:noFill/>
          </a:ln>
        </p:spPr>
        <p:txBody>
          <a:bodyPr anchorCtr="0" anchor="t" bIns="91425" lIns="91425" rIns="91425" tIns="91425">
            <a:noAutofit/>
          </a:bodyPr>
          <a:lstStyle/>
          <a:p>
            <a:pPr lvl="0" rtl="0">
              <a:spcBef>
                <a:spcPts val="0"/>
              </a:spcBef>
              <a:buNone/>
            </a:pPr>
            <a:r>
              <a:rPr b="1" lang="en"/>
              <a:t>Key</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par>
                                <p:cTn fill="hold" nodeType="with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par>
                                <p:cTn fill="hold" nodeType="with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par>
                                <p:cTn fill="hold" nodeType="with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par>
                                <p:cTn fill="hold" nodeType="with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par>
                                <p:cTn fill="hold" nodeType="with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par>
                                <p:cTn fill="hold" nodeType="with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1000"/>
                                        <p:tgtEl>
                                          <p:spTgt spid="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1000"/>
                                        <p:tgtEl>
                                          <p:spTgt spid="152"/>
                                        </p:tgtEl>
                                      </p:cBhvr>
                                    </p:animEffect>
                                  </p:childTnLst>
                                </p:cTn>
                              </p:par>
                              <p:par>
                                <p:cTn fill="hold" nodeType="with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par>
                                <p:cTn fill="hold" nodeType="with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par>
                                <p:cTn fill="hold" nodeType="with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par>
                                <p:cTn fill="hold" nodeType="with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par>
                                <p:cTn fill="hold" nodeType="with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par>
                                <p:cTn fill="hold" nodeType="with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000"/>
                                        <p:tgtEl>
                                          <p:spTgt spid="160"/>
                                        </p:tgtEl>
                                      </p:cBhvr>
                                    </p:animEffect>
                                  </p:childTnLst>
                                </p:cTn>
                              </p:par>
                              <p:par>
                                <p:cTn fill="hold" nodeType="with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par>
                                <p:cTn fill="hold" nodeType="with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par>
                                <p:cTn fill="hold" nodeType="with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par>
                                <p:cTn fill="hold" nodeType="with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par>
                                <p:cTn fill="hold" nodeType="with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0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78" name="Shape 178"/>
        <p:cNvGrpSpPr/>
        <p:nvPr/>
      </p:nvGrpSpPr>
      <p:grpSpPr>
        <a:xfrm>
          <a:off x="0" y="0"/>
          <a:ext cx="0" cy="0"/>
          <a:chOff x="0" y="0"/>
          <a:chExt cx="0" cy="0"/>
        </a:xfrm>
      </p:grpSpPr>
      <p:sp>
        <p:nvSpPr>
          <p:cNvPr id="179" name="Shape 179"/>
          <p:cNvSpPr txBox="1"/>
          <p:nvPr>
            <p:ph type="title"/>
          </p:nvPr>
        </p:nvSpPr>
        <p:spPr>
          <a:xfrm>
            <a:off x="377775" y="2"/>
            <a:ext cx="8229600" cy="857400"/>
          </a:xfrm>
          <a:prstGeom prst="rect">
            <a:avLst/>
          </a:prstGeom>
          <a:noFill/>
          <a:ln>
            <a:noFill/>
          </a:ln>
        </p:spPr>
        <p:txBody>
          <a:bodyPr anchorCtr="0" anchor="b" bIns="91425" lIns="91425" rIns="91425" tIns="91425">
            <a:noAutofit/>
          </a:bodyPr>
          <a:lstStyle/>
          <a:p>
            <a:pPr indent="0" lvl="0" marL="0" marR="0" rtl="0" algn="l">
              <a:lnSpc>
                <a:spcPct val="100000"/>
              </a:lnSpc>
              <a:spcBef>
                <a:spcPts val="0"/>
              </a:spcBef>
              <a:spcAft>
                <a:spcPts val="0"/>
              </a:spcAft>
              <a:buClr>
                <a:srgbClr val="85200C"/>
              </a:buClr>
              <a:buSzPct val="25000"/>
              <a:buFont typeface="Arial"/>
              <a:buNone/>
            </a:pPr>
            <a:r>
              <a:rPr lang="en"/>
              <a:t>ONOS Member</a:t>
            </a:r>
            <a:r>
              <a:rPr b="1" i="0" lang="en" sz="3600" u="none" cap="none" strike="noStrike">
                <a:solidFill>
                  <a:srgbClr val="85200C"/>
                </a:solidFill>
                <a:latin typeface="Arial"/>
                <a:ea typeface="Arial"/>
                <a:cs typeface="Arial"/>
                <a:sym typeface="Arial"/>
              </a:rPr>
              <a:t> </a:t>
            </a:r>
            <a:r>
              <a:rPr lang="en"/>
              <a:t>Growth</a:t>
            </a:r>
          </a:p>
        </p:txBody>
      </p:sp>
      <p:pic>
        <p:nvPicPr>
          <p:cNvPr descr="total_onos_members (1).png" id="180" name="Shape 180"/>
          <p:cNvPicPr preferRelativeResize="0"/>
          <p:nvPr/>
        </p:nvPicPr>
        <p:blipFill>
          <a:blip r:embed="rId3">
            <a:alphaModFix/>
          </a:blip>
          <a:stretch>
            <a:fillRect/>
          </a:stretch>
        </p:blipFill>
        <p:spPr>
          <a:xfrm>
            <a:off x="1019175" y="904862"/>
            <a:ext cx="7105650" cy="4086225"/>
          </a:xfrm>
          <a:prstGeom prst="rect">
            <a:avLst/>
          </a:prstGeom>
          <a:noFill/>
          <a:ln>
            <a:noFill/>
          </a:ln>
        </p:spPr>
      </p:pic>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84" name="Shape 184"/>
        <p:cNvGrpSpPr/>
        <p:nvPr/>
      </p:nvGrpSpPr>
      <p:grpSpPr>
        <a:xfrm>
          <a:off x="0" y="0"/>
          <a:ext cx="0" cy="0"/>
          <a:chOff x="0" y="0"/>
          <a:chExt cx="0" cy="0"/>
        </a:xfrm>
      </p:grpSpPr>
      <p:sp>
        <p:nvSpPr>
          <p:cNvPr id="185" name="Shape 185"/>
          <p:cNvSpPr txBox="1"/>
          <p:nvPr>
            <p:ph type="title"/>
          </p:nvPr>
        </p:nvSpPr>
        <p:spPr>
          <a:xfrm>
            <a:off x="377775" y="2"/>
            <a:ext cx="8229600" cy="857400"/>
          </a:xfrm>
          <a:prstGeom prst="rect">
            <a:avLst/>
          </a:prstGeom>
          <a:noFill/>
          <a:ln>
            <a:noFill/>
          </a:ln>
        </p:spPr>
        <p:txBody>
          <a:bodyPr anchorCtr="0" anchor="b" bIns="91425" lIns="91425" rIns="91425" tIns="91425">
            <a:noAutofit/>
          </a:bodyPr>
          <a:lstStyle/>
          <a:p>
            <a:pPr indent="0" lvl="0" marL="0" marR="0" rtl="0" algn="l">
              <a:lnSpc>
                <a:spcPct val="100000"/>
              </a:lnSpc>
              <a:spcBef>
                <a:spcPts val="0"/>
              </a:spcBef>
              <a:spcAft>
                <a:spcPts val="0"/>
              </a:spcAft>
              <a:buClr>
                <a:srgbClr val="85200C"/>
              </a:buClr>
              <a:buSzPct val="25000"/>
              <a:buFont typeface="Arial"/>
              <a:buNone/>
            </a:pPr>
            <a:r>
              <a:rPr lang="en"/>
              <a:t>Diversity</a:t>
            </a:r>
          </a:p>
        </p:txBody>
      </p:sp>
      <p:sp>
        <p:nvSpPr>
          <p:cNvPr id="186" name="Shape 186"/>
          <p:cNvSpPr txBox="1"/>
          <p:nvPr>
            <p:ph idx="1" type="body"/>
          </p:nvPr>
        </p:nvSpPr>
        <p:spPr>
          <a:xfrm>
            <a:off x="457200" y="857399"/>
            <a:ext cx="8229600" cy="2462700"/>
          </a:xfrm>
          <a:prstGeom prst="rect">
            <a:avLst/>
          </a:prstGeom>
          <a:noFill/>
          <a:ln>
            <a:noFill/>
          </a:ln>
        </p:spPr>
        <p:txBody>
          <a:bodyPr anchorCtr="0" anchor="t" bIns="91425" lIns="91425" rIns="91425" tIns="91425">
            <a:noAutofit/>
          </a:bodyPr>
          <a:lstStyle/>
          <a:p>
            <a:pPr lvl="0" marR="0" rtl="0" algn="l">
              <a:lnSpc>
                <a:spcPct val="110000"/>
              </a:lnSpc>
              <a:spcBef>
                <a:spcPts val="0"/>
              </a:spcBef>
              <a:spcAft>
                <a:spcPts val="0"/>
              </a:spcAft>
              <a:buNone/>
            </a:pPr>
            <a:r>
              <a:rPr b="1" lang="en" sz="1800"/>
              <a:t>Metrics</a:t>
            </a:r>
            <a:r>
              <a:rPr lang="en" sz="1800"/>
              <a:t>: Percentage of contributions coming from across the whole community</a:t>
            </a:r>
          </a:p>
          <a:p>
            <a:pPr lvl="0" marR="0" rtl="0" algn="l">
              <a:lnSpc>
                <a:spcPct val="110000"/>
              </a:lnSpc>
              <a:spcBef>
                <a:spcPts val="0"/>
              </a:spcBef>
              <a:spcAft>
                <a:spcPts val="0"/>
              </a:spcAft>
              <a:buNone/>
            </a:pPr>
            <a:r>
              <a:t/>
            </a:r>
            <a:endParaRPr sz="1800"/>
          </a:p>
          <a:p>
            <a:pPr indent="-342900" lvl="0" marL="457200" marR="0" rtl="0" algn="l">
              <a:lnSpc>
                <a:spcPct val="110000"/>
              </a:lnSpc>
              <a:spcBef>
                <a:spcPts val="0"/>
              </a:spcBef>
              <a:spcAft>
                <a:spcPts val="1000"/>
              </a:spcAft>
              <a:buSzPct val="100000"/>
              <a:buChar char="●"/>
            </a:pPr>
            <a:r>
              <a:rPr lang="en" sz="1800"/>
              <a:t>Percentage of contributions from ON.Lab is decreasing and that’s good!</a:t>
            </a:r>
          </a:p>
          <a:p>
            <a:pPr indent="-342900" lvl="0" marL="457200" marR="0" rtl="0" algn="l">
              <a:lnSpc>
                <a:spcPct val="110000"/>
              </a:lnSpc>
              <a:spcBef>
                <a:spcPts val="0"/>
              </a:spcBef>
              <a:spcAft>
                <a:spcPts val="1000"/>
              </a:spcAft>
              <a:buSzPct val="100000"/>
              <a:buChar char="●"/>
            </a:pPr>
            <a:r>
              <a:rPr lang="en" sz="1800"/>
              <a:t>We can increase diversity more by recognizing contributions and distributing authority to people that get involved</a:t>
            </a:r>
          </a:p>
        </p:txBody>
      </p:sp>
      <p:pic>
        <p:nvPicPr>
          <p:cNvPr descr="commit_stats_piechart_with_table.png" id="187" name="Shape 187"/>
          <p:cNvPicPr preferRelativeResize="0"/>
          <p:nvPr/>
        </p:nvPicPr>
        <p:blipFill>
          <a:blip r:embed="rId3">
            <a:alphaModFix/>
          </a:blip>
          <a:stretch>
            <a:fillRect/>
          </a:stretch>
        </p:blipFill>
        <p:spPr>
          <a:xfrm>
            <a:off x="2045824" y="2636223"/>
            <a:ext cx="5052350" cy="2507274"/>
          </a:xfrm>
          <a:prstGeom prst="rect">
            <a:avLst/>
          </a:prstGeom>
          <a:noFill/>
          <a:ln>
            <a:noFill/>
          </a:ln>
        </p:spPr>
      </p:pic>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91" name="Shape 191"/>
        <p:cNvGrpSpPr/>
        <p:nvPr/>
      </p:nvGrpSpPr>
      <p:grpSpPr>
        <a:xfrm>
          <a:off x="0" y="0"/>
          <a:ext cx="0" cy="0"/>
          <a:chOff x="0" y="0"/>
          <a:chExt cx="0" cy="0"/>
        </a:xfrm>
      </p:grpSpPr>
      <p:pic>
        <p:nvPicPr>
          <p:cNvPr descr="Contributions per month since Jan 15.png" id="192" name="Shape 192"/>
          <p:cNvPicPr preferRelativeResize="0"/>
          <p:nvPr/>
        </p:nvPicPr>
        <p:blipFill rotWithShape="1">
          <a:blip r:embed="rId3">
            <a:alphaModFix/>
          </a:blip>
          <a:srcRect b="0" l="0" r="0" t="3975"/>
          <a:stretch/>
        </p:blipFill>
        <p:spPr>
          <a:xfrm>
            <a:off x="631150" y="817424"/>
            <a:ext cx="7621151" cy="4326075"/>
          </a:xfrm>
          <a:prstGeom prst="rect">
            <a:avLst/>
          </a:prstGeom>
          <a:noFill/>
          <a:ln>
            <a:noFill/>
          </a:ln>
        </p:spPr>
      </p:pic>
      <p:sp>
        <p:nvSpPr>
          <p:cNvPr id="193" name="Shape 193"/>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SW Commits per month</a:t>
            </a:r>
          </a:p>
          <a:p>
            <a:pPr lvl="0">
              <a:spcBef>
                <a:spcPts val="0"/>
              </a:spcBef>
              <a:buNone/>
            </a:pPr>
            <a:r>
              <a:rPr lang="en" sz="1400"/>
              <a:t>(excluding ON.Lab)</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97" name="Shape 197"/>
        <p:cNvGrpSpPr/>
        <p:nvPr/>
      </p:nvGrpSpPr>
      <p:grpSpPr>
        <a:xfrm>
          <a:off x="0" y="0"/>
          <a:ext cx="0" cy="0"/>
          <a:chOff x="0" y="0"/>
          <a:chExt cx="0" cy="0"/>
        </a:xfrm>
      </p:grpSpPr>
      <p:sp>
        <p:nvSpPr>
          <p:cNvPr id="198" name="Shape 198"/>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SW Commits per month by area</a:t>
            </a:r>
          </a:p>
          <a:p>
            <a:pPr lvl="0" rtl="0">
              <a:spcBef>
                <a:spcPts val="0"/>
              </a:spcBef>
              <a:buNone/>
            </a:pPr>
            <a:r>
              <a:rPr lang="en" sz="1400"/>
              <a:t>(excluding ON.Lab)</a:t>
            </a:r>
          </a:p>
        </p:txBody>
      </p:sp>
      <p:pic>
        <p:nvPicPr>
          <p:cNvPr descr="contrpermonth-jan15-areas-external.png" id="199" name="Shape 199"/>
          <p:cNvPicPr preferRelativeResize="0"/>
          <p:nvPr/>
        </p:nvPicPr>
        <p:blipFill rotWithShape="1">
          <a:blip r:embed="rId3">
            <a:alphaModFix/>
          </a:blip>
          <a:srcRect b="0" l="0" r="0" t="-7503"/>
          <a:stretch/>
        </p:blipFill>
        <p:spPr>
          <a:xfrm>
            <a:off x="529550" y="810700"/>
            <a:ext cx="8004900" cy="4330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04" name="Shape 204"/>
        <p:cNvGrpSpPr/>
        <p:nvPr/>
      </p:nvGrpSpPr>
      <p:grpSpPr>
        <a:xfrm>
          <a:off x="0" y="0"/>
          <a:ext cx="0" cy="0"/>
          <a:chOff x="0" y="0"/>
          <a:chExt cx="0" cy="0"/>
        </a:xfrm>
      </p:grpSpPr>
      <p:sp>
        <p:nvSpPr>
          <p:cNvPr id="205" name="Shape 205"/>
          <p:cNvSpPr txBox="1"/>
          <p:nvPr>
            <p:ph type="title"/>
          </p:nvPr>
        </p:nvSpPr>
        <p:spPr>
          <a:xfrm>
            <a:off x="146175" y="32447"/>
            <a:ext cx="8497200" cy="1088700"/>
          </a:xfrm>
          <a:prstGeom prst="rect">
            <a:avLst/>
          </a:prstGeom>
          <a:noFill/>
          <a:ln>
            <a:noFill/>
          </a:ln>
        </p:spPr>
        <p:txBody>
          <a:bodyPr anchorCtr="0" anchor="b" bIns="91425" lIns="91425" rIns="91425" tIns="91425">
            <a:noAutofit/>
          </a:bodyPr>
          <a:lstStyle/>
          <a:p>
            <a:pPr indent="0" lvl="0" marL="0" marR="0" rtl="0" algn="l">
              <a:lnSpc>
                <a:spcPct val="100000"/>
              </a:lnSpc>
              <a:spcBef>
                <a:spcPts val="0"/>
              </a:spcBef>
              <a:spcAft>
                <a:spcPts val="0"/>
              </a:spcAft>
              <a:buClr>
                <a:srgbClr val="85200C"/>
              </a:buClr>
              <a:buSzPct val="25000"/>
              <a:buFont typeface="Arial"/>
              <a:buNone/>
            </a:pPr>
            <a:r>
              <a:rPr b="1" i="0" lang="en" sz="3240" u="none" cap="none" strike="noStrike">
                <a:solidFill>
                  <a:schemeClr val="accent6"/>
                </a:solidFill>
                <a:latin typeface="Arial"/>
                <a:ea typeface="Arial"/>
                <a:cs typeface="Arial"/>
                <a:sym typeface="Arial"/>
              </a:rPr>
              <a:t>ONOS</a:t>
            </a:r>
            <a:r>
              <a:rPr lang="en" sz="3240">
                <a:solidFill>
                  <a:schemeClr val="accent6"/>
                </a:solidFill>
              </a:rPr>
              <a:t> </a:t>
            </a:r>
            <a:r>
              <a:rPr b="1" i="0" lang="en" sz="3240" u="none" cap="none" strike="noStrike">
                <a:solidFill>
                  <a:schemeClr val="accent6"/>
                </a:solidFill>
                <a:latin typeface="Arial"/>
                <a:ea typeface="Arial"/>
                <a:cs typeface="Arial"/>
                <a:sym typeface="Arial"/>
              </a:rPr>
              <a:t>Community</a:t>
            </a:r>
          </a:p>
          <a:p>
            <a:pPr indent="0" lvl="0" marL="0" marR="0" rtl="0" algn="l">
              <a:lnSpc>
                <a:spcPct val="100000"/>
              </a:lnSpc>
              <a:spcBef>
                <a:spcPts val="0"/>
              </a:spcBef>
              <a:spcAft>
                <a:spcPts val="0"/>
              </a:spcAft>
              <a:buClr>
                <a:srgbClr val="85200C"/>
              </a:buClr>
              <a:buSzPct val="25000"/>
              <a:buFont typeface="Arial"/>
              <a:buNone/>
            </a:pPr>
            <a:r>
              <a:rPr i="1" lang="en" sz="3240">
                <a:solidFill>
                  <a:schemeClr val="accent6"/>
                </a:solidFill>
              </a:rPr>
              <a:t>Healthy, Diverse, Growing</a:t>
            </a:r>
          </a:p>
        </p:txBody>
      </p:sp>
      <p:sp>
        <p:nvSpPr>
          <p:cNvPr id="206" name="Shape 206"/>
          <p:cNvSpPr/>
          <p:nvPr/>
        </p:nvSpPr>
        <p:spPr>
          <a:xfrm>
            <a:off x="5473835" y="1200494"/>
            <a:ext cx="1625700" cy="3726600"/>
          </a:xfrm>
          <a:prstGeom prst="roundRect">
            <a:avLst>
              <a:gd fmla="val 3282" name="adj"/>
            </a:avLst>
          </a:prstGeom>
          <a:solidFill>
            <a:srgbClr val="1479B1"/>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sp>
        <p:nvSpPr>
          <p:cNvPr id="207" name="Shape 207"/>
          <p:cNvSpPr/>
          <p:nvPr/>
        </p:nvSpPr>
        <p:spPr>
          <a:xfrm>
            <a:off x="5619856" y="2005691"/>
            <a:ext cx="1332600" cy="2685000"/>
          </a:xfrm>
          <a:prstGeom prst="roundRect">
            <a:avLst>
              <a:gd fmla="val 16667" name="adj"/>
            </a:avLst>
          </a:prstGeom>
          <a:solidFill>
            <a:srgbClr val="FFFFFF"/>
          </a:solidFill>
          <a:ln cap="flat" cmpd="sng" w="25400">
            <a:solidFill>
              <a:srgbClr val="FFFFFF"/>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rgbClr val="000000"/>
              </a:solidFill>
              <a:latin typeface="Calibri"/>
              <a:ea typeface="Calibri"/>
              <a:cs typeface="Calibri"/>
              <a:sym typeface="Calibri"/>
            </a:endParaRPr>
          </a:p>
        </p:txBody>
      </p:sp>
      <p:sp>
        <p:nvSpPr>
          <p:cNvPr id="208" name="Shape 208"/>
          <p:cNvSpPr/>
          <p:nvPr/>
        </p:nvSpPr>
        <p:spPr>
          <a:xfrm>
            <a:off x="373200" y="1176525"/>
            <a:ext cx="1628700" cy="3750600"/>
          </a:xfrm>
          <a:prstGeom prst="roundRect">
            <a:avLst>
              <a:gd fmla="val 3273" name="adj"/>
            </a:avLst>
          </a:prstGeom>
          <a:solidFill>
            <a:srgbClr val="1479B1"/>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sp>
        <p:nvSpPr>
          <p:cNvPr id="209" name="Shape 209"/>
          <p:cNvSpPr/>
          <p:nvPr/>
        </p:nvSpPr>
        <p:spPr>
          <a:xfrm>
            <a:off x="952083" y="1347985"/>
            <a:ext cx="469500" cy="276900"/>
          </a:xfrm>
          <a:prstGeom prst="rect">
            <a:avLst/>
          </a:prstGeom>
          <a:noFill/>
          <a:ln>
            <a:noFill/>
          </a:ln>
        </p:spPr>
        <p:txBody>
          <a:bodyPr anchorCtr="0" anchor="t" bIns="0" lIns="0" rIns="0" tIns="0">
            <a:noAutofit/>
          </a:bodyPr>
          <a:lstStyle/>
          <a:p>
            <a:pPr indent="0" lvl="0" marL="0" marR="0" rtl="0" algn="ctr">
              <a:lnSpc>
                <a:spcPct val="100000"/>
              </a:lnSpc>
              <a:spcBef>
                <a:spcPts val="0"/>
              </a:spcBef>
              <a:spcAft>
                <a:spcPts val="0"/>
              </a:spcAft>
              <a:buClr>
                <a:srgbClr val="FFFFFF"/>
              </a:buClr>
              <a:buSzPct val="25000"/>
              <a:buFont typeface="Calibri"/>
              <a:buNone/>
            </a:pPr>
            <a:r>
              <a:rPr b="1" i="0" lang="en" sz="1100" u="none" cap="none" strike="noStrike">
                <a:solidFill>
                  <a:srgbClr val="FFFFFF"/>
                </a:solidFill>
                <a:latin typeface="Calibri"/>
                <a:ea typeface="Calibri"/>
                <a:cs typeface="Calibri"/>
                <a:sym typeface="Calibri"/>
              </a:rPr>
              <a:t>ON.LAB</a:t>
            </a:r>
          </a:p>
          <a:p>
            <a:pPr indent="0" lvl="0" marL="0" marR="0" rtl="0" algn="ctr">
              <a:lnSpc>
                <a:spcPct val="100000"/>
              </a:lnSpc>
              <a:spcBef>
                <a:spcPts val="0"/>
              </a:spcBef>
              <a:spcAft>
                <a:spcPts val="0"/>
              </a:spcAft>
              <a:buClr>
                <a:srgbClr val="000000"/>
              </a:buClr>
              <a:buFont typeface="Oswald"/>
              <a:buNone/>
            </a:pPr>
            <a:r>
              <a:t/>
            </a:r>
            <a:endParaRPr b="0" i="0" sz="700" u="none" cap="none" strike="noStrike">
              <a:solidFill>
                <a:srgbClr val="FFFFFF"/>
              </a:solidFill>
              <a:latin typeface="Calibri"/>
              <a:ea typeface="Calibri"/>
              <a:cs typeface="Calibri"/>
              <a:sym typeface="Calibri"/>
            </a:endParaRPr>
          </a:p>
        </p:txBody>
      </p:sp>
      <p:sp>
        <p:nvSpPr>
          <p:cNvPr id="210" name="Shape 210"/>
          <p:cNvSpPr/>
          <p:nvPr/>
        </p:nvSpPr>
        <p:spPr>
          <a:xfrm>
            <a:off x="493850" y="1927824"/>
            <a:ext cx="1395300" cy="2762999"/>
          </a:xfrm>
          <a:prstGeom prst="roundRect">
            <a:avLst>
              <a:gd fmla="val 9406" name="adj"/>
            </a:avLst>
          </a:prstGeom>
          <a:solidFill>
            <a:srgbClr val="FFFFFF"/>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cxnSp>
        <p:nvCxnSpPr>
          <p:cNvPr id="211" name="Shape 211"/>
          <p:cNvCxnSpPr/>
          <p:nvPr/>
        </p:nvCxnSpPr>
        <p:spPr>
          <a:xfrm>
            <a:off x="374792" y="1765892"/>
            <a:ext cx="1635000" cy="0"/>
          </a:xfrm>
          <a:prstGeom prst="straightConnector1">
            <a:avLst/>
          </a:prstGeom>
          <a:noFill/>
          <a:ln cap="flat" cmpd="sng" w="25400">
            <a:solidFill>
              <a:srgbClr val="FFFFFF"/>
            </a:solidFill>
            <a:prstDash val="solid"/>
            <a:miter/>
            <a:headEnd len="med" w="med" type="none"/>
            <a:tailEnd len="med" w="med" type="none"/>
          </a:ln>
        </p:spPr>
      </p:cxnSp>
      <p:sp>
        <p:nvSpPr>
          <p:cNvPr id="212" name="Shape 212"/>
          <p:cNvSpPr/>
          <p:nvPr/>
        </p:nvSpPr>
        <p:spPr>
          <a:xfrm>
            <a:off x="2079757" y="1176525"/>
            <a:ext cx="1623900" cy="3750600"/>
          </a:xfrm>
          <a:prstGeom prst="roundRect">
            <a:avLst>
              <a:gd fmla="val 3282" name="adj"/>
            </a:avLst>
          </a:prstGeom>
          <a:solidFill>
            <a:srgbClr val="1479B1"/>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sp>
        <p:nvSpPr>
          <p:cNvPr id="213" name="Shape 213"/>
          <p:cNvSpPr/>
          <p:nvPr/>
        </p:nvSpPr>
        <p:spPr>
          <a:xfrm>
            <a:off x="2298682" y="1347985"/>
            <a:ext cx="1179900" cy="276900"/>
          </a:xfrm>
          <a:prstGeom prst="rect">
            <a:avLst/>
          </a:prstGeom>
          <a:noFill/>
          <a:ln>
            <a:noFill/>
          </a:ln>
        </p:spPr>
        <p:txBody>
          <a:bodyPr anchorCtr="0" anchor="t" bIns="0" lIns="0" rIns="0" tIns="0">
            <a:noAutofit/>
          </a:bodyPr>
          <a:lstStyle/>
          <a:p>
            <a:pPr indent="0" lvl="0" marL="0" marR="0" rtl="0" algn="ctr">
              <a:lnSpc>
                <a:spcPct val="100000"/>
              </a:lnSpc>
              <a:spcBef>
                <a:spcPts val="0"/>
              </a:spcBef>
              <a:spcAft>
                <a:spcPts val="0"/>
              </a:spcAft>
              <a:buClr>
                <a:srgbClr val="FFFFFF"/>
              </a:buClr>
              <a:buSzPct val="25000"/>
              <a:buFont typeface="Calibri"/>
              <a:buNone/>
            </a:pPr>
            <a:r>
              <a:rPr b="1" i="0" lang="en" sz="1100" u="none" cap="none" strike="noStrike">
                <a:solidFill>
                  <a:srgbClr val="FFFFFF"/>
                </a:solidFill>
                <a:latin typeface="Calibri"/>
                <a:ea typeface="Calibri"/>
                <a:cs typeface="Calibri"/>
                <a:sym typeface="Calibri"/>
              </a:rPr>
              <a:t>SERVICE PROVIDER </a:t>
            </a:r>
          </a:p>
          <a:p>
            <a:pPr indent="0" lvl="0" marL="0" marR="0" rtl="0" algn="ctr">
              <a:lnSpc>
                <a:spcPct val="100000"/>
              </a:lnSpc>
              <a:spcBef>
                <a:spcPts val="0"/>
              </a:spcBef>
              <a:spcAft>
                <a:spcPts val="0"/>
              </a:spcAft>
              <a:buClr>
                <a:srgbClr val="FFFFFF"/>
              </a:buClr>
              <a:buSzPct val="25000"/>
              <a:buFont typeface="Calibri"/>
              <a:buNone/>
            </a:pPr>
            <a:r>
              <a:rPr b="0" i="0" lang="en" sz="700" u="none" cap="none" strike="noStrike">
                <a:solidFill>
                  <a:srgbClr val="FFFFFF"/>
                </a:solidFill>
                <a:latin typeface="Calibri"/>
                <a:ea typeface="Calibri"/>
                <a:cs typeface="Calibri"/>
                <a:sym typeface="Calibri"/>
              </a:rPr>
              <a:t>PARTNERS</a:t>
            </a:r>
          </a:p>
        </p:txBody>
      </p:sp>
      <p:sp>
        <p:nvSpPr>
          <p:cNvPr id="214" name="Shape 214"/>
          <p:cNvSpPr/>
          <p:nvPr/>
        </p:nvSpPr>
        <p:spPr>
          <a:xfrm>
            <a:off x="2184526" y="1927824"/>
            <a:ext cx="1395300" cy="2762999"/>
          </a:xfrm>
          <a:prstGeom prst="roundRect">
            <a:avLst>
              <a:gd fmla="val 9406" name="adj"/>
            </a:avLst>
          </a:prstGeom>
          <a:solidFill>
            <a:srgbClr val="FFFFFF"/>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cxnSp>
        <p:nvCxnSpPr>
          <p:cNvPr id="215" name="Shape 215"/>
          <p:cNvCxnSpPr/>
          <p:nvPr/>
        </p:nvCxnSpPr>
        <p:spPr>
          <a:xfrm>
            <a:off x="2065478" y="1753986"/>
            <a:ext cx="1635000" cy="0"/>
          </a:xfrm>
          <a:prstGeom prst="straightConnector1">
            <a:avLst/>
          </a:prstGeom>
          <a:noFill/>
          <a:ln cap="flat" cmpd="sng" w="25400">
            <a:solidFill>
              <a:srgbClr val="FFFFFF"/>
            </a:solidFill>
            <a:prstDash val="solid"/>
            <a:miter/>
            <a:headEnd len="med" w="med" type="none"/>
            <a:tailEnd len="med" w="med" type="none"/>
          </a:ln>
        </p:spPr>
      </p:cxnSp>
      <p:pic>
        <p:nvPicPr>
          <p:cNvPr id="216" name="Shape 216"/>
          <p:cNvPicPr preferRelativeResize="0"/>
          <p:nvPr/>
        </p:nvPicPr>
        <p:blipFill rotWithShape="1">
          <a:blip r:embed="rId3">
            <a:alphaModFix/>
          </a:blip>
          <a:srcRect b="0" l="0" r="0" t="0"/>
          <a:stretch/>
        </p:blipFill>
        <p:spPr>
          <a:xfrm>
            <a:off x="2492506" y="1948065"/>
            <a:ext cx="646200" cy="484500"/>
          </a:xfrm>
          <a:prstGeom prst="rect">
            <a:avLst/>
          </a:prstGeom>
          <a:noFill/>
          <a:ln>
            <a:noFill/>
          </a:ln>
        </p:spPr>
      </p:pic>
      <p:pic>
        <p:nvPicPr>
          <p:cNvPr id="217" name="Shape 217"/>
          <p:cNvPicPr preferRelativeResize="0"/>
          <p:nvPr/>
        </p:nvPicPr>
        <p:blipFill rotWithShape="1">
          <a:blip r:embed="rId4">
            <a:alphaModFix/>
          </a:blip>
          <a:srcRect b="0" l="0" r="0" t="0"/>
          <a:stretch/>
        </p:blipFill>
        <p:spPr>
          <a:xfrm>
            <a:off x="554179" y="3124398"/>
            <a:ext cx="1215900" cy="273900"/>
          </a:xfrm>
          <a:prstGeom prst="rect">
            <a:avLst/>
          </a:prstGeom>
          <a:noFill/>
          <a:ln>
            <a:noFill/>
          </a:ln>
        </p:spPr>
      </p:pic>
      <p:sp>
        <p:nvSpPr>
          <p:cNvPr id="218" name="Shape 218"/>
          <p:cNvSpPr/>
          <p:nvPr/>
        </p:nvSpPr>
        <p:spPr>
          <a:xfrm>
            <a:off x="5747607" y="1367035"/>
            <a:ext cx="1071600" cy="276900"/>
          </a:xfrm>
          <a:prstGeom prst="rect">
            <a:avLst/>
          </a:prstGeom>
          <a:noFill/>
          <a:ln>
            <a:noFill/>
          </a:ln>
        </p:spPr>
        <p:txBody>
          <a:bodyPr anchorCtr="0" anchor="t" bIns="0" lIns="0" rIns="0" tIns="0">
            <a:noAutofit/>
          </a:bodyPr>
          <a:lstStyle/>
          <a:p>
            <a:pPr indent="0" lvl="0" marL="0" marR="0" rtl="0" algn="ctr">
              <a:lnSpc>
                <a:spcPct val="100000"/>
              </a:lnSpc>
              <a:spcBef>
                <a:spcPts val="0"/>
              </a:spcBef>
              <a:spcAft>
                <a:spcPts val="0"/>
              </a:spcAft>
              <a:buClr>
                <a:srgbClr val="FFFFFF"/>
              </a:buClr>
              <a:buSzPct val="25000"/>
              <a:buFont typeface="Calibri"/>
              <a:buNone/>
            </a:pPr>
            <a:r>
              <a:rPr b="1" i="0" lang="en" sz="1100" u="none" cap="none" strike="noStrike">
                <a:solidFill>
                  <a:srgbClr val="FFFFFF"/>
                </a:solidFill>
                <a:latin typeface="Calibri"/>
                <a:ea typeface="Calibri"/>
                <a:cs typeface="Calibri"/>
                <a:sym typeface="Calibri"/>
              </a:rPr>
              <a:t>COLLABORATORS</a:t>
            </a:r>
          </a:p>
          <a:p>
            <a:pPr indent="0" lvl="0" marL="0" marR="0" rtl="0" algn="ctr">
              <a:lnSpc>
                <a:spcPct val="100000"/>
              </a:lnSpc>
              <a:spcBef>
                <a:spcPts val="0"/>
              </a:spcBef>
              <a:spcAft>
                <a:spcPts val="0"/>
              </a:spcAft>
              <a:buClr>
                <a:srgbClr val="000000"/>
              </a:buClr>
              <a:buFont typeface="Oswald"/>
              <a:buNone/>
            </a:pPr>
            <a:r>
              <a:t/>
            </a:r>
            <a:endParaRPr b="0" i="0" sz="700" u="none" cap="none" strike="noStrike">
              <a:solidFill>
                <a:srgbClr val="FFFFFF"/>
              </a:solidFill>
              <a:latin typeface="Calibri"/>
              <a:ea typeface="Calibri"/>
              <a:cs typeface="Calibri"/>
              <a:sym typeface="Calibri"/>
            </a:endParaRPr>
          </a:p>
        </p:txBody>
      </p:sp>
      <p:cxnSp>
        <p:nvCxnSpPr>
          <p:cNvPr id="219" name="Shape 219"/>
          <p:cNvCxnSpPr/>
          <p:nvPr/>
        </p:nvCxnSpPr>
        <p:spPr>
          <a:xfrm>
            <a:off x="5459548" y="1773036"/>
            <a:ext cx="1636799" cy="0"/>
          </a:xfrm>
          <a:prstGeom prst="straightConnector1">
            <a:avLst/>
          </a:prstGeom>
          <a:noFill/>
          <a:ln cap="flat" cmpd="sng" w="25400">
            <a:solidFill>
              <a:srgbClr val="FFFFFF"/>
            </a:solidFill>
            <a:prstDash val="solid"/>
            <a:miter/>
            <a:headEnd len="med" w="med" type="none"/>
            <a:tailEnd len="med" w="med" type="none"/>
          </a:ln>
        </p:spPr>
      </p:cxnSp>
      <p:sp>
        <p:nvSpPr>
          <p:cNvPr id="220" name="Shape 220"/>
          <p:cNvSpPr/>
          <p:nvPr/>
        </p:nvSpPr>
        <p:spPr>
          <a:xfrm>
            <a:off x="3772038" y="1207980"/>
            <a:ext cx="1627200" cy="3719100"/>
          </a:xfrm>
          <a:prstGeom prst="roundRect">
            <a:avLst>
              <a:gd fmla="val 3273" name="adj"/>
            </a:avLst>
          </a:prstGeom>
          <a:solidFill>
            <a:srgbClr val="1479B1"/>
          </a:solidFill>
          <a:ln>
            <a:noFill/>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sp>
        <p:nvSpPr>
          <p:cNvPr id="221" name="Shape 221"/>
          <p:cNvSpPr/>
          <p:nvPr/>
        </p:nvSpPr>
        <p:spPr>
          <a:xfrm>
            <a:off x="3892688" y="1961324"/>
            <a:ext cx="1393800" cy="2729700"/>
          </a:xfrm>
          <a:prstGeom prst="roundRect">
            <a:avLst>
              <a:gd fmla="val 9406" name="adj"/>
            </a:avLst>
          </a:prstGeom>
          <a:solidFill>
            <a:srgbClr val="FFFFFF"/>
          </a:solidFill>
          <a:ln>
            <a:noFill/>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cxnSp>
        <p:nvCxnSpPr>
          <p:cNvPr id="222" name="Shape 222"/>
          <p:cNvCxnSpPr/>
          <p:nvPr/>
        </p:nvCxnSpPr>
        <p:spPr>
          <a:xfrm>
            <a:off x="3773619" y="1790895"/>
            <a:ext cx="1633500" cy="0"/>
          </a:xfrm>
          <a:prstGeom prst="straightConnector1">
            <a:avLst/>
          </a:prstGeom>
          <a:noFill/>
          <a:ln>
            <a:noFill/>
          </a:ln>
        </p:spPr>
      </p:cxnSp>
      <p:pic>
        <p:nvPicPr>
          <p:cNvPr descr="NEC.gif" id="223" name="Shape 223"/>
          <p:cNvPicPr preferRelativeResize="0"/>
          <p:nvPr/>
        </p:nvPicPr>
        <p:blipFill rotWithShape="1">
          <a:blip r:embed="rId5">
            <a:alphaModFix/>
          </a:blip>
          <a:srcRect b="0" l="0" r="0" t="0"/>
          <a:stretch/>
        </p:blipFill>
        <p:spPr>
          <a:xfrm>
            <a:off x="4292169" y="3490324"/>
            <a:ext cx="619200" cy="172500"/>
          </a:xfrm>
          <a:prstGeom prst="rect">
            <a:avLst/>
          </a:prstGeom>
          <a:noFill/>
          <a:ln>
            <a:noFill/>
          </a:ln>
        </p:spPr>
      </p:pic>
      <p:pic>
        <p:nvPicPr>
          <p:cNvPr descr="Erricsson.gif" id="224" name="Shape 224"/>
          <p:cNvPicPr preferRelativeResize="0"/>
          <p:nvPr/>
        </p:nvPicPr>
        <p:blipFill rotWithShape="1">
          <a:blip r:embed="rId6">
            <a:alphaModFix/>
          </a:blip>
          <a:srcRect b="0" l="0" r="0" t="0"/>
          <a:stretch/>
        </p:blipFill>
        <p:spPr>
          <a:xfrm>
            <a:off x="4329014" y="2463923"/>
            <a:ext cx="922200" cy="264300"/>
          </a:xfrm>
          <a:prstGeom prst="rect">
            <a:avLst/>
          </a:prstGeom>
          <a:noFill/>
          <a:ln>
            <a:noFill/>
          </a:ln>
        </p:spPr>
      </p:pic>
      <p:pic>
        <p:nvPicPr>
          <p:cNvPr descr="intel.jpg" id="225" name="Shape 225"/>
          <p:cNvPicPr preferRelativeResize="0"/>
          <p:nvPr/>
        </p:nvPicPr>
        <p:blipFill rotWithShape="1">
          <a:blip r:embed="rId7">
            <a:alphaModFix/>
          </a:blip>
          <a:srcRect b="0" l="0" r="0" t="0"/>
          <a:stretch/>
        </p:blipFill>
        <p:spPr>
          <a:xfrm>
            <a:off x="3988555" y="3127727"/>
            <a:ext cx="811200" cy="275099"/>
          </a:xfrm>
          <a:prstGeom prst="rect">
            <a:avLst/>
          </a:prstGeom>
          <a:noFill/>
          <a:ln>
            <a:noFill/>
          </a:ln>
        </p:spPr>
      </p:pic>
      <p:pic>
        <p:nvPicPr>
          <p:cNvPr descr="huawei logo.jpeg" id="226" name="Shape 226"/>
          <p:cNvPicPr preferRelativeResize="0"/>
          <p:nvPr/>
        </p:nvPicPr>
        <p:blipFill rotWithShape="1">
          <a:blip r:embed="rId8">
            <a:alphaModFix/>
          </a:blip>
          <a:srcRect b="0" l="0" r="0" t="0"/>
          <a:stretch/>
        </p:blipFill>
        <p:spPr>
          <a:xfrm>
            <a:off x="4625132" y="2922574"/>
            <a:ext cx="495300" cy="371400"/>
          </a:xfrm>
          <a:prstGeom prst="rect">
            <a:avLst/>
          </a:prstGeom>
          <a:noFill/>
          <a:ln>
            <a:noFill/>
          </a:ln>
        </p:spPr>
      </p:pic>
      <p:pic>
        <p:nvPicPr>
          <p:cNvPr descr="Ciena-logo.jpeg" id="227" name="Shape 227"/>
          <p:cNvPicPr preferRelativeResize="0"/>
          <p:nvPr/>
        </p:nvPicPr>
        <p:blipFill rotWithShape="1">
          <a:blip r:embed="rId9">
            <a:alphaModFix/>
          </a:blip>
          <a:srcRect b="0" l="0" r="0" t="0"/>
          <a:stretch/>
        </p:blipFill>
        <p:spPr>
          <a:xfrm>
            <a:off x="3913569" y="2220565"/>
            <a:ext cx="689100" cy="172500"/>
          </a:xfrm>
          <a:prstGeom prst="rect">
            <a:avLst/>
          </a:prstGeom>
          <a:noFill/>
          <a:ln>
            <a:noFill/>
          </a:ln>
        </p:spPr>
      </p:pic>
      <p:pic>
        <p:nvPicPr>
          <p:cNvPr descr="fujitsu-red.bmp" id="228" name="Shape 228"/>
          <p:cNvPicPr preferRelativeResize="0"/>
          <p:nvPr/>
        </p:nvPicPr>
        <p:blipFill rotWithShape="1">
          <a:blip r:embed="rId10">
            <a:alphaModFix/>
          </a:blip>
          <a:srcRect b="0" l="0" r="0" t="0"/>
          <a:stretch/>
        </p:blipFill>
        <p:spPr>
          <a:xfrm>
            <a:off x="3970467" y="2707546"/>
            <a:ext cx="636600" cy="229800"/>
          </a:xfrm>
          <a:prstGeom prst="rect">
            <a:avLst/>
          </a:prstGeom>
          <a:noFill/>
          <a:ln>
            <a:noFill/>
          </a:ln>
        </p:spPr>
      </p:pic>
      <p:sp>
        <p:nvSpPr>
          <p:cNvPr id="229" name="Shape 229"/>
          <p:cNvSpPr/>
          <p:nvPr/>
        </p:nvSpPr>
        <p:spPr>
          <a:xfrm>
            <a:off x="4335853" y="1322983"/>
            <a:ext cx="528000" cy="276900"/>
          </a:xfrm>
          <a:prstGeom prst="rect">
            <a:avLst/>
          </a:prstGeom>
          <a:noFill/>
          <a:ln>
            <a:noFill/>
          </a:ln>
        </p:spPr>
        <p:txBody>
          <a:bodyPr anchorCtr="0" anchor="t" bIns="0" lIns="0" rIns="0" tIns="0">
            <a:noAutofit/>
          </a:bodyPr>
          <a:lstStyle/>
          <a:p>
            <a:pPr indent="0" lvl="0" marL="0" marR="0" rtl="0" algn="ctr">
              <a:lnSpc>
                <a:spcPct val="100000"/>
              </a:lnSpc>
              <a:spcBef>
                <a:spcPts val="0"/>
              </a:spcBef>
              <a:spcAft>
                <a:spcPts val="0"/>
              </a:spcAft>
              <a:buClr>
                <a:srgbClr val="FFFFFF"/>
              </a:buClr>
              <a:buSzPct val="25000"/>
              <a:buFont typeface="Calibri"/>
              <a:buNone/>
            </a:pPr>
            <a:r>
              <a:rPr b="1" i="0" lang="en" sz="1100" u="none" cap="none" strike="noStrike">
                <a:solidFill>
                  <a:srgbClr val="FFFFFF"/>
                </a:solidFill>
                <a:latin typeface="Calibri"/>
                <a:ea typeface="Calibri"/>
                <a:cs typeface="Calibri"/>
                <a:sym typeface="Calibri"/>
              </a:rPr>
              <a:t>VENDOR</a:t>
            </a:r>
          </a:p>
          <a:p>
            <a:pPr indent="0" lvl="0" marL="0" marR="0" rtl="0" algn="ctr">
              <a:lnSpc>
                <a:spcPct val="100000"/>
              </a:lnSpc>
              <a:spcBef>
                <a:spcPts val="0"/>
              </a:spcBef>
              <a:spcAft>
                <a:spcPts val="0"/>
              </a:spcAft>
              <a:buClr>
                <a:srgbClr val="FFFFFF"/>
              </a:buClr>
              <a:buSzPct val="25000"/>
              <a:buFont typeface="Calibri"/>
              <a:buNone/>
            </a:pPr>
            <a:r>
              <a:rPr b="0" i="0" lang="en" sz="700" u="none" cap="none" strike="noStrike">
                <a:solidFill>
                  <a:srgbClr val="FFFFFF"/>
                </a:solidFill>
                <a:latin typeface="Calibri"/>
                <a:ea typeface="Calibri"/>
                <a:cs typeface="Calibri"/>
                <a:sym typeface="Calibri"/>
              </a:rPr>
              <a:t>PARTNERS</a:t>
            </a:r>
          </a:p>
        </p:txBody>
      </p:sp>
      <p:sp>
        <p:nvSpPr>
          <p:cNvPr id="230" name="Shape 230"/>
          <p:cNvSpPr/>
          <p:nvPr/>
        </p:nvSpPr>
        <p:spPr>
          <a:xfrm>
            <a:off x="7158174" y="1207980"/>
            <a:ext cx="1627200" cy="3719100"/>
          </a:xfrm>
          <a:prstGeom prst="roundRect">
            <a:avLst>
              <a:gd fmla="val 3273" name="adj"/>
            </a:avLst>
          </a:prstGeom>
          <a:solidFill>
            <a:srgbClr val="1479B1"/>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sp>
        <p:nvSpPr>
          <p:cNvPr id="231" name="Shape 231"/>
          <p:cNvSpPr/>
          <p:nvPr/>
        </p:nvSpPr>
        <p:spPr>
          <a:xfrm>
            <a:off x="7564353" y="1372990"/>
            <a:ext cx="811500" cy="276900"/>
          </a:xfrm>
          <a:prstGeom prst="rect">
            <a:avLst/>
          </a:prstGeom>
          <a:noFill/>
          <a:ln>
            <a:noFill/>
          </a:ln>
        </p:spPr>
        <p:txBody>
          <a:bodyPr anchorCtr="0" anchor="t" bIns="0" lIns="0" rIns="0" tIns="0">
            <a:noAutofit/>
          </a:bodyPr>
          <a:lstStyle/>
          <a:p>
            <a:pPr indent="0" lvl="0" marL="0" marR="0" rtl="0" algn="ctr">
              <a:lnSpc>
                <a:spcPct val="100000"/>
              </a:lnSpc>
              <a:spcBef>
                <a:spcPts val="0"/>
              </a:spcBef>
              <a:spcAft>
                <a:spcPts val="0"/>
              </a:spcAft>
              <a:buClr>
                <a:srgbClr val="FFFFFF"/>
              </a:buClr>
              <a:buSzPct val="25000"/>
              <a:buFont typeface="Calibri"/>
              <a:buNone/>
            </a:pPr>
            <a:r>
              <a:rPr b="1" i="0" lang="en" sz="1100" u="none" cap="none" strike="noStrike">
                <a:solidFill>
                  <a:srgbClr val="FFFFFF"/>
                </a:solidFill>
                <a:latin typeface="Calibri"/>
                <a:ea typeface="Calibri"/>
                <a:cs typeface="Calibri"/>
                <a:sym typeface="Calibri"/>
              </a:rPr>
              <a:t>VOLUNTEERS</a:t>
            </a:r>
          </a:p>
          <a:p>
            <a:pPr indent="0" lvl="0" marL="0" marR="0" rtl="0" algn="ctr">
              <a:lnSpc>
                <a:spcPct val="100000"/>
              </a:lnSpc>
              <a:spcBef>
                <a:spcPts val="0"/>
              </a:spcBef>
              <a:spcAft>
                <a:spcPts val="0"/>
              </a:spcAft>
              <a:buClr>
                <a:srgbClr val="000000"/>
              </a:buClr>
              <a:buFont typeface="Oswald"/>
              <a:buNone/>
            </a:pPr>
            <a:r>
              <a:t/>
            </a:r>
            <a:endParaRPr b="0" i="0" sz="700" u="none" cap="none" strike="noStrike">
              <a:solidFill>
                <a:srgbClr val="FFFFFF"/>
              </a:solidFill>
              <a:latin typeface="Calibri"/>
              <a:ea typeface="Calibri"/>
              <a:cs typeface="Calibri"/>
              <a:sym typeface="Calibri"/>
            </a:endParaRPr>
          </a:p>
        </p:txBody>
      </p:sp>
      <p:sp>
        <p:nvSpPr>
          <p:cNvPr id="232" name="Shape 232"/>
          <p:cNvSpPr/>
          <p:nvPr/>
        </p:nvSpPr>
        <p:spPr>
          <a:xfrm>
            <a:off x="7278825" y="1961332"/>
            <a:ext cx="1393800" cy="2729700"/>
          </a:xfrm>
          <a:prstGeom prst="roundRect">
            <a:avLst>
              <a:gd fmla="val 9406" name="adj"/>
            </a:avLst>
          </a:prstGeom>
          <a:solidFill>
            <a:srgbClr val="FFFFFF"/>
          </a:solidFill>
          <a:ln cap="flat" cmpd="sng" w="25400">
            <a:solidFill>
              <a:srgbClr val="FFFFFF"/>
            </a:solidFill>
            <a:prstDash val="solid"/>
            <a:miter/>
            <a:headEnd len="med" w="med" type="none"/>
            <a:tailEnd len="med" w="med" type="none"/>
          </a:ln>
        </p:spPr>
        <p:txBody>
          <a:bodyPr anchorCtr="0" anchor="ctr" bIns="0" lIns="0" rIns="0" tIns="0">
            <a:noAutofit/>
          </a:bodyPr>
          <a:lstStyle/>
          <a:p>
            <a:pPr indent="0" lvl="0" marL="0" marR="0" rtl="0" algn="ctr">
              <a:lnSpc>
                <a:spcPct val="100000"/>
              </a:lnSpc>
              <a:spcBef>
                <a:spcPts val="0"/>
              </a:spcBef>
              <a:spcAft>
                <a:spcPts val="0"/>
              </a:spcAft>
              <a:buClr>
                <a:srgbClr val="FFFFFF"/>
              </a:buClr>
              <a:buFont typeface="Arial"/>
              <a:buNone/>
            </a:pPr>
            <a:r>
              <a:t/>
            </a:r>
            <a:endParaRPr b="0" i="0" sz="1500" u="none" cap="none" strike="noStrike">
              <a:solidFill>
                <a:srgbClr val="FFFFFF"/>
              </a:solidFill>
              <a:latin typeface="Arial"/>
              <a:ea typeface="Arial"/>
              <a:cs typeface="Arial"/>
              <a:sym typeface="Arial"/>
            </a:endParaRPr>
          </a:p>
        </p:txBody>
      </p:sp>
      <p:cxnSp>
        <p:nvCxnSpPr>
          <p:cNvPr id="233" name="Shape 233"/>
          <p:cNvCxnSpPr/>
          <p:nvPr/>
        </p:nvCxnSpPr>
        <p:spPr>
          <a:xfrm>
            <a:off x="7159767" y="1790895"/>
            <a:ext cx="1633500" cy="0"/>
          </a:xfrm>
          <a:prstGeom prst="straightConnector1">
            <a:avLst/>
          </a:prstGeom>
          <a:noFill/>
          <a:ln cap="flat" cmpd="sng" w="25400">
            <a:solidFill>
              <a:srgbClr val="FFFFFF"/>
            </a:solidFill>
            <a:prstDash val="solid"/>
            <a:miter/>
            <a:headEnd len="med" w="med" type="none"/>
            <a:tailEnd len="med" w="med" type="none"/>
          </a:ln>
        </p:spPr>
      </p:cxnSp>
      <p:pic>
        <p:nvPicPr>
          <p:cNvPr descr="community-150124_1280.png" id="234" name="Shape 234"/>
          <p:cNvPicPr preferRelativeResize="0"/>
          <p:nvPr/>
        </p:nvPicPr>
        <p:blipFill rotWithShape="1">
          <a:blip r:embed="rId11">
            <a:alphaModFix/>
          </a:blip>
          <a:srcRect b="0" l="0" r="0" t="0"/>
          <a:stretch/>
        </p:blipFill>
        <p:spPr>
          <a:xfrm>
            <a:off x="7519885" y="2474322"/>
            <a:ext cx="958800" cy="478500"/>
          </a:xfrm>
          <a:prstGeom prst="rect">
            <a:avLst/>
          </a:prstGeom>
          <a:noFill/>
          <a:ln>
            <a:noFill/>
          </a:ln>
        </p:spPr>
      </p:pic>
      <p:pic>
        <p:nvPicPr>
          <p:cNvPr descr="community-150124_1280.png" id="235" name="Shape 235"/>
          <p:cNvPicPr preferRelativeResize="0"/>
          <p:nvPr/>
        </p:nvPicPr>
        <p:blipFill rotWithShape="1">
          <a:blip r:embed="rId11">
            <a:alphaModFix/>
          </a:blip>
          <a:srcRect b="0" l="0" r="0" t="0"/>
          <a:stretch/>
        </p:blipFill>
        <p:spPr>
          <a:xfrm>
            <a:off x="7519885" y="3007722"/>
            <a:ext cx="958800" cy="478500"/>
          </a:xfrm>
          <a:prstGeom prst="rect">
            <a:avLst/>
          </a:prstGeom>
          <a:noFill/>
          <a:ln>
            <a:noFill/>
          </a:ln>
        </p:spPr>
      </p:pic>
      <p:pic>
        <p:nvPicPr>
          <p:cNvPr descr="community-150124_1280.png" id="236" name="Shape 236"/>
          <p:cNvPicPr preferRelativeResize="0"/>
          <p:nvPr/>
        </p:nvPicPr>
        <p:blipFill rotWithShape="1">
          <a:blip r:embed="rId11">
            <a:alphaModFix/>
          </a:blip>
          <a:srcRect b="0" l="0" r="0" t="0"/>
          <a:stretch/>
        </p:blipFill>
        <p:spPr>
          <a:xfrm>
            <a:off x="7519885" y="3549457"/>
            <a:ext cx="958800" cy="478500"/>
          </a:xfrm>
          <a:prstGeom prst="rect">
            <a:avLst/>
          </a:prstGeom>
          <a:noFill/>
          <a:ln>
            <a:noFill/>
          </a:ln>
        </p:spPr>
      </p:pic>
      <p:pic>
        <p:nvPicPr>
          <p:cNvPr id="237" name="Shape 237"/>
          <p:cNvPicPr preferRelativeResize="0"/>
          <p:nvPr/>
        </p:nvPicPr>
        <p:blipFill rotWithShape="1">
          <a:blip r:embed="rId12">
            <a:alphaModFix/>
          </a:blip>
          <a:srcRect b="0" l="0" r="0" t="0"/>
          <a:stretch/>
        </p:blipFill>
        <p:spPr>
          <a:xfrm>
            <a:off x="2440125" y="3866155"/>
            <a:ext cx="912900" cy="324000"/>
          </a:xfrm>
          <a:prstGeom prst="rect">
            <a:avLst/>
          </a:prstGeom>
          <a:noFill/>
          <a:ln>
            <a:noFill/>
          </a:ln>
        </p:spPr>
      </p:pic>
      <p:pic>
        <p:nvPicPr>
          <p:cNvPr id="238" name="Shape 238"/>
          <p:cNvPicPr preferRelativeResize="0"/>
          <p:nvPr/>
        </p:nvPicPr>
        <p:blipFill rotWithShape="1">
          <a:blip r:embed="rId13">
            <a:alphaModFix/>
          </a:blip>
          <a:srcRect b="0" l="0" r="0" t="0"/>
          <a:stretch/>
        </p:blipFill>
        <p:spPr>
          <a:xfrm>
            <a:off x="4679367" y="2069018"/>
            <a:ext cx="581100" cy="294000"/>
          </a:xfrm>
          <a:prstGeom prst="rect">
            <a:avLst/>
          </a:prstGeom>
          <a:noFill/>
          <a:ln>
            <a:noFill/>
          </a:ln>
        </p:spPr>
      </p:pic>
      <p:cxnSp>
        <p:nvCxnSpPr>
          <p:cNvPr id="239" name="Shape 239"/>
          <p:cNvCxnSpPr/>
          <p:nvPr/>
        </p:nvCxnSpPr>
        <p:spPr>
          <a:xfrm>
            <a:off x="3773630" y="1765892"/>
            <a:ext cx="1635000" cy="0"/>
          </a:xfrm>
          <a:prstGeom prst="straightConnector1">
            <a:avLst/>
          </a:prstGeom>
          <a:noFill/>
          <a:ln cap="flat" cmpd="sng" w="25400">
            <a:solidFill>
              <a:srgbClr val="FFFFFF"/>
            </a:solidFill>
            <a:prstDash val="solid"/>
            <a:miter/>
            <a:headEnd len="med" w="med" type="none"/>
            <a:tailEnd len="med" w="med" type="none"/>
          </a:ln>
        </p:spPr>
      </p:cxnSp>
      <p:sp>
        <p:nvSpPr>
          <p:cNvPr id="240" name="Shape 240"/>
          <p:cNvSpPr txBox="1"/>
          <p:nvPr/>
        </p:nvSpPr>
        <p:spPr>
          <a:xfrm>
            <a:off x="5558725" y="2613925"/>
            <a:ext cx="1393800" cy="58470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Calibri"/>
              <a:buNone/>
            </a:pPr>
            <a:r>
              <a:rPr b="1" lang="en" sz="1600">
                <a:latin typeface="Calibri"/>
                <a:ea typeface="Calibri"/>
                <a:cs typeface="Calibri"/>
                <a:sym typeface="Calibri"/>
              </a:rPr>
              <a:t>4</a:t>
            </a:r>
            <a:r>
              <a:rPr b="1" i="0" lang="en" sz="1600" u="none" cap="none" strike="noStrike">
                <a:solidFill>
                  <a:srgbClr val="000000"/>
                </a:solidFill>
                <a:latin typeface="Calibri"/>
                <a:ea typeface="Calibri"/>
                <a:cs typeface="Calibri"/>
                <a:sym typeface="Calibri"/>
              </a:rPr>
              <a:t>0+ </a:t>
            </a:r>
            <a:r>
              <a:rPr b="1" lang="en" sz="1600">
                <a:latin typeface="Calibri"/>
                <a:ea typeface="Calibri"/>
                <a:cs typeface="Calibri"/>
                <a:sym typeface="Calibri"/>
              </a:rPr>
              <a:t>Organizations</a:t>
            </a:r>
          </a:p>
        </p:txBody>
      </p:sp>
      <p:pic>
        <p:nvPicPr>
          <p:cNvPr descr="verizon_2015_logo_detail.png" id="241" name="Shape 241"/>
          <p:cNvPicPr preferRelativeResize="0"/>
          <p:nvPr/>
        </p:nvPicPr>
        <p:blipFill rotWithShape="1">
          <a:blip r:embed="rId14">
            <a:alphaModFix/>
          </a:blip>
          <a:srcRect b="0" l="0" r="0" t="0"/>
          <a:stretch/>
        </p:blipFill>
        <p:spPr>
          <a:xfrm>
            <a:off x="2467953" y="4325561"/>
            <a:ext cx="802800" cy="183000"/>
          </a:xfrm>
          <a:prstGeom prst="rect">
            <a:avLst/>
          </a:prstGeom>
          <a:noFill/>
          <a:ln>
            <a:noFill/>
          </a:ln>
        </p:spPr>
      </p:pic>
      <p:pic>
        <p:nvPicPr>
          <p:cNvPr id="242" name="Shape 242"/>
          <p:cNvPicPr preferRelativeResize="0"/>
          <p:nvPr/>
        </p:nvPicPr>
        <p:blipFill rotWithShape="1">
          <a:blip r:embed="rId15">
            <a:alphaModFix/>
          </a:blip>
          <a:srcRect b="0" l="0" r="0" t="0"/>
          <a:stretch/>
        </p:blipFill>
        <p:spPr>
          <a:xfrm>
            <a:off x="4173064" y="3755424"/>
            <a:ext cx="866100" cy="143700"/>
          </a:xfrm>
          <a:prstGeom prst="rect">
            <a:avLst/>
          </a:prstGeom>
          <a:noFill/>
          <a:ln>
            <a:noFill/>
          </a:ln>
        </p:spPr>
      </p:pic>
      <p:pic>
        <p:nvPicPr>
          <p:cNvPr descr="Samsung_Logo.png" id="243" name="Shape 243"/>
          <p:cNvPicPr preferRelativeResize="0"/>
          <p:nvPr/>
        </p:nvPicPr>
        <p:blipFill>
          <a:blip r:embed="rId16">
            <a:alphaModFix/>
          </a:blip>
          <a:stretch>
            <a:fillRect/>
          </a:stretch>
        </p:blipFill>
        <p:spPr>
          <a:xfrm>
            <a:off x="3927349" y="4051916"/>
            <a:ext cx="1332597" cy="204108"/>
          </a:xfrm>
          <a:prstGeom prst="rect">
            <a:avLst/>
          </a:prstGeom>
          <a:noFill/>
          <a:ln>
            <a:noFill/>
          </a:ln>
        </p:spPr>
      </p:pic>
      <p:pic>
        <p:nvPicPr>
          <p:cNvPr descr="google-logo.png" id="244" name="Shape 244"/>
          <p:cNvPicPr preferRelativeResize="0"/>
          <p:nvPr/>
        </p:nvPicPr>
        <p:blipFill>
          <a:blip r:embed="rId17">
            <a:alphaModFix/>
          </a:blip>
          <a:stretch>
            <a:fillRect/>
          </a:stretch>
        </p:blipFill>
        <p:spPr>
          <a:xfrm>
            <a:off x="2358400" y="2735098"/>
            <a:ext cx="1071599" cy="790749"/>
          </a:xfrm>
          <a:prstGeom prst="rect">
            <a:avLst/>
          </a:prstGeom>
          <a:noFill/>
          <a:ln>
            <a:noFill/>
          </a:ln>
        </p:spPr>
      </p:pic>
      <p:pic>
        <p:nvPicPr>
          <p:cNvPr descr="china-unicom-seeklogo.com.eps" id="245" name="Shape 245"/>
          <p:cNvPicPr preferRelativeResize="0"/>
          <p:nvPr/>
        </p:nvPicPr>
        <p:blipFill rotWithShape="1">
          <a:blip r:embed="rId18">
            <a:alphaModFix/>
          </a:blip>
          <a:srcRect b="0" l="0" r="0" t="0"/>
          <a:stretch/>
        </p:blipFill>
        <p:spPr>
          <a:xfrm>
            <a:off x="2440130" y="2544565"/>
            <a:ext cx="811200" cy="333300"/>
          </a:xfrm>
          <a:prstGeom prst="rect">
            <a:avLst/>
          </a:prstGeom>
          <a:noFill/>
          <a:ln>
            <a:noFill/>
          </a:ln>
        </p:spPr>
      </p:pic>
      <p:pic>
        <p:nvPicPr>
          <p:cNvPr descr="NTT_ComLogo.png" id="246" name="Shape 246"/>
          <p:cNvPicPr preferRelativeResize="0"/>
          <p:nvPr/>
        </p:nvPicPr>
        <p:blipFill rotWithShape="1">
          <a:blip r:embed="rId19">
            <a:alphaModFix/>
          </a:blip>
          <a:srcRect b="0" l="0" r="0" t="0"/>
          <a:stretch/>
        </p:blipFill>
        <p:spPr>
          <a:xfrm>
            <a:off x="2218409" y="3348154"/>
            <a:ext cx="1330200" cy="488100"/>
          </a:xfrm>
          <a:prstGeom prst="rect">
            <a:avLst/>
          </a:prstGeom>
          <a:noFill/>
          <a:ln>
            <a:noFill/>
          </a:ln>
        </p:spPr>
      </p:pic>
      <p:sp>
        <p:nvSpPr>
          <p:cNvPr id="247" name="Shape 247"/>
          <p:cNvSpPr txBox="1"/>
          <p:nvPr/>
        </p:nvSpPr>
        <p:spPr>
          <a:xfrm>
            <a:off x="5684136" y="3376426"/>
            <a:ext cx="1235700" cy="79080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Calibri"/>
              <a:buNone/>
            </a:pPr>
            <a:r>
              <a:rPr b="1" lang="en" sz="1600">
                <a:latin typeface="Calibri"/>
                <a:ea typeface="Calibri"/>
                <a:cs typeface="Calibri"/>
                <a:sym typeface="Calibri"/>
              </a:rPr>
              <a:t>3</a:t>
            </a:r>
            <a:r>
              <a:rPr b="1" lang="en" sz="1600">
                <a:latin typeface="Calibri"/>
                <a:ea typeface="Calibri"/>
                <a:cs typeface="Calibri"/>
                <a:sym typeface="Calibri"/>
              </a:rPr>
              <a:t>0 more in process</a:t>
            </a:r>
          </a:p>
        </p:txBody>
      </p:sp>
      <p:pic>
        <p:nvPicPr>
          <p:cNvPr descr="Radisys.png" id="248" name="Shape 248"/>
          <p:cNvPicPr preferRelativeResize="0"/>
          <p:nvPr/>
        </p:nvPicPr>
        <p:blipFill>
          <a:blip r:embed="rId20">
            <a:alphaModFix/>
          </a:blip>
          <a:stretch>
            <a:fillRect/>
          </a:stretch>
        </p:blipFill>
        <p:spPr>
          <a:xfrm>
            <a:off x="4143697" y="4327437"/>
            <a:ext cx="958799" cy="32833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52" name="Shape 252"/>
        <p:cNvGrpSpPr/>
        <p:nvPr/>
      </p:nvGrpSpPr>
      <p:grpSpPr>
        <a:xfrm>
          <a:off x="0" y="0"/>
          <a:ext cx="0" cy="0"/>
          <a:chOff x="0" y="0"/>
          <a:chExt cx="0" cy="0"/>
        </a:xfrm>
      </p:grpSpPr>
      <p:sp>
        <p:nvSpPr>
          <p:cNvPr id="253" name="Shape 253"/>
          <p:cNvSpPr txBox="1"/>
          <p:nvPr>
            <p:ph type="title"/>
          </p:nvPr>
        </p:nvSpPr>
        <p:spPr>
          <a:xfrm>
            <a:off x="377775" y="-152396"/>
            <a:ext cx="8229600" cy="857400"/>
          </a:xfrm>
          <a:prstGeom prst="rect">
            <a:avLst/>
          </a:prstGeom>
        </p:spPr>
        <p:txBody>
          <a:bodyPr anchorCtr="0" anchor="b" bIns="91425" lIns="91425" rIns="91425" tIns="91425">
            <a:noAutofit/>
          </a:bodyPr>
          <a:lstStyle/>
          <a:p>
            <a:pPr lvl="0">
              <a:spcBef>
                <a:spcPts val="0"/>
              </a:spcBef>
              <a:buNone/>
            </a:pPr>
            <a:r>
              <a:rPr lang="en" sz="2400"/>
              <a:t>Huawei Launches Controller Based on ONOS</a:t>
            </a:r>
          </a:p>
        </p:txBody>
      </p:sp>
      <p:pic>
        <p:nvPicPr>
          <p:cNvPr descr="Screen Shot 2016-09-15 at 6.03.32 PM.png" id="254" name="Shape 254"/>
          <p:cNvPicPr preferRelativeResize="0"/>
          <p:nvPr/>
        </p:nvPicPr>
        <p:blipFill>
          <a:blip r:embed="rId3">
            <a:alphaModFix/>
          </a:blip>
          <a:stretch>
            <a:fillRect/>
          </a:stretch>
        </p:blipFill>
        <p:spPr>
          <a:xfrm>
            <a:off x="1287588" y="789100"/>
            <a:ext cx="6409973" cy="4354399"/>
          </a:xfrm>
          <a:prstGeom prst="rect">
            <a:avLst/>
          </a:prstGeom>
          <a:noFill/>
          <a:ln>
            <a:noFill/>
          </a:ln>
        </p:spPr>
      </p:pic>
      <p:sp>
        <p:nvSpPr>
          <p:cNvPr id="255" name="Shape 255"/>
          <p:cNvSpPr txBox="1"/>
          <p:nvPr/>
        </p:nvSpPr>
        <p:spPr>
          <a:xfrm>
            <a:off x="5706525" y="2897150"/>
            <a:ext cx="1755000" cy="1108500"/>
          </a:xfrm>
          <a:prstGeom prst="rect">
            <a:avLst/>
          </a:prstGeom>
          <a:solidFill>
            <a:schemeClr val="lt1"/>
          </a:solidFill>
          <a:ln>
            <a:noFill/>
          </a:ln>
        </p:spPr>
        <p:txBody>
          <a:bodyPr anchorCtr="0" anchor="t" bIns="91425" lIns="91425" rIns="91425" tIns="91425">
            <a:noAutofit/>
          </a:bodyPr>
          <a:lstStyle/>
          <a:p>
            <a:pPr lvl="0">
              <a:spcBef>
                <a:spcPts val="0"/>
              </a:spcBef>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59" name="Shape 259"/>
        <p:cNvGrpSpPr/>
        <p:nvPr/>
      </p:nvGrpSpPr>
      <p:grpSpPr>
        <a:xfrm>
          <a:off x="0" y="0"/>
          <a:ext cx="0" cy="0"/>
          <a:chOff x="0" y="0"/>
          <a:chExt cx="0" cy="0"/>
        </a:xfrm>
      </p:grpSpPr>
      <p:sp>
        <p:nvSpPr>
          <p:cNvPr id="260" name="Shape 260"/>
          <p:cNvSpPr txBox="1"/>
          <p:nvPr>
            <p:ph type="title"/>
          </p:nvPr>
        </p:nvSpPr>
        <p:spPr>
          <a:xfrm>
            <a:off x="377775" y="144875"/>
            <a:ext cx="8229600" cy="636300"/>
          </a:xfrm>
          <a:prstGeom prst="rect">
            <a:avLst/>
          </a:prstGeom>
        </p:spPr>
        <p:txBody>
          <a:bodyPr anchorCtr="0" anchor="b" bIns="91425" lIns="91425" rIns="91425" tIns="91425">
            <a:noAutofit/>
          </a:bodyPr>
          <a:lstStyle/>
          <a:p>
            <a:pPr lvl="0">
              <a:spcBef>
                <a:spcPts val="0"/>
              </a:spcBef>
              <a:buNone/>
            </a:pPr>
            <a:r>
              <a:rPr lang="en"/>
              <a:t>Ciena’s Commercial ONOS Offering </a:t>
            </a:r>
          </a:p>
        </p:txBody>
      </p:sp>
      <p:pic>
        <p:nvPicPr>
          <p:cNvPr descr="Screen Shot 2016-09-18 at 9.59.36 AM.png" id="261" name="Shape 261"/>
          <p:cNvPicPr preferRelativeResize="0"/>
          <p:nvPr/>
        </p:nvPicPr>
        <p:blipFill>
          <a:blip r:embed="rId3">
            <a:alphaModFix/>
          </a:blip>
          <a:stretch>
            <a:fillRect/>
          </a:stretch>
        </p:blipFill>
        <p:spPr>
          <a:xfrm>
            <a:off x="0" y="707894"/>
            <a:ext cx="9144002" cy="448971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65" name="Shape 265"/>
        <p:cNvGrpSpPr/>
        <p:nvPr/>
      </p:nvGrpSpPr>
      <p:grpSpPr>
        <a:xfrm>
          <a:off x="0" y="0"/>
          <a:ext cx="0" cy="0"/>
          <a:chOff x="0" y="0"/>
          <a:chExt cx="0" cy="0"/>
        </a:xfrm>
      </p:grpSpPr>
      <p:sp>
        <p:nvSpPr>
          <p:cNvPr id="266" name="Shape 266"/>
          <p:cNvSpPr txBox="1"/>
          <p:nvPr/>
        </p:nvSpPr>
        <p:spPr>
          <a:xfrm>
            <a:off x="1420955" y="2547257"/>
            <a:ext cx="2458090" cy="346248"/>
          </a:xfrm>
          <a:prstGeom prst="rect">
            <a:avLst/>
          </a:prstGeom>
          <a:noFill/>
          <a:ln>
            <a:noFill/>
          </a:ln>
        </p:spPr>
        <p:txBody>
          <a:bodyPr anchorCtr="0" anchor="t" bIns="34275" lIns="68575" rIns="68575" tIns="342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267" name="Shape 267"/>
          <p:cNvGraphicFramePr/>
          <p:nvPr/>
        </p:nvGraphicFramePr>
        <p:xfrm>
          <a:off x="217374" y="674409"/>
          <a:ext cx="3000000" cy="3000000"/>
        </p:xfrm>
        <a:graphic>
          <a:graphicData uri="http://schemas.openxmlformats.org/drawingml/2006/table">
            <a:tbl>
              <a:tblPr bandRow="1" firstRow="1">
                <a:noFill/>
                <a:tableStyleId>{8A59A1B7-CD78-43B1-B6B9-115EB682D11B}</a:tableStyleId>
              </a:tblPr>
              <a:tblGrid>
                <a:gridCol w="1524000"/>
                <a:gridCol w="2080475"/>
                <a:gridCol w="1322950"/>
                <a:gridCol w="1314775"/>
              </a:tblGrid>
              <a:tr h="702125">
                <a:tc>
                  <a:txBody>
                    <a:bodyPr>
                      <a:noAutofit/>
                    </a:bodyPr>
                    <a:lstStyle/>
                    <a:p>
                      <a:pPr indent="0" lvl="0" marL="0" marR="0" rtl="0" algn="l">
                        <a:spcBef>
                          <a:spcPts val="0"/>
                        </a:spcBef>
                        <a:buSzPct val="25000"/>
                        <a:buNone/>
                      </a:pPr>
                      <a:r>
                        <a:t/>
                      </a:r>
                      <a:endParaRPr sz="1400"/>
                    </a:p>
                  </a:txBody>
                  <a:tcPr marT="34300" marB="34300" marR="68600" marL="68600"/>
                </a:tc>
                <a:tc>
                  <a:txBody>
                    <a:bodyPr>
                      <a:noAutofit/>
                    </a:bodyPr>
                    <a:lstStyle/>
                    <a:p>
                      <a:pPr indent="0" lvl="0" marL="0" marR="0" rtl="0" algn="l">
                        <a:lnSpc>
                          <a:spcPct val="100000"/>
                        </a:lnSpc>
                        <a:spcBef>
                          <a:spcPts val="0"/>
                        </a:spcBef>
                        <a:spcAft>
                          <a:spcPts val="0"/>
                        </a:spcAft>
                        <a:buClr>
                          <a:schemeClr val="lt1"/>
                        </a:buClr>
                        <a:buSzPct val="25000"/>
                        <a:buFont typeface="Arial"/>
                        <a:buNone/>
                      </a:pPr>
                      <a:r>
                        <a:rPr b="1" lang="en" sz="1500">
                          <a:solidFill>
                            <a:schemeClr val="lt1"/>
                          </a:solidFill>
                        </a:rPr>
                        <a:t>BP ONOS CONTROLLER</a:t>
                      </a:r>
                      <a:r>
                        <a:rPr b="1" lang="en" sz="1500">
                          <a:solidFill>
                            <a:schemeClr val="lt1"/>
                          </a:solidFill>
                        </a:rPr>
                        <a:t> SW</a:t>
                      </a:r>
                    </a:p>
                  </a:txBody>
                  <a:tcPr marT="34300" marB="34300" marR="68600" marL="68600"/>
                </a:tc>
                <a:tc>
                  <a:txBody>
                    <a:bodyPr>
                      <a:noAutofit/>
                    </a:bodyPr>
                    <a:lstStyle/>
                    <a:p>
                      <a:pPr indent="0" lvl="0" marL="0" marR="0" rtl="0" algn="l">
                        <a:lnSpc>
                          <a:spcPct val="100000"/>
                        </a:lnSpc>
                        <a:spcBef>
                          <a:spcPts val="0"/>
                        </a:spcBef>
                        <a:spcAft>
                          <a:spcPts val="0"/>
                        </a:spcAft>
                        <a:buClr>
                          <a:schemeClr val="lt1"/>
                        </a:buClr>
                        <a:buSzPct val="25000"/>
                        <a:buFont typeface="Arial"/>
                        <a:buNone/>
                      </a:pPr>
                      <a:r>
                        <a:rPr lang="en" sz="1800"/>
                        <a:t>Jun 2016</a:t>
                      </a:r>
                    </a:p>
                    <a:p>
                      <a:pPr indent="0" lvl="0" marL="0" marR="0" rtl="0" algn="ctr">
                        <a:spcBef>
                          <a:spcPts val="0"/>
                        </a:spcBef>
                        <a:buSzPct val="25000"/>
                        <a:buNone/>
                      </a:pPr>
                      <a:r>
                        <a:rPr b="1" lang="en" sz="1100">
                          <a:solidFill>
                            <a:schemeClr val="lt1"/>
                          </a:solidFill>
                        </a:rPr>
                        <a:t>GA</a:t>
                      </a:r>
                    </a:p>
                  </a:txBody>
                  <a:tcPr marT="34300" marB="34300" marR="68600" marL="68600"/>
                </a:tc>
                <a:tc>
                  <a:txBody>
                    <a:bodyPr>
                      <a:noAutofit/>
                    </a:bodyPr>
                    <a:lstStyle/>
                    <a:p>
                      <a:pPr indent="0" lvl="0" marL="0" marR="0" rtl="0" algn="l">
                        <a:lnSpc>
                          <a:spcPct val="100000"/>
                        </a:lnSpc>
                        <a:spcBef>
                          <a:spcPts val="0"/>
                        </a:spcBef>
                        <a:spcAft>
                          <a:spcPts val="0"/>
                        </a:spcAft>
                        <a:buClr>
                          <a:schemeClr val="lt1"/>
                        </a:buClr>
                        <a:buSzPct val="25000"/>
                        <a:buFont typeface="Arial"/>
                        <a:buNone/>
                      </a:pPr>
                      <a:r>
                        <a:rPr b="1" lang="en" sz="1800">
                          <a:solidFill>
                            <a:schemeClr val="lt1"/>
                          </a:solidFill>
                          <a:latin typeface="Arial"/>
                          <a:ea typeface="Arial"/>
                          <a:cs typeface="Arial"/>
                          <a:sym typeface="Arial"/>
                        </a:rPr>
                        <a:t>Dec</a:t>
                      </a:r>
                      <a:r>
                        <a:rPr b="1" lang="en" sz="1800">
                          <a:solidFill>
                            <a:schemeClr val="lt1"/>
                          </a:solidFill>
                          <a:latin typeface="Arial"/>
                          <a:ea typeface="Arial"/>
                          <a:cs typeface="Arial"/>
                          <a:sym typeface="Arial"/>
                        </a:rPr>
                        <a:t> </a:t>
                      </a:r>
                      <a:r>
                        <a:rPr b="1" lang="en" sz="1800">
                          <a:solidFill>
                            <a:schemeClr val="lt1"/>
                          </a:solidFill>
                          <a:latin typeface="Arial"/>
                          <a:ea typeface="Arial"/>
                          <a:cs typeface="Arial"/>
                          <a:sym typeface="Arial"/>
                        </a:rPr>
                        <a:t>CY16</a:t>
                      </a:r>
                    </a:p>
                  </a:txBody>
                  <a:tcPr marT="34300" marB="34300" marR="68600" marL="68600"/>
                </a:tc>
              </a:tr>
              <a:tr h="420450">
                <a:tc>
                  <a:txBody>
                    <a:bodyPr>
                      <a:noAutofit/>
                    </a:bodyPr>
                    <a:lstStyle/>
                    <a:p>
                      <a:pPr indent="0" lvl="0" marL="0" marR="0" rtl="0" algn="l">
                        <a:spcBef>
                          <a:spcPts val="0"/>
                        </a:spcBef>
                        <a:buSzPct val="25000"/>
                        <a:buNone/>
                      </a:pPr>
                      <a:r>
                        <a:rPr lang="en" sz="1200">
                          <a:solidFill>
                            <a:schemeClr val="dk1"/>
                          </a:solidFill>
                          <a:latin typeface="Arial"/>
                          <a:ea typeface="Arial"/>
                          <a:cs typeface="Arial"/>
                          <a:sym typeface="Arial"/>
                        </a:rPr>
                        <a:t>TARGET CUSTOMERS</a:t>
                      </a:r>
                    </a:p>
                  </a:txBody>
                  <a:tcPr marT="34300" marB="34300" marR="68600" marL="68600"/>
                </a:tc>
                <a:tc>
                  <a:txBody>
                    <a:bodyPr>
                      <a:noAutofit/>
                    </a:bodyPr>
                    <a:lstStyle/>
                    <a:p>
                      <a:pPr indent="0" lvl="0" marL="0" marR="0" rtl="0" algn="l">
                        <a:lnSpc>
                          <a:spcPct val="100000"/>
                        </a:lnSpc>
                        <a:spcBef>
                          <a:spcPts val="0"/>
                        </a:spcBef>
                        <a:spcAft>
                          <a:spcPts val="0"/>
                        </a:spcAft>
                        <a:buClr>
                          <a:srgbClr val="000000"/>
                        </a:buClr>
                        <a:buSzPct val="25000"/>
                        <a:buFont typeface="Arial"/>
                        <a:buNone/>
                      </a:pPr>
                      <a:r>
                        <a:rPr b="0" i="0" lang="en" sz="900" u="none" cap="none" strike="noStrike">
                          <a:solidFill>
                            <a:srgbClr val="000000"/>
                          </a:solidFill>
                          <a:latin typeface="Arial"/>
                          <a:ea typeface="Arial"/>
                          <a:cs typeface="Arial"/>
                          <a:sym typeface="Arial"/>
                        </a:rPr>
                        <a:t>Network operators who want to create their own solution using BP ONOS controller</a:t>
                      </a:r>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r>
              <a:tr h="333100">
                <a:tc rowSpan="5">
                  <a:txBody>
                    <a:bodyPr>
                      <a:noAutofit/>
                    </a:bodyPr>
                    <a:lstStyle/>
                    <a:p>
                      <a:pPr indent="0" lvl="0" marL="0" marR="0" rtl="0" algn="l">
                        <a:spcBef>
                          <a:spcPts val="0"/>
                        </a:spcBef>
                        <a:buSzPct val="25000"/>
                        <a:buNone/>
                      </a:pPr>
                      <a:r>
                        <a:t/>
                      </a:r>
                      <a:endParaRPr sz="1400"/>
                    </a:p>
                    <a:p>
                      <a:pPr indent="0" lvl="0" marL="0" marR="0" rtl="0" algn="l">
                        <a:spcBef>
                          <a:spcPts val="0"/>
                        </a:spcBef>
                        <a:buSzPct val="25000"/>
                        <a:buNone/>
                      </a:pPr>
                      <a:r>
                        <a:t/>
                      </a:r>
                      <a:endParaRPr sz="1400"/>
                    </a:p>
                    <a:p>
                      <a:pPr indent="0" lvl="0" marL="0" marR="0" rtl="0" algn="l">
                        <a:spcBef>
                          <a:spcPts val="0"/>
                        </a:spcBef>
                        <a:buSzPct val="25000"/>
                        <a:buNone/>
                      </a:pPr>
                      <a:r>
                        <a:rPr lang="en" sz="1200"/>
                        <a:t>SUBSCRIPTION</a:t>
                      </a:r>
                      <a:r>
                        <a:rPr lang="en" sz="1200"/>
                        <a:t>S </a:t>
                      </a:r>
                      <a:r>
                        <a:rPr lang="en" sz="1200"/>
                        <a:t>INCLUDE </a:t>
                      </a:r>
                    </a:p>
                  </a:txBody>
                  <a:tcPr marT="34300" marB="34300" marR="68600" marL="68600"/>
                </a:tc>
                <a:tc>
                  <a:txBody>
                    <a:bodyPr>
                      <a:noAutofit/>
                    </a:bodyPr>
                    <a:lstStyle/>
                    <a:p>
                      <a:pPr indent="0" lvl="0" marL="0" marR="0" rtl="0" algn="l">
                        <a:lnSpc>
                          <a:spcPct val="100000"/>
                        </a:lnSpc>
                        <a:spcBef>
                          <a:spcPts val="0"/>
                        </a:spcBef>
                        <a:spcAft>
                          <a:spcPts val="0"/>
                        </a:spcAft>
                        <a:buClr>
                          <a:srgbClr val="000000"/>
                        </a:buClr>
                        <a:buSzPct val="25000"/>
                        <a:buFont typeface="Arial"/>
                        <a:buNone/>
                      </a:pPr>
                      <a:r>
                        <a:rPr b="0" i="0" lang="en" sz="900" u="none" cap="none" strike="noStrike">
                          <a:solidFill>
                            <a:srgbClr val="000000"/>
                          </a:solidFill>
                          <a:latin typeface="Arial"/>
                          <a:ea typeface="Arial"/>
                          <a:cs typeface="Arial"/>
                          <a:sym typeface="Arial"/>
                        </a:rPr>
                        <a:t>Commercial hardened distribution of ONOS controller software</a:t>
                      </a:r>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r>
              <a:tr h="226950">
                <a:tc vMerge="1"/>
                <a:tc>
                  <a:txBody>
                    <a:bodyPr>
                      <a:noAutofit/>
                    </a:bodyPr>
                    <a:lstStyle/>
                    <a:p>
                      <a:pPr indent="0" lvl="0" marL="0" marR="0" rtl="0" algn="l">
                        <a:lnSpc>
                          <a:spcPct val="100000"/>
                        </a:lnSpc>
                        <a:spcBef>
                          <a:spcPts val="0"/>
                        </a:spcBef>
                        <a:spcAft>
                          <a:spcPts val="0"/>
                        </a:spcAft>
                        <a:buClr>
                          <a:srgbClr val="000000"/>
                        </a:buClr>
                        <a:buSzPct val="25000"/>
                        <a:buFont typeface="Arial"/>
                        <a:buNone/>
                      </a:pPr>
                      <a:r>
                        <a:rPr b="0" i="0" lang="en" sz="900" u="none" cap="none" strike="noStrike">
                          <a:solidFill>
                            <a:srgbClr val="000000"/>
                          </a:solidFill>
                          <a:latin typeface="Arial"/>
                          <a:ea typeface="Arial"/>
                          <a:cs typeface="Arial"/>
                          <a:sym typeface="Arial"/>
                        </a:rPr>
                        <a:t>24/7 Support</a:t>
                      </a:r>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r>
              <a:tr h="344525">
                <a:tc vMerge="1"/>
                <a:tc>
                  <a:txBody>
                    <a:bodyPr>
                      <a:noAutofit/>
                    </a:bodyPr>
                    <a:lstStyle/>
                    <a:p>
                      <a:pPr indent="0" lvl="0" marL="0" marR="0" rtl="0" algn="l">
                        <a:lnSpc>
                          <a:spcPct val="100000"/>
                        </a:lnSpc>
                        <a:spcBef>
                          <a:spcPts val="0"/>
                        </a:spcBef>
                        <a:spcAft>
                          <a:spcPts val="0"/>
                        </a:spcAft>
                        <a:buClr>
                          <a:srgbClr val="000000"/>
                        </a:buClr>
                        <a:buSzPct val="25000"/>
                        <a:buFont typeface="Arial"/>
                        <a:buNone/>
                      </a:pPr>
                      <a:r>
                        <a:rPr b="0" i="0" lang="en" sz="900" u="none" cap="none" strike="noStrike">
                          <a:solidFill>
                            <a:srgbClr val="000000"/>
                          </a:solidFill>
                          <a:latin typeface="Arial"/>
                          <a:ea typeface="Arial"/>
                          <a:cs typeface="Arial"/>
                          <a:sym typeface="Arial"/>
                        </a:rPr>
                        <a:t>Bug fixes, and changes contributed back to open source (no forking!)</a:t>
                      </a:r>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r>
              <a:tr h="236750">
                <a:tc vMerge="1"/>
                <a:tc>
                  <a:txBody>
                    <a:bodyPr>
                      <a:noAutofit/>
                    </a:bodyPr>
                    <a:lstStyle/>
                    <a:p>
                      <a:pPr indent="0" lvl="0" marL="0" marR="0" rtl="0" algn="l">
                        <a:lnSpc>
                          <a:spcPct val="100000"/>
                        </a:lnSpc>
                        <a:spcBef>
                          <a:spcPts val="0"/>
                        </a:spcBef>
                        <a:spcAft>
                          <a:spcPts val="0"/>
                        </a:spcAft>
                        <a:buClr>
                          <a:srgbClr val="000000"/>
                        </a:buClr>
                        <a:buSzPct val="25000"/>
                        <a:buFont typeface="Arial"/>
                        <a:buNone/>
                      </a:pPr>
                      <a:r>
                        <a:rPr b="0" i="0" lang="en" sz="900" u="none" cap="none" strike="noStrike">
                          <a:solidFill>
                            <a:srgbClr val="000000"/>
                          </a:solidFill>
                          <a:latin typeface="Arial"/>
                          <a:ea typeface="Arial"/>
                          <a:cs typeface="Arial"/>
                          <a:sym typeface="Arial"/>
                        </a:rPr>
                        <a:t>Product documentation</a:t>
                      </a:r>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r>
              <a:tr h="264525">
                <a:tc vMerge="1"/>
                <a:tc>
                  <a:txBody>
                    <a:bodyPr>
                      <a:noAutofit/>
                    </a:bodyPr>
                    <a:lstStyle/>
                    <a:p>
                      <a:pPr indent="0" lvl="0" marL="0" marR="0" rtl="0" algn="l">
                        <a:lnSpc>
                          <a:spcPct val="100000"/>
                        </a:lnSpc>
                        <a:spcBef>
                          <a:spcPts val="0"/>
                        </a:spcBef>
                        <a:spcAft>
                          <a:spcPts val="0"/>
                        </a:spcAft>
                        <a:buClr>
                          <a:srgbClr val="000000"/>
                        </a:buClr>
                        <a:buSzPct val="25000"/>
                        <a:buFont typeface="Arial"/>
                        <a:buNone/>
                      </a:pPr>
                      <a:r>
                        <a:rPr b="0" i="0" lang="en" sz="900" u="none" cap="none" strike="noStrike">
                          <a:solidFill>
                            <a:srgbClr val="000000"/>
                          </a:solidFill>
                          <a:latin typeface="Arial"/>
                          <a:ea typeface="Arial"/>
                          <a:cs typeface="Arial"/>
                          <a:sym typeface="Arial"/>
                        </a:rPr>
                        <a:t>Integration with Blue Planet software (ONOS RA)</a:t>
                      </a:r>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r>
              <a:tr h="336375">
                <a:tc rowSpan="3">
                  <a:txBody>
                    <a:bodyPr>
                      <a:noAutofit/>
                    </a:bodyPr>
                    <a:lstStyle/>
                    <a:p>
                      <a:pPr indent="0" lvl="0" marL="0" marR="0" rtl="0" algn="ctr">
                        <a:lnSpc>
                          <a:spcPct val="100000"/>
                        </a:lnSpc>
                        <a:spcBef>
                          <a:spcPts val="0"/>
                        </a:spcBef>
                        <a:spcAft>
                          <a:spcPts val="0"/>
                        </a:spcAft>
                        <a:buClr>
                          <a:schemeClr val="dk1"/>
                        </a:buClr>
                        <a:buSzPct val="25000"/>
                        <a:buFont typeface="Arial"/>
                        <a:buNone/>
                      </a:pPr>
                      <a:r>
                        <a:t/>
                      </a:r>
                      <a:endParaRPr b="0" i="0" sz="1200" u="none" cap="none" strike="noStrike">
                        <a:solidFill>
                          <a:srgbClr val="364450"/>
                        </a:solidFill>
                        <a:latin typeface="Arial"/>
                        <a:ea typeface="Arial"/>
                        <a:cs typeface="Arial"/>
                        <a:sym typeface="Arial"/>
                      </a:endParaRPr>
                    </a:p>
                    <a:p>
                      <a:pPr indent="0" lvl="0" marL="0" marR="0" rtl="0" algn="l">
                        <a:lnSpc>
                          <a:spcPct val="100000"/>
                        </a:lnSpc>
                        <a:spcBef>
                          <a:spcPts val="0"/>
                        </a:spcBef>
                        <a:spcAft>
                          <a:spcPts val="0"/>
                        </a:spcAft>
                        <a:buClr>
                          <a:srgbClr val="364450"/>
                        </a:buClr>
                        <a:buSzPct val="25000"/>
                        <a:buFont typeface="Arial"/>
                        <a:buNone/>
                      </a:pPr>
                      <a:r>
                        <a:rPr b="0" i="0" lang="en" sz="1200" u="none" cap="none" strike="noStrike">
                          <a:solidFill>
                            <a:srgbClr val="364450"/>
                          </a:solidFill>
                          <a:latin typeface="Arial"/>
                          <a:ea typeface="Arial"/>
                          <a:cs typeface="Arial"/>
                          <a:sym typeface="Arial"/>
                        </a:rPr>
                        <a:t>ADDITIONAL SERVICES</a:t>
                      </a:r>
                    </a:p>
                    <a:p>
                      <a:pPr indent="0" lvl="0" marL="0" marR="0" rtl="0" algn="l">
                        <a:spcBef>
                          <a:spcPts val="0"/>
                        </a:spcBef>
                        <a:buSzPct val="25000"/>
                        <a:buNone/>
                      </a:pPr>
                      <a:r>
                        <a:t/>
                      </a:r>
                      <a:endParaRPr sz="1400"/>
                    </a:p>
                  </a:txBody>
                  <a:tcPr marT="34300" marB="34300" marR="68600" marL="68600"/>
                </a:tc>
                <a:tc>
                  <a:txBody>
                    <a:bodyPr>
                      <a:noAutofit/>
                    </a:bodyPr>
                    <a:lstStyle/>
                    <a:p>
                      <a:pPr indent="0" lvl="0" marL="0" marR="0" rtl="0" algn="l">
                        <a:lnSpc>
                          <a:spcPct val="100000"/>
                        </a:lnSpc>
                        <a:spcBef>
                          <a:spcPts val="0"/>
                        </a:spcBef>
                        <a:spcAft>
                          <a:spcPts val="0"/>
                        </a:spcAft>
                        <a:buClr>
                          <a:srgbClr val="000000"/>
                        </a:buClr>
                        <a:buSzPct val="25000"/>
                        <a:buFont typeface="Arial"/>
                        <a:buNone/>
                      </a:pPr>
                      <a:r>
                        <a:rPr b="0" i="0" lang="en" sz="900" u="none" cap="none" strike="noStrike">
                          <a:solidFill>
                            <a:srgbClr val="000000"/>
                          </a:solidFill>
                          <a:latin typeface="Arial"/>
                          <a:ea typeface="Arial"/>
                          <a:cs typeface="Arial"/>
                          <a:sym typeface="Arial"/>
                        </a:rPr>
                        <a:t>Web based, self-paced training on BP ONOS controller basics</a:t>
                      </a:r>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r>
              <a:tr h="222075">
                <a:tc vMerge="1"/>
                <a:tc>
                  <a:txBody>
                    <a:bodyPr>
                      <a:noAutofit/>
                    </a:bodyPr>
                    <a:lstStyle/>
                    <a:p>
                      <a:pPr indent="0" lvl="0" marL="0" marR="0" rtl="0" algn="l">
                        <a:lnSpc>
                          <a:spcPct val="100000"/>
                        </a:lnSpc>
                        <a:spcBef>
                          <a:spcPts val="0"/>
                        </a:spcBef>
                        <a:spcAft>
                          <a:spcPts val="0"/>
                        </a:spcAft>
                        <a:buClr>
                          <a:srgbClr val="000000"/>
                        </a:buClr>
                        <a:buSzPct val="25000"/>
                        <a:buFont typeface="Arial"/>
                        <a:buNone/>
                      </a:pPr>
                      <a:r>
                        <a:rPr b="0" i="0" lang="en" sz="900" u="none" cap="none" strike="noStrike">
                          <a:solidFill>
                            <a:srgbClr val="000000"/>
                          </a:solidFill>
                          <a:latin typeface="Arial"/>
                          <a:ea typeface="Arial"/>
                          <a:cs typeface="Arial"/>
                          <a:sym typeface="Arial"/>
                        </a:rPr>
                        <a:t>Instructor-led training</a:t>
                      </a:r>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r>
              <a:tr h="347775">
                <a:tc vMerge="1"/>
                <a:tc>
                  <a:txBody>
                    <a:bodyPr>
                      <a:noAutofit/>
                    </a:bodyPr>
                    <a:lstStyle/>
                    <a:p>
                      <a:pPr indent="0" lvl="0" marL="0" marR="0" rtl="0" algn="l">
                        <a:lnSpc>
                          <a:spcPct val="100000"/>
                        </a:lnSpc>
                        <a:spcBef>
                          <a:spcPts val="0"/>
                        </a:spcBef>
                        <a:spcAft>
                          <a:spcPts val="0"/>
                        </a:spcAft>
                        <a:buClr>
                          <a:srgbClr val="000000"/>
                        </a:buClr>
                        <a:buSzPct val="25000"/>
                        <a:buFont typeface="Arial"/>
                        <a:buNone/>
                      </a:pPr>
                      <a:r>
                        <a:rPr b="0" i="0" lang="en" sz="900" u="none" cap="none" strike="noStrike">
                          <a:solidFill>
                            <a:srgbClr val="000000"/>
                          </a:solidFill>
                          <a:latin typeface="Arial"/>
                          <a:ea typeface="Arial"/>
                          <a:cs typeface="Arial"/>
                          <a:sym typeface="Arial"/>
                        </a:rPr>
                        <a:t>Professional services for design and system integration</a:t>
                      </a:r>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r>
              <a:tr h="347775">
                <a:tc>
                  <a:txBody>
                    <a:bodyPr>
                      <a:noAutofit/>
                    </a:bodyPr>
                    <a:lstStyle/>
                    <a:p>
                      <a:pPr indent="0" lvl="0" marL="0" marR="0" rtl="0" algn="l">
                        <a:lnSpc>
                          <a:spcPct val="100000"/>
                        </a:lnSpc>
                        <a:spcBef>
                          <a:spcPts val="0"/>
                        </a:spcBef>
                        <a:spcAft>
                          <a:spcPts val="0"/>
                        </a:spcAft>
                        <a:buClr>
                          <a:srgbClr val="364450"/>
                        </a:buClr>
                        <a:buSzPct val="25000"/>
                        <a:buFont typeface="Arial"/>
                        <a:buNone/>
                      </a:pPr>
                      <a:r>
                        <a:rPr b="0" i="0" lang="en" sz="1200" u="none" cap="none" strike="noStrike">
                          <a:solidFill>
                            <a:srgbClr val="364450"/>
                          </a:solidFill>
                          <a:latin typeface="Arial"/>
                          <a:ea typeface="Arial"/>
                          <a:cs typeface="Arial"/>
                          <a:sym typeface="Arial"/>
                        </a:rPr>
                        <a:t>FUTURE OFFERINGS</a:t>
                      </a:r>
                    </a:p>
                  </a:txBody>
                  <a:tcPr marT="34300" marB="34300" marR="68600" marL="68600"/>
                </a:tc>
                <a:tc>
                  <a:txBody>
                    <a:bodyPr>
                      <a:noAutofit/>
                    </a:bodyPr>
                    <a:lstStyle/>
                    <a:p>
                      <a:pPr indent="0" lvl="0" marL="0" marR="0" rtl="0" algn="l">
                        <a:lnSpc>
                          <a:spcPct val="100000"/>
                        </a:lnSpc>
                        <a:spcBef>
                          <a:spcPts val="0"/>
                        </a:spcBef>
                        <a:spcAft>
                          <a:spcPts val="0"/>
                        </a:spcAft>
                        <a:buClr>
                          <a:srgbClr val="000000"/>
                        </a:buClr>
                        <a:buSzPct val="25000"/>
                        <a:buFont typeface="Arial"/>
                        <a:buNone/>
                      </a:pPr>
                      <a:r>
                        <a:rPr b="0" i="0" lang="en" sz="900" u="none" cap="none" strike="noStrike">
                          <a:solidFill>
                            <a:srgbClr val="000000"/>
                          </a:solidFill>
                          <a:latin typeface="Arial"/>
                          <a:ea typeface="Arial"/>
                          <a:cs typeface="Arial"/>
                          <a:sym typeface="Arial"/>
                        </a:rPr>
                        <a:t>Apps on ONOS controller. </a:t>
                      </a:r>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c>
                  <a:txBody>
                    <a:bodyPr>
                      <a:noAutofit/>
                    </a:bodyPr>
                    <a:lstStyle/>
                    <a:p>
                      <a:pPr indent="0" lvl="0" marL="0" marR="0" rtl="0" algn="l">
                        <a:spcBef>
                          <a:spcPts val="0"/>
                        </a:spcBef>
                        <a:buSzPct val="25000"/>
                        <a:buNone/>
                      </a:pPr>
                      <a:r>
                        <a:t/>
                      </a:r>
                      <a:endParaRPr sz="1400"/>
                    </a:p>
                  </a:txBody>
                  <a:tcPr marT="34300" marB="34300" marR="68600" marL="68600"/>
                </a:tc>
              </a:tr>
            </a:tbl>
          </a:graphicData>
        </a:graphic>
      </p:graphicFrame>
      <p:pic>
        <p:nvPicPr>
          <p:cNvPr descr="https://upload.wikimedia.org/wikipedia/commons/thumb/9/90/Check_mark_23x20_02.svg/1081px-Check_mark_23x20_02.svg.png" id="268" name="Shape 268"/>
          <p:cNvPicPr preferRelativeResize="0"/>
          <p:nvPr/>
        </p:nvPicPr>
        <p:blipFill rotWithShape="1">
          <a:blip r:embed="rId3">
            <a:alphaModFix/>
          </a:blip>
          <a:srcRect b="0" l="0" r="0" t="0"/>
          <a:stretch/>
        </p:blipFill>
        <p:spPr>
          <a:xfrm>
            <a:off x="4341338" y="2012442"/>
            <a:ext cx="140115" cy="99200"/>
          </a:xfrm>
          <a:prstGeom prst="rect">
            <a:avLst/>
          </a:prstGeom>
          <a:noFill/>
          <a:ln>
            <a:noFill/>
          </a:ln>
        </p:spPr>
      </p:pic>
      <p:pic>
        <p:nvPicPr>
          <p:cNvPr descr="https://upload.wikimedia.org/wikipedia/commons/thumb/9/90/Check_mark_23x20_02.svg/1081px-Check_mark_23x20_02.svg.png" id="269" name="Shape 269"/>
          <p:cNvPicPr preferRelativeResize="0"/>
          <p:nvPr/>
        </p:nvPicPr>
        <p:blipFill rotWithShape="1">
          <a:blip r:embed="rId3">
            <a:alphaModFix/>
          </a:blip>
          <a:srcRect b="0" l="0" r="0" t="0"/>
          <a:stretch/>
        </p:blipFill>
        <p:spPr>
          <a:xfrm>
            <a:off x="5598965" y="2012442"/>
            <a:ext cx="140115" cy="99200"/>
          </a:xfrm>
          <a:prstGeom prst="rect">
            <a:avLst/>
          </a:prstGeom>
          <a:noFill/>
          <a:ln>
            <a:noFill/>
          </a:ln>
        </p:spPr>
      </p:pic>
      <p:pic>
        <p:nvPicPr>
          <p:cNvPr descr="https://upload.wikimedia.org/wikipedia/commons/thumb/9/90/Check_mark_23x20_02.svg/1081px-Check_mark_23x20_02.svg.png" id="270" name="Shape 270"/>
          <p:cNvPicPr preferRelativeResize="0"/>
          <p:nvPr/>
        </p:nvPicPr>
        <p:blipFill rotWithShape="1">
          <a:blip r:embed="rId3">
            <a:alphaModFix/>
          </a:blip>
          <a:srcRect b="0" l="0" r="0" t="0"/>
          <a:stretch/>
        </p:blipFill>
        <p:spPr>
          <a:xfrm>
            <a:off x="4341338" y="2311892"/>
            <a:ext cx="140115" cy="99200"/>
          </a:xfrm>
          <a:prstGeom prst="rect">
            <a:avLst/>
          </a:prstGeom>
          <a:noFill/>
          <a:ln>
            <a:noFill/>
          </a:ln>
        </p:spPr>
      </p:pic>
      <p:pic>
        <p:nvPicPr>
          <p:cNvPr descr="https://upload.wikimedia.org/wikipedia/commons/thumb/9/90/Check_mark_23x20_02.svg/1081px-Check_mark_23x20_02.svg.png" id="271" name="Shape 271"/>
          <p:cNvPicPr preferRelativeResize="0"/>
          <p:nvPr/>
        </p:nvPicPr>
        <p:blipFill rotWithShape="1">
          <a:blip r:embed="rId3">
            <a:alphaModFix/>
          </a:blip>
          <a:srcRect b="0" l="0" r="0" t="0"/>
          <a:stretch/>
        </p:blipFill>
        <p:spPr>
          <a:xfrm>
            <a:off x="5598965" y="2311892"/>
            <a:ext cx="140115" cy="99200"/>
          </a:xfrm>
          <a:prstGeom prst="rect">
            <a:avLst/>
          </a:prstGeom>
          <a:noFill/>
          <a:ln>
            <a:noFill/>
          </a:ln>
        </p:spPr>
      </p:pic>
      <p:pic>
        <p:nvPicPr>
          <p:cNvPr descr="https://upload.wikimedia.org/wikipedia/commons/thumb/9/90/Check_mark_23x20_02.svg/1081px-Check_mark_23x20_02.svg.png" id="272" name="Shape 272"/>
          <p:cNvPicPr preferRelativeResize="0"/>
          <p:nvPr/>
        </p:nvPicPr>
        <p:blipFill rotWithShape="1">
          <a:blip r:embed="rId3">
            <a:alphaModFix/>
          </a:blip>
          <a:srcRect b="0" l="0" r="0" t="0"/>
          <a:stretch/>
        </p:blipFill>
        <p:spPr>
          <a:xfrm>
            <a:off x="4341338" y="2637509"/>
            <a:ext cx="140115" cy="99200"/>
          </a:xfrm>
          <a:prstGeom prst="rect">
            <a:avLst/>
          </a:prstGeom>
          <a:noFill/>
          <a:ln>
            <a:noFill/>
          </a:ln>
        </p:spPr>
      </p:pic>
      <p:pic>
        <p:nvPicPr>
          <p:cNvPr descr="https://upload.wikimedia.org/wikipedia/commons/thumb/9/90/Check_mark_23x20_02.svg/1081px-Check_mark_23x20_02.svg.png" id="273" name="Shape 273"/>
          <p:cNvPicPr preferRelativeResize="0"/>
          <p:nvPr/>
        </p:nvPicPr>
        <p:blipFill rotWithShape="1">
          <a:blip r:embed="rId3">
            <a:alphaModFix/>
          </a:blip>
          <a:srcRect b="0" l="0" r="0" t="0"/>
          <a:stretch/>
        </p:blipFill>
        <p:spPr>
          <a:xfrm>
            <a:off x="5598965" y="2637509"/>
            <a:ext cx="140115" cy="99200"/>
          </a:xfrm>
          <a:prstGeom prst="rect">
            <a:avLst/>
          </a:prstGeom>
          <a:noFill/>
          <a:ln>
            <a:noFill/>
          </a:ln>
        </p:spPr>
      </p:pic>
      <p:pic>
        <p:nvPicPr>
          <p:cNvPr descr="https://upload.wikimedia.org/wikipedia/commons/thumb/9/90/Check_mark_23x20_02.svg/1081px-Check_mark_23x20_02.svg.png" id="274" name="Shape 274"/>
          <p:cNvPicPr preferRelativeResize="0"/>
          <p:nvPr/>
        </p:nvPicPr>
        <p:blipFill rotWithShape="1">
          <a:blip r:embed="rId3">
            <a:alphaModFix/>
          </a:blip>
          <a:srcRect b="0" l="0" r="0" t="0"/>
          <a:stretch/>
        </p:blipFill>
        <p:spPr>
          <a:xfrm>
            <a:off x="4341338" y="2903069"/>
            <a:ext cx="140115" cy="99200"/>
          </a:xfrm>
          <a:prstGeom prst="rect">
            <a:avLst/>
          </a:prstGeom>
          <a:noFill/>
          <a:ln>
            <a:noFill/>
          </a:ln>
        </p:spPr>
      </p:pic>
      <p:pic>
        <p:nvPicPr>
          <p:cNvPr descr="https://upload.wikimedia.org/wikipedia/commons/thumb/9/90/Check_mark_23x20_02.svg/1081px-Check_mark_23x20_02.svg.png" id="275" name="Shape 275"/>
          <p:cNvPicPr preferRelativeResize="0"/>
          <p:nvPr/>
        </p:nvPicPr>
        <p:blipFill rotWithShape="1">
          <a:blip r:embed="rId3">
            <a:alphaModFix/>
          </a:blip>
          <a:srcRect b="0" l="0" r="0" t="0"/>
          <a:stretch/>
        </p:blipFill>
        <p:spPr>
          <a:xfrm>
            <a:off x="5598965" y="2912632"/>
            <a:ext cx="140115" cy="99200"/>
          </a:xfrm>
          <a:prstGeom prst="rect">
            <a:avLst/>
          </a:prstGeom>
          <a:noFill/>
          <a:ln>
            <a:noFill/>
          </a:ln>
        </p:spPr>
      </p:pic>
      <p:pic>
        <p:nvPicPr>
          <p:cNvPr descr="https://upload.wikimedia.org/wikipedia/commons/thumb/9/90/Check_mark_23x20_02.svg/1081px-Check_mark_23x20_02.svg.png" id="276" name="Shape 276"/>
          <p:cNvPicPr preferRelativeResize="0"/>
          <p:nvPr/>
        </p:nvPicPr>
        <p:blipFill rotWithShape="1">
          <a:blip r:embed="rId3">
            <a:alphaModFix/>
          </a:blip>
          <a:srcRect b="0" l="0" r="0" t="0"/>
          <a:stretch/>
        </p:blipFill>
        <p:spPr>
          <a:xfrm>
            <a:off x="4341338" y="3244635"/>
            <a:ext cx="140115" cy="99200"/>
          </a:xfrm>
          <a:prstGeom prst="rect">
            <a:avLst/>
          </a:prstGeom>
          <a:noFill/>
          <a:ln>
            <a:noFill/>
          </a:ln>
        </p:spPr>
      </p:pic>
      <p:pic>
        <p:nvPicPr>
          <p:cNvPr descr="https://upload.wikimedia.org/wikipedia/commons/thumb/9/90/Check_mark_23x20_02.svg/1081px-Check_mark_23x20_02.svg.png" id="277" name="Shape 277"/>
          <p:cNvPicPr preferRelativeResize="0"/>
          <p:nvPr/>
        </p:nvPicPr>
        <p:blipFill rotWithShape="1">
          <a:blip r:embed="rId3">
            <a:alphaModFix/>
          </a:blip>
          <a:srcRect b="0" l="0" r="0" t="0"/>
          <a:stretch/>
        </p:blipFill>
        <p:spPr>
          <a:xfrm>
            <a:off x="4341338" y="3512042"/>
            <a:ext cx="140115" cy="99200"/>
          </a:xfrm>
          <a:prstGeom prst="rect">
            <a:avLst/>
          </a:prstGeom>
          <a:noFill/>
          <a:ln>
            <a:noFill/>
          </a:ln>
        </p:spPr>
      </p:pic>
      <p:pic>
        <p:nvPicPr>
          <p:cNvPr descr="https://upload.wikimedia.org/wikipedia/commons/thumb/9/90/Check_mark_23x20_02.svg/1081px-Check_mark_23x20_02.svg.png" id="278" name="Shape 278"/>
          <p:cNvPicPr preferRelativeResize="0"/>
          <p:nvPr/>
        </p:nvPicPr>
        <p:blipFill rotWithShape="1">
          <a:blip r:embed="rId3">
            <a:alphaModFix/>
          </a:blip>
          <a:srcRect b="0" l="0" r="0" t="0"/>
          <a:stretch/>
        </p:blipFill>
        <p:spPr>
          <a:xfrm>
            <a:off x="5598965" y="3513441"/>
            <a:ext cx="140115" cy="99200"/>
          </a:xfrm>
          <a:prstGeom prst="rect">
            <a:avLst/>
          </a:prstGeom>
          <a:noFill/>
          <a:ln>
            <a:noFill/>
          </a:ln>
        </p:spPr>
      </p:pic>
      <p:pic>
        <p:nvPicPr>
          <p:cNvPr descr="https://upload.wikimedia.org/wikipedia/commons/thumb/9/90/Check_mark_23x20_02.svg/1081px-Check_mark_23x20_02.svg.png" id="279" name="Shape 279"/>
          <p:cNvPicPr preferRelativeResize="0"/>
          <p:nvPr/>
        </p:nvPicPr>
        <p:blipFill rotWithShape="1">
          <a:blip r:embed="rId3">
            <a:alphaModFix/>
          </a:blip>
          <a:srcRect b="0" l="0" r="0" t="0"/>
          <a:stretch/>
        </p:blipFill>
        <p:spPr>
          <a:xfrm>
            <a:off x="5598965" y="3805955"/>
            <a:ext cx="140115" cy="99200"/>
          </a:xfrm>
          <a:prstGeom prst="rect">
            <a:avLst/>
          </a:prstGeom>
          <a:noFill/>
          <a:ln>
            <a:noFill/>
          </a:ln>
        </p:spPr>
      </p:pic>
      <p:pic>
        <p:nvPicPr>
          <p:cNvPr descr="https://upload.wikimedia.org/wikipedia/commons/thumb/9/90/Check_mark_23x20_02.svg/1081px-Check_mark_23x20_02.svg.png" id="280" name="Shape 280"/>
          <p:cNvPicPr preferRelativeResize="0"/>
          <p:nvPr/>
        </p:nvPicPr>
        <p:blipFill rotWithShape="1">
          <a:blip r:embed="rId3">
            <a:alphaModFix/>
          </a:blip>
          <a:srcRect b="0" l="0" r="0" t="0"/>
          <a:stretch/>
        </p:blipFill>
        <p:spPr>
          <a:xfrm>
            <a:off x="5598965" y="4157634"/>
            <a:ext cx="140115" cy="99200"/>
          </a:xfrm>
          <a:prstGeom prst="rect">
            <a:avLst/>
          </a:prstGeom>
          <a:noFill/>
          <a:ln>
            <a:noFill/>
          </a:ln>
        </p:spPr>
      </p:pic>
      <p:pic>
        <p:nvPicPr>
          <p:cNvPr descr="https://upload.wikimedia.org/wikipedia/commons/thumb/9/90/Check_mark_23x20_02.svg/1081px-Check_mark_23x20_02.svg.png" id="281" name="Shape 281"/>
          <p:cNvPicPr preferRelativeResize="0"/>
          <p:nvPr/>
        </p:nvPicPr>
        <p:blipFill rotWithShape="1">
          <a:blip r:embed="rId3">
            <a:alphaModFix/>
          </a:blip>
          <a:srcRect b="0" l="0" r="0" t="0"/>
          <a:stretch/>
        </p:blipFill>
        <p:spPr>
          <a:xfrm>
            <a:off x="5598965" y="3259734"/>
            <a:ext cx="140115" cy="99200"/>
          </a:xfrm>
          <a:prstGeom prst="rect">
            <a:avLst/>
          </a:prstGeom>
          <a:noFill/>
          <a:ln>
            <a:noFill/>
          </a:ln>
        </p:spPr>
      </p:pic>
      <p:pic>
        <p:nvPicPr>
          <p:cNvPr descr="https://upload.wikimedia.org/wikipedia/commons/thumb/9/90/Check_mark_23x20_02.svg/1081px-Check_mark_23x20_02.svg.png" id="282" name="Shape 282"/>
          <p:cNvPicPr preferRelativeResize="0"/>
          <p:nvPr/>
        </p:nvPicPr>
        <p:blipFill rotWithShape="1">
          <a:blip r:embed="rId3">
            <a:alphaModFix/>
          </a:blip>
          <a:srcRect b="0" l="0" r="0" t="0"/>
          <a:stretch/>
        </p:blipFill>
        <p:spPr>
          <a:xfrm>
            <a:off x="4341338" y="4160262"/>
            <a:ext cx="140115" cy="99200"/>
          </a:xfrm>
          <a:prstGeom prst="rect">
            <a:avLst/>
          </a:prstGeom>
          <a:noFill/>
          <a:ln>
            <a:noFill/>
          </a:ln>
        </p:spPr>
      </p:pic>
      <p:sp>
        <p:nvSpPr>
          <p:cNvPr id="283" name="Shape 283"/>
          <p:cNvSpPr txBox="1"/>
          <p:nvPr>
            <p:ph type="title"/>
          </p:nvPr>
        </p:nvSpPr>
        <p:spPr>
          <a:xfrm>
            <a:off x="377775" y="90075"/>
            <a:ext cx="8229600" cy="615000"/>
          </a:xfrm>
          <a:prstGeom prst="rect">
            <a:avLst/>
          </a:prstGeom>
        </p:spPr>
        <p:txBody>
          <a:bodyPr anchorCtr="0" anchor="b" bIns="91425" lIns="91425" rIns="91425" tIns="91425">
            <a:noAutofit/>
          </a:bodyPr>
          <a:lstStyle/>
          <a:p>
            <a:pPr lvl="0">
              <a:spcBef>
                <a:spcPts val="0"/>
              </a:spcBef>
              <a:buNone/>
            </a:pPr>
            <a:r>
              <a:rPr lang="en"/>
              <a:t>Ciena Blue Planet ONOS Controller</a:t>
            </a:r>
          </a:p>
        </p:txBody>
      </p:sp>
      <p:pic>
        <p:nvPicPr>
          <p:cNvPr descr="Screen Shot 2016-09-19 at 2.24.05 PM.png" id="284" name="Shape 284"/>
          <p:cNvPicPr preferRelativeResize="0"/>
          <p:nvPr/>
        </p:nvPicPr>
        <p:blipFill>
          <a:blip r:embed="rId4">
            <a:alphaModFix/>
          </a:blip>
          <a:stretch>
            <a:fillRect/>
          </a:stretch>
        </p:blipFill>
        <p:spPr>
          <a:xfrm>
            <a:off x="6551524" y="674400"/>
            <a:ext cx="1946349" cy="1922999"/>
          </a:xfrm>
          <a:prstGeom prst="rect">
            <a:avLst/>
          </a:prstGeom>
          <a:noFill/>
          <a:ln>
            <a:noFill/>
          </a:ln>
        </p:spPr>
      </p:pic>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88" name="Shape 288"/>
        <p:cNvGrpSpPr/>
        <p:nvPr/>
      </p:nvGrpSpPr>
      <p:grpSpPr>
        <a:xfrm>
          <a:off x="0" y="0"/>
          <a:ext cx="0" cy="0"/>
          <a:chOff x="0" y="0"/>
          <a:chExt cx="0" cy="0"/>
        </a:xfrm>
      </p:grpSpPr>
      <p:sp>
        <p:nvSpPr>
          <p:cNvPr id="289" name="Shape 289"/>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Hummingbird Release - Takeaways</a:t>
            </a:r>
          </a:p>
        </p:txBody>
      </p:sp>
      <p:sp>
        <p:nvSpPr>
          <p:cNvPr id="290" name="Shape 290"/>
          <p:cNvSpPr txBox="1"/>
          <p:nvPr>
            <p:ph idx="1" type="body"/>
          </p:nvPr>
        </p:nvSpPr>
        <p:spPr>
          <a:xfrm>
            <a:off x="457200" y="1154724"/>
            <a:ext cx="8229600" cy="3768600"/>
          </a:xfrm>
          <a:prstGeom prst="rect">
            <a:avLst/>
          </a:prstGeom>
        </p:spPr>
        <p:txBody>
          <a:bodyPr anchorCtr="0" anchor="t" bIns="91425" lIns="91425" rIns="91425" tIns="91425">
            <a:noAutofit/>
          </a:bodyPr>
          <a:lstStyle/>
          <a:p>
            <a:pPr indent="-355600" lvl="0" marL="457200" marR="0" rtl="0" algn="l">
              <a:lnSpc>
                <a:spcPct val="115000"/>
              </a:lnSpc>
              <a:spcBef>
                <a:spcPts val="0"/>
              </a:spcBef>
              <a:spcAft>
                <a:spcPts val="0"/>
              </a:spcAft>
              <a:buClr>
                <a:srgbClr val="D9D9D9"/>
              </a:buClr>
              <a:buSzPct val="100000"/>
            </a:pPr>
            <a:r>
              <a:rPr b="1" lang="en" sz="2000">
                <a:solidFill>
                  <a:srgbClr val="D9D9D9"/>
                </a:solidFill>
              </a:rPr>
              <a:t>ONOS Community is Diverse and Growing Rapidly</a:t>
            </a:r>
          </a:p>
          <a:p>
            <a:pPr lvl="0" marR="0" rtl="0" algn="l">
              <a:lnSpc>
                <a:spcPct val="115000"/>
              </a:lnSpc>
              <a:spcBef>
                <a:spcPts val="0"/>
              </a:spcBef>
              <a:spcAft>
                <a:spcPts val="0"/>
              </a:spcAft>
              <a:buNone/>
            </a:pPr>
            <a:r>
              <a:t/>
            </a:r>
            <a:endParaRPr b="1" sz="2000"/>
          </a:p>
          <a:p>
            <a:pPr indent="-355600" lvl="0" marL="457200" marR="0" rtl="0" algn="l">
              <a:lnSpc>
                <a:spcPct val="115000"/>
              </a:lnSpc>
              <a:spcBef>
                <a:spcPts val="0"/>
              </a:spcBef>
              <a:spcAft>
                <a:spcPts val="0"/>
              </a:spcAft>
              <a:buSzPct val="100000"/>
            </a:pPr>
            <a:r>
              <a:rPr b="1" lang="en" sz="2000"/>
              <a:t>ONOS is the only platform supporting both incremental and true SDN</a:t>
            </a:r>
          </a:p>
          <a:p>
            <a:pPr lvl="0" marR="0" rtl="0" algn="l">
              <a:lnSpc>
                <a:spcPct val="115000"/>
              </a:lnSpc>
              <a:spcBef>
                <a:spcPts val="0"/>
              </a:spcBef>
              <a:spcAft>
                <a:spcPts val="0"/>
              </a:spcAft>
              <a:buNone/>
            </a:pPr>
            <a:r>
              <a:t/>
            </a:r>
            <a:endParaRPr b="1" sz="2000"/>
          </a:p>
          <a:p>
            <a:pPr indent="-355600" lvl="0" marL="457200" marR="0" rtl="0" algn="l">
              <a:lnSpc>
                <a:spcPct val="115000"/>
              </a:lnSpc>
              <a:spcBef>
                <a:spcPts val="0"/>
              </a:spcBef>
              <a:spcAft>
                <a:spcPts val="0"/>
              </a:spcAft>
              <a:buClr>
                <a:srgbClr val="D9D9D9"/>
              </a:buClr>
              <a:buSzPct val="100000"/>
            </a:pPr>
            <a:r>
              <a:rPr b="1" lang="en" sz="2000">
                <a:solidFill>
                  <a:srgbClr val="D9D9D9"/>
                </a:solidFill>
              </a:rPr>
              <a:t>ONOS is critical to operator PoCs, Field Trials, Deployments</a:t>
            </a:r>
          </a:p>
          <a:p>
            <a:pPr lvl="0" marR="0" rtl="0" algn="l">
              <a:lnSpc>
                <a:spcPct val="115000"/>
              </a:lnSpc>
              <a:spcBef>
                <a:spcPts val="0"/>
              </a:spcBef>
              <a:spcAft>
                <a:spcPts val="0"/>
              </a:spcAft>
              <a:buNone/>
            </a:pPr>
            <a:r>
              <a:t/>
            </a:r>
            <a:endParaRPr b="1" sz="2000">
              <a:solidFill>
                <a:srgbClr val="D9D9D9"/>
              </a:solidFill>
            </a:endParaRPr>
          </a:p>
          <a:p>
            <a:pPr indent="-355600" lvl="0" marL="457200" marR="0" rtl="0" algn="l">
              <a:lnSpc>
                <a:spcPct val="115000"/>
              </a:lnSpc>
              <a:spcBef>
                <a:spcPts val="0"/>
              </a:spcBef>
              <a:spcAft>
                <a:spcPts val="0"/>
              </a:spcAft>
              <a:buClr>
                <a:srgbClr val="D9D9D9"/>
              </a:buClr>
              <a:buSzPct val="100000"/>
            </a:pPr>
            <a:r>
              <a:rPr b="1" lang="en" sz="2000">
                <a:solidFill>
                  <a:srgbClr val="D9D9D9"/>
                </a:solidFill>
              </a:rPr>
              <a:t>Hummingbird</a:t>
            </a:r>
          </a:p>
          <a:p>
            <a:pPr indent="-355600" lvl="1" marL="914400" marR="0" rtl="0" algn="l">
              <a:lnSpc>
                <a:spcPct val="115000"/>
              </a:lnSpc>
              <a:spcBef>
                <a:spcPts val="0"/>
              </a:spcBef>
              <a:spcAft>
                <a:spcPts val="0"/>
              </a:spcAft>
              <a:buClr>
                <a:srgbClr val="D9D9D9"/>
              </a:buClr>
              <a:buSzPct val="100000"/>
            </a:pPr>
            <a:r>
              <a:rPr b="1" lang="en" sz="2000">
                <a:solidFill>
                  <a:srgbClr val="D9D9D9"/>
                </a:solidFill>
              </a:rPr>
              <a:t>Automation, Integration and Legacy Enablement</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95" name="Shape 295"/>
        <p:cNvGrpSpPr/>
        <p:nvPr/>
      </p:nvGrpSpPr>
      <p:grpSpPr>
        <a:xfrm>
          <a:off x="0" y="0"/>
          <a:ext cx="0" cy="0"/>
          <a:chOff x="0" y="0"/>
          <a:chExt cx="0" cy="0"/>
        </a:xfrm>
      </p:grpSpPr>
      <p:sp>
        <p:nvSpPr>
          <p:cNvPr id="296" name="Shape 296"/>
          <p:cNvSpPr txBox="1"/>
          <p:nvPr>
            <p:ph type="title"/>
          </p:nvPr>
        </p:nvSpPr>
        <p:spPr>
          <a:xfrm>
            <a:off x="457200" y="-38906"/>
            <a:ext cx="8229600" cy="857249"/>
          </a:xfrm>
          <a:prstGeom prst="rect">
            <a:avLst/>
          </a:prstGeom>
          <a:noFill/>
          <a:ln>
            <a:noFill/>
          </a:ln>
        </p:spPr>
        <p:txBody>
          <a:bodyPr anchorCtr="0" anchor="ctr" bIns="40800" lIns="81625" rIns="81625" tIns="40800">
            <a:noAutofit/>
          </a:bodyPr>
          <a:lstStyle/>
          <a:p>
            <a:pPr indent="0" lvl="0" marL="0" marR="0" rtl="0" algn="l">
              <a:spcBef>
                <a:spcPts val="0"/>
              </a:spcBef>
              <a:buClr>
                <a:srgbClr val="BC1C28"/>
              </a:buClr>
              <a:buSzPct val="25000"/>
              <a:buFont typeface="Calibri"/>
              <a:buNone/>
            </a:pPr>
            <a:r>
              <a:rPr b="1" i="0" lang="en" sz="3000" u="none" cap="none" strike="noStrike">
                <a:solidFill>
                  <a:schemeClr val="accent6"/>
                </a:solidFill>
                <a:latin typeface="Arial"/>
                <a:ea typeface="Arial"/>
                <a:cs typeface="Arial"/>
                <a:sym typeface="Arial"/>
              </a:rPr>
              <a:t>Incremental </a:t>
            </a:r>
            <a:r>
              <a:rPr b="1" lang="en" sz="3000">
                <a:solidFill>
                  <a:schemeClr val="accent6"/>
                </a:solidFill>
                <a:latin typeface="Arial"/>
                <a:ea typeface="Arial"/>
                <a:cs typeface="Arial"/>
                <a:sym typeface="Arial"/>
              </a:rPr>
              <a:t>and</a:t>
            </a:r>
            <a:r>
              <a:rPr b="1" i="0" lang="en" sz="3000" u="none" cap="none" strike="noStrike">
                <a:solidFill>
                  <a:schemeClr val="accent6"/>
                </a:solidFill>
                <a:latin typeface="Arial"/>
                <a:ea typeface="Arial"/>
                <a:cs typeface="Arial"/>
                <a:sym typeface="Arial"/>
              </a:rPr>
              <a:t> Disruptive SDN</a:t>
            </a:r>
          </a:p>
        </p:txBody>
      </p:sp>
      <p:sp>
        <p:nvSpPr>
          <p:cNvPr id="297" name="Shape 297"/>
          <p:cNvSpPr txBox="1"/>
          <p:nvPr>
            <p:ph idx="1" type="body"/>
          </p:nvPr>
        </p:nvSpPr>
        <p:spPr>
          <a:xfrm>
            <a:off x="193259" y="3902062"/>
            <a:ext cx="4116184" cy="1193952"/>
          </a:xfrm>
          <a:prstGeom prst="rect">
            <a:avLst/>
          </a:prstGeom>
          <a:noFill/>
          <a:ln>
            <a:noFill/>
          </a:ln>
        </p:spPr>
        <p:txBody>
          <a:bodyPr anchorCtr="0" anchor="t" bIns="40800" lIns="81625" rIns="81625" tIns="40800">
            <a:noAutofit/>
          </a:bodyPr>
          <a:lstStyle/>
          <a:p>
            <a:pPr indent="0" lvl="0" marL="0" marR="0" rtl="0" algn="ctr">
              <a:spcBef>
                <a:spcPts val="440"/>
              </a:spcBef>
              <a:buClr>
                <a:schemeClr val="dk1"/>
              </a:buClr>
              <a:buSzPct val="25000"/>
              <a:buFont typeface="Arial"/>
              <a:buNone/>
            </a:pPr>
            <a:r>
              <a:rPr b="0" i="0" lang="en" sz="2200" u="none" cap="none" strike="noStrike">
                <a:solidFill>
                  <a:schemeClr val="dk1"/>
                </a:solidFill>
                <a:latin typeface="Calibri"/>
                <a:ea typeface="Calibri"/>
                <a:cs typeface="Calibri"/>
                <a:sym typeface="Calibri"/>
              </a:rPr>
              <a:t>Good for short term</a:t>
            </a:r>
            <a:r>
              <a:rPr lang="en" sz="2200"/>
              <a:t> </a:t>
            </a:r>
            <a:r>
              <a:rPr b="0" i="0" lang="en" sz="2200" u="none" cap="none" strike="noStrike">
                <a:solidFill>
                  <a:schemeClr val="dk1"/>
                </a:solidFill>
                <a:latin typeface="Calibri"/>
                <a:ea typeface="Calibri"/>
                <a:cs typeface="Calibri"/>
                <a:sym typeface="Calibri"/>
              </a:rPr>
              <a:t>deployment with legacy devices</a:t>
            </a:r>
          </a:p>
          <a:p>
            <a:pPr indent="0" lvl="0" marL="0" marR="0" rtl="0" algn="ctr">
              <a:spcBef>
                <a:spcPts val="440"/>
              </a:spcBef>
              <a:buClr>
                <a:schemeClr val="dk1"/>
              </a:buClr>
              <a:buSzPct val="25000"/>
              <a:buFont typeface="Arial"/>
              <a:buNone/>
            </a:pPr>
            <a:r>
              <a:rPr lang="en" sz="2200"/>
              <a:t>(vendor dominated)</a:t>
            </a:r>
          </a:p>
        </p:txBody>
      </p:sp>
      <p:pic>
        <p:nvPicPr>
          <p:cNvPr id="298" name="Shape 298"/>
          <p:cNvPicPr preferRelativeResize="0"/>
          <p:nvPr/>
        </p:nvPicPr>
        <p:blipFill rotWithShape="1">
          <a:blip r:embed="rId3">
            <a:alphaModFix/>
          </a:blip>
          <a:srcRect b="0" l="0" r="0" t="2084"/>
          <a:stretch/>
        </p:blipFill>
        <p:spPr>
          <a:xfrm>
            <a:off x="1570697" y="2371340"/>
            <a:ext cx="1361400" cy="1628099"/>
          </a:xfrm>
          <a:prstGeom prst="rect">
            <a:avLst/>
          </a:prstGeom>
          <a:noFill/>
          <a:ln>
            <a:noFill/>
          </a:ln>
        </p:spPr>
      </p:pic>
      <p:grpSp>
        <p:nvGrpSpPr>
          <p:cNvPr id="299" name="Shape 299"/>
          <p:cNvGrpSpPr/>
          <p:nvPr/>
        </p:nvGrpSpPr>
        <p:grpSpPr>
          <a:xfrm>
            <a:off x="821792" y="1095987"/>
            <a:ext cx="2920000" cy="1003319"/>
            <a:chOff x="298363" y="1259079"/>
            <a:chExt cx="2920000" cy="1337759"/>
          </a:xfrm>
        </p:grpSpPr>
        <p:sp>
          <p:nvSpPr>
            <p:cNvPr id="300" name="Shape 300"/>
            <p:cNvSpPr/>
            <p:nvPr/>
          </p:nvSpPr>
          <p:spPr>
            <a:xfrm>
              <a:off x="298363" y="1660918"/>
              <a:ext cx="2920000" cy="464518"/>
            </a:xfrm>
            <a:prstGeom prst="roundRect">
              <a:avLst>
                <a:gd fmla="val 16667" name="adj"/>
              </a:avLst>
            </a:prstGeom>
            <a:solidFill>
              <a:schemeClr val="dk2"/>
            </a:solidFill>
            <a:ln>
              <a:noFill/>
            </a:ln>
          </p:spPr>
          <p:txBody>
            <a:bodyPr anchorCtr="0" anchor="ctr" bIns="45700" lIns="91425" rIns="91425" tIns="45700">
              <a:noAutofit/>
            </a:bodyPr>
            <a:lstStyle/>
            <a:p>
              <a:pPr indent="0" lvl="0" marL="0" marR="0" rtl="0" algn="ctr">
                <a:spcBef>
                  <a:spcPts val="0"/>
                </a:spcBef>
                <a:spcAft>
                  <a:spcPts val="0"/>
                </a:spcAft>
                <a:buSzPct val="25000"/>
                <a:buNone/>
              </a:pPr>
              <a:r>
                <a:rPr lang="en" sz="1800">
                  <a:solidFill>
                    <a:srgbClr val="FFFFFF"/>
                  </a:solidFill>
                  <a:latin typeface="Calibri"/>
                  <a:ea typeface="Calibri"/>
                  <a:cs typeface="Calibri"/>
                  <a:sym typeface="Calibri"/>
                </a:rPr>
                <a:t>Controller Framework</a:t>
              </a:r>
            </a:p>
          </p:txBody>
        </p:sp>
        <p:sp>
          <p:nvSpPr>
            <p:cNvPr id="301" name="Shape 301"/>
            <p:cNvSpPr/>
            <p:nvPr/>
          </p:nvSpPr>
          <p:spPr>
            <a:xfrm>
              <a:off x="933274" y="2156191"/>
              <a:ext cx="1579406" cy="440648"/>
            </a:xfrm>
            <a:prstGeom prst="roundRect">
              <a:avLst>
                <a:gd fmla="val 16667" name="adj"/>
              </a:avLst>
            </a:prstGeom>
            <a:solidFill>
              <a:srgbClr val="0F243E"/>
            </a:solidFill>
            <a:ln cap="flat" cmpd="sng" w="9525">
              <a:solidFill>
                <a:srgbClr val="BD4B48"/>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SzPct val="25000"/>
                <a:buNone/>
              </a:pPr>
              <a:r>
                <a:rPr lang="en" sz="1600">
                  <a:solidFill>
                    <a:schemeClr val="lt1"/>
                  </a:solidFill>
                  <a:latin typeface="Calibri"/>
                  <a:ea typeface="Calibri"/>
                  <a:cs typeface="Calibri"/>
                  <a:sym typeface="Calibri"/>
                </a:rPr>
                <a:t>NetConf/Yang</a:t>
              </a:r>
            </a:p>
          </p:txBody>
        </p:sp>
        <p:sp>
          <p:nvSpPr>
            <p:cNvPr id="302" name="Shape 302"/>
            <p:cNvSpPr/>
            <p:nvPr/>
          </p:nvSpPr>
          <p:spPr>
            <a:xfrm>
              <a:off x="298363" y="1259079"/>
              <a:ext cx="2920000" cy="353318"/>
            </a:xfrm>
            <a:prstGeom prst="roundRect">
              <a:avLst>
                <a:gd fmla="val 16667" name="adj"/>
              </a:avLst>
            </a:prstGeom>
            <a:gradFill>
              <a:gsLst>
                <a:gs pos="0">
                  <a:srgbClr val="FF932B"/>
                </a:gs>
                <a:gs pos="100000">
                  <a:srgbClr val="FFB673"/>
                </a:gs>
              </a:gsLst>
              <a:lin ang="16200000" scaled="0"/>
            </a:gradFill>
            <a:ln cap="flat" cmpd="sng" w="9525">
              <a:solidFill>
                <a:srgbClr val="F5913F"/>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spcAft>
                  <a:spcPts val="0"/>
                </a:spcAft>
                <a:buSzPct val="25000"/>
                <a:buNone/>
              </a:pPr>
              <a:r>
                <a:rPr lang="en" sz="1600">
                  <a:solidFill>
                    <a:srgbClr val="FFFFFF"/>
                  </a:solidFill>
                  <a:latin typeface="Calibri"/>
                  <a:ea typeface="Calibri"/>
                  <a:cs typeface="Calibri"/>
                  <a:sym typeface="Calibri"/>
                </a:rPr>
                <a:t>Config/Management: Yang</a:t>
              </a:r>
            </a:p>
          </p:txBody>
        </p:sp>
      </p:grpSp>
      <p:sp>
        <p:nvSpPr>
          <p:cNvPr id="303" name="Shape 303"/>
          <p:cNvSpPr txBox="1"/>
          <p:nvPr/>
        </p:nvSpPr>
        <p:spPr>
          <a:xfrm>
            <a:off x="1628221" y="2881026"/>
            <a:ext cx="1227300" cy="581700"/>
          </a:xfrm>
          <a:prstGeom prst="rect">
            <a:avLst/>
          </a:prstGeom>
          <a:solidFill>
            <a:schemeClr val="lt1"/>
          </a:solidFill>
          <a:ln>
            <a:noFill/>
          </a:ln>
        </p:spPr>
        <p:txBody>
          <a:bodyPr anchorCtr="0" anchor="t" bIns="45700" lIns="91425" rIns="91425" tIns="45700">
            <a:noAutofit/>
          </a:bodyPr>
          <a:lstStyle/>
          <a:p>
            <a:pPr indent="0" lvl="0" marL="0" marR="0" rtl="0" algn="ctr">
              <a:spcBef>
                <a:spcPts val="0"/>
              </a:spcBef>
              <a:buSzPct val="25000"/>
              <a:buNone/>
            </a:pPr>
            <a:r>
              <a:rPr lang="en" sz="1800">
                <a:solidFill>
                  <a:schemeClr val="dk1"/>
                </a:solidFill>
                <a:latin typeface="Calibri"/>
                <a:ea typeface="Calibri"/>
                <a:cs typeface="Calibri"/>
                <a:sym typeface="Calibri"/>
              </a:rPr>
              <a:t>Distributed Control</a:t>
            </a:r>
          </a:p>
        </p:txBody>
      </p:sp>
      <p:sp>
        <p:nvSpPr>
          <p:cNvPr id="304" name="Shape 304"/>
          <p:cNvSpPr txBox="1"/>
          <p:nvPr/>
        </p:nvSpPr>
        <p:spPr>
          <a:xfrm>
            <a:off x="5260639" y="3902062"/>
            <a:ext cx="3757966" cy="1193952"/>
          </a:xfrm>
          <a:prstGeom prst="rect">
            <a:avLst/>
          </a:prstGeom>
          <a:noFill/>
          <a:ln>
            <a:noFill/>
          </a:ln>
        </p:spPr>
        <p:txBody>
          <a:bodyPr anchorCtr="0" anchor="t" bIns="45700" lIns="91425" rIns="91425" tIns="45700">
            <a:noAutofit/>
          </a:bodyPr>
          <a:lstStyle/>
          <a:p>
            <a:pPr indent="0" lvl="0" marL="0" marR="0" rtl="0" algn="ctr">
              <a:spcBef>
                <a:spcPts val="440"/>
              </a:spcBef>
              <a:buClr>
                <a:schemeClr val="dk1"/>
              </a:buClr>
              <a:buSzPct val="25000"/>
              <a:buFont typeface="Arial"/>
              <a:buNone/>
            </a:pPr>
            <a:r>
              <a:rPr lang="en" sz="2200">
                <a:solidFill>
                  <a:schemeClr val="dk1"/>
                </a:solidFill>
                <a:latin typeface="Calibri"/>
                <a:ea typeface="Calibri"/>
                <a:cs typeface="Calibri"/>
                <a:sym typeface="Calibri"/>
              </a:rPr>
              <a:t>Offers disruptive value prop </a:t>
            </a:r>
            <a:br>
              <a:rPr lang="en" sz="2200">
                <a:solidFill>
                  <a:schemeClr val="dk1"/>
                </a:solidFill>
                <a:latin typeface="Calibri"/>
                <a:ea typeface="Calibri"/>
                <a:cs typeface="Calibri"/>
                <a:sym typeface="Calibri"/>
              </a:rPr>
            </a:br>
            <a:r>
              <a:rPr lang="en" sz="2200">
                <a:solidFill>
                  <a:schemeClr val="dk1"/>
                </a:solidFill>
                <a:latin typeface="Calibri"/>
                <a:ea typeface="Calibri"/>
                <a:cs typeface="Calibri"/>
                <a:sym typeface="Calibri"/>
              </a:rPr>
              <a:t>for the longer term</a:t>
            </a:r>
          </a:p>
          <a:p>
            <a:pPr indent="0" lvl="0" marL="0" marR="0" rtl="0" algn="ctr">
              <a:spcBef>
                <a:spcPts val="440"/>
              </a:spcBef>
              <a:buClr>
                <a:schemeClr val="dk1"/>
              </a:buClr>
              <a:buSzPct val="25000"/>
              <a:buFont typeface="Arial"/>
              <a:buNone/>
            </a:pPr>
            <a:r>
              <a:rPr lang="en" sz="2200">
                <a:solidFill>
                  <a:schemeClr val="dk1"/>
                </a:solidFill>
                <a:latin typeface="Calibri"/>
                <a:ea typeface="Calibri"/>
                <a:cs typeface="Calibri"/>
                <a:sym typeface="Calibri"/>
              </a:rPr>
              <a:t>(ONOS community)</a:t>
            </a:r>
          </a:p>
        </p:txBody>
      </p:sp>
      <p:grpSp>
        <p:nvGrpSpPr>
          <p:cNvPr id="305" name="Shape 305"/>
          <p:cNvGrpSpPr/>
          <p:nvPr/>
        </p:nvGrpSpPr>
        <p:grpSpPr>
          <a:xfrm>
            <a:off x="5280411" y="1258924"/>
            <a:ext cx="3718424" cy="2564021"/>
            <a:chOff x="5384091" y="954120"/>
            <a:chExt cx="3718424" cy="2564021"/>
          </a:xfrm>
        </p:grpSpPr>
        <p:sp>
          <p:nvSpPr>
            <p:cNvPr id="306" name="Shape 306"/>
            <p:cNvSpPr/>
            <p:nvPr/>
          </p:nvSpPr>
          <p:spPr>
            <a:xfrm>
              <a:off x="5384091" y="954120"/>
              <a:ext cx="3693648" cy="1428360"/>
            </a:xfrm>
            <a:prstGeom prst="rect">
              <a:avLst/>
            </a:prstGeom>
            <a:solidFill>
              <a:srgbClr val="EFEFEF"/>
            </a:solidFill>
            <a:ln cap="flat" cmpd="sng" w="19050">
              <a:solidFill>
                <a:srgbClr val="666666"/>
              </a:solidFill>
              <a:prstDash val="solid"/>
              <a:round/>
              <a:headEnd len="med" w="med" type="none"/>
              <a:tailEnd len="med" w="med" type="none"/>
            </a:ln>
          </p:spPr>
          <p:txBody>
            <a:bodyPr anchorCtr="0" anchor="ctr" bIns="91400" lIns="91400" rIns="91400" tIns="91400">
              <a:noAutofit/>
            </a:bodyPr>
            <a:lstStyle/>
            <a:p>
              <a:pPr indent="0" lvl="0" marL="0" marR="0" rtl="0" algn="l">
                <a:spcBef>
                  <a:spcPts val="0"/>
                </a:spcBef>
                <a:buNone/>
              </a:pPr>
              <a:r>
                <a:t/>
              </a:r>
              <a:endParaRPr sz="1800">
                <a:solidFill>
                  <a:schemeClr val="dk1"/>
                </a:solidFill>
                <a:latin typeface="Calibri"/>
                <a:ea typeface="Calibri"/>
                <a:cs typeface="Calibri"/>
                <a:sym typeface="Calibri"/>
              </a:endParaRPr>
            </a:p>
          </p:txBody>
        </p:sp>
        <p:sp>
          <p:nvSpPr>
            <p:cNvPr id="307" name="Shape 307"/>
            <p:cNvSpPr/>
            <p:nvPr/>
          </p:nvSpPr>
          <p:spPr>
            <a:xfrm>
              <a:off x="6539007" y="2037034"/>
              <a:ext cx="1599214" cy="285747"/>
            </a:xfrm>
            <a:prstGeom prst="rect">
              <a:avLst/>
            </a:prstGeom>
            <a:solidFill>
              <a:srgbClr val="990000"/>
            </a:solidFill>
            <a:ln>
              <a:noFill/>
            </a:ln>
          </p:spPr>
          <p:txBody>
            <a:bodyPr anchorCtr="0" anchor="ctr" bIns="91400" lIns="91400" rIns="91400" tIns="91400">
              <a:noAutofit/>
            </a:bodyPr>
            <a:lstStyle/>
            <a:p>
              <a:pPr indent="0" lvl="0" marL="0" marR="0" rtl="0" algn="ctr">
                <a:spcBef>
                  <a:spcPts val="0"/>
                </a:spcBef>
                <a:buSzPct val="25000"/>
                <a:buNone/>
              </a:pPr>
              <a:r>
                <a:rPr lang="en" sz="1600">
                  <a:solidFill>
                    <a:srgbClr val="EFEFEF"/>
                  </a:solidFill>
                  <a:latin typeface="Calibri"/>
                  <a:ea typeface="Calibri"/>
                  <a:cs typeface="Calibri"/>
                  <a:sym typeface="Calibri"/>
                </a:rPr>
                <a:t>OpenFlow/P4</a:t>
              </a:r>
            </a:p>
          </p:txBody>
        </p:sp>
        <p:sp>
          <p:nvSpPr>
            <p:cNvPr id="308" name="Shape 308"/>
            <p:cNvSpPr/>
            <p:nvPr/>
          </p:nvSpPr>
          <p:spPr>
            <a:xfrm>
              <a:off x="5405644" y="1052707"/>
              <a:ext cx="3611961" cy="376200"/>
            </a:xfrm>
            <a:prstGeom prst="rect">
              <a:avLst/>
            </a:prstGeom>
            <a:solidFill>
              <a:srgbClr val="1155CC"/>
            </a:solidFill>
            <a:ln>
              <a:noFill/>
            </a:ln>
          </p:spPr>
          <p:txBody>
            <a:bodyPr anchorCtr="0" anchor="ctr" bIns="91400" lIns="91400" rIns="91400" tIns="91400">
              <a:noAutofit/>
            </a:bodyPr>
            <a:lstStyle/>
            <a:p>
              <a:pPr indent="0" lvl="0" marL="0" marR="0" rtl="0" algn="ctr">
                <a:spcBef>
                  <a:spcPts val="0"/>
                </a:spcBef>
                <a:buSzPct val="25000"/>
                <a:buNone/>
              </a:pPr>
              <a:r>
                <a:rPr lang="en" sz="1800">
                  <a:solidFill>
                    <a:srgbClr val="FFFFFF"/>
                  </a:solidFill>
                  <a:latin typeface="Calibri"/>
                  <a:ea typeface="Calibri"/>
                  <a:cs typeface="Calibri"/>
                  <a:sym typeface="Calibri"/>
                </a:rPr>
                <a:t>Apps: Network Control</a:t>
              </a:r>
            </a:p>
          </p:txBody>
        </p:sp>
        <p:cxnSp>
          <p:nvCxnSpPr>
            <p:cNvPr id="309" name="Shape 309"/>
            <p:cNvCxnSpPr/>
            <p:nvPr/>
          </p:nvCxnSpPr>
          <p:spPr>
            <a:xfrm>
              <a:off x="6129642" y="2619616"/>
              <a:ext cx="1164000" cy="240900"/>
            </a:xfrm>
            <a:prstGeom prst="straightConnector1">
              <a:avLst/>
            </a:prstGeom>
            <a:noFill/>
            <a:ln cap="flat" cmpd="sng" w="19050">
              <a:solidFill>
                <a:schemeClr val="dk2"/>
              </a:solidFill>
              <a:prstDash val="solid"/>
              <a:round/>
              <a:headEnd len="med" w="med" type="none"/>
              <a:tailEnd len="med" w="med" type="none"/>
            </a:ln>
          </p:spPr>
        </p:cxnSp>
        <p:cxnSp>
          <p:nvCxnSpPr>
            <p:cNvPr id="310" name="Shape 310"/>
            <p:cNvCxnSpPr/>
            <p:nvPr/>
          </p:nvCxnSpPr>
          <p:spPr>
            <a:xfrm flipH="1">
              <a:off x="8327990" y="2625516"/>
              <a:ext cx="311700" cy="629100"/>
            </a:xfrm>
            <a:prstGeom prst="straightConnector1">
              <a:avLst/>
            </a:prstGeom>
            <a:noFill/>
            <a:ln cap="flat" cmpd="sng" w="19050">
              <a:solidFill>
                <a:schemeClr val="dk2"/>
              </a:solidFill>
              <a:prstDash val="solid"/>
              <a:round/>
              <a:headEnd len="med" w="med" type="none"/>
              <a:tailEnd len="med" w="med" type="none"/>
            </a:ln>
          </p:spPr>
        </p:cxnSp>
        <p:cxnSp>
          <p:nvCxnSpPr>
            <p:cNvPr id="311" name="Shape 311"/>
            <p:cNvCxnSpPr/>
            <p:nvPr/>
          </p:nvCxnSpPr>
          <p:spPr>
            <a:xfrm rot="10800000">
              <a:off x="7346615" y="2872344"/>
              <a:ext cx="875700" cy="393900"/>
            </a:xfrm>
            <a:prstGeom prst="straightConnector1">
              <a:avLst/>
            </a:prstGeom>
            <a:noFill/>
            <a:ln cap="flat" cmpd="sng" w="19050">
              <a:solidFill>
                <a:schemeClr val="dk2"/>
              </a:solidFill>
              <a:prstDash val="solid"/>
              <a:round/>
              <a:headEnd len="med" w="med" type="none"/>
              <a:tailEnd len="med" w="med" type="none"/>
            </a:ln>
          </p:spPr>
        </p:cxnSp>
        <p:cxnSp>
          <p:nvCxnSpPr>
            <p:cNvPr id="312" name="Shape 312"/>
            <p:cNvCxnSpPr/>
            <p:nvPr/>
          </p:nvCxnSpPr>
          <p:spPr>
            <a:xfrm flipH="1" rot="10800000">
              <a:off x="6164917" y="2860640"/>
              <a:ext cx="1087500" cy="376200"/>
            </a:xfrm>
            <a:prstGeom prst="straightConnector1">
              <a:avLst/>
            </a:prstGeom>
            <a:noFill/>
            <a:ln cap="flat" cmpd="sng" w="19050">
              <a:solidFill>
                <a:schemeClr val="dk2"/>
              </a:solidFill>
              <a:prstDash val="solid"/>
              <a:round/>
              <a:headEnd len="med" w="med" type="none"/>
              <a:tailEnd len="med" w="med" type="none"/>
            </a:ln>
          </p:spPr>
        </p:cxnSp>
        <p:cxnSp>
          <p:nvCxnSpPr>
            <p:cNvPr id="313" name="Shape 313"/>
            <p:cNvCxnSpPr/>
            <p:nvPr/>
          </p:nvCxnSpPr>
          <p:spPr>
            <a:xfrm flipH="1">
              <a:off x="7269966" y="2625518"/>
              <a:ext cx="1263898" cy="223500"/>
            </a:xfrm>
            <a:prstGeom prst="straightConnector1">
              <a:avLst/>
            </a:prstGeom>
            <a:noFill/>
            <a:ln cap="flat" cmpd="sng" w="19050">
              <a:solidFill>
                <a:schemeClr val="dk2"/>
              </a:solidFill>
              <a:prstDash val="solid"/>
              <a:round/>
              <a:headEnd len="med" w="med" type="none"/>
              <a:tailEnd len="med" w="med" type="none"/>
            </a:ln>
          </p:spPr>
        </p:cxnSp>
        <p:cxnSp>
          <p:nvCxnSpPr>
            <p:cNvPr id="314" name="Shape 314"/>
            <p:cNvCxnSpPr/>
            <p:nvPr/>
          </p:nvCxnSpPr>
          <p:spPr>
            <a:xfrm>
              <a:off x="6253107" y="3254494"/>
              <a:ext cx="2010299" cy="17700"/>
            </a:xfrm>
            <a:prstGeom prst="straightConnector1">
              <a:avLst/>
            </a:prstGeom>
            <a:noFill/>
            <a:ln cap="flat" cmpd="sng" w="19050">
              <a:solidFill>
                <a:schemeClr val="dk2"/>
              </a:solidFill>
              <a:prstDash val="solid"/>
              <a:round/>
              <a:headEnd len="med" w="med" type="none"/>
              <a:tailEnd len="med" w="med" type="none"/>
            </a:ln>
          </p:spPr>
        </p:cxnSp>
        <p:pic>
          <p:nvPicPr>
            <p:cNvPr id="315" name="Shape 315"/>
            <p:cNvPicPr preferRelativeResize="0"/>
            <p:nvPr/>
          </p:nvPicPr>
          <p:blipFill rotWithShape="1">
            <a:blip r:embed="rId4">
              <a:alphaModFix/>
            </a:blip>
            <a:srcRect b="0" l="0" r="0" t="0"/>
            <a:stretch/>
          </p:blipFill>
          <p:spPr>
            <a:xfrm>
              <a:off x="8333043" y="2426342"/>
              <a:ext cx="769472" cy="482199"/>
            </a:xfrm>
            <a:prstGeom prst="rect">
              <a:avLst/>
            </a:prstGeom>
            <a:noFill/>
            <a:ln>
              <a:noFill/>
            </a:ln>
          </p:spPr>
        </p:pic>
        <p:pic>
          <p:nvPicPr>
            <p:cNvPr id="316" name="Shape 316"/>
            <p:cNvPicPr preferRelativeResize="0"/>
            <p:nvPr/>
          </p:nvPicPr>
          <p:blipFill rotWithShape="1">
            <a:blip r:embed="rId4">
              <a:alphaModFix/>
            </a:blip>
            <a:srcRect b="0" l="0" r="0" t="0"/>
            <a:stretch/>
          </p:blipFill>
          <p:spPr>
            <a:xfrm>
              <a:off x="7952043" y="3035942"/>
              <a:ext cx="769472" cy="482199"/>
            </a:xfrm>
            <a:prstGeom prst="rect">
              <a:avLst/>
            </a:prstGeom>
            <a:noFill/>
            <a:ln>
              <a:noFill/>
            </a:ln>
          </p:spPr>
        </p:pic>
        <p:pic>
          <p:nvPicPr>
            <p:cNvPr id="317" name="Shape 317"/>
            <p:cNvPicPr preferRelativeResize="0"/>
            <p:nvPr/>
          </p:nvPicPr>
          <p:blipFill rotWithShape="1">
            <a:blip r:embed="rId4">
              <a:alphaModFix/>
            </a:blip>
            <a:srcRect b="0" l="0" r="0" t="0"/>
            <a:stretch/>
          </p:blipFill>
          <p:spPr>
            <a:xfrm>
              <a:off x="6961443" y="2654942"/>
              <a:ext cx="769472" cy="482199"/>
            </a:xfrm>
            <a:prstGeom prst="rect">
              <a:avLst/>
            </a:prstGeom>
            <a:noFill/>
            <a:ln>
              <a:noFill/>
            </a:ln>
          </p:spPr>
        </p:pic>
        <p:pic>
          <p:nvPicPr>
            <p:cNvPr id="318" name="Shape 318"/>
            <p:cNvPicPr preferRelativeResize="0"/>
            <p:nvPr/>
          </p:nvPicPr>
          <p:blipFill rotWithShape="1">
            <a:blip r:embed="rId4">
              <a:alphaModFix/>
            </a:blip>
            <a:srcRect b="0" l="0" r="0" t="0"/>
            <a:stretch/>
          </p:blipFill>
          <p:spPr>
            <a:xfrm>
              <a:off x="5742244" y="2426342"/>
              <a:ext cx="769472" cy="482199"/>
            </a:xfrm>
            <a:prstGeom prst="rect">
              <a:avLst/>
            </a:prstGeom>
            <a:noFill/>
            <a:ln>
              <a:noFill/>
            </a:ln>
          </p:spPr>
        </p:pic>
        <p:pic>
          <p:nvPicPr>
            <p:cNvPr id="319" name="Shape 319"/>
            <p:cNvPicPr preferRelativeResize="0"/>
            <p:nvPr/>
          </p:nvPicPr>
          <p:blipFill rotWithShape="1">
            <a:blip r:embed="rId4">
              <a:alphaModFix/>
            </a:blip>
            <a:srcRect b="0" l="0" r="0" t="0"/>
            <a:stretch/>
          </p:blipFill>
          <p:spPr>
            <a:xfrm>
              <a:off x="5818444" y="3035942"/>
              <a:ext cx="769472" cy="482199"/>
            </a:xfrm>
            <a:prstGeom prst="rect">
              <a:avLst/>
            </a:prstGeom>
            <a:noFill/>
            <a:ln>
              <a:noFill/>
            </a:ln>
          </p:spPr>
        </p:pic>
        <p:sp>
          <p:nvSpPr>
            <p:cNvPr id="320" name="Shape 320"/>
            <p:cNvSpPr/>
            <p:nvPr/>
          </p:nvSpPr>
          <p:spPr>
            <a:xfrm>
              <a:off x="5403133" y="1514154"/>
              <a:ext cx="3606845" cy="452141"/>
            </a:xfrm>
            <a:prstGeom prst="rect">
              <a:avLst/>
            </a:prstGeom>
            <a:solidFill>
              <a:schemeClr val="accent2"/>
            </a:solidFill>
            <a:ln>
              <a:noFill/>
            </a:ln>
          </p:spPr>
          <p:txBody>
            <a:bodyPr anchorCtr="0" anchor="ctr" bIns="91400" lIns="91400" rIns="91400" tIns="91400">
              <a:noAutofit/>
            </a:bodyPr>
            <a:lstStyle/>
            <a:p>
              <a:pPr indent="0" lvl="0" marL="0" marR="0" rtl="0" algn="ctr">
                <a:spcBef>
                  <a:spcPts val="0"/>
                </a:spcBef>
                <a:buSzPct val="25000"/>
                <a:buNone/>
              </a:pPr>
              <a:r>
                <a:rPr lang="en" sz="1800">
                  <a:solidFill>
                    <a:srgbClr val="EFEFEF"/>
                  </a:solidFill>
                  <a:latin typeface="Calibri"/>
                  <a:ea typeface="Calibri"/>
                  <a:cs typeface="Calibri"/>
                  <a:sym typeface="Calibri"/>
                </a:rPr>
                <a:t>SDN OS: ONOS</a:t>
              </a:r>
            </a:p>
          </p:txBody>
        </p:sp>
        <p:grpSp>
          <p:nvGrpSpPr>
            <p:cNvPr id="321" name="Shape 321"/>
            <p:cNvGrpSpPr/>
            <p:nvPr/>
          </p:nvGrpSpPr>
          <p:grpSpPr>
            <a:xfrm>
              <a:off x="8155269" y="1234325"/>
              <a:ext cx="776937" cy="410440"/>
              <a:chOff x="5257800" y="3124200"/>
              <a:chExt cx="1158239" cy="547255"/>
            </a:xfrm>
          </p:grpSpPr>
          <p:sp>
            <p:nvSpPr>
              <p:cNvPr id="322" name="Shape 322"/>
              <p:cNvSpPr/>
              <p:nvPr/>
            </p:nvSpPr>
            <p:spPr>
              <a:xfrm>
                <a:off x="5257800" y="33528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None/>
                </a:pPr>
                <a:r>
                  <a:t/>
                </a:r>
                <a:endParaRPr sz="1200">
                  <a:solidFill>
                    <a:srgbClr val="FFFFFF"/>
                  </a:solidFill>
                  <a:latin typeface="Calibri"/>
                  <a:ea typeface="Calibri"/>
                  <a:cs typeface="Calibri"/>
                  <a:sym typeface="Calibri"/>
                </a:endParaRPr>
              </a:p>
            </p:txBody>
          </p:sp>
          <p:sp>
            <p:nvSpPr>
              <p:cNvPr id="323" name="Shape 323"/>
              <p:cNvSpPr/>
              <p:nvPr/>
            </p:nvSpPr>
            <p:spPr>
              <a:xfrm>
                <a:off x="5562600" y="31242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None/>
                </a:pPr>
                <a:r>
                  <a:t/>
                </a:r>
                <a:endParaRPr sz="1200">
                  <a:solidFill>
                    <a:srgbClr val="FFFFFF"/>
                  </a:solidFill>
                  <a:latin typeface="Calibri"/>
                  <a:ea typeface="Calibri"/>
                  <a:cs typeface="Calibri"/>
                  <a:sym typeface="Calibri"/>
                </a:endParaRPr>
              </a:p>
            </p:txBody>
          </p:sp>
          <p:sp>
            <p:nvSpPr>
              <p:cNvPr id="324" name="Shape 324"/>
              <p:cNvSpPr/>
              <p:nvPr/>
            </p:nvSpPr>
            <p:spPr>
              <a:xfrm>
                <a:off x="5943600" y="33528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None/>
                </a:pPr>
                <a:r>
                  <a:t/>
                </a:r>
                <a:endParaRPr sz="1200">
                  <a:solidFill>
                    <a:srgbClr val="FFFFFF"/>
                  </a:solidFill>
                  <a:latin typeface="Calibri"/>
                  <a:ea typeface="Calibri"/>
                  <a:cs typeface="Calibri"/>
                  <a:sym typeface="Calibri"/>
                </a:endParaRPr>
              </a:p>
            </p:txBody>
          </p:sp>
          <p:sp>
            <p:nvSpPr>
              <p:cNvPr id="325" name="Shape 325"/>
              <p:cNvSpPr/>
              <p:nvPr/>
            </p:nvSpPr>
            <p:spPr>
              <a:xfrm>
                <a:off x="6248400" y="32004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None/>
                </a:pPr>
                <a:r>
                  <a:t/>
                </a:r>
                <a:endParaRPr sz="1200">
                  <a:solidFill>
                    <a:srgbClr val="FFFFFF"/>
                  </a:solidFill>
                  <a:latin typeface="Calibri"/>
                  <a:ea typeface="Calibri"/>
                  <a:cs typeface="Calibri"/>
                  <a:sym typeface="Calibri"/>
                </a:endParaRPr>
              </a:p>
            </p:txBody>
          </p:sp>
          <p:sp>
            <p:nvSpPr>
              <p:cNvPr id="326" name="Shape 326"/>
              <p:cNvSpPr/>
              <p:nvPr/>
            </p:nvSpPr>
            <p:spPr>
              <a:xfrm>
                <a:off x="5638800" y="35052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spcBef>
                    <a:spcPts val="0"/>
                  </a:spcBef>
                  <a:buNone/>
                </a:pPr>
                <a:r>
                  <a:t/>
                </a:r>
                <a:endParaRPr sz="1200">
                  <a:solidFill>
                    <a:srgbClr val="FFFFFF"/>
                  </a:solidFill>
                  <a:latin typeface="Calibri"/>
                  <a:ea typeface="Calibri"/>
                  <a:cs typeface="Calibri"/>
                  <a:sym typeface="Calibri"/>
                </a:endParaRPr>
              </a:p>
            </p:txBody>
          </p:sp>
          <p:cxnSp>
            <p:nvCxnSpPr>
              <p:cNvPr id="327" name="Shape 327"/>
              <p:cNvCxnSpPr>
                <a:stCxn id="322" idx="7"/>
                <a:endCxn id="323" idx="3"/>
              </p:cNvCxnSpPr>
              <p:nvPr/>
            </p:nvCxnSpPr>
            <p:spPr>
              <a:xfrm flipH="1" rot="10800000">
                <a:off x="5400889" y="3265847"/>
                <a:ext cx="186000" cy="1113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328" name="Shape 328"/>
              <p:cNvCxnSpPr>
                <a:stCxn id="326" idx="2"/>
                <a:endCxn id="322" idx="5"/>
              </p:cNvCxnSpPr>
              <p:nvPr/>
            </p:nvCxnSpPr>
            <p:spPr>
              <a:xfrm rot="10800000">
                <a:off x="5400899" y="3494727"/>
                <a:ext cx="237900" cy="936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329" name="Shape 329"/>
              <p:cNvCxnSpPr>
                <a:stCxn id="324" idx="1"/>
                <a:endCxn id="323" idx="5"/>
              </p:cNvCxnSpPr>
              <p:nvPr/>
            </p:nvCxnSpPr>
            <p:spPr>
              <a:xfrm rot="10800000">
                <a:off x="5705650" y="3265847"/>
                <a:ext cx="262500" cy="1113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330" name="Shape 330"/>
              <p:cNvCxnSpPr>
                <a:stCxn id="326" idx="6"/>
                <a:endCxn id="324" idx="3"/>
              </p:cNvCxnSpPr>
              <p:nvPr/>
            </p:nvCxnSpPr>
            <p:spPr>
              <a:xfrm flipH="1" rot="10800000">
                <a:off x="5806439" y="3494727"/>
                <a:ext cx="162000" cy="936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331" name="Shape 331"/>
              <p:cNvCxnSpPr>
                <a:stCxn id="324" idx="6"/>
                <a:endCxn id="325" idx="3"/>
              </p:cNvCxnSpPr>
              <p:nvPr/>
            </p:nvCxnSpPr>
            <p:spPr>
              <a:xfrm flipH="1" rot="10800000">
                <a:off x="6111239" y="3342327"/>
                <a:ext cx="162000" cy="93600"/>
              </a:xfrm>
              <a:prstGeom prst="straightConnector1">
                <a:avLst/>
              </a:prstGeom>
              <a:solidFill>
                <a:schemeClr val="lt1"/>
              </a:solidFill>
              <a:ln cap="flat" cmpd="sng" w="25400">
                <a:solidFill>
                  <a:srgbClr val="FF0000"/>
                </a:solidFill>
                <a:prstDash val="solid"/>
                <a:round/>
                <a:headEnd len="med" w="med" type="none"/>
                <a:tailEnd len="med" w="med" type="none"/>
              </a:ln>
            </p:spPr>
          </p:cxnSp>
        </p:grpSp>
      </p:grpSp>
      <p:cxnSp>
        <p:nvCxnSpPr>
          <p:cNvPr id="332" name="Shape 332"/>
          <p:cNvCxnSpPr>
            <a:endCxn id="302" idx="0"/>
          </p:cNvCxnSpPr>
          <p:nvPr/>
        </p:nvCxnSpPr>
        <p:spPr>
          <a:xfrm>
            <a:off x="1628092" y="588387"/>
            <a:ext cx="653700" cy="507600"/>
          </a:xfrm>
          <a:prstGeom prst="straightConnector1">
            <a:avLst/>
          </a:prstGeom>
          <a:noFill/>
          <a:ln cap="flat" cmpd="sng" w="9525">
            <a:solidFill>
              <a:schemeClr val="dk2"/>
            </a:solidFill>
            <a:prstDash val="solid"/>
            <a:round/>
            <a:headEnd len="lg" w="lg" type="none"/>
            <a:tailEnd len="lg" w="lg" type="triangle"/>
          </a:ln>
        </p:spPr>
      </p:cxnSp>
      <p:cxnSp>
        <p:nvCxnSpPr>
          <p:cNvPr id="333" name="Shape 333"/>
          <p:cNvCxnSpPr>
            <a:endCxn id="306" idx="0"/>
          </p:cNvCxnSpPr>
          <p:nvPr/>
        </p:nvCxnSpPr>
        <p:spPr>
          <a:xfrm>
            <a:off x="4570335" y="628024"/>
            <a:ext cx="2556900" cy="630900"/>
          </a:xfrm>
          <a:prstGeom prst="straightConnector1">
            <a:avLst/>
          </a:prstGeom>
          <a:noFill/>
          <a:ln cap="flat" cmpd="sng" w="9525">
            <a:solidFill>
              <a:schemeClr val="dk2"/>
            </a:solidFill>
            <a:prstDash val="solid"/>
            <a:round/>
            <a:headEnd len="lg" w="lg" type="none"/>
            <a:tailEnd len="lg" w="lg"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par>
                                <p:cTn fill="hold" nodeType="with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0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337" name="Shape 337"/>
        <p:cNvGrpSpPr/>
        <p:nvPr/>
      </p:nvGrpSpPr>
      <p:grpSpPr>
        <a:xfrm>
          <a:off x="0" y="0"/>
          <a:ext cx="0" cy="0"/>
          <a:chOff x="0" y="0"/>
          <a:chExt cx="0" cy="0"/>
        </a:xfrm>
      </p:grpSpPr>
      <p:sp>
        <p:nvSpPr>
          <p:cNvPr id="338" name="Shape 338"/>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sz="3000"/>
              <a:t>Architectural Approach and Integrity Matter</a:t>
            </a:r>
          </a:p>
        </p:txBody>
      </p:sp>
      <p:sp>
        <p:nvSpPr>
          <p:cNvPr id="339" name="Shape 339"/>
          <p:cNvSpPr txBox="1"/>
          <p:nvPr>
            <p:ph idx="1" type="body"/>
          </p:nvPr>
        </p:nvSpPr>
        <p:spPr>
          <a:xfrm>
            <a:off x="457200" y="751498"/>
            <a:ext cx="8229600" cy="3989400"/>
          </a:xfrm>
          <a:prstGeom prst="rect">
            <a:avLst/>
          </a:prstGeom>
        </p:spPr>
        <p:txBody>
          <a:bodyPr anchorCtr="0" anchor="t" bIns="91425" lIns="91425" rIns="91425" tIns="91425">
            <a:noAutofit/>
          </a:bodyPr>
          <a:lstStyle/>
          <a:p>
            <a:pPr lvl="0">
              <a:spcBef>
                <a:spcPts val="0"/>
              </a:spcBef>
              <a:buNone/>
            </a:pPr>
            <a:r>
              <a:rPr lang="en" sz="1800"/>
              <a:t>If you needed a car to drive to work and a car to race, but could only have 1 car, would you buy a camry and hope you can alter it for racing? Or would you buy a car built for racing, and also drive it to work?</a:t>
            </a:r>
          </a:p>
          <a:p>
            <a:pPr lvl="0">
              <a:spcBef>
                <a:spcPts val="0"/>
              </a:spcBef>
              <a:buNone/>
            </a:pPr>
            <a:r>
              <a:t/>
            </a:r>
            <a:endParaRPr sz="1800"/>
          </a:p>
          <a:p>
            <a:pPr lvl="0">
              <a:spcBef>
                <a:spcPts val="0"/>
              </a:spcBef>
              <a:buNone/>
            </a:pPr>
            <a:r>
              <a:rPr lang="en" sz="1800"/>
              <a:t>A: If you are serious about racing, you have to buy the race car. You will never be able to modify a camry to compete with cars built for racing.</a:t>
            </a:r>
          </a:p>
          <a:p>
            <a:pPr lvl="0">
              <a:spcBef>
                <a:spcPts val="0"/>
              </a:spcBef>
              <a:buNone/>
            </a:pPr>
            <a:r>
              <a:t/>
            </a:r>
            <a:endParaRPr/>
          </a:p>
          <a:p>
            <a:pPr lvl="0">
              <a:spcBef>
                <a:spcPts val="0"/>
              </a:spcBef>
              <a:buNone/>
            </a:pPr>
            <a:r>
              <a:rPr i="1" lang="en"/>
              <a:t>ONOS is built BY Service Providers, FOR Service Providers, with the end goals and architecture in mind. It is simple to build apps on ONOS, and ONOS is streamlined, with form to fit function.</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0" st="0"/>
                                            </p:txEl>
                                          </p:spTgt>
                                        </p:tgtEl>
                                        <p:attrNameLst>
                                          <p:attrName>style.visibility</p:attrName>
                                        </p:attrNameLst>
                                      </p:cBhvr>
                                      <p:to>
                                        <p:strVal val="visible"/>
                                      </p:to>
                                    </p:set>
                                    <p:animEffect filter="fade" transition="in">
                                      <p:cBhvr>
                                        <p:cTn dur="1000"/>
                                        <p:tgtEl>
                                          <p:spTgt spid="3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1" st="1"/>
                                            </p:txEl>
                                          </p:spTgt>
                                        </p:tgtEl>
                                        <p:attrNameLst>
                                          <p:attrName>style.visibility</p:attrName>
                                        </p:attrNameLst>
                                      </p:cBhvr>
                                      <p:to>
                                        <p:strVal val="visible"/>
                                      </p:to>
                                    </p:set>
                                    <p:animEffect filter="fade" transition="in">
                                      <p:cBhvr>
                                        <p:cTn dur="1000"/>
                                        <p:tgtEl>
                                          <p:spTgt spid="3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2" st="2"/>
                                            </p:txEl>
                                          </p:spTgt>
                                        </p:tgtEl>
                                        <p:attrNameLst>
                                          <p:attrName>style.visibility</p:attrName>
                                        </p:attrNameLst>
                                      </p:cBhvr>
                                      <p:to>
                                        <p:strVal val="visible"/>
                                      </p:to>
                                    </p:set>
                                    <p:animEffect filter="fade" transition="in">
                                      <p:cBhvr>
                                        <p:cTn dur="1000"/>
                                        <p:tgtEl>
                                          <p:spTgt spid="3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3" st="3"/>
                                            </p:txEl>
                                          </p:spTgt>
                                        </p:tgtEl>
                                        <p:attrNameLst>
                                          <p:attrName>style.visibility</p:attrName>
                                        </p:attrNameLst>
                                      </p:cBhvr>
                                      <p:to>
                                        <p:strVal val="visible"/>
                                      </p:to>
                                    </p:set>
                                    <p:animEffect filter="fade" transition="in">
                                      <p:cBhvr>
                                        <p:cTn dur="1000"/>
                                        <p:tgtEl>
                                          <p:spTgt spid="3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4" st="4"/>
                                            </p:txEl>
                                          </p:spTgt>
                                        </p:tgtEl>
                                        <p:attrNameLst>
                                          <p:attrName>style.visibility</p:attrName>
                                        </p:attrNameLst>
                                      </p:cBhvr>
                                      <p:to>
                                        <p:strVal val="visible"/>
                                      </p:to>
                                    </p:set>
                                    <p:animEffect filter="fade" transition="in">
                                      <p:cBhvr>
                                        <p:cTn dur="1000"/>
                                        <p:tgtEl>
                                          <p:spTgt spid="33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343" name="Shape 343"/>
        <p:cNvGrpSpPr/>
        <p:nvPr/>
      </p:nvGrpSpPr>
      <p:grpSpPr>
        <a:xfrm>
          <a:off x="0" y="0"/>
          <a:ext cx="0" cy="0"/>
          <a:chOff x="0" y="0"/>
          <a:chExt cx="0" cy="0"/>
        </a:xfrm>
      </p:grpSpPr>
      <p:sp>
        <p:nvSpPr>
          <p:cNvPr id="344" name="Shape 344"/>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Race Car Question in Context...</a:t>
            </a:r>
          </a:p>
        </p:txBody>
      </p:sp>
      <p:sp>
        <p:nvSpPr>
          <p:cNvPr id="345" name="Shape 345"/>
          <p:cNvSpPr txBox="1"/>
          <p:nvPr>
            <p:ph idx="1" type="body"/>
          </p:nvPr>
        </p:nvSpPr>
        <p:spPr>
          <a:xfrm>
            <a:off x="457200" y="751498"/>
            <a:ext cx="8229600" cy="3989400"/>
          </a:xfrm>
          <a:prstGeom prst="rect">
            <a:avLst/>
          </a:prstGeom>
        </p:spPr>
        <p:txBody>
          <a:bodyPr anchorCtr="0" anchor="t" bIns="91425" lIns="91425" rIns="91425" tIns="91425">
            <a:noAutofit/>
          </a:bodyPr>
          <a:lstStyle/>
          <a:p>
            <a:pPr indent="-355600" lvl="0" marL="457200" rtl="0">
              <a:spcBef>
                <a:spcPts val="0"/>
              </a:spcBef>
              <a:buSzPct val="100000"/>
            </a:pPr>
            <a:r>
              <a:rPr lang="en" sz="2000"/>
              <a:t>HA, Scale and Performance of the </a:t>
            </a:r>
            <a:r>
              <a:rPr b="1" lang="en" sz="2000"/>
              <a:t>control</a:t>
            </a:r>
            <a:r>
              <a:rPr lang="en" sz="2000"/>
              <a:t> plane are fundamental architectural decisions - they are interrelated, and each affects the other. They are not “features” you add...they are the bones of what you create.</a:t>
            </a:r>
          </a:p>
          <a:p>
            <a:pPr indent="-355600" lvl="0" marL="457200" rtl="0">
              <a:spcBef>
                <a:spcPts val="0"/>
              </a:spcBef>
              <a:buSzPct val="100000"/>
            </a:pPr>
            <a:r>
              <a:rPr lang="en" sz="2000"/>
              <a:t>Configuration and automation can be added without affecting the control characteristics. It is not scale and latency sensitive like control.</a:t>
            </a:r>
          </a:p>
          <a:p>
            <a:pPr indent="-355600" lvl="0" marL="457200" rtl="0">
              <a:spcBef>
                <a:spcPts val="0"/>
              </a:spcBef>
              <a:buSzPct val="100000"/>
            </a:pPr>
            <a:r>
              <a:rPr lang="en" sz="2000"/>
              <a:t>Would you start with a base platform that was good at configuration and hope you can adapt it for HA, Scale, Performance? Systems design shows this won’t work.</a:t>
            </a:r>
          </a:p>
          <a:p>
            <a:pPr indent="-355600" lvl="0" marL="457200">
              <a:spcBef>
                <a:spcPts val="0"/>
              </a:spcBef>
              <a:buSzPct val="100000"/>
            </a:pPr>
            <a:r>
              <a:rPr b="1" i="1" lang="en" sz="2000"/>
              <a:t>ONOS is built first and foremost for HA, Scale, Performance of control - BUT - also has extensive and growing support for configuration and automation.</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350" name="Shape 350"/>
        <p:cNvGrpSpPr/>
        <p:nvPr/>
      </p:nvGrpSpPr>
      <p:grpSpPr>
        <a:xfrm>
          <a:off x="0" y="0"/>
          <a:ext cx="0" cy="0"/>
          <a:chOff x="0" y="0"/>
          <a:chExt cx="0" cy="0"/>
        </a:xfrm>
      </p:grpSpPr>
      <p:sp>
        <p:nvSpPr>
          <p:cNvPr id="351" name="Shape 351"/>
          <p:cNvSpPr/>
          <p:nvPr/>
        </p:nvSpPr>
        <p:spPr>
          <a:xfrm>
            <a:off x="54125" y="1128525"/>
            <a:ext cx="2814900" cy="738600"/>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Architecture</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Scale, Performance, HA</a:t>
            </a:r>
          </a:p>
          <a:p>
            <a:pPr indent="0" lvl="0" marL="0" marR="0" rtl="0" algn="ctr">
              <a:lnSpc>
                <a:spcPct val="100000"/>
              </a:lnSpc>
              <a:spcBef>
                <a:spcPts val="0"/>
              </a:spcBef>
              <a:spcAft>
                <a:spcPts val="0"/>
              </a:spcAft>
              <a:buClr>
                <a:srgbClr val="000000"/>
              </a:buClr>
              <a:buSzPct val="25000"/>
              <a:buFont typeface="Calibri"/>
              <a:buNone/>
            </a:pPr>
            <a:r>
              <a:rPr b="0" i="0" lang="en" sz="1400" u="none" cap="none" strike="noStrike">
                <a:solidFill>
                  <a:srgbClr val="000000"/>
                </a:solidFill>
                <a:latin typeface="Calibri"/>
                <a:ea typeface="Calibri"/>
                <a:cs typeface="Calibri"/>
                <a:sym typeface="Calibri"/>
              </a:rPr>
              <a:t>North &amp; South-Bound Abstractions</a:t>
            </a:r>
          </a:p>
        </p:txBody>
      </p:sp>
      <p:sp>
        <p:nvSpPr>
          <p:cNvPr id="352" name="Shape 352"/>
          <p:cNvSpPr txBox="1"/>
          <p:nvPr>
            <p:ph type="title"/>
          </p:nvPr>
        </p:nvSpPr>
        <p:spPr>
          <a:xfrm>
            <a:off x="43617" y="25275"/>
            <a:ext cx="8925230" cy="857250"/>
          </a:xfrm>
          <a:prstGeom prst="rect">
            <a:avLst/>
          </a:prstGeom>
          <a:noFill/>
          <a:ln>
            <a:noFill/>
          </a:ln>
        </p:spPr>
        <p:txBody>
          <a:bodyPr anchorCtr="0" anchor="ctr" bIns="45700" lIns="91425" rIns="91425" tIns="45700">
            <a:noAutofit/>
          </a:bodyPr>
          <a:lstStyle/>
          <a:p>
            <a:pPr indent="0" lvl="0" marL="0" marR="0" rtl="0" algn="ctr">
              <a:spcBef>
                <a:spcPts val="0"/>
              </a:spcBef>
              <a:buClr>
                <a:schemeClr val="accent1"/>
              </a:buClr>
              <a:buSzPct val="25000"/>
              <a:buFont typeface="Calibri"/>
              <a:buNone/>
            </a:pPr>
            <a:r>
              <a:rPr i="0" lang="en" sz="2400" u="none" cap="none" strike="noStrike">
                <a:solidFill>
                  <a:schemeClr val="accent6"/>
                </a:solidFill>
              </a:rPr>
              <a:t>ONOS </a:t>
            </a:r>
            <a:r>
              <a:rPr lang="en" sz="2400">
                <a:solidFill>
                  <a:schemeClr val="accent6"/>
                </a:solidFill>
              </a:rPr>
              <a:t>is the </a:t>
            </a:r>
            <a:r>
              <a:rPr i="1" lang="en" sz="2400">
                <a:solidFill>
                  <a:schemeClr val="accent6"/>
                </a:solidFill>
              </a:rPr>
              <a:t>only</a:t>
            </a:r>
            <a:r>
              <a:rPr lang="en" sz="2400">
                <a:solidFill>
                  <a:schemeClr val="accent6"/>
                </a:solidFill>
              </a:rPr>
              <a:t> SDN control plane supporting both Disruptive and Incremental SDN</a:t>
            </a:r>
          </a:p>
        </p:txBody>
      </p:sp>
      <p:sp>
        <p:nvSpPr>
          <p:cNvPr id="353" name="Shape 353"/>
          <p:cNvSpPr txBox="1"/>
          <p:nvPr/>
        </p:nvSpPr>
        <p:spPr>
          <a:xfrm>
            <a:off x="6958014" y="2518765"/>
            <a:ext cx="2223600" cy="400200"/>
          </a:xfrm>
          <a:prstGeom prst="rect">
            <a:avLst/>
          </a:prstGeom>
          <a:noFill/>
          <a:ln>
            <a:noFill/>
          </a:ln>
        </p:spPr>
        <p:txBody>
          <a:bodyPr anchorCtr="0" anchor="t" bIns="45700" lIns="91425" rIns="91425" tIns="45700">
            <a:noAutofit/>
          </a:bodyPr>
          <a:lstStyle/>
          <a:p>
            <a:pPr indent="-285750" lvl="0" marL="285750" marR="0" rtl="0" algn="ctr">
              <a:lnSpc>
                <a:spcPct val="100000"/>
              </a:lnSpc>
              <a:spcBef>
                <a:spcPts val="0"/>
              </a:spcBef>
              <a:spcAft>
                <a:spcPts val="0"/>
              </a:spcAft>
              <a:buClr>
                <a:srgbClr val="0000FF"/>
              </a:buClr>
              <a:buSzPct val="100000"/>
              <a:buFont typeface="Noto Sans Symbols"/>
              <a:buChar char="✓"/>
            </a:pPr>
            <a:r>
              <a:rPr b="0" i="0" lang="en" sz="2000" u="none" cap="none" strike="noStrike">
                <a:solidFill>
                  <a:srgbClr val="0000FF"/>
                </a:solidFill>
                <a:latin typeface="Calibri"/>
                <a:ea typeface="Calibri"/>
                <a:cs typeface="Calibri"/>
                <a:sym typeface="Calibri"/>
              </a:rPr>
              <a:t>Incremental SDN</a:t>
            </a:r>
          </a:p>
        </p:txBody>
      </p:sp>
      <p:sp>
        <p:nvSpPr>
          <p:cNvPr id="354" name="Shape 354"/>
          <p:cNvSpPr txBox="1"/>
          <p:nvPr/>
        </p:nvSpPr>
        <p:spPr>
          <a:xfrm>
            <a:off x="6958014" y="1293537"/>
            <a:ext cx="2018400" cy="400199"/>
          </a:xfrm>
          <a:prstGeom prst="rect">
            <a:avLst/>
          </a:prstGeom>
          <a:noFill/>
          <a:ln>
            <a:noFill/>
          </a:ln>
        </p:spPr>
        <p:txBody>
          <a:bodyPr anchorCtr="0" anchor="t" bIns="45700" lIns="91425" rIns="91425" tIns="45700">
            <a:noAutofit/>
          </a:bodyPr>
          <a:lstStyle/>
          <a:p>
            <a:pPr indent="-285750" lvl="0" marL="285750" marR="0" rtl="0" algn="ctr">
              <a:lnSpc>
                <a:spcPct val="100000"/>
              </a:lnSpc>
              <a:spcBef>
                <a:spcPts val="0"/>
              </a:spcBef>
              <a:spcAft>
                <a:spcPts val="0"/>
              </a:spcAft>
              <a:buClr>
                <a:srgbClr val="0000FF"/>
              </a:buClr>
              <a:buSzPct val="100000"/>
              <a:buFont typeface="Noto Sans Symbols"/>
              <a:buChar char="✓"/>
            </a:pPr>
            <a:r>
              <a:rPr b="0" i="0" lang="en" sz="2000" u="none" cap="none" strike="noStrike">
                <a:solidFill>
                  <a:srgbClr val="0000FF"/>
                </a:solidFill>
                <a:latin typeface="Calibri"/>
                <a:ea typeface="Calibri"/>
                <a:cs typeface="Calibri"/>
                <a:sym typeface="Calibri"/>
              </a:rPr>
              <a:t>Disruptive SDN</a:t>
            </a:r>
          </a:p>
        </p:txBody>
      </p:sp>
      <p:sp>
        <p:nvSpPr>
          <p:cNvPr id="355" name="Shape 355"/>
          <p:cNvSpPr txBox="1"/>
          <p:nvPr/>
        </p:nvSpPr>
        <p:spPr>
          <a:xfrm>
            <a:off x="6958014" y="3851900"/>
            <a:ext cx="2070600" cy="400200"/>
          </a:xfrm>
          <a:prstGeom prst="rect">
            <a:avLst/>
          </a:prstGeom>
          <a:noFill/>
          <a:ln>
            <a:noFill/>
          </a:ln>
        </p:spPr>
        <p:txBody>
          <a:bodyPr anchorCtr="0" anchor="t" bIns="45700" lIns="91425" rIns="91425" tIns="45700">
            <a:noAutofit/>
          </a:bodyPr>
          <a:lstStyle/>
          <a:p>
            <a:pPr indent="-285750" lvl="0" marL="285750" marR="0" rtl="0" algn="ctr">
              <a:lnSpc>
                <a:spcPct val="100000"/>
              </a:lnSpc>
              <a:spcBef>
                <a:spcPts val="0"/>
              </a:spcBef>
              <a:spcAft>
                <a:spcPts val="0"/>
              </a:spcAft>
              <a:buClr>
                <a:srgbClr val="0000FF"/>
              </a:buClr>
              <a:buSzPct val="100000"/>
              <a:buFont typeface="Noto Sans Symbols"/>
              <a:buChar char="✓"/>
            </a:pPr>
            <a:r>
              <a:rPr b="0" i="0" lang="en" sz="2000" u="none" cap="none" strike="noStrike">
                <a:solidFill>
                  <a:srgbClr val="0000FF"/>
                </a:solidFill>
                <a:latin typeface="Calibri"/>
                <a:ea typeface="Calibri"/>
                <a:cs typeface="Calibri"/>
                <a:sym typeface="Calibri"/>
              </a:rPr>
              <a:t>Micro-Services</a:t>
            </a:r>
          </a:p>
        </p:txBody>
      </p:sp>
      <p:sp>
        <p:nvSpPr>
          <p:cNvPr id="356" name="Shape 356"/>
          <p:cNvSpPr/>
          <p:nvPr/>
        </p:nvSpPr>
        <p:spPr>
          <a:xfrm>
            <a:off x="6706765" y="1373879"/>
            <a:ext cx="257780" cy="247963"/>
          </a:xfrm>
          <a:prstGeom prst="rightArrow">
            <a:avLst>
              <a:gd fmla="val 50000" name="adj1"/>
              <a:gd fmla="val 50000" name="adj2"/>
            </a:avLst>
          </a:prstGeom>
          <a:gradFill>
            <a:gsLst>
              <a:gs pos="0">
                <a:srgbClr val="920000"/>
              </a:gs>
              <a:gs pos="100000">
                <a:srgbClr val="E0A4A4"/>
              </a:gs>
            </a:gsLst>
            <a:lin ang="16200000"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357" name="Shape 357"/>
          <p:cNvSpPr/>
          <p:nvPr/>
        </p:nvSpPr>
        <p:spPr>
          <a:xfrm>
            <a:off x="6706765" y="2599107"/>
            <a:ext cx="257780" cy="247963"/>
          </a:xfrm>
          <a:prstGeom prst="rightArrow">
            <a:avLst>
              <a:gd fmla="val 50000" name="adj1"/>
              <a:gd fmla="val 50000" name="adj2"/>
            </a:avLst>
          </a:prstGeom>
          <a:gradFill>
            <a:gsLst>
              <a:gs pos="0">
                <a:srgbClr val="920000"/>
              </a:gs>
              <a:gs pos="100000">
                <a:srgbClr val="E0A4A4"/>
              </a:gs>
            </a:gsLst>
            <a:lin ang="16200000"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358" name="Shape 358"/>
          <p:cNvSpPr/>
          <p:nvPr/>
        </p:nvSpPr>
        <p:spPr>
          <a:xfrm>
            <a:off x="6706765" y="3932235"/>
            <a:ext cx="257780" cy="247963"/>
          </a:xfrm>
          <a:prstGeom prst="rightArrow">
            <a:avLst>
              <a:gd fmla="val 50000" name="adj1"/>
              <a:gd fmla="val 50000" name="adj2"/>
            </a:avLst>
          </a:prstGeom>
          <a:gradFill>
            <a:gsLst>
              <a:gs pos="0">
                <a:srgbClr val="920000"/>
              </a:gs>
              <a:gs pos="100000">
                <a:srgbClr val="E0A4A4"/>
              </a:gs>
            </a:gsLst>
            <a:lin ang="16200000"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359" name="Shape 359"/>
          <p:cNvSpPr/>
          <p:nvPr/>
        </p:nvSpPr>
        <p:spPr>
          <a:xfrm>
            <a:off x="3011811" y="1271820"/>
            <a:ext cx="513057" cy="452079"/>
          </a:xfrm>
          <a:prstGeom prst="mathPlus">
            <a:avLst>
              <a:gd fmla="val 23520" name="adj1"/>
            </a:avLst>
          </a:prstGeom>
          <a:gradFill>
            <a:gsLst>
              <a:gs pos="0">
                <a:srgbClr val="920000"/>
              </a:gs>
              <a:gs pos="100000">
                <a:srgbClr val="E0A4A4"/>
              </a:gs>
            </a:gsLst>
            <a:lin ang="16200000"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360" name="Shape 360"/>
          <p:cNvSpPr/>
          <p:nvPr/>
        </p:nvSpPr>
        <p:spPr>
          <a:xfrm>
            <a:off x="3011811" y="2497048"/>
            <a:ext cx="513057" cy="452079"/>
          </a:xfrm>
          <a:prstGeom prst="mathPlus">
            <a:avLst>
              <a:gd fmla="val 23520" name="adj1"/>
            </a:avLst>
          </a:prstGeom>
          <a:gradFill>
            <a:gsLst>
              <a:gs pos="0">
                <a:srgbClr val="920000"/>
              </a:gs>
              <a:gs pos="100000">
                <a:srgbClr val="E0A4A4"/>
              </a:gs>
            </a:gsLst>
            <a:lin ang="16200000"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361" name="Shape 361"/>
          <p:cNvSpPr/>
          <p:nvPr/>
        </p:nvSpPr>
        <p:spPr>
          <a:xfrm>
            <a:off x="3749067" y="1128528"/>
            <a:ext cx="2733503" cy="738664"/>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OpenFlow &amp; P4</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On Many Hardware &amp; Software Switches</a:t>
            </a:r>
          </a:p>
        </p:txBody>
      </p:sp>
      <p:sp>
        <p:nvSpPr>
          <p:cNvPr id="362" name="Shape 362"/>
          <p:cNvSpPr/>
          <p:nvPr/>
        </p:nvSpPr>
        <p:spPr>
          <a:xfrm>
            <a:off x="54125" y="2353750"/>
            <a:ext cx="2814900" cy="738600"/>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Font typeface="Calibri"/>
              <a:buNone/>
            </a:pPr>
            <a:r>
              <a:rPr lang="en">
                <a:solidFill>
                  <a:srgbClr val="C0504D"/>
                </a:solidFill>
                <a:latin typeface="Calibri"/>
                <a:ea typeface="Calibri"/>
                <a:cs typeface="Calibri"/>
                <a:sym typeface="Calibri"/>
              </a:rPr>
              <a:t>Southbound</a:t>
            </a:r>
            <a:r>
              <a:rPr b="0" i="0" lang="en" sz="1400" u="none" cap="none" strike="noStrike">
                <a:solidFill>
                  <a:srgbClr val="C0504D"/>
                </a:solidFill>
                <a:latin typeface="Calibri"/>
                <a:ea typeface="Calibri"/>
                <a:cs typeface="Calibri"/>
                <a:sym typeface="Calibri"/>
              </a:rPr>
              <a:t> Protocols</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NetConf/Yang, BGP-LS, OSPF, ISIS, SNMP, PCEP, TL-1...</a:t>
            </a:r>
          </a:p>
          <a:p>
            <a:pPr indent="0" lvl="0" marL="0" marR="0" rtl="0" algn="ctr">
              <a:lnSpc>
                <a:spcPct val="100000"/>
              </a:lnSpc>
              <a:spcBef>
                <a:spcPts val="0"/>
              </a:spcBef>
              <a:spcAft>
                <a:spcPts val="0"/>
              </a:spcAft>
              <a:buClr>
                <a:srgbClr val="000000"/>
              </a:buClr>
              <a:buSzPct val="25000"/>
              <a:buFont typeface="Calibri"/>
              <a:buNone/>
            </a:pPr>
            <a:r>
              <a:rPr b="0" i="0" lang="en" sz="1400" u="none" cap="none" strike="noStrike">
                <a:solidFill>
                  <a:srgbClr val="000000"/>
                </a:solidFill>
                <a:latin typeface="Calibri"/>
                <a:ea typeface="Calibri"/>
                <a:cs typeface="Calibri"/>
                <a:sym typeface="Calibri"/>
              </a:rPr>
              <a:t>On Legacy Devices</a:t>
            </a:r>
          </a:p>
        </p:txBody>
      </p:sp>
      <p:sp>
        <p:nvSpPr>
          <p:cNvPr id="363" name="Shape 363"/>
          <p:cNvSpPr/>
          <p:nvPr/>
        </p:nvSpPr>
        <p:spPr>
          <a:xfrm>
            <a:off x="3749067" y="2353756"/>
            <a:ext cx="2733503" cy="738664"/>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Dynamic Configuration</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NetConf/Yang, OVSDB</a:t>
            </a:r>
          </a:p>
        </p:txBody>
      </p:sp>
      <p:sp>
        <p:nvSpPr>
          <p:cNvPr id="364" name="Shape 364"/>
          <p:cNvSpPr/>
          <p:nvPr/>
        </p:nvSpPr>
        <p:spPr>
          <a:xfrm>
            <a:off x="54125" y="3686875"/>
            <a:ext cx="2814900" cy="738600"/>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Font typeface="Calibri"/>
              <a:buNone/>
            </a:pPr>
            <a:r>
              <a:rPr lang="en">
                <a:solidFill>
                  <a:srgbClr val="C0504D"/>
                </a:solidFill>
                <a:latin typeface="Calibri"/>
                <a:ea typeface="Calibri"/>
                <a:cs typeface="Calibri"/>
                <a:sym typeface="Calibri"/>
              </a:rPr>
              <a:t>Northbound</a:t>
            </a:r>
            <a:r>
              <a:rPr b="0" i="0" lang="en" sz="1400" u="none" cap="none" strike="noStrike">
                <a:solidFill>
                  <a:srgbClr val="C0504D"/>
                </a:solidFill>
                <a:latin typeface="Calibri"/>
                <a:ea typeface="Calibri"/>
                <a:cs typeface="Calibri"/>
                <a:sym typeface="Calibri"/>
              </a:rPr>
              <a:t> Interfaces</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Intent Framework, REST, gRPC, </a:t>
            </a:r>
            <a:r>
              <a:rPr lang="en">
                <a:latin typeface="Calibri"/>
                <a:ea typeface="Calibri"/>
                <a:cs typeface="Calibri"/>
                <a:sym typeface="Calibri"/>
              </a:rPr>
              <a:t>Kafka, RabbitMQ</a:t>
            </a:r>
          </a:p>
        </p:txBody>
      </p:sp>
      <p:sp>
        <p:nvSpPr>
          <p:cNvPr id="365" name="Shape 365"/>
          <p:cNvSpPr/>
          <p:nvPr/>
        </p:nvSpPr>
        <p:spPr>
          <a:xfrm>
            <a:off x="3749067" y="3686883"/>
            <a:ext cx="2733503" cy="738664"/>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Model Based Services</a:t>
            </a:r>
          </a:p>
          <a:p>
            <a:pPr indent="0" lvl="0" marL="0" marR="0" rtl="0" algn="ctr">
              <a:lnSpc>
                <a:spcPct val="100000"/>
              </a:lnSpc>
              <a:spcBef>
                <a:spcPts val="0"/>
              </a:spcBef>
              <a:spcAft>
                <a:spcPts val="0"/>
              </a:spcAft>
              <a:buClr>
                <a:srgbClr val="000000"/>
              </a:buClr>
              <a:buSzPct val="25000"/>
              <a:buFont typeface="Calibri"/>
              <a:buNone/>
            </a:pPr>
            <a:r>
              <a:rPr b="0" i="0" lang="en" sz="1400" u="none" cap="none" strike="noStrike">
                <a:solidFill>
                  <a:srgbClr val="000000"/>
                </a:solidFill>
                <a:latin typeface="Calibri"/>
                <a:ea typeface="Calibri"/>
                <a:cs typeface="Calibri"/>
                <a:sym typeface="Calibri"/>
              </a:rPr>
              <a:t>Yang based service definition, container based deployments </a:t>
            </a:r>
          </a:p>
        </p:txBody>
      </p:sp>
      <p:sp>
        <p:nvSpPr>
          <p:cNvPr id="366" name="Shape 366"/>
          <p:cNvSpPr/>
          <p:nvPr/>
        </p:nvSpPr>
        <p:spPr>
          <a:xfrm>
            <a:off x="3011811" y="3830176"/>
            <a:ext cx="513057" cy="452079"/>
          </a:xfrm>
          <a:prstGeom prst="mathPlus">
            <a:avLst>
              <a:gd fmla="val 23520" name="adj1"/>
            </a:avLst>
          </a:prstGeom>
          <a:gradFill>
            <a:gsLst>
              <a:gs pos="0">
                <a:srgbClr val="920000"/>
              </a:gs>
              <a:gs pos="100000">
                <a:srgbClr val="E0A4A4"/>
              </a:gs>
            </a:gsLst>
            <a:lin ang="16200000"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371" name="Shape 371"/>
        <p:cNvGrpSpPr/>
        <p:nvPr/>
      </p:nvGrpSpPr>
      <p:grpSpPr>
        <a:xfrm>
          <a:off x="0" y="0"/>
          <a:ext cx="0" cy="0"/>
          <a:chOff x="0" y="0"/>
          <a:chExt cx="0" cy="0"/>
        </a:xfrm>
      </p:grpSpPr>
      <p:sp>
        <p:nvSpPr>
          <p:cNvPr id="372" name="Shape 372"/>
          <p:cNvSpPr/>
          <p:nvPr/>
        </p:nvSpPr>
        <p:spPr>
          <a:xfrm>
            <a:off x="54125" y="1128525"/>
            <a:ext cx="2814900" cy="738600"/>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Architecture</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Scale, Performance, HA</a:t>
            </a:r>
          </a:p>
          <a:p>
            <a:pPr indent="0" lvl="0" marL="0" marR="0" rtl="0" algn="ctr">
              <a:lnSpc>
                <a:spcPct val="100000"/>
              </a:lnSpc>
              <a:spcBef>
                <a:spcPts val="0"/>
              </a:spcBef>
              <a:spcAft>
                <a:spcPts val="0"/>
              </a:spcAft>
              <a:buClr>
                <a:srgbClr val="000000"/>
              </a:buClr>
              <a:buSzPct val="25000"/>
              <a:buFont typeface="Calibri"/>
              <a:buNone/>
            </a:pPr>
            <a:r>
              <a:rPr b="0" i="0" lang="en" sz="1400" u="none" cap="none" strike="noStrike">
                <a:solidFill>
                  <a:srgbClr val="000000"/>
                </a:solidFill>
                <a:latin typeface="Calibri"/>
                <a:ea typeface="Calibri"/>
                <a:cs typeface="Calibri"/>
                <a:sym typeface="Calibri"/>
              </a:rPr>
              <a:t>North &amp; South-Bound Abstractions</a:t>
            </a:r>
          </a:p>
        </p:txBody>
      </p:sp>
      <p:sp>
        <p:nvSpPr>
          <p:cNvPr id="373" name="Shape 373"/>
          <p:cNvSpPr txBox="1"/>
          <p:nvPr>
            <p:ph type="title"/>
          </p:nvPr>
        </p:nvSpPr>
        <p:spPr>
          <a:xfrm>
            <a:off x="43617" y="25276"/>
            <a:ext cx="8925300" cy="857400"/>
          </a:xfrm>
          <a:prstGeom prst="rect">
            <a:avLst/>
          </a:prstGeom>
          <a:noFill/>
          <a:ln>
            <a:noFill/>
          </a:ln>
        </p:spPr>
        <p:txBody>
          <a:bodyPr anchorCtr="0" anchor="ctr" bIns="45700" lIns="91425" rIns="91425" tIns="45700">
            <a:noAutofit/>
          </a:bodyPr>
          <a:lstStyle/>
          <a:p>
            <a:pPr indent="0" lvl="0" marL="0" marR="0" rtl="0" algn="ctr">
              <a:spcBef>
                <a:spcPts val="0"/>
              </a:spcBef>
              <a:buClr>
                <a:schemeClr val="accent1"/>
              </a:buClr>
              <a:buSzPct val="25000"/>
              <a:buFont typeface="Calibri"/>
              <a:buNone/>
            </a:pPr>
            <a:r>
              <a:rPr lang="en" sz="3240"/>
              <a:t>Hummingbird Sample Enhancements</a:t>
            </a:r>
          </a:p>
        </p:txBody>
      </p:sp>
      <p:sp>
        <p:nvSpPr>
          <p:cNvPr id="374" name="Shape 374"/>
          <p:cNvSpPr txBox="1"/>
          <p:nvPr/>
        </p:nvSpPr>
        <p:spPr>
          <a:xfrm>
            <a:off x="6958014" y="2518765"/>
            <a:ext cx="2223600" cy="400200"/>
          </a:xfrm>
          <a:prstGeom prst="rect">
            <a:avLst/>
          </a:prstGeom>
          <a:noFill/>
          <a:ln>
            <a:noFill/>
          </a:ln>
        </p:spPr>
        <p:txBody>
          <a:bodyPr anchorCtr="0" anchor="t" bIns="45700" lIns="91425" rIns="91425" tIns="45700">
            <a:noAutofit/>
          </a:bodyPr>
          <a:lstStyle/>
          <a:p>
            <a:pPr indent="-285750" lvl="0" marL="285750" marR="0" rtl="0" algn="ctr">
              <a:lnSpc>
                <a:spcPct val="100000"/>
              </a:lnSpc>
              <a:spcBef>
                <a:spcPts val="0"/>
              </a:spcBef>
              <a:spcAft>
                <a:spcPts val="0"/>
              </a:spcAft>
              <a:buClr>
                <a:srgbClr val="0000FF"/>
              </a:buClr>
              <a:buSzPct val="100000"/>
              <a:buFont typeface="Noto Sans Symbols"/>
              <a:buChar char="✓"/>
            </a:pPr>
            <a:r>
              <a:rPr b="0" i="0" lang="en" sz="2000" u="none" cap="none" strike="noStrike">
                <a:solidFill>
                  <a:srgbClr val="0000FF"/>
                </a:solidFill>
                <a:latin typeface="Calibri"/>
                <a:ea typeface="Calibri"/>
                <a:cs typeface="Calibri"/>
                <a:sym typeface="Calibri"/>
              </a:rPr>
              <a:t>Incremental SDN</a:t>
            </a:r>
          </a:p>
        </p:txBody>
      </p:sp>
      <p:sp>
        <p:nvSpPr>
          <p:cNvPr id="375" name="Shape 375"/>
          <p:cNvSpPr txBox="1"/>
          <p:nvPr/>
        </p:nvSpPr>
        <p:spPr>
          <a:xfrm>
            <a:off x="6958014" y="1293537"/>
            <a:ext cx="2018400" cy="400199"/>
          </a:xfrm>
          <a:prstGeom prst="rect">
            <a:avLst/>
          </a:prstGeom>
          <a:noFill/>
          <a:ln>
            <a:noFill/>
          </a:ln>
        </p:spPr>
        <p:txBody>
          <a:bodyPr anchorCtr="0" anchor="t" bIns="45700" lIns="91425" rIns="91425" tIns="45700">
            <a:noAutofit/>
          </a:bodyPr>
          <a:lstStyle/>
          <a:p>
            <a:pPr indent="-285750" lvl="0" marL="285750" marR="0" rtl="0" algn="ctr">
              <a:lnSpc>
                <a:spcPct val="100000"/>
              </a:lnSpc>
              <a:spcBef>
                <a:spcPts val="0"/>
              </a:spcBef>
              <a:spcAft>
                <a:spcPts val="0"/>
              </a:spcAft>
              <a:buClr>
                <a:srgbClr val="0000FF"/>
              </a:buClr>
              <a:buSzPct val="100000"/>
              <a:buFont typeface="Noto Sans Symbols"/>
              <a:buChar char="✓"/>
            </a:pPr>
            <a:r>
              <a:rPr b="0" i="0" lang="en" sz="2000" u="none" cap="none" strike="noStrike">
                <a:solidFill>
                  <a:srgbClr val="0000FF"/>
                </a:solidFill>
                <a:latin typeface="Calibri"/>
                <a:ea typeface="Calibri"/>
                <a:cs typeface="Calibri"/>
                <a:sym typeface="Calibri"/>
              </a:rPr>
              <a:t>Disruptive SDN</a:t>
            </a:r>
          </a:p>
        </p:txBody>
      </p:sp>
      <p:sp>
        <p:nvSpPr>
          <p:cNvPr id="376" name="Shape 376"/>
          <p:cNvSpPr txBox="1"/>
          <p:nvPr/>
        </p:nvSpPr>
        <p:spPr>
          <a:xfrm>
            <a:off x="6958014" y="3851900"/>
            <a:ext cx="2070600" cy="400200"/>
          </a:xfrm>
          <a:prstGeom prst="rect">
            <a:avLst/>
          </a:prstGeom>
          <a:noFill/>
          <a:ln>
            <a:noFill/>
          </a:ln>
        </p:spPr>
        <p:txBody>
          <a:bodyPr anchorCtr="0" anchor="t" bIns="45700" lIns="91425" rIns="91425" tIns="45700">
            <a:noAutofit/>
          </a:bodyPr>
          <a:lstStyle/>
          <a:p>
            <a:pPr indent="-285750" lvl="0" marL="285750" marR="0" rtl="0" algn="ctr">
              <a:lnSpc>
                <a:spcPct val="100000"/>
              </a:lnSpc>
              <a:spcBef>
                <a:spcPts val="0"/>
              </a:spcBef>
              <a:spcAft>
                <a:spcPts val="0"/>
              </a:spcAft>
              <a:buClr>
                <a:srgbClr val="0000FF"/>
              </a:buClr>
              <a:buSzPct val="100000"/>
              <a:buFont typeface="Noto Sans Symbols"/>
              <a:buChar char="✓"/>
            </a:pPr>
            <a:r>
              <a:rPr b="0" i="0" lang="en" sz="2000" u="none" cap="none" strike="noStrike">
                <a:solidFill>
                  <a:srgbClr val="0000FF"/>
                </a:solidFill>
                <a:latin typeface="Calibri"/>
                <a:ea typeface="Calibri"/>
                <a:cs typeface="Calibri"/>
                <a:sym typeface="Calibri"/>
              </a:rPr>
              <a:t>Micro-Services</a:t>
            </a:r>
          </a:p>
        </p:txBody>
      </p:sp>
      <p:sp>
        <p:nvSpPr>
          <p:cNvPr id="377" name="Shape 377"/>
          <p:cNvSpPr/>
          <p:nvPr/>
        </p:nvSpPr>
        <p:spPr>
          <a:xfrm>
            <a:off x="6706765" y="1373879"/>
            <a:ext cx="257700" cy="248100"/>
          </a:xfrm>
          <a:prstGeom prst="rightArrow">
            <a:avLst>
              <a:gd fmla="val 50000" name="adj1"/>
              <a:gd fmla="val 50000" name="adj2"/>
            </a:avLst>
          </a:prstGeom>
          <a:gradFill>
            <a:gsLst>
              <a:gs pos="0">
                <a:srgbClr val="920000"/>
              </a:gs>
              <a:gs pos="100000">
                <a:srgbClr val="E0A4A4"/>
              </a:gs>
            </a:gsLst>
            <a:lin ang="16200038"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378" name="Shape 378"/>
          <p:cNvSpPr/>
          <p:nvPr/>
        </p:nvSpPr>
        <p:spPr>
          <a:xfrm>
            <a:off x="6706765" y="2599107"/>
            <a:ext cx="257700" cy="248100"/>
          </a:xfrm>
          <a:prstGeom prst="rightArrow">
            <a:avLst>
              <a:gd fmla="val 50000" name="adj1"/>
              <a:gd fmla="val 50000" name="adj2"/>
            </a:avLst>
          </a:prstGeom>
          <a:gradFill>
            <a:gsLst>
              <a:gs pos="0">
                <a:srgbClr val="920000"/>
              </a:gs>
              <a:gs pos="100000">
                <a:srgbClr val="E0A4A4"/>
              </a:gs>
            </a:gsLst>
            <a:lin ang="16200038"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379" name="Shape 379"/>
          <p:cNvSpPr/>
          <p:nvPr/>
        </p:nvSpPr>
        <p:spPr>
          <a:xfrm>
            <a:off x="6706765" y="3932235"/>
            <a:ext cx="257700" cy="248100"/>
          </a:xfrm>
          <a:prstGeom prst="rightArrow">
            <a:avLst>
              <a:gd fmla="val 50000" name="adj1"/>
              <a:gd fmla="val 50000" name="adj2"/>
            </a:avLst>
          </a:prstGeom>
          <a:gradFill>
            <a:gsLst>
              <a:gs pos="0">
                <a:srgbClr val="920000"/>
              </a:gs>
              <a:gs pos="100000">
                <a:srgbClr val="E0A4A4"/>
              </a:gs>
            </a:gsLst>
            <a:lin ang="16200038"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380" name="Shape 380"/>
          <p:cNvSpPr/>
          <p:nvPr/>
        </p:nvSpPr>
        <p:spPr>
          <a:xfrm>
            <a:off x="3011811" y="1271820"/>
            <a:ext cx="513000" cy="452100"/>
          </a:xfrm>
          <a:prstGeom prst="mathPlus">
            <a:avLst>
              <a:gd fmla="val 23520" name="adj1"/>
            </a:avLst>
          </a:prstGeom>
          <a:gradFill>
            <a:gsLst>
              <a:gs pos="0">
                <a:srgbClr val="920000"/>
              </a:gs>
              <a:gs pos="100000">
                <a:srgbClr val="E0A4A4"/>
              </a:gs>
            </a:gsLst>
            <a:lin ang="16200038"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381" name="Shape 381"/>
          <p:cNvSpPr/>
          <p:nvPr/>
        </p:nvSpPr>
        <p:spPr>
          <a:xfrm>
            <a:off x="3011811" y="2497048"/>
            <a:ext cx="513000" cy="452100"/>
          </a:xfrm>
          <a:prstGeom prst="mathPlus">
            <a:avLst>
              <a:gd fmla="val 23520" name="adj1"/>
            </a:avLst>
          </a:prstGeom>
          <a:gradFill>
            <a:gsLst>
              <a:gs pos="0">
                <a:srgbClr val="920000"/>
              </a:gs>
              <a:gs pos="100000">
                <a:srgbClr val="E0A4A4"/>
              </a:gs>
            </a:gsLst>
            <a:lin ang="16200038"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382" name="Shape 382"/>
          <p:cNvSpPr/>
          <p:nvPr/>
        </p:nvSpPr>
        <p:spPr>
          <a:xfrm>
            <a:off x="3749067" y="1128528"/>
            <a:ext cx="2733600" cy="738599"/>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OpenFlow &amp; P4</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On Many Hardware &amp; Software Switches</a:t>
            </a:r>
          </a:p>
        </p:txBody>
      </p:sp>
      <p:sp>
        <p:nvSpPr>
          <p:cNvPr id="383" name="Shape 383"/>
          <p:cNvSpPr/>
          <p:nvPr/>
        </p:nvSpPr>
        <p:spPr>
          <a:xfrm>
            <a:off x="54125" y="2353750"/>
            <a:ext cx="2814900" cy="738600"/>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Font typeface="Calibri"/>
              <a:buNone/>
            </a:pPr>
            <a:r>
              <a:rPr lang="en">
                <a:solidFill>
                  <a:srgbClr val="C0504D"/>
                </a:solidFill>
                <a:latin typeface="Calibri"/>
                <a:ea typeface="Calibri"/>
                <a:cs typeface="Calibri"/>
                <a:sym typeface="Calibri"/>
              </a:rPr>
              <a:t>Southbound</a:t>
            </a:r>
            <a:r>
              <a:rPr b="0" i="0" lang="en" sz="1400" u="none" cap="none" strike="noStrike">
                <a:solidFill>
                  <a:srgbClr val="C0504D"/>
                </a:solidFill>
                <a:latin typeface="Calibri"/>
                <a:ea typeface="Calibri"/>
                <a:cs typeface="Calibri"/>
                <a:sym typeface="Calibri"/>
              </a:rPr>
              <a:t> Protocols</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NetConf/Yang, BGP-LS, PCEP, TL-1...</a:t>
            </a:r>
          </a:p>
          <a:p>
            <a:pPr indent="0" lvl="0" marL="0" marR="0" rtl="0" algn="ctr">
              <a:lnSpc>
                <a:spcPct val="100000"/>
              </a:lnSpc>
              <a:spcBef>
                <a:spcPts val="0"/>
              </a:spcBef>
              <a:spcAft>
                <a:spcPts val="0"/>
              </a:spcAft>
              <a:buClr>
                <a:srgbClr val="000000"/>
              </a:buClr>
              <a:buSzPct val="25000"/>
              <a:buFont typeface="Calibri"/>
              <a:buNone/>
            </a:pPr>
            <a:r>
              <a:rPr b="0" i="0" lang="en" sz="1400" u="none" cap="none" strike="noStrike">
                <a:solidFill>
                  <a:srgbClr val="000000"/>
                </a:solidFill>
                <a:latin typeface="Calibri"/>
                <a:ea typeface="Calibri"/>
                <a:cs typeface="Calibri"/>
                <a:sym typeface="Calibri"/>
              </a:rPr>
              <a:t>On Legacy Devices</a:t>
            </a:r>
          </a:p>
        </p:txBody>
      </p:sp>
      <p:sp>
        <p:nvSpPr>
          <p:cNvPr id="384" name="Shape 384"/>
          <p:cNvSpPr/>
          <p:nvPr/>
        </p:nvSpPr>
        <p:spPr>
          <a:xfrm>
            <a:off x="3749067" y="2353756"/>
            <a:ext cx="2733600" cy="738600"/>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Dynamic Configuration</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NetConf/Yang, OVSDB</a:t>
            </a:r>
          </a:p>
        </p:txBody>
      </p:sp>
      <p:sp>
        <p:nvSpPr>
          <p:cNvPr id="385" name="Shape 385"/>
          <p:cNvSpPr/>
          <p:nvPr/>
        </p:nvSpPr>
        <p:spPr>
          <a:xfrm>
            <a:off x="54125" y="3686875"/>
            <a:ext cx="2814900" cy="738600"/>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Font typeface="Calibri"/>
              <a:buNone/>
            </a:pPr>
            <a:r>
              <a:rPr lang="en">
                <a:solidFill>
                  <a:srgbClr val="C0504D"/>
                </a:solidFill>
                <a:latin typeface="Calibri"/>
                <a:ea typeface="Calibri"/>
                <a:cs typeface="Calibri"/>
                <a:sym typeface="Calibri"/>
              </a:rPr>
              <a:t>Northbound</a:t>
            </a:r>
            <a:r>
              <a:rPr b="0" i="0" lang="en" sz="1400" u="none" cap="none" strike="noStrike">
                <a:solidFill>
                  <a:srgbClr val="C0504D"/>
                </a:solidFill>
                <a:latin typeface="Calibri"/>
                <a:ea typeface="Calibri"/>
                <a:cs typeface="Calibri"/>
                <a:sym typeface="Calibri"/>
              </a:rPr>
              <a:t> Interfaces</a:t>
            </a:r>
            <a:br>
              <a:rPr b="0" i="0" lang="en" sz="1400" u="none" cap="none" strike="noStrike">
                <a:solidFill>
                  <a:srgbClr val="C0504D"/>
                </a:solidFill>
                <a:latin typeface="Calibri"/>
                <a:ea typeface="Calibri"/>
                <a:cs typeface="Calibri"/>
                <a:sym typeface="Calibri"/>
              </a:rPr>
            </a:br>
            <a:r>
              <a:rPr b="0" i="0" lang="en" sz="1400" u="none" cap="none" strike="noStrike">
                <a:solidFill>
                  <a:srgbClr val="000000"/>
                </a:solidFill>
                <a:latin typeface="Calibri"/>
                <a:ea typeface="Calibri"/>
                <a:cs typeface="Calibri"/>
                <a:sym typeface="Calibri"/>
              </a:rPr>
              <a:t>Intent Framework, REST</a:t>
            </a:r>
          </a:p>
        </p:txBody>
      </p:sp>
      <p:sp>
        <p:nvSpPr>
          <p:cNvPr id="386" name="Shape 386"/>
          <p:cNvSpPr/>
          <p:nvPr/>
        </p:nvSpPr>
        <p:spPr>
          <a:xfrm>
            <a:off x="3749067" y="3686883"/>
            <a:ext cx="2733600" cy="738600"/>
          </a:xfrm>
          <a:prstGeom prst="rect">
            <a:avLst/>
          </a:prstGeom>
          <a:solidFill>
            <a:schemeClr val="lt1"/>
          </a:soli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Model Based Services</a:t>
            </a:r>
          </a:p>
          <a:p>
            <a:pPr indent="0" lvl="0" marL="0" marR="0" rtl="0" algn="ctr">
              <a:lnSpc>
                <a:spcPct val="100000"/>
              </a:lnSpc>
              <a:spcBef>
                <a:spcPts val="0"/>
              </a:spcBef>
              <a:spcAft>
                <a:spcPts val="0"/>
              </a:spcAft>
              <a:buClr>
                <a:srgbClr val="000000"/>
              </a:buClr>
              <a:buSzPct val="25000"/>
              <a:buFont typeface="Calibri"/>
              <a:buNone/>
            </a:pPr>
            <a:r>
              <a:rPr b="0" i="0" lang="en" sz="1400" u="none" cap="none" strike="noStrike">
                <a:solidFill>
                  <a:srgbClr val="000000"/>
                </a:solidFill>
                <a:latin typeface="Calibri"/>
                <a:ea typeface="Calibri"/>
                <a:cs typeface="Calibri"/>
                <a:sym typeface="Calibri"/>
              </a:rPr>
              <a:t>Yang based service definition </a:t>
            </a:r>
          </a:p>
        </p:txBody>
      </p:sp>
      <p:sp>
        <p:nvSpPr>
          <p:cNvPr id="387" name="Shape 387"/>
          <p:cNvSpPr/>
          <p:nvPr/>
        </p:nvSpPr>
        <p:spPr>
          <a:xfrm>
            <a:off x="3011811" y="3830176"/>
            <a:ext cx="513000" cy="452100"/>
          </a:xfrm>
          <a:prstGeom prst="mathPlus">
            <a:avLst>
              <a:gd fmla="val 23520" name="adj1"/>
            </a:avLst>
          </a:prstGeom>
          <a:gradFill>
            <a:gsLst>
              <a:gs pos="0">
                <a:srgbClr val="920000"/>
              </a:gs>
              <a:gs pos="100000">
                <a:srgbClr val="E0A4A4"/>
              </a:gs>
            </a:gsLst>
            <a:lin ang="16200038" scaled="0"/>
          </a:gradFill>
          <a:ln cap="flat" cmpd="sng" w="9525">
            <a:solidFill>
              <a:srgbClr val="7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388" name="Shape 388"/>
          <p:cNvSpPr txBox="1"/>
          <p:nvPr/>
        </p:nvSpPr>
        <p:spPr>
          <a:xfrm>
            <a:off x="1910000" y="4705725"/>
            <a:ext cx="5859300" cy="302700"/>
          </a:xfrm>
          <a:prstGeom prst="rect">
            <a:avLst/>
          </a:prstGeom>
          <a:noFill/>
          <a:ln>
            <a:noFill/>
          </a:ln>
        </p:spPr>
        <p:txBody>
          <a:bodyPr anchorCtr="0" anchor="t" bIns="91425" lIns="91425" rIns="91425" tIns="91425">
            <a:noAutofit/>
          </a:bodyPr>
          <a:lstStyle/>
          <a:p>
            <a:pPr lvl="0" rtl="0" algn="ctr">
              <a:spcBef>
                <a:spcPts val="0"/>
              </a:spcBef>
              <a:buNone/>
            </a:pPr>
            <a:r>
              <a:rPr lang="en">
                <a:solidFill>
                  <a:srgbClr val="980000"/>
                </a:solidFill>
              </a:rPr>
              <a:t>ONOS the only SDN control plane that can support all these scenarios </a:t>
            </a:r>
          </a:p>
        </p:txBody>
      </p:sp>
      <p:sp>
        <p:nvSpPr>
          <p:cNvPr id="389" name="Shape 389"/>
          <p:cNvSpPr/>
          <p:nvPr/>
        </p:nvSpPr>
        <p:spPr>
          <a:xfrm>
            <a:off x="3869937" y="734250"/>
            <a:ext cx="3088097" cy="1518750"/>
          </a:xfrm>
          <a:prstGeom prst="irregularSeal2">
            <a:avLst/>
          </a:prstGeom>
          <a:solidFill>
            <a:srgbClr val="FFFF00"/>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a:spcBef>
                <a:spcPts val="0"/>
              </a:spcBef>
              <a:buNone/>
            </a:pPr>
            <a:r>
              <a:rPr b="1" lang="en" sz="1200"/>
              <a:t>Refactor of BMv2 protocol (P4)</a:t>
            </a:r>
          </a:p>
        </p:txBody>
      </p:sp>
      <p:sp>
        <p:nvSpPr>
          <p:cNvPr id="390" name="Shape 390"/>
          <p:cNvSpPr/>
          <p:nvPr/>
        </p:nvSpPr>
        <p:spPr>
          <a:xfrm>
            <a:off x="3992362" y="2599100"/>
            <a:ext cx="3088097" cy="1518750"/>
          </a:xfrm>
          <a:prstGeom prst="irregularSeal2">
            <a:avLst/>
          </a:prstGeom>
          <a:solidFill>
            <a:srgbClr val="FFFF00"/>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rtl="0">
              <a:spcBef>
                <a:spcPts val="0"/>
              </a:spcBef>
              <a:buNone/>
            </a:pPr>
            <a:r>
              <a:rPr b="1" lang="en" sz="1200"/>
              <a:t>YANG management system, toolchain, codecs</a:t>
            </a:r>
          </a:p>
        </p:txBody>
      </p:sp>
      <p:sp>
        <p:nvSpPr>
          <p:cNvPr id="391" name="Shape 391"/>
          <p:cNvSpPr/>
          <p:nvPr/>
        </p:nvSpPr>
        <p:spPr>
          <a:xfrm>
            <a:off x="-82475" y="787400"/>
            <a:ext cx="3088098" cy="1518750"/>
          </a:xfrm>
          <a:prstGeom prst="irregularSeal2">
            <a:avLst/>
          </a:prstGeom>
          <a:solidFill>
            <a:srgbClr val="FFFF00"/>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rtl="0">
              <a:spcBef>
                <a:spcPts val="0"/>
              </a:spcBef>
              <a:buNone/>
            </a:pPr>
            <a:r>
              <a:rPr b="1" lang="en" sz="1200"/>
              <a:t>Distributed primitives, Controller Peering, NEMO</a:t>
            </a:r>
          </a:p>
        </p:txBody>
      </p:sp>
      <p:sp>
        <p:nvSpPr>
          <p:cNvPr id="392" name="Shape 392"/>
          <p:cNvSpPr/>
          <p:nvPr/>
        </p:nvSpPr>
        <p:spPr>
          <a:xfrm>
            <a:off x="132799" y="3243812"/>
            <a:ext cx="3088098" cy="1518750"/>
          </a:xfrm>
          <a:prstGeom prst="irregularSeal2">
            <a:avLst/>
          </a:prstGeom>
          <a:solidFill>
            <a:srgbClr val="FFFF00"/>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a:spcBef>
                <a:spcPts val="0"/>
              </a:spcBef>
              <a:buNone/>
            </a:pPr>
            <a:r>
              <a:rPr b="1" lang="en" sz="1200"/>
              <a:t>RabbitMQ,</a:t>
            </a:r>
          </a:p>
          <a:p>
            <a:pPr lvl="0">
              <a:spcBef>
                <a:spcPts val="0"/>
              </a:spcBef>
              <a:buNone/>
            </a:pPr>
            <a:r>
              <a:rPr b="1" lang="en" sz="1200"/>
              <a:t>KAFKA,</a:t>
            </a:r>
          </a:p>
          <a:p>
            <a:pPr lvl="0" rtl="0">
              <a:spcBef>
                <a:spcPts val="0"/>
              </a:spcBef>
              <a:buNone/>
            </a:pPr>
            <a:r>
              <a:rPr b="1" lang="en" sz="1200"/>
              <a:t>gRPC </a:t>
            </a:r>
          </a:p>
        </p:txBody>
      </p:sp>
      <p:sp>
        <p:nvSpPr>
          <p:cNvPr id="393" name="Shape 393"/>
          <p:cNvSpPr/>
          <p:nvPr/>
        </p:nvSpPr>
        <p:spPr>
          <a:xfrm>
            <a:off x="256800" y="2017625"/>
            <a:ext cx="3088097" cy="1518750"/>
          </a:xfrm>
          <a:prstGeom prst="irregularSeal2">
            <a:avLst/>
          </a:prstGeom>
          <a:solidFill>
            <a:srgbClr val="FFFF00"/>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rtl="0">
              <a:spcBef>
                <a:spcPts val="0"/>
              </a:spcBef>
              <a:buNone/>
            </a:pPr>
            <a:r>
              <a:rPr b="1" lang="en" sz="1200"/>
              <a:t>NETCONF, more devices, OSPF, ISIS, LISP, ACTN</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1000"/>
                                        <p:tgtEl>
                                          <p:spTgt spid="3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397" name="Shape 397"/>
        <p:cNvGrpSpPr/>
        <p:nvPr/>
      </p:nvGrpSpPr>
      <p:grpSpPr>
        <a:xfrm>
          <a:off x="0" y="0"/>
          <a:ext cx="0" cy="0"/>
          <a:chOff x="0" y="0"/>
          <a:chExt cx="0" cy="0"/>
        </a:xfrm>
      </p:grpSpPr>
      <p:sp>
        <p:nvSpPr>
          <p:cNvPr id="398" name="Shape 398"/>
          <p:cNvSpPr/>
          <p:nvPr/>
        </p:nvSpPr>
        <p:spPr>
          <a:xfrm>
            <a:off x="1270000" y="1298575"/>
            <a:ext cx="4046537" cy="542925"/>
          </a:xfrm>
          <a:prstGeom prst="rect">
            <a:avLst/>
          </a:prstGeom>
          <a:gradFill>
            <a:gsLst>
              <a:gs pos="0">
                <a:srgbClr val="FFAE23"/>
              </a:gs>
              <a:gs pos="100000">
                <a:srgbClr val="FFCE6C"/>
              </a:gs>
            </a:gsLst>
            <a:lin ang="16200000" scaled="0"/>
          </a:gradFill>
          <a:ln cap="flat" cmpd="sng" w="9525">
            <a:solidFill>
              <a:srgbClr val="FDA739"/>
            </a:solidFill>
            <a:prstDash val="solid"/>
            <a:round/>
            <a:headEnd len="med" w="med" type="none"/>
            <a:tailEnd len="med" w="med" type="none"/>
          </a:ln>
          <a:effectLst>
            <a:outerShdw blurRad="39999" rotWithShape="0" dir="5400000" dist="23000">
              <a:srgbClr val="000000">
                <a:alpha val="34901"/>
              </a:srgbClr>
            </a:outerShdw>
          </a:effectLst>
        </p:spPr>
        <p:txBody>
          <a:bodyPr anchorCtr="0" anchor="ctr" bIns="45700" lIns="91425" rIns="91425" tIns="45700">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9" name="Shape 399"/>
          <p:cNvSpPr txBox="1"/>
          <p:nvPr>
            <p:ph type="title"/>
          </p:nvPr>
        </p:nvSpPr>
        <p:spPr>
          <a:xfrm>
            <a:off x="377775" y="1"/>
            <a:ext cx="8229600" cy="512700"/>
          </a:xfrm>
          <a:prstGeom prst="rect">
            <a:avLst/>
          </a:prstGeom>
          <a:noFill/>
          <a:ln>
            <a:noFill/>
          </a:ln>
        </p:spPr>
        <p:txBody>
          <a:bodyPr anchorCtr="0" anchor="ctr" bIns="34275" lIns="34275" rIns="34275" tIns="34275">
            <a:noAutofit/>
          </a:bodyPr>
          <a:lstStyle/>
          <a:p>
            <a:pPr indent="0" lvl="0" marL="0" marR="0" rtl="0" algn="l">
              <a:lnSpc>
                <a:spcPct val="100000"/>
              </a:lnSpc>
              <a:spcBef>
                <a:spcPts val="0"/>
              </a:spcBef>
              <a:spcAft>
                <a:spcPts val="0"/>
              </a:spcAft>
              <a:buClr>
                <a:srgbClr val="FFFFFF"/>
              </a:buClr>
              <a:buSzPct val="25000"/>
              <a:buFont typeface="Droid Sans"/>
              <a:buNone/>
            </a:pPr>
            <a:r>
              <a:rPr b="1" i="0" lang="en" sz="3000" u="none" cap="none" strike="noStrike">
                <a:solidFill>
                  <a:schemeClr val="accent6"/>
                </a:solidFill>
                <a:latin typeface="Droid Sans"/>
                <a:ea typeface="Droid Sans"/>
                <a:cs typeface="Droid Sans"/>
                <a:sym typeface="Droid Sans"/>
              </a:rPr>
              <a:t>RabbitMQ</a:t>
            </a:r>
          </a:p>
        </p:txBody>
      </p:sp>
      <p:grpSp>
        <p:nvGrpSpPr>
          <p:cNvPr id="400" name="Shape 400"/>
          <p:cNvGrpSpPr/>
          <p:nvPr/>
        </p:nvGrpSpPr>
        <p:grpSpPr>
          <a:xfrm>
            <a:off x="1543050" y="3616324"/>
            <a:ext cx="792162" cy="1465262"/>
            <a:chOff x="2216000" y="3035884"/>
            <a:chExt cx="1346571" cy="1950255"/>
          </a:xfrm>
        </p:grpSpPr>
        <p:grpSp>
          <p:nvGrpSpPr>
            <p:cNvPr id="401" name="Shape 401"/>
            <p:cNvGrpSpPr/>
            <p:nvPr/>
          </p:nvGrpSpPr>
          <p:grpSpPr>
            <a:xfrm>
              <a:off x="2427155" y="3035884"/>
              <a:ext cx="1135416" cy="1950255"/>
              <a:chOff x="7604610" y="3288405"/>
              <a:chExt cx="931868" cy="588808"/>
            </a:xfrm>
          </p:grpSpPr>
          <p:pic>
            <p:nvPicPr>
              <p:cNvPr descr="DWDM.jpg" id="402" name="Shape 402"/>
              <p:cNvPicPr preferRelativeResize="0"/>
              <p:nvPr/>
            </p:nvPicPr>
            <p:blipFill rotWithShape="1">
              <a:blip r:embed="rId3">
                <a:alphaModFix/>
              </a:blip>
              <a:srcRect b="0" l="0" r="0" t="0"/>
              <a:stretch/>
            </p:blipFill>
            <p:spPr>
              <a:xfrm>
                <a:off x="7604610" y="3288405"/>
                <a:ext cx="740847" cy="588808"/>
              </a:xfrm>
              <a:prstGeom prst="rect">
                <a:avLst/>
              </a:prstGeom>
              <a:noFill/>
              <a:ln>
                <a:noFill/>
              </a:ln>
            </p:spPr>
          </p:pic>
          <p:grpSp>
            <p:nvGrpSpPr>
              <p:cNvPr id="403" name="Shape 403"/>
              <p:cNvGrpSpPr/>
              <p:nvPr/>
            </p:nvGrpSpPr>
            <p:grpSpPr>
              <a:xfrm rot="5400000">
                <a:off x="8198971" y="3496964"/>
                <a:ext cx="413672" cy="261341"/>
                <a:chOff x="9332200" y="4662707"/>
                <a:chExt cx="978566" cy="366949"/>
              </a:xfrm>
            </p:grpSpPr>
            <p:cxnSp>
              <p:nvCxnSpPr>
                <p:cNvPr id="404" name="Shape 404"/>
                <p:cNvCxnSpPr/>
                <p:nvPr/>
              </p:nvCxnSpPr>
              <p:spPr>
                <a:xfrm>
                  <a:off x="9332200" y="4662707"/>
                  <a:ext cx="9959" cy="355819"/>
                </a:xfrm>
                <a:prstGeom prst="straightConnector1">
                  <a:avLst/>
                </a:prstGeom>
                <a:noFill/>
                <a:ln cap="flat" cmpd="sng" w="38100">
                  <a:solidFill>
                    <a:schemeClr val="dk1"/>
                  </a:solidFill>
                  <a:prstDash val="solid"/>
                  <a:round/>
                  <a:headEnd len="med" w="med" type="none"/>
                  <a:tailEnd len="med" w="med" type="none"/>
                </a:ln>
              </p:spPr>
            </p:cxnSp>
            <p:cxnSp>
              <p:nvCxnSpPr>
                <p:cNvPr id="405" name="Shape 405"/>
                <p:cNvCxnSpPr/>
                <p:nvPr/>
              </p:nvCxnSpPr>
              <p:spPr>
                <a:xfrm>
                  <a:off x="9495564" y="4662707"/>
                  <a:ext cx="9959" cy="355819"/>
                </a:xfrm>
                <a:prstGeom prst="straightConnector1">
                  <a:avLst/>
                </a:prstGeom>
                <a:noFill/>
                <a:ln cap="flat" cmpd="sng" w="38100">
                  <a:solidFill>
                    <a:schemeClr val="dk1"/>
                  </a:solidFill>
                  <a:prstDash val="solid"/>
                  <a:round/>
                  <a:headEnd len="med" w="med" type="none"/>
                  <a:tailEnd len="med" w="med" type="none"/>
                </a:ln>
              </p:spPr>
            </p:cxnSp>
            <p:cxnSp>
              <p:nvCxnSpPr>
                <p:cNvPr id="406" name="Shape 406"/>
                <p:cNvCxnSpPr/>
                <p:nvPr/>
              </p:nvCxnSpPr>
              <p:spPr>
                <a:xfrm>
                  <a:off x="9660917" y="4666617"/>
                  <a:ext cx="11953" cy="355819"/>
                </a:xfrm>
                <a:prstGeom prst="straightConnector1">
                  <a:avLst/>
                </a:prstGeom>
                <a:noFill/>
                <a:ln cap="flat" cmpd="sng" w="38100">
                  <a:solidFill>
                    <a:schemeClr val="dk1"/>
                  </a:solidFill>
                  <a:prstDash val="solid"/>
                  <a:round/>
                  <a:headEnd len="med" w="med" type="none"/>
                  <a:tailEnd len="med" w="med" type="none"/>
                </a:ln>
              </p:spPr>
            </p:cxnSp>
            <p:cxnSp>
              <p:nvCxnSpPr>
                <p:cNvPr id="407" name="Shape 407"/>
                <p:cNvCxnSpPr/>
                <p:nvPr/>
              </p:nvCxnSpPr>
              <p:spPr>
                <a:xfrm>
                  <a:off x="9822292" y="4662707"/>
                  <a:ext cx="9959" cy="355819"/>
                </a:xfrm>
                <a:prstGeom prst="straightConnector1">
                  <a:avLst/>
                </a:prstGeom>
                <a:noFill/>
                <a:ln cap="flat" cmpd="sng" w="38100">
                  <a:solidFill>
                    <a:srgbClr val="008000"/>
                  </a:solidFill>
                  <a:prstDash val="solid"/>
                  <a:round/>
                  <a:headEnd len="med" w="med" type="none"/>
                  <a:tailEnd len="med" w="med" type="none"/>
                </a:ln>
              </p:spPr>
            </p:cxnSp>
            <p:cxnSp>
              <p:nvCxnSpPr>
                <p:cNvPr id="408" name="Shape 408"/>
                <p:cNvCxnSpPr/>
                <p:nvPr/>
              </p:nvCxnSpPr>
              <p:spPr>
                <a:xfrm>
                  <a:off x="9967725" y="4664664"/>
                  <a:ext cx="11953" cy="355819"/>
                </a:xfrm>
                <a:prstGeom prst="straightConnector1">
                  <a:avLst/>
                </a:prstGeom>
                <a:noFill/>
                <a:ln cap="flat" cmpd="sng" w="38100">
                  <a:solidFill>
                    <a:srgbClr val="FF0000"/>
                  </a:solidFill>
                  <a:prstDash val="solid"/>
                  <a:round/>
                  <a:headEnd len="med" w="med" type="none"/>
                  <a:tailEnd len="med" w="med" type="none"/>
                </a:ln>
              </p:spPr>
            </p:cxnSp>
            <p:cxnSp>
              <p:nvCxnSpPr>
                <p:cNvPr id="409" name="Shape 409"/>
                <p:cNvCxnSpPr/>
                <p:nvPr/>
              </p:nvCxnSpPr>
              <p:spPr>
                <a:xfrm>
                  <a:off x="10128171" y="4672035"/>
                  <a:ext cx="12071" cy="357621"/>
                </a:xfrm>
                <a:prstGeom prst="straightConnector1">
                  <a:avLst/>
                </a:prstGeom>
                <a:noFill/>
                <a:ln cap="flat" cmpd="sng" w="38100">
                  <a:solidFill>
                    <a:schemeClr val="accent5"/>
                  </a:solidFill>
                  <a:prstDash val="solid"/>
                  <a:round/>
                  <a:headEnd len="med" w="med" type="none"/>
                  <a:tailEnd len="med" w="med" type="none"/>
                </a:ln>
              </p:spPr>
            </p:cxnSp>
            <p:cxnSp>
              <p:nvCxnSpPr>
                <p:cNvPr id="410" name="Shape 410"/>
                <p:cNvCxnSpPr/>
                <p:nvPr/>
              </p:nvCxnSpPr>
              <p:spPr>
                <a:xfrm>
                  <a:off x="10300203" y="4668925"/>
                  <a:ext cx="10563" cy="354511"/>
                </a:xfrm>
                <a:prstGeom prst="straightConnector1">
                  <a:avLst/>
                </a:prstGeom>
                <a:noFill/>
                <a:ln cap="flat" cmpd="sng" w="38100">
                  <a:solidFill>
                    <a:schemeClr val="accent3"/>
                  </a:solidFill>
                  <a:prstDash val="solid"/>
                  <a:round/>
                  <a:headEnd len="med" w="med" type="none"/>
                  <a:tailEnd len="med" w="med" type="none"/>
                </a:ln>
              </p:spPr>
            </p:cxnSp>
          </p:grpSp>
        </p:grpSp>
        <p:grpSp>
          <p:nvGrpSpPr>
            <p:cNvPr id="411" name="Shape 411"/>
            <p:cNvGrpSpPr/>
            <p:nvPr/>
          </p:nvGrpSpPr>
          <p:grpSpPr>
            <a:xfrm>
              <a:off x="2216000" y="3268353"/>
              <a:ext cx="1316122" cy="1609471"/>
              <a:chOff x="3197546" y="3413696"/>
              <a:chExt cx="1078692" cy="1319121"/>
            </a:xfrm>
          </p:grpSpPr>
          <p:grpSp>
            <p:nvGrpSpPr>
              <p:cNvPr id="412" name="Shape 412"/>
              <p:cNvGrpSpPr/>
              <p:nvPr/>
            </p:nvGrpSpPr>
            <p:grpSpPr>
              <a:xfrm>
                <a:off x="3197546" y="3621060"/>
                <a:ext cx="1075587" cy="1111757"/>
                <a:chOff x="3197546" y="3621060"/>
                <a:chExt cx="1075587" cy="1111757"/>
              </a:xfrm>
            </p:grpSpPr>
            <p:pic>
              <p:nvPicPr>
                <p:cNvPr id="413" name="Shape 413"/>
                <p:cNvPicPr preferRelativeResize="0"/>
                <p:nvPr/>
              </p:nvPicPr>
              <p:blipFill rotWithShape="1">
                <a:blip r:embed="rId4">
                  <a:alphaModFix/>
                </a:blip>
                <a:srcRect b="14200" l="-9309" r="-2" t="0"/>
                <a:stretch/>
              </p:blipFill>
              <p:spPr>
                <a:xfrm>
                  <a:off x="3199888" y="4361401"/>
                  <a:ext cx="1058800" cy="371416"/>
                </a:xfrm>
                <a:prstGeom prst="rect">
                  <a:avLst/>
                </a:prstGeom>
                <a:noFill/>
                <a:ln>
                  <a:noFill/>
                </a:ln>
              </p:spPr>
            </p:pic>
            <p:pic>
              <p:nvPicPr>
                <p:cNvPr id="414" name="Shape 414"/>
                <p:cNvPicPr preferRelativeResize="0"/>
                <p:nvPr/>
              </p:nvPicPr>
              <p:blipFill rotWithShape="1">
                <a:blip r:embed="rId4">
                  <a:alphaModFix/>
                </a:blip>
                <a:srcRect b="14200" l="-9309" r="-2" t="0"/>
                <a:stretch/>
              </p:blipFill>
              <p:spPr>
                <a:xfrm>
                  <a:off x="3214333" y="4188307"/>
                  <a:ext cx="1058800" cy="371416"/>
                </a:xfrm>
                <a:prstGeom prst="rect">
                  <a:avLst/>
                </a:prstGeom>
                <a:noFill/>
                <a:ln>
                  <a:noFill/>
                </a:ln>
              </p:spPr>
            </p:pic>
            <p:pic>
              <p:nvPicPr>
                <p:cNvPr id="415" name="Shape 415"/>
                <p:cNvPicPr preferRelativeResize="0"/>
                <p:nvPr/>
              </p:nvPicPr>
              <p:blipFill rotWithShape="1">
                <a:blip r:embed="rId4">
                  <a:alphaModFix/>
                </a:blip>
                <a:srcRect b="14200" l="-9309" r="-2" t="0"/>
                <a:stretch/>
              </p:blipFill>
              <p:spPr>
                <a:xfrm>
                  <a:off x="3197546" y="4009435"/>
                  <a:ext cx="1058800" cy="371416"/>
                </a:xfrm>
                <a:prstGeom prst="rect">
                  <a:avLst/>
                </a:prstGeom>
                <a:noFill/>
                <a:ln>
                  <a:noFill/>
                </a:ln>
              </p:spPr>
            </p:pic>
            <p:pic>
              <p:nvPicPr>
                <p:cNvPr id="416" name="Shape 416"/>
                <p:cNvPicPr preferRelativeResize="0"/>
                <p:nvPr/>
              </p:nvPicPr>
              <p:blipFill rotWithShape="1">
                <a:blip r:embed="rId4">
                  <a:alphaModFix/>
                </a:blip>
                <a:srcRect b="14200" l="-9309" r="-2" t="0"/>
                <a:stretch/>
              </p:blipFill>
              <p:spPr>
                <a:xfrm>
                  <a:off x="3214333" y="3828301"/>
                  <a:ext cx="1058800" cy="371416"/>
                </a:xfrm>
                <a:prstGeom prst="rect">
                  <a:avLst/>
                </a:prstGeom>
                <a:noFill/>
                <a:ln>
                  <a:noFill/>
                </a:ln>
              </p:spPr>
            </p:pic>
            <p:pic>
              <p:nvPicPr>
                <p:cNvPr id="417" name="Shape 417"/>
                <p:cNvPicPr preferRelativeResize="0"/>
                <p:nvPr/>
              </p:nvPicPr>
              <p:blipFill rotWithShape="1">
                <a:blip r:embed="rId4">
                  <a:alphaModFix/>
                </a:blip>
                <a:srcRect b="14200" l="-9309" r="-2" t="0"/>
                <a:stretch/>
              </p:blipFill>
              <p:spPr>
                <a:xfrm>
                  <a:off x="3214333" y="3621060"/>
                  <a:ext cx="1058800" cy="371416"/>
                </a:xfrm>
                <a:prstGeom prst="rect">
                  <a:avLst/>
                </a:prstGeom>
                <a:noFill/>
                <a:ln>
                  <a:noFill/>
                </a:ln>
              </p:spPr>
            </p:pic>
          </p:grpSp>
          <p:pic>
            <p:nvPicPr>
              <p:cNvPr id="418" name="Shape 418"/>
              <p:cNvPicPr preferRelativeResize="0"/>
              <p:nvPr/>
            </p:nvPicPr>
            <p:blipFill rotWithShape="1">
              <a:blip r:embed="rId4">
                <a:alphaModFix/>
              </a:blip>
              <a:srcRect b="14200" l="-9309" r="-2" t="0"/>
              <a:stretch/>
            </p:blipFill>
            <p:spPr>
              <a:xfrm>
                <a:off x="3217438" y="3413696"/>
                <a:ext cx="1058800" cy="371416"/>
              </a:xfrm>
              <a:prstGeom prst="rect">
                <a:avLst/>
              </a:prstGeom>
              <a:noFill/>
              <a:ln>
                <a:noFill/>
              </a:ln>
            </p:spPr>
          </p:pic>
        </p:grpSp>
      </p:grpSp>
      <p:grpSp>
        <p:nvGrpSpPr>
          <p:cNvPr id="419" name="Shape 419"/>
          <p:cNvGrpSpPr/>
          <p:nvPr/>
        </p:nvGrpSpPr>
        <p:grpSpPr>
          <a:xfrm>
            <a:off x="2867025" y="3606799"/>
            <a:ext cx="792162" cy="1463674"/>
            <a:chOff x="2216000" y="3035884"/>
            <a:chExt cx="1346571" cy="1950255"/>
          </a:xfrm>
        </p:grpSpPr>
        <p:grpSp>
          <p:nvGrpSpPr>
            <p:cNvPr id="420" name="Shape 420"/>
            <p:cNvGrpSpPr/>
            <p:nvPr/>
          </p:nvGrpSpPr>
          <p:grpSpPr>
            <a:xfrm>
              <a:off x="2427155" y="3035884"/>
              <a:ext cx="1135416" cy="1950255"/>
              <a:chOff x="7604610" y="3288405"/>
              <a:chExt cx="931868" cy="588808"/>
            </a:xfrm>
          </p:grpSpPr>
          <p:pic>
            <p:nvPicPr>
              <p:cNvPr descr="DWDM.jpg" id="421" name="Shape 421"/>
              <p:cNvPicPr preferRelativeResize="0"/>
              <p:nvPr/>
            </p:nvPicPr>
            <p:blipFill rotWithShape="1">
              <a:blip r:embed="rId3">
                <a:alphaModFix/>
              </a:blip>
              <a:srcRect b="0" l="0" r="0" t="0"/>
              <a:stretch/>
            </p:blipFill>
            <p:spPr>
              <a:xfrm>
                <a:off x="7604610" y="3288405"/>
                <a:ext cx="740847" cy="588808"/>
              </a:xfrm>
              <a:prstGeom prst="rect">
                <a:avLst/>
              </a:prstGeom>
              <a:noFill/>
              <a:ln>
                <a:noFill/>
              </a:ln>
            </p:spPr>
          </p:pic>
          <p:grpSp>
            <p:nvGrpSpPr>
              <p:cNvPr id="422" name="Shape 422"/>
              <p:cNvGrpSpPr/>
              <p:nvPr/>
            </p:nvGrpSpPr>
            <p:grpSpPr>
              <a:xfrm rot="5400000">
                <a:off x="8198993" y="3496941"/>
                <a:ext cx="413627" cy="261341"/>
                <a:chOff x="9332200" y="4662707"/>
                <a:chExt cx="978459" cy="366949"/>
              </a:xfrm>
            </p:grpSpPr>
            <p:cxnSp>
              <p:nvCxnSpPr>
                <p:cNvPr id="423" name="Shape 423"/>
                <p:cNvCxnSpPr/>
                <p:nvPr/>
              </p:nvCxnSpPr>
              <p:spPr>
                <a:xfrm>
                  <a:off x="9332200" y="4662707"/>
                  <a:ext cx="9959" cy="355819"/>
                </a:xfrm>
                <a:prstGeom prst="straightConnector1">
                  <a:avLst/>
                </a:prstGeom>
                <a:noFill/>
                <a:ln cap="flat" cmpd="sng" w="38100">
                  <a:solidFill>
                    <a:schemeClr val="dk1"/>
                  </a:solidFill>
                  <a:prstDash val="solid"/>
                  <a:round/>
                  <a:headEnd len="med" w="med" type="none"/>
                  <a:tailEnd len="med" w="med" type="none"/>
                </a:ln>
              </p:spPr>
            </p:cxnSp>
            <p:cxnSp>
              <p:nvCxnSpPr>
                <p:cNvPr id="424" name="Shape 424"/>
                <p:cNvCxnSpPr/>
                <p:nvPr/>
              </p:nvCxnSpPr>
              <p:spPr>
                <a:xfrm>
                  <a:off x="9495564" y="4662707"/>
                  <a:ext cx="9959" cy="355819"/>
                </a:xfrm>
                <a:prstGeom prst="straightConnector1">
                  <a:avLst/>
                </a:prstGeom>
                <a:noFill/>
                <a:ln cap="flat" cmpd="sng" w="38100">
                  <a:solidFill>
                    <a:schemeClr val="dk1"/>
                  </a:solidFill>
                  <a:prstDash val="solid"/>
                  <a:round/>
                  <a:headEnd len="med" w="med" type="none"/>
                  <a:tailEnd len="med" w="med" type="none"/>
                </a:ln>
              </p:spPr>
            </p:cxnSp>
            <p:cxnSp>
              <p:nvCxnSpPr>
                <p:cNvPr id="425" name="Shape 425"/>
                <p:cNvCxnSpPr/>
                <p:nvPr/>
              </p:nvCxnSpPr>
              <p:spPr>
                <a:xfrm>
                  <a:off x="9660917" y="4666617"/>
                  <a:ext cx="11953" cy="355819"/>
                </a:xfrm>
                <a:prstGeom prst="straightConnector1">
                  <a:avLst/>
                </a:prstGeom>
                <a:noFill/>
                <a:ln cap="flat" cmpd="sng" w="38100">
                  <a:solidFill>
                    <a:schemeClr val="dk1"/>
                  </a:solidFill>
                  <a:prstDash val="solid"/>
                  <a:round/>
                  <a:headEnd len="med" w="med" type="none"/>
                  <a:tailEnd len="med" w="med" type="none"/>
                </a:ln>
              </p:spPr>
            </p:cxnSp>
            <p:cxnSp>
              <p:nvCxnSpPr>
                <p:cNvPr id="426" name="Shape 426"/>
                <p:cNvCxnSpPr/>
                <p:nvPr/>
              </p:nvCxnSpPr>
              <p:spPr>
                <a:xfrm>
                  <a:off x="9822292" y="4662707"/>
                  <a:ext cx="9959" cy="355819"/>
                </a:xfrm>
                <a:prstGeom prst="straightConnector1">
                  <a:avLst/>
                </a:prstGeom>
                <a:noFill/>
                <a:ln cap="flat" cmpd="sng" w="38100">
                  <a:solidFill>
                    <a:srgbClr val="008000"/>
                  </a:solidFill>
                  <a:prstDash val="solid"/>
                  <a:round/>
                  <a:headEnd len="med" w="med" type="none"/>
                  <a:tailEnd len="med" w="med" type="none"/>
                </a:ln>
              </p:spPr>
            </p:cxnSp>
            <p:cxnSp>
              <p:nvCxnSpPr>
                <p:cNvPr id="427" name="Shape 427"/>
                <p:cNvCxnSpPr/>
                <p:nvPr/>
              </p:nvCxnSpPr>
              <p:spPr>
                <a:xfrm>
                  <a:off x="9967725" y="4664664"/>
                  <a:ext cx="11953" cy="355819"/>
                </a:xfrm>
                <a:prstGeom prst="straightConnector1">
                  <a:avLst/>
                </a:prstGeom>
                <a:noFill/>
                <a:ln cap="flat" cmpd="sng" w="38100">
                  <a:solidFill>
                    <a:srgbClr val="FF0000"/>
                  </a:solidFill>
                  <a:prstDash val="solid"/>
                  <a:round/>
                  <a:headEnd len="med" w="med" type="none"/>
                  <a:tailEnd len="med" w="med" type="none"/>
                </a:ln>
              </p:spPr>
            </p:cxnSp>
            <p:cxnSp>
              <p:nvCxnSpPr>
                <p:cNvPr id="428" name="Shape 428"/>
                <p:cNvCxnSpPr/>
                <p:nvPr/>
              </p:nvCxnSpPr>
              <p:spPr>
                <a:xfrm>
                  <a:off x="10127864" y="4672035"/>
                  <a:ext cx="12086" cy="357621"/>
                </a:xfrm>
                <a:prstGeom prst="straightConnector1">
                  <a:avLst/>
                </a:prstGeom>
                <a:noFill/>
                <a:ln cap="flat" cmpd="sng" w="38100">
                  <a:solidFill>
                    <a:schemeClr val="accent5"/>
                  </a:solidFill>
                  <a:prstDash val="solid"/>
                  <a:round/>
                  <a:headEnd len="med" w="med" type="none"/>
                  <a:tailEnd len="med" w="med" type="none"/>
                </a:ln>
              </p:spPr>
            </p:cxnSp>
            <p:cxnSp>
              <p:nvCxnSpPr>
                <p:cNvPr id="429" name="Shape 429"/>
                <p:cNvCxnSpPr/>
                <p:nvPr/>
              </p:nvCxnSpPr>
              <p:spPr>
                <a:xfrm>
                  <a:off x="10300084" y="4668926"/>
                  <a:ext cx="10575" cy="354511"/>
                </a:xfrm>
                <a:prstGeom prst="straightConnector1">
                  <a:avLst/>
                </a:prstGeom>
                <a:noFill/>
                <a:ln cap="flat" cmpd="sng" w="38100">
                  <a:solidFill>
                    <a:schemeClr val="accent3"/>
                  </a:solidFill>
                  <a:prstDash val="solid"/>
                  <a:round/>
                  <a:headEnd len="med" w="med" type="none"/>
                  <a:tailEnd len="med" w="med" type="none"/>
                </a:ln>
              </p:spPr>
            </p:cxnSp>
          </p:grpSp>
        </p:grpSp>
        <p:grpSp>
          <p:nvGrpSpPr>
            <p:cNvPr id="430" name="Shape 430"/>
            <p:cNvGrpSpPr/>
            <p:nvPr/>
          </p:nvGrpSpPr>
          <p:grpSpPr>
            <a:xfrm>
              <a:off x="2216000" y="3268353"/>
              <a:ext cx="1316122" cy="1609471"/>
              <a:chOff x="3197546" y="3413696"/>
              <a:chExt cx="1078692" cy="1319121"/>
            </a:xfrm>
          </p:grpSpPr>
          <p:grpSp>
            <p:nvGrpSpPr>
              <p:cNvPr id="431" name="Shape 431"/>
              <p:cNvGrpSpPr/>
              <p:nvPr/>
            </p:nvGrpSpPr>
            <p:grpSpPr>
              <a:xfrm>
                <a:off x="3197546" y="3621060"/>
                <a:ext cx="1075587" cy="1111757"/>
                <a:chOff x="3197546" y="3621060"/>
                <a:chExt cx="1075587" cy="1111757"/>
              </a:xfrm>
            </p:grpSpPr>
            <p:pic>
              <p:nvPicPr>
                <p:cNvPr id="432" name="Shape 432"/>
                <p:cNvPicPr preferRelativeResize="0"/>
                <p:nvPr/>
              </p:nvPicPr>
              <p:blipFill rotWithShape="1">
                <a:blip r:embed="rId4">
                  <a:alphaModFix/>
                </a:blip>
                <a:srcRect b="14200" l="-9309" r="-2" t="0"/>
                <a:stretch/>
              </p:blipFill>
              <p:spPr>
                <a:xfrm>
                  <a:off x="3199888" y="4361401"/>
                  <a:ext cx="1058800" cy="371416"/>
                </a:xfrm>
                <a:prstGeom prst="rect">
                  <a:avLst/>
                </a:prstGeom>
                <a:noFill/>
                <a:ln>
                  <a:noFill/>
                </a:ln>
              </p:spPr>
            </p:pic>
            <p:pic>
              <p:nvPicPr>
                <p:cNvPr id="433" name="Shape 433"/>
                <p:cNvPicPr preferRelativeResize="0"/>
                <p:nvPr/>
              </p:nvPicPr>
              <p:blipFill rotWithShape="1">
                <a:blip r:embed="rId4">
                  <a:alphaModFix/>
                </a:blip>
                <a:srcRect b="14200" l="-9309" r="-2" t="0"/>
                <a:stretch/>
              </p:blipFill>
              <p:spPr>
                <a:xfrm>
                  <a:off x="3214333" y="4188307"/>
                  <a:ext cx="1058800" cy="371416"/>
                </a:xfrm>
                <a:prstGeom prst="rect">
                  <a:avLst/>
                </a:prstGeom>
                <a:noFill/>
                <a:ln>
                  <a:noFill/>
                </a:ln>
              </p:spPr>
            </p:pic>
            <p:pic>
              <p:nvPicPr>
                <p:cNvPr id="434" name="Shape 434"/>
                <p:cNvPicPr preferRelativeResize="0"/>
                <p:nvPr/>
              </p:nvPicPr>
              <p:blipFill rotWithShape="1">
                <a:blip r:embed="rId4">
                  <a:alphaModFix/>
                </a:blip>
                <a:srcRect b="14200" l="-9309" r="-2" t="0"/>
                <a:stretch/>
              </p:blipFill>
              <p:spPr>
                <a:xfrm>
                  <a:off x="3197546" y="4009435"/>
                  <a:ext cx="1058800" cy="371416"/>
                </a:xfrm>
                <a:prstGeom prst="rect">
                  <a:avLst/>
                </a:prstGeom>
                <a:noFill/>
                <a:ln>
                  <a:noFill/>
                </a:ln>
              </p:spPr>
            </p:pic>
            <p:pic>
              <p:nvPicPr>
                <p:cNvPr id="435" name="Shape 435"/>
                <p:cNvPicPr preferRelativeResize="0"/>
                <p:nvPr/>
              </p:nvPicPr>
              <p:blipFill rotWithShape="1">
                <a:blip r:embed="rId4">
                  <a:alphaModFix/>
                </a:blip>
                <a:srcRect b="14200" l="-9309" r="-2" t="0"/>
                <a:stretch/>
              </p:blipFill>
              <p:spPr>
                <a:xfrm>
                  <a:off x="3214333" y="3828301"/>
                  <a:ext cx="1058800" cy="371416"/>
                </a:xfrm>
                <a:prstGeom prst="rect">
                  <a:avLst/>
                </a:prstGeom>
                <a:noFill/>
                <a:ln>
                  <a:noFill/>
                </a:ln>
              </p:spPr>
            </p:pic>
            <p:pic>
              <p:nvPicPr>
                <p:cNvPr id="436" name="Shape 436"/>
                <p:cNvPicPr preferRelativeResize="0"/>
                <p:nvPr/>
              </p:nvPicPr>
              <p:blipFill rotWithShape="1">
                <a:blip r:embed="rId4">
                  <a:alphaModFix/>
                </a:blip>
                <a:srcRect b="14200" l="-9309" r="-2" t="0"/>
                <a:stretch/>
              </p:blipFill>
              <p:spPr>
                <a:xfrm>
                  <a:off x="3214333" y="3621060"/>
                  <a:ext cx="1058800" cy="371416"/>
                </a:xfrm>
                <a:prstGeom prst="rect">
                  <a:avLst/>
                </a:prstGeom>
                <a:noFill/>
                <a:ln>
                  <a:noFill/>
                </a:ln>
              </p:spPr>
            </p:pic>
          </p:grpSp>
          <p:pic>
            <p:nvPicPr>
              <p:cNvPr id="437" name="Shape 437"/>
              <p:cNvPicPr preferRelativeResize="0"/>
              <p:nvPr/>
            </p:nvPicPr>
            <p:blipFill rotWithShape="1">
              <a:blip r:embed="rId4">
                <a:alphaModFix/>
              </a:blip>
              <a:srcRect b="14200" l="-9309" r="-2" t="0"/>
              <a:stretch/>
            </p:blipFill>
            <p:spPr>
              <a:xfrm>
                <a:off x="3217438" y="3413696"/>
                <a:ext cx="1058800" cy="371416"/>
              </a:xfrm>
              <a:prstGeom prst="rect">
                <a:avLst/>
              </a:prstGeom>
              <a:noFill/>
              <a:ln>
                <a:noFill/>
              </a:ln>
            </p:spPr>
          </p:pic>
        </p:grpSp>
      </p:grpSp>
      <p:grpSp>
        <p:nvGrpSpPr>
          <p:cNvPr id="438" name="Shape 438"/>
          <p:cNvGrpSpPr/>
          <p:nvPr/>
        </p:nvGrpSpPr>
        <p:grpSpPr>
          <a:xfrm>
            <a:off x="4057650" y="3602037"/>
            <a:ext cx="792162" cy="1463674"/>
            <a:chOff x="2216000" y="3035884"/>
            <a:chExt cx="1346571" cy="1950255"/>
          </a:xfrm>
        </p:grpSpPr>
        <p:grpSp>
          <p:nvGrpSpPr>
            <p:cNvPr id="439" name="Shape 439"/>
            <p:cNvGrpSpPr/>
            <p:nvPr/>
          </p:nvGrpSpPr>
          <p:grpSpPr>
            <a:xfrm>
              <a:off x="2427155" y="3035884"/>
              <a:ext cx="1135416" cy="1950255"/>
              <a:chOff x="7604610" y="3288405"/>
              <a:chExt cx="931868" cy="588808"/>
            </a:xfrm>
          </p:grpSpPr>
          <p:pic>
            <p:nvPicPr>
              <p:cNvPr descr="DWDM.jpg" id="440" name="Shape 440"/>
              <p:cNvPicPr preferRelativeResize="0"/>
              <p:nvPr/>
            </p:nvPicPr>
            <p:blipFill rotWithShape="1">
              <a:blip r:embed="rId3">
                <a:alphaModFix/>
              </a:blip>
              <a:srcRect b="0" l="0" r="0" t="0"/>
              <a:stretch/>
            </p:blipFill>
            <p:spPr>
              <a:xfrm>
                <a:off x="7604610" y="3288405"/>
                <a:ext cx="740847" cy="588808"/>
              </a:xfrm>
              <a:prstGeom prst="rect">
                <a:avLst/>
              </a:prstGeom>
              <a:noFill/>
              <a:ln>
                <a:noFill/>
              </a:ln>
            </p:spPr>
          </p:pic>
          <p:grpSp>
            <p:nvGrpSpPr>
              <p:cNvPr id="441" name="Shape 441"/>
              <p:cNvGrpSpPr/>
              <p:nvPr/>
            </p:nvGrpSpPr>
            <p:grpSpPr>
              <a:xfrm rot="5400000">
                <a:off x="8198994" y="3496940"/>
                <a:ext cx="413626" cy="261341"/>
                <a:chOff x="9332200" y="4662707"/>
                <a:chExt cx="978456" cy="366949"/>
              </a:xfrm>
            </p:grpSpPr>
            <p:cxnSp>
              <p:nvCxnSpPr>
                <p:cNvPr id="442" name="Shape 442"/>
                <p:cNvCxnSpPr/>
                <p:nvPr/>
              </p:nvCxnSpPr>
              <p:spPr>
                <a:xfrm>
                  <a:off x="9332200" y="4662707"/>
                  <a:ext cx="9959" cy="355819"/>
                </a:xfrm>
                <a:prstGeom prst="straightConnector1">
                  <a:avLst/>
                </a:prstGeom>
                <a:noFill/>
                <a:ln cap="flat" cmpd="sng" w="38100">
                  <a:solidFill>
                    <a:schemeClr val="dk1"/>
                  </a:solidFill>
                  <a:prstDash val="solid"/>
                  <a:round/>
                  <a:headEnd len="med" w="med" type="none"/>
                  <a:tailEnd len="med" w="med" type="none"/>
                </a:ln>
              </p:spPr>
            </p:cxnSp>
            <p:cxnSp>
              <p:nvCxnSpPr>
                <p:cNvPr id="443" name="Shape 443"/>
                <p:cNvCxnSpPr/>
                <p:nvPr/>
              </p:nvCxnSpPr>
              <p:spPr>
                <a:xfrm>
                  <a:off x="9495564" y="4662707"/>
                  <a:ext cx="9959" cy="355819"/>
                </a:xfrm>
                <a:prstGeom prst="straightConnector1">
                  <a:avLst/>
                </a:prstGeom>
                <a:noFill/>
                <a:ln cap="flat" cmpd="sng" w="38100">
                  <a:solidFill>
                    <a:schemeClr val="dk1"/>
                  </a:solidFill>
                  <a:prstDash val="solid"/>
                  <a:round/>
                  <a:headEnd len="med" w="med" type="none"/>
                  <a:tailEnd len="med" w="med" type="none"/>
                </a:ln>
              </p:spPr>
            </p:cxnSp>
            <p:cxnSp>
              <p:nvCxnSpPr>
                <p:cNvPr id="444" name="Shape 444"/>
                <p:cNvCxnSpPr/>
                <p:nvPr/>
              </p:nvCxnSpPr>
              <p:spPr>
                <a:xfrm>
                  <a:off x="9660917" y="4666617"/>
                  <a:ext cx="11953" cy="355819"/>
                </a:xfrm>
                <a:prstGeom prst="straightConnector1">
                  <a:avLst/>
                </a:prstGeom>
                <a:noFill/>
                <a:ln cap="flat" cmpd="sng" w="38100">
                  <a:solidFill>
                    <a:schemeClr val="dk1"/>
                  </a:solidFill>
                  <a:prstDash val="solid"/>
                  <a:round/>
                  <a:headEnd len="med" w="med" type="none"/>
                  <a:tailEnd len="med" w="med" type="none"/>
                </a:ln>
              </p:spPr>
            </p:cxnSp>
            <p:cxnSp>
              <p:nvCxnSpPr>
                <p:cNvPr id="445" name="Shape 445"/>
                <p:cNvCxnSpPr/>
                <p:nvPr/>
              </p:nvCxnSpPr>
              <p:spPr>
                <a:xfrm>
                  <a:off x="9822292" y="4662707"/>
                  <a:ext cx="9959" cy="355819"/>
                </a:xfrm>
                <a:prstGeom prst="straightConnector1">
                  <a:avLst/>
                </a:prstGeom>
                <a:noFill/>
                <a:ln cap="flat" cmpd="sng" w="38100">
                  <a:solidFill>
                    <a:srgbClr val="008000"/>
                  </a:solidFill>
                  <a:prstDash val="solid"/>
                  <a:round/>
                  <a:headEnd len="med" w="med" type="none"/>
                  <a:tailEnd len="med" w="med" type="none"/>
                </a:ln>
              </p:spPr>
            </p:cxnSp>
            <p:cxnSp>
              <p:nvCxnSpPr>
                <p:cNvPr id="446" name="Shape 446"/>
                <p:cNvCxnSpPr/>
                <p:nvPr/>
              </p:nvCxnSpPr>
              <p:spPr>
                <a:xfrm>
                  <a:off x="9967725" y="4664664"/>
                  <a:ext cx="11953" cy="355819"/>
                </a:xfrm>
                <a:prstGeom prst="straightConnector1">
                  <a:avLst/>
                </a:prstGeom>
                <a:noFill/>
                <a:ln cap="flat" cmpd="sng" w="38100">
                  <a:solidFill>
                    <a:srgbClr val="FF0000"/>
                  </a:solidFill>
                  <a:prstDash val="solid"/>
                  <a:round/>
                  <a:headEnd len="med" w="med" type="none"/>
                  <a:tailEnd len="med" w="med" type="none"/>
                </a:ln>
              </p:spPr>
            </p:cxnSp>
            <p:cxnSp>
              <p:nvCxnSpPr>
                <p:cNvPr id="447" name="Shape 447"/>
                <p:cNvCxnSpPr/>
                <p:nvPr/>
              </p:nvCxnSpPr>
              <p:spPr>
                <a:xfrm>
                  <a:off x="10127864" y="4672035"/>
                  <a:ext cx="12086" cy="357621"/>
                </a:xfrm>
                <a:prstGeom prst="straightConnector1">
                  <a:avLst/>
                </a:prstGeom>
                <a:noFill/>
                <a:ln cap="flat" cmpd="sng" w="38100">
                  <a:solidFill>
                    <a:schemeClr val="accent5"/>
                  </a:solidFill>
                  <a:prstDash val="solid"/>
                  <a:round/>
                  <a:headEnd len="med" w="med" type="none"/>
                  <a:tailEnd len="med" w="med" type="none"/>
                </a:ln>
              </p:spPr>
            </p:cxnSp>
            <p:cxnSp>
              <p:nvCxnSpPr>
                <p:cNvPr id="448" name="Shape 448"/>
                <p:cNvCxnSpPr/>
                <p:nvPr/>
              </p:nvCxnSpPr>
              <p:spPr>
                <a:xfrm>
                  <a:off x="10300082" y="4668925"/>
                  <a:ext cx="10573" cy="354511"/>
                </a:xfrm>
                <a:prstGeom prst="straightConnector1">
                  <a:avLst/>
                </a:prstGeom>
                <a:noFill/>
                <a:ln cap="flat" cmpd="sng" w="38100">
                  <a:solidFill>
                    <a:schemeClr val="accent3"/>
                  </a:solidFill>
                  <a:prstDash val="solid"/>
                  <a:round/>
                  <a:headEnd len="med" w="med" type="none"/>
                  <a:tailEnd len="med" w="med" type="none"/>
                </a:ln>
              </p:spPr>
            </p:cxnSp>
          </p:grpSp>
        </p:grpSp>
        <p:grpSp>
          <p:nvGrpSpPr>
            <p:cNvPr id="449" name="Shape 449"/>
            <p:cNvGrpSpPr/>
            <p:nvPr/>
          </p:nvGrpSpPr>
          <p:grpSpPr>
            <a:xfrm>
              <a:off x="2216000" y="3268353"/>
              <a:ext cx="1316122" cy="1609471"/>
              <a:chOff x="3197546" y="3413696"/>
              <a:chExt cx="1078692" cy="1319121"/>
            </a:xfrm>
          </p:grpSpPr>
          <p:grpSp>
            <p:nvGrpSpPr>
              <p:cNvPr id="450" name="Shape 450"/>
              <p:cNvGrpSpPr/>
              <p:nvPr/>
            </p:nvGrpSpPr>
            <p:grpSpPr>
              <a:xfrm>
                <a:off x="3197546" y="3621060"/>
                <a:ext cx="1075587" cy="1111757"/>
                <a:chOff x="3197546" y="3621060"/>
                <a:chExt cx="1075587" cy="1111757"/>
              </a:xfrm>
            </p:grpSpPr>
            <p:pic>
              <p:nvPicPr>
                <p:cNvPr id="451" name="Shape 451"/>
                <p:cNvPicPr preferRelativeResize="0"/>
                <p:nvPr/>
              </p:nvPicPr>
              <p:blipFill rotWithShape="1">
                <a:blip r:embed="rId4">
                  <a:alphaModFix/>
                </a:blip>
                <a:srcRect b="14200" l="-9309" r="-2" t="0"/>
                <a:stretch/>
              </p:blipFill>
              <p:spPr>
                <a:xfrm>
                  <a:off x="3199888" y="4361401"/>
                  <a:ext cx="1058800" cy="371416"/>
                </a:xfrm>
                <a:prstGeom prst="rect">
                  <a:avLst/>
                </a:prstGeom>
                <a:noFill/>
                <a:ln>
                  <a:noFill/>
                </a:ln>
              </p:spPr>
            </p:pic>
            <p:pic>
              <p:nvPicPr>
                <p:cNvPr id="452" name="Shape 452"/>
                <p:cNvPicPr preferRelativeResize="0"/>
                <p:nvPr/>
              </p:nvPicPr>
              <p:blipFill rotWithShape="1">
                <a:blip r:embed="rId4">
                  <a:alphaModFix/>
                </a:blip>
                <a:srcRect b="14200" l="-9309" r="-2" t="0"/>
                <a:stretch/>
              </p:blipFill>
              <p:spPr>
                <a:xfrm>
                  <a:off x="3214333" y="4188307"/>
                  <a:ext cx="1058800" cy="371416"/>
                </a:xfrm>
                <a:prstGeom prst="rect">
                  <a:avLst/>
                </a:prstGeom>
                <a:noFill/>
                <a:ln>
                  <a:noFill/>
                </a:ln>
              </p:spPr>
            </p:pic>
            <p:pic>
              <p:nvPicPr>
                <p:cNvPr id="453" name="Shape 453"/>
                <p:cNvPicPr preferRelativeResize="0"/>
                <p:nvPr/>
              </p:nvPicPr>
              <p:blipFill rotWithShape="1">
                <a:blip r:embed="rId4">
                  <a:alphaModFix/>
                </a:blip>
                <a:srcRect b="14200" l="-9309" r="-2" t="0"/>
                <a:stretch/>
              </p:blipFill>
              <p:spPr>
                <a:xfrm>
                  <a:off x="3197546" y="4009435"/>
                  <a:ext cx="1058800" cy="371416"/>
                </a:xfrm>
                <a:prstGeom prst="rect">
                  <a:avLst/>
                </a:prstGeom>
                <a:noFill/>
                <a:ln>
                  <a:noFill/>
                </a:ln>
              </p:spPr>
            </p:pic>
            <p:pic>
              <p:nvPicPr>
                <p:cNvPr id="454" name="Shape 454"/>
                <p:cNvPicPr preferRelativeResize="0"/>
                <p:nvPr/>
              </p:nvPicPr>
              <p:blipFill rotWithShape="1">
                <a:blip r:embed="rId4">
                  <a:alphaModFix/>
                </a:blip>
                <a:srcRect b="14200" l="-9309" r="-2" t="0"/>
                <a:stretch/>
              </p:blipFill>
              <p:spPr>
                <a:xfrm>
                  <a:off x="3214333" y="3828301"/>
                  <a:ext cx="1058800" cy="371416"/>
                </a:xfrm>
                <a:prstGeom prst="rect">
                  <a:avLst/>
                </a:prstGeom>
                <a:noFill/>
                <a:ln>
                  <a:noFill/>
                </a:ln>
              </p:spPr>
            </p:pic>
            <p:pic>
              <p:nvPicPr>
                <p:cNvPr id="455" name="Shape 455"/>
                <p:cNvPicPr preferRelativeResize="0"/>
                <p:nvPr/>
              </p:nvPicPr>
              <p:blipFill rotWithShape="1">
                <a:blip r:embed="rId4">
                  <a:alphaModFix/>
                </a:blip>
                <a:srcRect b="14200" l="-9309" r="-2" t="0"/>
                <a:stretch/>
              </p:blipFill>
              <p:spPr>
                <a:xfrm>
                  <a:off x="3214333" y="3621060"/>
                  <a:ext cx="1058800" cy="371416"/>
                </a:xfrm>
                <a:prstGeom prst="rect">
                  <a:avLst/>
                </a:prstGeom>
                <a:noFill/>
                <a:ln>
                  <a:noFill/>
                </a:ln>
              </p:spPr>
            </p:pic>
          </p:grpSp>
          <p:pic>
            <p:nvPicPr>
              <p:cNvPr id="456" name="Shape 456"/>
              <p:cNvPicPr preferRelativeResize="0"/>
              <p:nvPr/>
            </p:nvPicPr>
            <p:blipFill rotWithShape="1">
              <a:blip r:embed="rId4">
                <a:alphaModFix/>
              </a:blip>
              <a:srcRect b="14200" l="-9309" r="-2" t="0"/>
              <a:stretch/>
            </p:blipFill>
            <p:spPr>
              <a:xfrm>
                <a:off x="3217438" y="3413696"/>
                <a:ext cx="1058800" cy="371416"/>
              </a:xfrm>
              <a:prstGeom prst="rect">
                <a:avLst/>
              </a:prstGeom>
              <a:noFill/>
              <a:ln>
                <a:noFill/>
              </a:ln>
            </p:spPr>
          </p:pic>
        </p:grpSp>
      </p:grpSp>
      <p:grpSp>
        <p:nvGrpSpPr>
          <p:cNvPr id="457" name="Shape 457"/>
          <p:cNvGrpSpPr/>
          <p:nvPr/>
        </p:nvGrpSpPr>
        <p:grpSpPr>
          <a:xfrm>
            <a:off x="1260475" y="2076450"/>
            <a:ext cx="4046538" cy="1539874"/>
            <a:chOff x="1243737" y="2075809"/>
            <a:chExt cx="4046483" cy="1540770"/>
          </a:xfrm>
        </p:grpSpPr>
        <p:sp>
          <p:nvSpPr>
            <p:cNvPr id="458" name="Shape 458"/>
            <p:cNvSpPr/>
            <p:nvPr/>
          </p:nvSpPr>
          <p:spPr>
            <a:xfrm>
              <a:off x="1243737" y="2075809"/>
              <a:ext cx="4046483" cy="937169"/>
            </a:xfrm>
            <a:prstGeom prst="rect">
              <a:avLst/>
            </a:prstGeom>
            <a:gradFill>
              <a:gsLst>
                <a:gs pos="0">
                  <a:srgbClr val="FFAE23"/>
                </a:gs>
                <a:gs pos="100000">
                  <a:srgbClr val="FFCE6C"/>
                </a:gs>
              </a:gsLst>
              <a:lin ang="16200000" scaled="0"/>
            </a:gradFill>
            <a:ln cap="flat" cmpd="sng" w="9525">
              <a:solidFill>
                <a:srgbClr val="FDA739"/>
              </a:solidFill>
              <a:prstDash val="solid"/>
              <a:round/>
              <a:headEnd len="med" w="med" type="none"/>
              <a:tailEnd len="med" w="med" type="none"/>
            </a:ln>
            <a:effectLst>
              <a:outerShdw blurRad="39999" rotWithShape="0" dir="5400000" dist="23000">
                <a:srgbClr val="000000">
                  <a:alpha val="34901"/>
                </a:srgbClr>
              </a:outerShdw>
            </a:effectLst>
          </p:spPr>
          <p:txBody>
            <a:bodyPr anchorCtr="0" anchor="ctr" bIns="45700" lIns="91425" rIns="91425" tIns="45700">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9" name="Shape 459"/>
            <p:cNvSpPr/>
            <p:nvPr/>
          </p:nvSpPr>
          <p:spPr>
            <a:xfrm>
              <a:off x="1512020" y="2506273"/>
              <a:ext cx="3575000" cy="331980"/>
            </a:xfrm>
            <a:prstGeom prst="rect">
              <a:avLst/>
            </a:prstGeom>
            <a:solidFill>
              <a:srgbClr val="376092"/>
            </a:solidFill>
            <a:ln>
              <a:noFill/>
            </a:ln>
          </p:spPr>
          <p:txBody>
            <a:bodyPr anchorCtr="0" anchor="ctr" bIns="45675" lIns="91350" rIns="91350" tIns="45675">
              <a:noAutofit/>
            </a:bodyPr>
            <a:lstStyle/>
            <a:p>
              <a:pPr indent="0" lvl="0" marL="0" marR="0" rtl="0" algn="ctr">
                <a:spcBef>
                  <a:spcPts val="0"/>
                </a:spcBef>
                <a:spcAft>
                  <a:spcPts val="0"/>
                </a:spcAft>
                <a:buClr>
                  <a:srgbClr val="FFFFFF"/>
                </a:buClr>
                <a:buSzPct val="25000"/>
                <a:buFont typeface="Calibri"/>
                <a:buNone/>
              </a:pPr>
              <a:r>
                <a:rPr b="0" i="0" lang="en" sz="1050" u="none" cap="none" strike="noStrike">
                  <a:solidFill>
                    <a:srgbClr val="FFFFFF"/>
                  </a:solidFill>
                  <a:latin typeface="Calibri"/>
                  <a:ea typeface="Calibri"/>
                  <a:cs typeface="Calibri"/>
                  <a:sym typeface="Calibri"/>
                </a:rPr>
                <a:t>ONOS</a:t>
              </a:r>
            </a:p>
          </p:txBody>
        </p:sp>
        <p:sp>
          <p:nvSpPr>
            <p:cNvPr id="460" name="Shape 460"/>
            <p:cNvSpPr/>
            <p:nvPr/>
          </p:nvSpPr>
          <p:spPr>
            <a:xfrm>
              <a:off x="3305614" y="2247655"/>
              <a:ext cx="842586" cy="223140"/>
            </a:xfrm>
            <a:prstGeom prst="rect">
              <a:avLst/>
            </a:prstGeom>
            <a:solidFill>
              <a:srgbClr val="376092"/>
            </a:solidFill>
            <a:ln>
              <a:noFill/>
            </a:ln>
          </p:spPr>
          <p:txBody>
            <a:bodyPr anchorCtr="0" anchor="ctr" bIns="45675" lIns="91350" rIns="91350" tIns="45675">
              <a:noAutofit/>
            </a:bodyPr>
            <a:lstStyle/>
            <a:p>
              <a:pPr indent="0" lvl="0" marL="0" marR="0" rtl="0" algn="ctr">
                <a:spcBef>
                  <a:spcPts val="0"/>
                </a:spcBef>
                <a:spcAft>
                  <a:spcPts val="0"/>
                </a:spcAft>
                <a:buClr>
                  <a:srgbClr val="FFFFFF"/>
                </a:buClr>
                <a:buSzPct val="25000"/>
                <a:buFont typeface="Calibri"/>
                <a:buNone/>
              </a:pPr>
              <a:r>
                <a:rPr b="0" i="0" lang="en" sz="800" u="none" cap="none" strike="noStrike">
                  <a:solidFill>
                    <a:srgbClr val="FFFFFF"/>
                  </a:solidFill>
                  <a:latin typeface="Calibri"/>
                  <a:ea typeface="Calibri"/>
                  <a:cs typeface="Calibri"/>
                  <a:sym typeface="Calibri"/>
                </a:rPr>
                <a:t>Power Management</a:t>
              </a:r>
            </a:p>
          </p:txBody>
        </p:sp>
        <p:sp>
          <p:nvSpPr>
            <p:cNvPr id="461" name="Shape 461"/>
            <p:cNvSpPr/>
            <p:nvPr/>
          </p:nvSpPr>
          <p:spPr>
            <a:xfrm>
              <a:off x="2428416" y="2251666"/>
              <a:ext cx="842586" cy="223140"/>
            </a:xfrm>
            <a:prstGeom prst="rect">
              <a:avLst/>
            </a:prstGeom>
            <a:solidFill>
              <a:srgbClr val="376092"/>
            </a:solidFill>
            <a:ln>
              <a:noFill/>
            </a:ln>
          </p:spPr>
          <p:txBody>
            <a:bodyPr anchorCtr="0" anchor="ctr" bIns="45675" lIns="91350" rIns="91350" tIns="45675">
              <a:noAutofit/>
            </a:bodyPr>
            <a:lstStyle/>
            <a:p>
              <a:pPr indent="0" lvl="0" marL="0" marR="0" rtl="0" algn="ctr">
                <a:spcBef>
                  <a:spcPts val="0"/>
                </a:spcBef>
                <a:spcAft>
                  <a:spcPts val="0"/>
                </a:spcAft>
                <a:buClr>
                  <a:srgbClr val="FFFFFF"/>
                </a:buClr>
                <a:buSzPct val="25000"/>
                <a:buFont typeface="Calibri"/>
                <a:buNone/>
              </a:pPr>
              <a:r>
                <a:rPr b="0" i="0" lang="en" sz="800" u="none" cap="none" strike="noStrike">
                  <a:solidFill>
                    <a:srgbClr val="FFFFFF"/>
                  </a:solidFill>
                  <a:latin typeface="Calibri"/>
                  <a:ea typeface="Calibri"/>
                  <a:cs typeface="Calibri"/>
                  <a:sym typeface="Calibri"/>
                </a:rPr>
                <a:t>Alarm Handling</a:t>
              </a:r>
            </a:p>
          </p:txBody>
        </p:sp>
        <p:sp>
          <p:nvSpPr>
            <p:cNvPr id="462" name="Shape 462"/>
            <p:cNvSpPr/>
            <p:nvPr/>
          </p:nvSpPr>
          <p:spPr>
            <a:xfrm>
              <a:off x="1545258" y="2251975"/>
              <a:ext cx="842586" cy="223140"/>
            </a:xfrm>
            <a:prstGeom prst="rect">
              <a:avLst/>
            </a:prstGeom>
            <a:solidFill>
              <a:srgbClr val="376092"/>
            </a:solidFill>
            <a:ln>
              <a:noFill/>
            </a:ln>
          </p:spPr>
          <p:txBody>
            <a:bodyPr anchorCtr="0" anchor="ctr" bIns="45675" lIns="91350" rIns="91350" tIns="45675">
              <a:noAutofit/>
            </a:bodyPr>
            <a:lstStyle/>
            <a:p>
              <a:pPr indent="0" lvl="0" marL="0" marR="0" rtl="0" algn="ctr">
                <a:spcBef>
                  <a:spcPts val="0"/>
                </a:spcBef>
                <a:spcAft>
                  <a:spcPts val="0"/>
                </a:spcAft>
                <a:buClr>
                  <a:srgbClr val="FFFFFF"/>
                </a:buClr>
                <a:buSzPct val="25000"/>
                <a:buFont typeface="Calibri"/>
                <a:buNone/>
              </a:pPr>
              <a:r>
                <a:rPr b="0" i="0" lang="en" sz="800" u="none" cap="none" strike="noStrike">
                  <a:solidFill>
                    <a:srgbClr val="FFFFFF"/>
                  </a:solidFill>
                  <a:latin typeface="Calibri"/>
                  <a:ea typeface="Calibri"/>
                  <a:cs typeface="Calibri"/>
                  <a:sym typeface="Calibri"/>
                </a:rPr>
                <a:t>Bandwidth</a:t>
              </a:r>
              <a:br>
                <a:rPr b="0" i="0" lang="en" sz="800" u="none" cap="none" strike="noStrike">
                  <a:solidFill>
                    <a:srgbClr val="FFFFFF"/>
                  </a:solidFill>
                  <a:latin typeface="Calibri"/>
                  <a:ea typeface="Calibri"/>
                  <a:cs typeface="Calibri"/>
                  <a:sym typeface="Calibri"/>
                </a:rPr>
              </a:br>
              <a:r>
                <a:rPr b="0" i="0" lang="en" sz="800" u="none" cap="none" strike="noStrike">
                  <a:solidFill>
                    <a:srgbClr val="FFFFFF"/>
                  </a:solidFill>
                  <a:latin typeface="Calibri"/>
                  <a:ea typeface="Calibri"/>
                  <a:cs typeface="Calibri"/>
                  <a:sym typeface="Calibri"/>
                </a:rPr>
                <a:t>On Demand</a:t>
              </a:r>
            </a:p>
          </p:txBody>
        </p:sp>
        <p:pic>
          <p:nvPicPr>
            <p:cNvPr id="463" name="Shape 463"/>
            <p:cNvPicPr preferRelativeResize="0"/>
            <p:nvPr/>
          </p:nvPicPr>
          <p:blipFill rotWithShape="1">
            <a:blip r:embed="rId5">
              <a:alphaModFix/>
            </a:blip>
            <a:srcRect b="0" l="0" r="0" t="0"/>
            <a:stretch/>
          </p:blipFill>
          <p:spPr>
            <a:xfrm>
              <a:off x="4227798" y="2177265"/>
              <a:ext cx="974835" cy="292868"/>
            </a:xfrm>
            <a:prstGeom prst="rect">
              <a:avLst/>
            </a:prstGeom>
            <a:noFill/>
            <a:ln>
              <a:noFill/>
            </a:ln>
          </p:spPr>
        </p:pic>
        <p:cxnSp>
          <p:nvCxnSpPr>
            <p:cNvPr id="464" name="Shape 464"/>
            <p:cNvCxnSpPr>
              <a:stCxn id="402" idx="0"/>
              <a:endCxn id="458" idx="2"/>
            </p:cNvCxnSpPr>
            <p:nvPr/>
          </p:nvCxnSpPr>
          <p:spPr>
            <a:xfrm flipH="1" rot="10800000">
              <a:off x="1916033" y="3012980"/>
              <a:ext cx="1350900" cy="603600"/>
            </a:xfrm>
            <a:prstGeom prst="straightConnector1">
              <a:avLst/>
            </a:prstGeom>
            <a:noFill/>
            <a:ln cap="flat" cmpd="sng" w="25400">
              <a:solidFill>
                <a:schemeClr val="accent1"/>
              </a:solidFill>
              <a:prstDash val="solid"/>
              <a:round/>
              <a:headEnd len="lg" w="lg" type="stealth"/>
              <a:tailEnd len="lg" w="lg" type="stealth"/>
            </a:ln>
            <a:effectLst>
              <a:outerShdw blurRad="39999" rotWithShape="0" dir="5400000" dist="20000">
                <a:srgbClr val="000000">
                  <a:alpha val="37647"/>
                </a:srgbClr>
              </a:outerShdw>
            </a:effectLst>
          </p:spPr>
        </p:cxnSp>
        <p:cxnSp>
          <p:nvCxnSpPr>
            <p:cNvPr id="465" name="Shape 465"/>
            <p:cNvCxnSpPr>
              <a:stCxn id="421" idx="0"/>
              <a:endCxn id="458" idx="2"/>
            </p:cNvCxnSpPr>
            <p:nvPr/>
          </p:nvCxnSpPr>
          <p:spPr>
            <a:xfrm flipH="1" rot="10800000">
              <a:off x="3239990" y="3013049"/>
              <a:ext cx="27000" cy="594000"/>
            </a:xfrm>
            <a:prstGeom prst="straightConnector1">
              <a:avLst/>
            </a:prstGeom>
            <a:noFill/>
            <a:ln cap="flat" cmpd="sng" w="25400">
              <a:solidFill>
                <a:schemeClr val="accent1"/>
              </a:solidFill>
              <a:prstDash val="solid"/>
              <a:round/>
              <a:headEnd len="lg" w="lg" type="stealth"/>
              <a:tailEnd len="lg" w="lg" type="stealth"/>
            </a:ln>
            <a:effectLst>
              <a:outerShdw blurRad="39999" rotWithShape="0" dir="5400000" dist="20000">
                <a:srgbClr val="000000">
                  <a:alpha val="37647"/>
                </a:srgbClr>
              </a:outerShdw>
            </a:effectLst>
          </p:spPr>
        </p:cxnSp>
        <p:cxnSp>
          <p:nvCxnSpPr>
            <p:cNvPr id="466" name="Shape 466"/>
            <p:cNvCxnSpPr>
              <a:stCxn id="440" idx="0"/>
              <a:endCxn id="458" idx="2"/>
            </p:cNvCxnSpPr>
            <p:nvPr/>
          </p:nvCxnSpPr>
          <p:spPr>
            <a:xfrm rot="10800000">
              <a:off x="3266899" y="3013085"/>
              <a:ext cx="1163700" cy="589200"/>
            </a:xfrm>
            <a:prstGeom prst="straightConnector1">
              <a:avLst/>
            </a:prstGeom>
            <a:noFill/>
            <a:ln cap="flat" cmpd="sng" w="25400">
              <a:solidFill>
                <a:schemeClr val="accent1"/>
              </a:solidFill>
              <a:prstDash val="solid"/>
              <a:round/>
              <a:headEnd len="lg" w="lg" type="stealth"/>
              <a:tailEnd len="lg" w="lg" type="stealth"/>
            </a:ln>
            <a:effectLst>
              <a:outerShdw blurRad="39999" rotWithShape="0" dir="5400000" dist="20000">
                <a:srgbClr val="000000">
                  <a:alpha val="37647"/>
                </a:srgbClr>
              </a:outerShdw>
            </a:effectLst>
          </p:spPr>
        </p:cxnSp>
      </p:grpSp>
      <p:sp>
        <p:nvSpPr>
          <p:cNvPr id="467" name="Shape 467"/>
          <p:cNvSpPr/>
          <p:nvPr/>
        </p:nvSpPr>
        <p:spPr>
          <a:xfrm>
            <a:off x="1281112" y="612831"/>
            <a:ext cx="4125911" cy="430212"/>
          </a:xfrm>
          <a:prstGeom prst="rect">
            <a:avLst/>
          </a:prstGeom>
          <a:gradFill>
            <a:gsLst>
              <a:gs pos="0">
                <a:srgbClr val="FFAE23"/>
              </a:gs>
              <a:gs pos="100000">
                <a:srgbClr val="FFCE6C"/>
              </a:gs>
            </a:gsLst>
            <a:lin ang="16200000" scaled="0"/>
          </a:gradFill>
          <a:ln cap="flat" cmpd="sng" w="9525">
            <a:solidFill>
              <a:srgbClr val="FDA739"/>
            </a:solidFill>
            <a:prstDash val="solid"/>
            <a:round/>
            <a:headEnd len="med" w="med" type="none"/>
            <a:tailEnd len="med" w="med" type="none"/>
          </a:ln>
          <a:effectLst>
            <a:outerShdw blurRad="39999" rotWithShape="0" dir="5400000" dist="23000">
              <a:srgbClr val="000000">
                <a:alpha val="34901"/>
              </a:srgbClr>
            </a:outerShdw>
          </a:effectLst>
        </p:spPr>
        <p:txBody>
          <a:bodyPr anchorCtr="0" anchor="ctr" bIns="45700" lIns="91425" rIns="91425" tIns="45700">
            <a:noAutofit/>
          </a:bodyPr>
          <a:lstStyle/>
          <a:p>
            <a:pPr indent="0" lvl="0" marL="0" marR="0" rtl="0" algn="ctr">
              <a:spcBef>
                <a:spcPts val="0"/>
              </a:spcBef>
              <a:spcAft>
                <a:spcPts val="0"/>
              </a:spcAft>
              <a:buSzPct val="25000"/>
              <a:buNone/>
            </a:pPr>
            <a:r>
              <a:rPr b="0" i="0" lang="en" sz="1400" u="none" cap="none" strike="noStrike">
                <a:solidFill>
                  <a:schemeClr val="lt1"/>
                </a:solidFill>
                <a:latin typeface="Arial"/>
                <a:ea typeface="Arial"/>
                <a:cs typeface="Arial"/>
                <a:sym typeface="Arial"/>
              </a:rPr>
              <a:t>External Applications like ADARA PCE</a:t>
            </a:r>
          </a:p>
        </p:txBody>
      </p:sp>
      <p:pic>
        <p:nvPicPr>
          <p:cNvPr id="468" name="Shape 468"/>
          <p:cNvPicPr preferRelativeResize="0"/>
          <p:nvPr/>
        </p:nvPicPr>
        <p:blipFill rotWithShape="1">
          <a:blip r:embed="rId6">
            <a:alphaModFix/>
          </a:blip>
          <a:srcRect b="0" l="0" r="0" t="0"/>
          <a:stretch/>
        </p:blipFill>
        <p:spPr>
          <a:xfrm>
            <a:off x="1281112" y="1298575"/>
            <a:ext cx="4008436" cy="542925"/>
          </a:xfrm>
          <a:prstGeom prst="rect">
            <a:avLst/>
          </a:prstGeom>
          <a:noFill/>
          <a:ln>
            <a:noFill/>
          </a:ln>
        </p:spPr>
      </p:pic>
      <p:cxnSp>
        <p:nvCxnSpPr>
          <p:cNvPr id="469" name="Shape 469"/>
          <p:cNvCxnSpPr>
            <a:stCxn id="458" idx="0"/>
            <a:endCxn id="398" idx="2"/>
          </p:cNvCxnSpPr>
          <p:nvPr/>
        </p:nvCxnSpPr>
        <p:spPr>
          <a:xfrm flipH="1" rot="10800000">
            <a:off x="3283744" y="1841550"/>
            <a:ext cx="9600" cy="234900"/>
          </a:xfrm>
          <a:prstGeom prst="straightConnector1">
            <a:avLst/>
          </a:prstGeom>
          <a:noFill/>
          <a:ln cap="flat" cmpd="sng" w="25400">
            <a:solidFill>
              <a:schemeClr val="accent1"/>
            </a:solidFill>
            <a:prstDash val="solid"/>
            <a:round/>
            <a:headEnd len="lg" w="lg" type="stealth"/>
            <a:tailEnd len="lg" w="lg" type="stealth"/>
          </a:ln>
          <a:effectLst>
            <a:outerShdw blurRad="39999" rotWithShape="0" dir="5400000" dist="20000">
              <a:srgbClr val="000000">
                <a:alpha val="37647"/>
              </a:srgbClr>
            </a:outerShdw>
          </a:effectLst>
        </p:spPr>
      </p:cxnSp>
      <p:cxnSp>
        <p:nvCxnSpPr>
          <p:cNvPr id="470" name="Shape 470"/>
          <p:cNvCxnSpPr>
            <a:stCxn id="468" idx="0"/>
          </p:cNvCxnSpPr>
          <p:nvPr/>
        </p:nvCxnSpPr>
        <p:spPr>
          <a:xfrm rot="10800000">
            <a:off x="3272731" y="1025575"/>
            <a:ext cx="12600" cy="273000"/>
          </a:xfrm>
          <a:prstGeom prst="straightConnector1">
            <a:avLst/>
          </a:prstGeom>
          <a:noFill/>
          <a:ln cap="flat" cmpd="sng" w="25400">
            <a:solidFill>
              <a:schemeClr val="accent1"/>
            </a:solidFill>
            <a:prstDash val="solid"/>
            <a:round/>
            <a:headEnd len="lg" w="lg" type="stealth"/>
            <a:tailEnd len="lg" w="lg" type="stealth"/>
          </a:ln>
          <a:effectLst>
            <a:outerShdw blurRad="39999" rotWithShape="0" dir="5400000" dist="20000">
              <a:srgbClr val="000000">
                <a:alpha val="37647"/>
              </a:srgbClr>
            </a:outerShdw>
          </a:effectLst>
        </p:spPr>
      </p:cxnSp>
      <p:sp>
        <p:nvSpPr>
          <p:cNvPr id="471" name="Shape 471"/>
          <p:cNvSpPr/>
          <p:nvPr/>
        </p:nvSpPr>
        <p:spPr>
          <a:xfrm>
            <a:off x="6559550" y="784225"/>
            <a:ext cx="2208212" cy="1446213"/>
          </a:xfrm>
          <a:prstGeom prst="wedgeEllipseCallout">
            <a:avLst>
              <a:gd fmla="val -198214" name="adj1"/>
              <a:gd fmla="val -27185" name="adj2"/>
            </a:avLst>
          </a:prstGeom>
          <a:gradFill>
            <a:gsLst>
              <a:gs pos="0">
                <a:srgbClr val="FFAE23"/>
              </a:gs>
              <a:gs pos="100000">
                <a:srgbClr val="FFCE6C"/>
              </a:gs>
            </a:gsLst>
            <a:lin ang="16200000" scaled="0"/>
          </a:gradFill>
          <a:ln cap="flat" cmpd="sng" w="9525">
            <a:solidFill>
              <a:srgbClr val="FDA739"/>
            </a:solidFill>
            <a:prstDash val="solid"/>
            <a:round/>
            <a:headEnd len="med" w="med" type="none"/>
            <a:tailEnd len="med" w="med" type="none"/>
          </a:ln>
          <a:effectLst>
            <a:outerShdw blurRad="39999" rotWithShape="0" dir="5400000" dist="23000">
              <a:srgbClr val="000000">
                <a:alpha val="34901"/>
              </a:srgbClr>
            </a:outerShdw>
          </a:effectLst>
        </p:spPr>
        <p:txBody>
          <a:bodyPr anchorCtr="0" anchor="ctr" bIns="45700" lIns="91425" rIns="91425" tIns="45700">
            <a:noAutofit/>
          </a:bodyPr>
          <a:lstStyle/>
          <a:p>
            <a:pPr indent="0" lvl="0" marL="0" marR="0" rtl="0" algn="ctr">
              <a:spcBef>
                <a:spcPts val="0"/>
              </a:spcBef>
              <a:spcAft>
                <a:spcPts val="0"/>
              </a:spcAft>
              <a:buSzPct val="25000"/>
              <a:buNone/>
            </a:pPr>
            <a:r>
              <a:rPr b="0" i="0" lang="en" sz="1400" u="none" cap="none" strike="noStrike">
                <a:solidFill>
                  <a:schemeClr val="lt1"/>
                </a:solidFill>
                <a:latin typeface="Arial"/>
                <a:ea typeface="Arial"/>
                <a:cs typeface="Arial"/>
                <a:sym typeface="Arial"/>
              </a:rPr>
              <a:t>Device Added</a:t>
            </a:r>
          </a:p>
          <a:p>
            <a:pPr indent="0" lvl="0" marL="0" marR="0" rtl="0" algn="ctr">
              <a:spcBef>
                <a:spcPts val="0"/>
              </a:spcBef>
              <a:spcAft>
                <a:spcPts val="0"/>
              </a:spcAft>
              <a:buSzPct val="25000"/>
              <a:buNone/>
            </a:pPr>
            <a:r>
              <a:rPr b="0" i="0" lang="en" sz="1400" u="none" cap="none" strike="noStrike">
                <a:solidFill>
                  <a:schemeClr val="lt1"/>
                </a:solidFill>
                <a:latin typeface="Arial"/>
                <a:ea typeface="Arial"/>
                <a:cs typeface="Arial"/>
                <a:sym typeface="Arial"/>
              </a:rPr>
              <a:t>Device Removed</a:t>
            </a:r>
          </a:p>
          <a:p>
            <a:pPr indent="0" lvl="0" marL="0" marR="0" rtl="0" algn="ctr">
              <a:spcBef>
                <a:spcPts val="0"/>
              </a:spcBef>
              <a:spcAft>
                <a:spcPts val="0"/>
              </a:spcAft>
              <a:buSzPct val="25000"/>
              <a:buNone/>
            </a:pPr>
            <a:r>
              <a:rPr b="0" i="0" lang="en" sz="1400" u="none" cap="none" strike="noStrike">
                <a:solidFill>
                  <a:schemeClr val="lt1"/>
                </a:solidFill>
                <a:latin typeface="Arial"/>
                <a:ea typeface="Arial"/>
                <a:cs typeface="Arial"/>
                <a:sym typeface="Arial"/>
              </a:rPr>
              <a:t>PORT Up</a:t>
            </a:r>
          </a:p>
          <a:p>
            <a:pPr indent="0" lvl="0" marL="0" marR="0" rtl="0" algn="ctr">
              <a:spcBef>
                <a:spcPts val="0"/>
              </a:spcBef>
              <a:spcAft>
                <a:spcPts val="0"/>
              </a:spcAft>
              <a:buSzPct val="25000"/>
              <a:buNone/>
            </a:pPr>
            <a:r>
              <a:rPr b="0" i="0" lang="en" sz="1400" u="none" cap="none" strike="noStrike">
                <a:solidFill>
                  <a:schemeClr val="lt1"/>
                </a:solidFill>
                <a:latin typeface="Arial"/>
                <a:ea typeface="Arial"/>
                <a:cs typeface="Arial"/>
                <a:sym typeface="Arial"/>
              </a:rPr>
              <a:t>PORT Down</a:t>
            </a:r>
          </a:p>
          <a:p>
            <a:pPr indent="0" lvl="0" marL="0" marR="0" rtl="0" algn="ctr">
              <a:spcBef>
                <a:spcPts val="0"/>
              </a:spcBef>
              <a:spcAft>
                <a:spcPts val="0"/>
              </a:spcAft>
              <a:buSzPct val="25000"/>
              <a:buNone/>
            </a:pPr>
            <a:r>
              <a:rPr b="0" i="0" lang="en" sz="1400" u="none" cap="none" strike="noStrike">
                <a:solidFill>
                  <a:schemeClr val="lt1"/>
                </a:solidFill>
                <a:latin typeface="Arial"/>
                <a:ea typeface="Arial"/>
                <a:cs typeface="Arial"/>
                <a:sym typeface="Arial"/>
              </a:rPr>
              <a:t>PKT_IN etc</a:t>
            </a:r>
          </a:p>
        </p:txBody>
      </p:sp>
      <p:graphicFrame>
        <p:nvGraphicFramePr>
          <p:cNvPr id="472" name="Shape 472"/>
          <p:cNvGraphicFramePr/>
          <p:nvPr/>
        </p:nvGraphicFramePr>
        <p:xfrm>
          <a:off x="5835650" y="3322637"/>
          <a:ext cx="3000000" cy="3000000"/>
        </p:xfrm>
        <a:graphic>
          <a:graphicData uri="http://schemas.openxmlformats.org/drawingml/2006/table">
            <a:tbl>
              <a:tblPr bandRow="1" firstRow="1">
                <a:noFill/>
                <a:tableStyleId>{530A87F9-20A3-43DA-95E3-A5313021CD8D}</a:tableStyleId>
              </a:tblPr>
              <a:tblGrid>
                <a:gridCol w="2092600"/>
              </a:tblGrid>
              <a:tr h="3070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lang="en" sz="1400" u="none" cap="none" strike="noStrike"/>
                        <a:t>Supported Events</a:t>
                      </a:r>
                    </a:p>
                  </a:txBody>
                  <a:tcPr marT="45700" marB="45700" marR="91425" marL="91425"/>
                </a:tc>
              </a:tr>
              <a:tr h="3070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lang="en" sz="1400" u="none" cap="none" strike="noStrike"/>
                        <a:t>Device</a:t>
                      </a:r>
                      <a:r>
                        <a:rPr lang="en" sz="1400" u="none" cap="none" strike="noStrike"/>
                        <a:t> Event</a:t>
                      </a:r>
                    </a:p>
                  </a:txBody>
                  <a:tcPr marT="45700" marB="45700" marR="91425" marL="91425"/>
                </a:tc>
              </a:tr>
              <a:tr h="3070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lang="en" sz="1400" u="none" cap="none" strike="noStrike"/>
                        <a:t>Link Event</a:t>
                      </a:r>
                    </a:p>
                  </a:txBody>
                  <a:tcPr marT="45700" marB="45700" marR="91425" marL="91425"/>
                </a:tc>
              </a:tr>
              <a:tr h="3070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lang="en" sz="1400" u="none" cap="none" strike="noStrike"/>
                        <a:t>Topology Event</a:t>
                      </a:r>
                    </a:p>
                  </a:txBody>
                  <a:tcPr marT="45700" marB="45700" marR="91425" marL="91425"/>
                </a:tc>
              </a:tr>
              <a:tr h="3070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lang="en" sz="1400" u="none" cap="none" strike="noStrike"/>
                        <a:t>Packet Event</a:t>
                      </a:r>
                    </a:p>
                  </a:txBody>
                  <a:tcPr marT="45700" marB="45700"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476" name="Shape 476"/>
        <p:cNvGrpSpPr/>
        <p:nvPr/>
      </p:nvGrpSpPr>
      <p:grpSpPr>
        <a:xfrm>
          <a:off x="0" y="0"/>
          <a:ext cx="0" cy="0"/>
          <a:chOff x="0" y="0"/>
          <a:chExt cx="0" cy="0"/>
        </a:xfrm>
      </p:grpSpPr>
      <p:sp>
        <p:nvSpPr>
          <p:cNvPr id="477" name="Shape 477"/>
          <p:cNvSpPr txBox="1"/>
          <p:nvPr>
            <p:ph type="title"/>
          </p:nvPr>
        </p:nvSpPr>
        <p:spPr>
          <a:xfrm>
            <a:off x="467545" y="45892"/>
            <a:ext cx="8424935" cy="653652"/>
          </a:xfrm>
          <a:prstGeom prst="rect">
            <a:avLst/>
          </a:prstGeom>
          <a:noFill/>
          <a:ln>
            <a:noFill/>
          </a:ln>
        </p:spPr>
        <p:txBody>
          <a:bodyPr anchorCtr="0" anchor="ctr" bIns="40050" lIns="0" rIns="80100" tIns="40050">
            <a:noAutofit/>
          </a:bodyPr>
          <a:lstStyle/>
          <a:p>
            <a:pPr indent="0" lvl="0" marL="0" marR="0" rtl="0" algn="l">
              <a:spcBef>
                <a:spcPts val="0"/>
              </a:spcBef>
              <a:spcAft>
                <a:spcPts val="0"/>
              </a:spcAft>
              <a:buSzPct val="25000"/>
              <a:buNone/>
            </a:pPr>
            <a:r>
              <a:rPr lang="en" sz="2400">
                <a:solidFill>
                  <a:schemeClr val="accent6"/>
                </a:solidFill>
                <a:latin typeface="Calibri"/>
                <a:ea typeface="Calibri"/>
                <a:cs typeface="Calibri"/>
                <a:sym typeface="Calibri"/>
              </a:rPr>
              <a:t>Abstraction and Control of Traffic Engineered Networks - ACTN</a:t>
            </a:r>
          </a:p>
        </p:txBody>
      </p:sp>
      <p:grpSp>
        <p:nvGrpSpPr>
          <p:cNvPr id="478" name="Shape 478"/>
          <p:cNvGrpSpPr/>
          <p:nvPr/>
        </p:nvGrpSpPr>
        <p:grpSpPr>
          <a:xfrm>
            <a:off x="481139" y="671550"/>
            <a:ext cx="5632663" cy="4041962"/>
            <a:chOff x="2759833" y="1566550"/>
            <a:chExt cx="7858163" cy="4911949"/>
          </a:xfrm>
        </p:grpSpPr>
        <p:cxnSp>
          <p:nvCxnSpPr>
            <p:cNvPr id="479" name="Shape 479"/>
            <p:cNvCxnSpPr/>
            <p:nvPr/>
          </p:nvCxnSpPr>
          <p:spPr>
            <a:xfrm>
              <a:off x="6109928" y="2340275"/>
              <a:ext cx="5158" cy="350420"/>
            </a:xfrm>
            <a:prstGeom prst="straightConnector1">
              <a:avLst/>
            </a:prstGeom>
            <a:solidFill>
              <a:schemeClr val="accent1"/>
            </a:solidFill>
            <a:ln cap="flat" cmpd="sng" w="12700">
              <a:solidFill>
                <a:schemeClr val="dk1"/>
              </a:solidFill>
              <a:prstDash val="solid"/>
              <a:round/>
              <a:headEnd len="lg" w="lg" type="triangle"/>
              <a:tailEnd len="lg" w="lg" type="triangle"/>
            </a:ln>
          </p:spPr>
        </p:cxnSp>
        <p:sp>
          <p:nvSpPr>
            <p:cNvPr id="480" name="Shape 480"/>
            <p:cNvSpPr/>
            <p:nvPr/>
          </p:nvSpPr>
          <p:spPr>
            <a:xfrm flipH="1">
              <a:off x="3062735" y="4878505"/>
              <a:ext cx="1531409" cy="667612"/>
            </a:xfrm>
            <a:custGeom>
              <a:pathLst>
                <a:path extrusionOk="0" h="120000" w="120000">
                  <a:moveTo>
                    <a:pt x="108045" y="49200"/>
                  </a:moveTo>
                  <a:cubicBezTo>
                    <a:pt x="108045" y="48600"/>
                    <a:pt x="108045" y="48000"/>
                    <a:pt x="108045" y="47400"/>
                  </a:cubicBezTo>
                  <a:cubicBezTo>
                    <a:pt x="108045" y="33300"/>
                    <a:pt x="99080" y="21600"/>
                    <a:pt x="88275" y="21600"/>
                  </a:cubicBezTo>
                  <a:cubicBezTo>
                    <a:pt x="87586" y="21600"/>
                    <a:pt x="87126" y="21600"/>
                    <a:pt x="86666" y="21600"/>
                  </a:cubicBezTo>
                  <a:cubicBezTo>
                    <a:pt x="83678" y="9000"/>
                    <a:pt x="74712" y="0"/>
                    <a:pt x="64137" y="0"/>
                  </a:cubicBezTo>
                  <a:cubicBezTo>
                    <a:pt x="55172" y="0"/>
                    <a:pt x="47356" y="6600"/>
                    <a:pt x="43448" y="16200"/>
                  </a:cubicBezTo>
                  <a:cubicBezTo>
                    <a:pt x="40919" y="13800"/>
                    <a:pt x="37701" y="12600"/>
                    <a:pt x="34482" y="12600"/>
                  </a:cubicBezTo>
                  <a:cubicBezTo>
                    <a:pt x="25747" y="12600"/>
                    <a:pt x="18620" y="21900"/>
                    <a:pt x="18620" y="33300"/>
                  </a:cubicBezTo>
                  <a:cubicBezTo>
                    <a:pt x="18620" y="33900"/>
                    <a:pt x="18620" y="34200"/>
                    <a:pt x="18620" y="34500"/>
                  </a:cubicBezTo>
                  <a:cubicBezTo>
                    <a:pt x="8275" y="36300"/>
                    <a:pt x="0" y="47700"/>
                    <a:pt x="0" y="61800"/>
                  </a:cubicBezTo>
                  <a:cubicBezTo>
                    <a:pt x="0" y="69000"/>
                    <a:pt x="2298" y="75900"/>
                    <a:pt x="5977" y="80700"/>
                  </a:cubicBezTo>
                  <a:cubicBezTo>
                    <a:pt x="5517" y="82500"/>
                    <a:pt x="5287" y="84600"/>
                    <a:pt x="5287" y="86700"/>
                  </a:cubicBezTo>
                  <a:cubicBezTo>
                    <a:pt x="5287" y="98100"/>
                    <a:pt x="12413" y="107400"/>
                    <a:pt x="21149" y="107400"/>
                  </a:cubicBezTo>
                  <a:cubicBezTo>
                    <a:pt x="22528" y="107400"/>
                    <a:pt x="24137" y="107100"/>
                    <a:pt x="25517" y="106500"/>
                  </a:cubicBezTo>
                  <a:cubicBezTo>
                    <a:pt x="28735" y="114300"/>
                    <a:pt x="34942" y="120000"/>
                    <a:pt x="42298" y="120000"/>
                  </a:cubicBezTo>
                  <a:cubicBezTo>
                    <a:pt x="47816" y="120000"/>
                    <a:pt x="52873" y="116700"/>
                    <a:pt x="56321" y="111900"/>
                  </a:cubicBezTo>
                  <a:cubicBezTo>
                    <a:pt x="59310" y="114300"/>
                    <a:pt x="62758" y="115500"/>
                    <a:pt x="66436" y="115500"/>
                  </a:cubicBezTo>
                  <a:cubicBezTo>
                    <a:pt x="72413" y="115500"/>
                    <a:pt x="77701" y="111900"/>
                    <a:pt x="81149" y="106200"/>
                  </a:cubicBezTo>
                  <a:cubicBezTo>
                    <a:pt x="83908" y="108300"/>
                    <a:pt x="87356" y="109800"/>
                    <a:pt x="90804" y="109800"/>
                  </a:cubicBezTo>
                  <a:cubicBezTo>
                    <a:pt x="100000" y="109800"/>
                    <a:pt x="107586" y="100200"/>
                    <a:pt x="108275" y="88500"/>
                  </a:cubicBezTo>
                  <a:cubicBezTo>
                    <a:pt x="115172" y="86100"/>
                    <a:pt x="120000" y="78300"/>
                    <a:pt x="120000" y="69000"/>
                  </a:cubicBezTo>
                  <a:cubicBezTo>
                    <a:pt x="120000" y="59400"/>
                    <a:pt x="114942" y="51300"/>
                    <a:pt x="108045" y="49200"/>
                  </a:cubicBezTo>
                  <a:close/>
                  <a:moveTo>
                    <a:pt x="104137" y="50700"/>
                  </a:moveTo>
                  <a:cubicBezTo>
                    <a:pt x="104137" y="50700"/>
                    <a:pt x="104137" y="50700"/>
                    <a:pt x="104137" y="50700"/>
                  </a:cubicBezTo>
                  <a:cubicBezTo>
                    <a:pt x="104137" y="50700"/>
                    <a:pt x="104137" y="50700"/>
                    <a:pt x="104137" y="50700"/>
                  </a:cubicBezTo>
                  <a:cubicBezTo>
                    <a:pt x="104137" y="51600"/>
                    <a:pt x="104367" y="52200"/>
                    <a:pt x="104597" y="52500"/>
                  </a:cubicBezTo>
                  <a:cubicBezTo>
                    <a:pt x="104827" y="53100"/>
                    <a:pt x="105287" y="53400"/>
                    <a:pt x="105747" y="53700"/>
                  </a:cubicBezTo>
                  <a:cubicBezTo>
                    <a:pt x="106666" y="53700"/>
                    <a:pt x="107356" y="54000"/>
                    <a:pt x="108045" y="54300"/>
                  </a:cubicBezTo>
                  <a:cubicBezTo>
                    <a:pt x="109655" y="60000"/>
                    <a:pt x="109655" y="60000"/>
                    <a:pt x="109655" y="60000"/>
                  </a:cubicBezTo>
                  <a:cubicBezTo>
                    <a:pt x="105287" y="66000"/>
                    <a:pt x="105287" y="66000"/>
                    <a:pt x="105287" y="66000"/>
                  </a:cubicBezTo>
                  <a:cubicBezTo>
                    <a:pt x="98620" y="60300"/>
                    <a:pt x="98620" y="60300"/>
                    <a:pt x="98620" y="60300"/>
                  </a:cubicBezTo>
                  <a:cubicBezTo>
                    <a:pt x="98850" y="59400"/>
                    <a:pt x="98850" y="58800"/>
                    <a:pt x="98850" y="57900"/>
                  </a:cubicBezTo>
                  <a:cubicBezTo>
                    <a:pt x="98850" y="57300"/>
                    <a:pt x="98850" y="56400"/>
                    <a:pt x="98620" y="55500"/>
                  </a:cubicBezTo>
                  <a:cubicBezTo>
                    <a:pt x="103908" y="50400"/>
                    <a:pt x="103908" y="50400"/>
                    <a:pt x="103908" y="50400"/>
                  </a:cubicBezTo>
                  <a:cubicBezTo>
                    <a:pt x="104137" y="50400"/>
                    <a:pt x="104137" y="50700"/>
                    <a:pt x="104137" y="50700"/>
                  </a:cubicBezTo>
                  <a:close/>
                  <a:moveTo>
                    <a:pt x="105977" y="72300"/>
                  </a:moveTo>
                  <a:cubicBezTo>
                    <a:pt x="110574" y="76500"/>
                    <a:pt x="110574" y="76500"/>
                    <a:pt x="110574" y="76500"/>
                  </a:cubicBezTo>
                  <a:cubicBezTo>
                    <a:pt x="110574" y="76500"/>
                    <a:pt x="110574" y="76800"/>
                    <a:pt x="110574" y="76800"/>
                  </a:cubicBezTo>
                  <a:cubicBezTo>
                    <a:pt x="103218" y="77700"/>
                    <a:pt x="103218" y="77700"/>
                    <a:pt x="103218" y="77700"/>
                  </a:cubicBezTo>
                  <a:cubicBezTo>
                    <a:pt x="102988" y="77400"/>
                    <a:pt x="102988" y="77100"/>
                    <a:pt x="102988" y="76800"/>
                  </a:cubicBezTo>
                  <a:lnTo>
                    <a:pt x="105977" y="72300"/>
                  </a:lnTo>
                  <a:close/>
                  <a:moveTo>
                    <a:pt x="97931" y="72900"/>
                  </a:moveTo>
                  <a:cubicBezTo>
                    <a:pt x="96321" y="64500"/>
                    <a:pt x="96321" y="64500"/>
                    <a:pt x="96321" y="64500"/>
                  </a:cubicBezTo>
                  <a:cubicBezTo>
                    <a:pt x="96321" y="64500"/>
                    <a:pt x="96551" y="64200"/>
                    <a:pt x="96551" y="64200"/>
                  </a:cubicBezTo>
                  <a:cubicBezTo>
                    <a:pt x="102758" y="69600"/>
                    <a:pt x="102758" y="69600"/>
                    <a:pt x="102758" y="69600"/>
                  </a:cubicBezTo>
                  <a:cubicBezTo>
                    <a:pt x="100229" y="73500"/>
                    <a:pt x="100229" y="73500"/>
                    <a:pt x="100229" y="73500"/>
                  </a:cubicBezTo>
                  <a:cubicBezTo>
                    <a:pt x="99540" y="73200"/>
                    <a:pt x="98620" y="72900"/>
                    <a:pt x="97931" y="72900"/>
                  </a:cubicBezTo>
                  <a:close/>
                  <a:moveTo>
                    <a:pt x="100000" y="80700"/>
                  </a:moveTo>
                  <a:cubicBezTo>
                    <a:pt x="100000" y="82200"/>
                    <a:pt x="98850" y="83400"/>
                    <a:pt x="97701" y="83400"/>
                  </a:cubicBezTo>
                  <a:cubicBezTo>
                    <a:pt x="96551" y="83400"/>
                    <a:pt x="95402" y="82200"/>
                    <a:pt x="95402" y="80700"/>
                  </a:cubicBezTo>
                  <a:cubicBezTo>
                    <a:pt x="95402" y="78900"/>
                    <a:pt x="96551" y="77700"/>
                    <a:pt x="97701" y="77700"/>
                  </a:cubicBezTo>
                  <a:cubicBezTo>
                    <a:pt x="98850" y="77700"/>
                    <a:pt x="100000" y="78900"/>
                    <a:pt x="100000" y="80700"/>
                  </a:cubicBezTo>
                  <a:close/>
                  <a:moveTo>
                    <a:pt x="102988" y="39000"/>
                  </a:moveTo>
                  <a:cubicBezTo>
                    <a:pt x="102758" y="39300"/>
                    <a:pt x="102758" y="39600"/>
                    <a:pt x="102528" y="39900"/>
                  </a:cubicBezTo>
                  <a:cubicBezTo>
                    <a:pt x="101839" y="41100"/>
                    <a:pt x="101609" y="42600"/>
                    <a:pt x="101609" y="44100"/>
                  </a:cubicBezTo>
                  <a:cubicBezTo>
                    <a:pt x="101609" y="45000"/>
                    <a:pt x="101609" y="45900"/>
                    <a:pt x="101839" y="46500"/>
                  </a:cubicBezTo>
                  <a:cubicBezTo>
                    <a:pt x="96781" y="51300"/>
                    <a:pt x="96781" y="51300"/>
                    <a:pt x="96781" y="51300"/>
                  </a:cubicBezTo>
                  <a:cubicBezTo>
                    <a:pt x="101379" y="35100"/>
                    <a:pt x="101379" y="35100"/>
                    <a:pt x="101379" y="35100"/>
                  </a:cubicBezTo>
                  <a:cubicBezTo>
                    <a:pt x="102068" y="36300"/>
                    <a:pt x="102528" y="37500"/>
                    <a:pt x="102988" y="39000"/>
                  </a:cubicBezTo>
                  <a:close/>
                  <a:moveTo>
                    <a:pt x="98620" y="31200"/>
                  </a:moveTo>
                  <a:cubicBezTo>
                    <a:pt x="93103" y="50400"/>
                    <a:pt x="93103" y="50400"/>
                    <a:pt x="93103" y="50400"/>
                  </a:cubicBezTo>
                  <a:cubicBezTo>
                    <a:pt x="93103" y="50400"/>
                    <a:pt x="93103" y="50400"/>
                    <a:pt x="92873" y="50400"/>
                  </a:cubicBezTo>
                  <a:cubicBezTo>
                    <a:pt x="92873" y="50400"/>
                    <a:pt x="92873" y="50400"/>
                    <a:pt x="92643" y="50400"/>
                  </a:cubicBezTo>
                  <a:cubicBezTo>
                    <a:pt x="90114" y="41100"/>
                    <a:pt x="90114" y="41100"/>
                    <a:pt x="90114" y="41100"/>
                  </a:cubicBezTo>
                  <a:cubicBezTo>
                    <a:pt x="97701" y="30300"/>
                    <a:pt x="97701" y="30300"/>
                    <a:pt x="97701" y="30300"/>
                  </a:cubicBezTo>
                  <a:cubicBezTo>
                    <a:pt x="97931" y="30600"/>
                    <a:pt x="98160" y="30900"/>
                    <a:pt x="98620" y="31200"/>
                  </a:cubicBezTo>
                  <a:close/>
                  <a:moveTo>
                    <a:pt x="92873" y="60900"/>
                  </a:moveTo>
                  <a:cubicBezTo>
                    <a:pt x="91724" y="60900"/>
                    <a:pt x="90804" y="59700"/>
                    <a:pt x="90804" y="57900"/>
                  </a:cubicBezTo>
                  <a:cubicBezTo>
                    <a:pt x="90804" y="56400"/>
                    <a:pt x="91724" y="55200"/>
                    <a:pt x="92873" y="55200"/>
                  </a:cubicBezTo>
                  <a:cubicBezTo>
                    <a:pt x="94252" y="55200"/>
                    <a:pt x="95172" y="56400"/>
                    <a:pt x="95172" y="57900"/>
                  </a:cubicBezTo>
                  <a:cubicBezTo>
                    <a:pt x="95172" y="59700"/>
                    <a:pt x="94252" y="60900"/>
                    <a:pt x="92873" y="60900"/>
                  </a:cubicBezTo>
                  <a:close/>
                  <a:moveTo>
                    <a:pt x="94482" y="74100"/>
                  </a:moveTo>
                  <a:cubicBezTo>
                    <a:pt x="94252" y="74400"/>
                    <a:pt x="94022" y="74400"/>
                    <a:pt x="94022" y="74700"/>
                  </a:cubicBezTo>
                  <a:cubicBezTo>
                    <a:pt x="80459" y="63300"/>
                    <a:pt x="80459" y="63300"/>
                    <a:pt x="80459" y="63300"/>
                  </a:cubicBezTo>
                  <a:cubicBezTo>
                    <a:pt x="80459" y="63000"/>
                    <a:pt x="80689" y="62700"/>
                    <a:pt x="80689" y="62400"/>
                  </a:cubicBezTo>
                  <a:cubicBezTo>
                    <a:pt x="87586" y="61200"/>
                    <a:pt x="87586" y="61200"/>
                    <a:pt x="87586" y="61200"/>
                  </a:cubicBezTo>
                  <a:cubicBezTo>
                    <a:pt x="88045" y="62400"/>
                    <a:pt x="88735" y="63600"/>
                    <a:pt x="89655" y="64500"/>
                  </a:cubicBezTo>
                  <a:cubicBezTo>
                    <a:pt x="90574" y="65400"/>
                    <a:pt x="91724" y="65700"/>
                    <a:pt x="92643" y="65700"/>
                  </a:cubicBezTo>
                  <a:lnTo>
                    <a:pt x="94482" y="74100"/>
                  </a:lnTo>
                  <a:close/>
                  <a:moveTo>
                    <a:pt x="90114" y="26700"/>
                  </a:moveTo>
                  <a:cubicBezTo>
                    <a:pt x="90574" y="26700"/>
                    <a:pt x="90574" y="26700"/>
                    <a:pt x="90574" y="26700"/>
                  </a:cubicBezTo>
                  <a:cubicBezTo>
                    <a:pt x="91954" y="27000"/>
                    <a:pt x="93103" y="27300"/>
                    <a:pt x="94252" y="27900"/>
                  </a:cubicBezTo>
                  <a:cubicBezTo>
                    <a:pt x="90114" y="33900"/>
                    <a:pt x="90114" y="33900"/>
                    <a:pt x="90114" y="33900"/>
                  </a:cubicBezTo>
                  <a:cubicBezTo>
                    <a:pt x="90114" y="33600"/>
                    <a:pt x="90114" y="33000"/>
                    <a:pt x="90114" y="32400"/>
                  </a:cubicBezTo>
                  <a:cubicBezTo>
                    <a:pt x="89885" y="31800"/>
                    <a:pt x="89655" y="31200"/>
                    <a:pt x="89655" y="30600"/>
                  </a:cubicBezTo>
                  <a:cubicBezTo>
                    <a:pt x="90114" y="29700"/>
                    <a:pt x="90344" y="28200"/>
                    <a:pt x="90344" y="27000"/>
                  </a:cubicBezTo>
                  <a:cubicBezTo>
                    <a:pt x="90344" y="27000"/>
                    <a:pt x="90114" y="27000"/>
                    <a:pt x="90114" y="26700"/>
                  </a:cubicBezTo>
                  <a:close/>
                  <a:moveTo>
                    <a:pt x="84137" y="31200"/>
                  </a:moveTo>
                  <a:cubicBezTo>
                    <a:pt x="85517" y="31200"/>
                    <a:pt x="86436" y="32400"/>
                    <a:pt x="86436" y="33900"/>
                  </a:cubicBezTo>
                  <a:cubicBezTo>
                    <a:pt x="86436" y="35700"/>
                    <a:pt x="85517" y="36900"/>
                    <a:pt x="84137" y="36900"/>
                  </a:cubicBezTo>
                  <a:cubicBezTo>
                    <a:pt x="82988" y="36900"/>
                    <a:pt x="82068" y="35700"/>
                    <a:pt x="82068" y="33900"/>
                  </a:cubicBezTo>
                  <a:cubicBezTo>
                    <a:pt x="82068" y="32400"/>
                    <a:pt x="82988" y="31200"/>
                    <a:pt x="84137" y="31200"/>
                  </a:cubicBezTo>
                  <a:close/>
                  <a:moveTo>
                    <a:pt x="84827" y="41700"/>
                  </a:moveTo>
                  <a:cubicBezTo>
                    <a:pt x="82298" y="45300"/>
                    <a:pt x="82298" y="45300"/>
                    <a:pt x="82298" y="45300"/>
                  </a:cubicBezTo>
                  <a:cubicBezTo>
                    <a:pt x="83448" y="41700"/>
                    <a:pt x="83448" y="41700"/>
                    <a:pt x="83448" y="41700"/>
                  </a:cubicBezTo>
                  <a:cubicBezTo>
                    <a:pt x="83678" y="41700"/>
                    <a:pt x="83908" y="41700"/>
                    <a:pt x="84137" y="41700"/>
                  </a:cubicBezTo>
                  <a:cubicBezTo>
                    <a:pt x="84367" y="41700"/>
                    <a:pt x="84597" y="41700"/>
                    <a:pt x="84827" y="41700"/>
                  </a:cubicBezTo>
                  <a:close/>
                  <a:moveTo>
                    <a:pt x="82068" y="19800"/>
                  </a:moveTo>
                  <a:cubicBezTo>
                    <a:pt x="82068" y="20100"/>
                    <a:pt x="81839" y="20100"/>
                    <a:pt x="81609" y="20100"/>
                  </a:cubicBezTo>
                  <a:cubicBezTo>
                    <a:pt x="80000" y="15300"/>
                    <a:pt x="80000" y="15300"/>
                    <a:pt x="80000" y="15300"/>
                  </a:cubicBezTo>
                  <a:cubicBezTo>
                    <a:pt x="80919" y="16800"/>
                    <a:pt x="81609" y="18300"/>
                    <a:pt x="82068" y="19800"/>
                  </a:cubicBezTo>
                  <a:close/>
                  <a:moveTo>
                    <a:pt x="87356" y="45000"/>
                  </a:moveTo>
                  <a:cubicBezTo>
                    <a:pt x="89195" y="51900"/>
                    <a:pt x="89195" y="51900"/>
                    <a:pt x="89195" y="51900"/>
                  </a:cubicBezTo>
                  <a:cubicBezTo>
                    <a:pt x="88735" y="52500"/>
                    <a:pt x="88275" y="53100"/>
                    <a:pt x="88045" y="53700"/>
                  </a:cubicBezTo>
                  <a:cubicBezTo>
                    <a:pt x="87586" y="54600"/>
                    <a:pt x="87356" y="55500"/>
                    <a:pt x="87126" y="56400"/>
                  </a:cubicBezTo>
                  <a:cubicBezTo>
                    <a:pt x="80229" y="57600"/>
                    <a:pt x="80229" y="57600"/>
                    <a:pt x="80229" y="57600"/>
                  </a:cubicBezTo>
                  <a:cubicBezTo>
                    <a:pt x="80000" y="57000"/>
                    <a:pt x="79770" y="56700"/>
                    <a:pt x="79770" y="56400"/>
                  </a:cubicBezTo>
                  <a:lnTo>
                    <a:pt x="87356" y="45000"/>
                  </a:lnTo>
                  <a:close/>
                  <a:moveTo>
                    <a:pt x="78390" y="35700"/>
                  </a:moveTo>
                  <a:cubicBezTo>
                    <a:pt x="78620" y="36300"/>
                    <a:pt x="78850" y="37200"/>
                    <a:pt x="79080" y="37800"/>
                  </a:cubicBezTo>
                  <a:cubicBezTo>
                    <a:pt x="76781" y="45300"/>
                    <a:pt x="76781" y="45300"/>
                    <a:pt x="76781" y="45300"/>
                  </a:cubicBezTo>
                  <a:cubicBezTo>
                    <a:pt x="76321" y="31800"/>
                    <a:pt x="76321" y="31800"/>
                    <a:pt x="76321" y="31800"/>
                  </a:cubicBezTo>
                  <a:cubicBezTo>
                    <a:pt x="78390" y="33000"/>
                    <a:pt x="78390" y="33000"/>
                    <a:pt x="78390" y="33000"/>
                  </a:cubicBezTo>
                  <a:cubicBezTo>
                    <a:pt x="78390" y="33300"/>
                    <a:pt x="78160" y="33600"/>
                    <a:pt x="78160" y="33900"/>
                  </a:cubicBezTo>
                  <a:cubicBezTo>
                    <a:pt x="78160" y="34500"/>
                    <a:pt x="78390" y="35100"/>
                    <a:pt x="78390" y="35700"/>
                  </a:cubicBezTo>
                  <a:close/>
                  <a:moveTo>
                    <a:pt x="78850" y="24000"/>
                  </a:moveTo>
                  <a:cubicBezTo>
                    <a:pt x="78620" y="24900"/>
                    <a:pt x="78390" y="26100"/>
                    <a:pt x="78390" y="27000"/>
                  </a:cubicBezTo>
                  <a:cubicBezTo>
                    <a:pt x="78390" y="27300"/>
                    <a:pt x="78390" y="27600"/>
                    <a:pt x="78390" y="27900"/>
                  </a:cubicBezTo>
                  <a:cubicBezTo>
                    <a:pt x="76091" y="26400"/>
                    <a:pt x="76091" y="26400"/>
                    <a:pt x="76091" y="26400"/>
                  </a:cubicBezTo>
                  <a:cubicBezTo>
                    <a:pt x="75632" y="13800"/>
                    <a:pt x="75632" y="13800"/>
                    <a:pt x="75632" y="13800"/>
                  </a:cubicBezTo>
                  <a:lnTo>
                    <a:pt x="78850" y="24000"/>
                  </a:lnTo>
                  <a:close/>
                  <a:moveTo>
                    <a:pt x="73103" y="47700"/>
                  </a:moveTo>
                  <a:cubicBezTo>
                    <a:pt x="65287" y="25800"/>
                    <a:pt x="65287" y="25800"/>
                    <a:pt x="65287" y="25800"/>
                  </a:cubicBezTo>
                  <a:cubicBezTo>
                    <a:pt x="65517" y="25800"/>
                    <a:pt x="65517" y="25500"/>
                    <a:pt x="65747" y="25500"/>
                  </a:cubicBezTo>
                  <a:cubicBezTo>
                    <a:pt x="72413" y="29400"/>
                    <a:pt x="72413" y="29400"/>
                    <a:pt x="72413" y="29400"/>
                  </a:cubicBezTo>
                  <a:lnTo>
                    <a:pt x="73103" y="47700"/>
                  </a:lnTo>
                  <a:close/>
                  <a:moveTo>
                    <a:pt x="69655" y="80100"/>
                  </a:moveTo>
                  <a:cubicBezTo>
                    <a:pt x="69425" y="78900"/>
                    <a:pt x="69195" y="78000"/>
                    <a:pt x="68505" y="77100"/>
                  </a:cubicBezTo>
                  <a:cubicBezTo>
                    <a:pt x="72873" y="68400"/>
                    <a:pt x="72873" y="68400"/>
                    <a:pt x="72873" y="68400"/>
                  </a:cubicBezTo>
                  <a:cubicBezTo>
                    <a:pt x="73103" y="68400"/>
                    <a:pt x="73103" y="68400"/>
                    <a:pt x="73103" y="68400"/>
                  </a:cubicBezTo>
                  <a:cubicBezTo>
                    <a:pt x="73793" y="85500"/>
                    <a:pt x="73793" y="85500"/>
                    <a:pt x="73793" y="85500"/>
                  </a:cubicBezTo>
                  <a:cubicBezTo>
                    <a:pt x="69655" y="82800"/>
                    <a:pt x="69655" y="82800"/>
                    <a:pt x="69655" y="82800"/>
                  </a:cubicBezTo>
                  <a:cubicBezTo>
                    <a:pt x="69885" y="82500"/>
                    <a:pt x="69885" y="82200"/>
                    <a:pt x="69885" y="81600"/>
                  </a:cubicBezTo>
                  <a:cubicBezTo>
                    <a:pt x="69885" y="81300"/>
                    <a:pt x="69885" y="80700"/>
                    <a:pt x="69655" y="80100"/>
                  </a:cubicBezTo>
                  <a:close/>
                  <a:moveTo>
                    <a:pt x="65517" y="74400"/>
                  </a:moveTo>
                  <a:cubicBezTo>
                    <a:pt x="65057" y="74100"/>
                    <a:pt x="64367" y="74100"/>
                    <a:pt x="63908" y="74100"/>
                  </a:cubicBezTo>
                  <a:cubicBezTo>
                    <a:pt x="63448" y="74100"/>
                    <a:pt x="62988" y="74100"/>
                    <a:pt x="62758" y="74100"/>
                  </a:cubicBezTo>
                  <a:cubicBezTo>
                    <a:pt x="62758" y="74100"/>
                    <a:pt x="62758" y="74100"/>
                    <a:pt x="62758" y="74100"/>
                  </a:cubicBezTo>
                  <a:cubicBezTo>
                    <a:pt x="61839" y="74400"/>
                    <a:pt x="61149" y="74700"/>
                    <a:pt x="60459" y="75300"/>
                  </a:cubicBezTo>
                  <a:cubicBezTo>
                    <a:pt x="52873" y="68100"/>
                    <a:pt x="52873" y="68100"/>
                    <a:pt x="52873" y="68100"/>
                  </a:cubicBezTo>
                  <a:cubicBezTo>
                    <a:pt x="53103" y="67500"/>
                    <a:pt x="53333" y="66600"/>
                    <a:pt x="53563" y="66000"/>
                  </a:cubicBezTo>
                  <a:cubicBezTo>
                    <a:pt x="55402" y="65700"/>
                    <a:pt x="55402" y="65700"/>
                    <a:pt x="55402" y="65700"/>
                  </a:cubicBezTo>
                  <a:cubicBezTo>
                    <a:pt x="68505" y="63900"/>
                    <a:pt x="68505" y="63900"/>
                    <a:pt x="68505" y="63900"/>
                  </a:cubicBezTo>
                  <a:cubicBezTo>
                    <a:pt x="68965" y="64800"/>
                    <a:pt x="69195" y="65400"/>
                    <a:pt x="69655" y="66300"/>
                  </a:cubicBezTo>
                  <a:lnTo>
                    <a:pt x="65517" y="74400"/>
                  </a:lnTo>
                  <a:close/>
                  <a:moveTo>
                    <a:pt x="66206" y="81600"/>
                  </a:moveTo>
                  <a:cubicBezTo>
                    <a:pt x="66206" y="83400"/>
                    <a:pt x="65057" y="84600"/>
                    <a:pt x="63908" y="84600"/>
                  </a:cubicBezTo>
                  <a:cubicBezTo>
                    <a:pt x="62528" y="84600"/>
                    <a:pt x="61609" y="83400"/>
                    <a:pt x="61609" y="81600"/>
                  </a:cubicBezTo>
                  <a:cubicBezTo>
                    <a:pt x="61609" y="80100"/>
                    <a:pt x="62528" y="78900"/>
                    <a:pt x="63908" y="78900"/>
                  </a:cubicBezTo>
                  <a:cubicBezTo>
                    <a:pt x="65057" y="78900"/>
                    <a:pt x="66206" y="80100"/>
                    <a:pt x="66206" y="81600"/>
                  </a:cubicBezTo>
                  <a:close/>
                  <a:moveTo>
                    <a:pt x="60919" y="43200"/>
                  </a:moveTo>
                  <a:cubicBezTo>
                    <a:pt x="60919" y="45000"/>
                    <a:pt x="59770" y="46200"/>
                    <a:pt x="58620" y="46200"/>
                  </a:cubicBezTo>
                  <a:cubicBezTo>
                    <a:pt x="57241" y="46200"/>
                    <a:pt x="56321" y="45000"/>
                    <a:pt x="56321" y="43200"/>
                  </a:cubicBezTo>
                  <a:cubicBezTo>
                    <a:pt x="56321" y="41700"/>
                    <a:pt x="57241" y="40500"/>
                    <a:pt x="58620" y="40500"/>
                  </a:cubicBezTo>
                  <a:cubicBezTo>
                    <a:pt x="59770" y="40500"/>
                    <a:pt x="60919" y="41700"/>
                    <a:pt x="60919" y="43200"/>
                  </a:cubicBezTo>
                  <a:close/>
                  <a:moveTo>
                    <a:pt x="59080" y="20100"/>
                  </a:moveTo>
                  <a:cubicBezTo>
                    <a:pt x="59080" y="18600"/>
                    <a:pt x="60000" y="17100"/>
                    <a:pt x="61379" y="17100"/>
                  </a:cubicBezTo>
                  <a:cubicBezTo>
                    <a:pt x="62528" y="17100"/>
                    <a:pt x="63678" y="18600"/>
                    <a:pt x="63678" y="20100"/>
                  </a:cubicBezTo>
                  <a:cubicBezTo>
                    <a:pt x="63678" y="21600"/>
                    <a:pt x="62528" y="23100"/>
                    <a:pt x="61379" y="23100"/>
                  </a:cubicBezTo>
                  <a:cubicBezTo>
                    <a:pt x="60000" y="23100"/>
                    <a:pt x="59080" y="21600"/>
                    <a:pt x="59080" y="20100"/>
                  </a:cubicBezTo>
                  <a:close/>
                  <a:moveTo>
                    <a:pt x="59770" y="51000"/>
                  </a:moveTo>
                  <a:cubicBezTo>
                    <a:pt x="60689" y="50700"/>
                    <a:pt x="61379" y="50100"/>
                    <a:pt x="62068" y="49500"/>
                  </a:cubicBezTo>
                  <a:cubicBezTo>
                    <a:pt x="69195" y="56400"/>
                    <a:pt x="69195" y="56400"/>
                    <a:pt x="69195" y="56400"/>
                  </a:cubicBezTo>
                  <a:cubicBezTo>
                    <a:pt x="69195" y="56400"/>
                    <a:pt x="69195" y="56400"/>
                    <a:pt x="68965" y="56700"/>
                  </a:cubicBezTo>
                  <a:cubicBezTo>
                    <a:pt x="68735" y="57300"/>
                    <a:pt x="68275" y="58200"/>
                    <a:pt x="68275" y="59100"/>
                  </a:cubicBezTo>
                  <a:cubicBezTo>
                    <a:pt x="55402" y="60900"/>
                    <a:pt x="55402" y="60900"/>
                    <a:pt x="55402" y="60900"/>
                  </a:cubicBezTo>
                  <a:cubicBezTo>
                    <a:pt x="53103" y="61200"/>
                    <a:pt x="53103" y="61200"/>
                    <a:pt x="53103" y="61200"/>
                  </a:cubicBezTo>
                  <a:cubicBezTo>
                    <a:pt x="52873" y="60600"/>
                    <a:pt x="52643" y="60000"/>
                    <a:pt x="52413" y="59400"/>
                  </a:cubicBezTo>
                  <a:cubicBezTo>
                    <a:pt x="57011" y="50700"/>
                    <a:pt x="57011" y="50700"/>
                    <a:pt x="57011" y="50700"/>
                  </a:cubicBezTo>
                  <a:cubicBezTo>
                    <a:pt x="57471" y="51000"/>
                    <a:pt x="57931" y="51000"/>
                    <a:pt x="58620" y="51000"/>
                  </a:cubicBezTo>
                  <a:cubicBezTo>
                    <a:pt x="59080" y="51000"/>
                    <a:pt x="59310" y="51000"/>
                    <a:pt x="59770" y="51000"/>
                  </a:cubicBezTo>
                  <a:close/>
                  <a:moveTo>
                    <a:pt x="57701" y="35700"/>
                  </a:moveTo>
                  <a:cubicBezTo>
                    <a:pt x="57471" y="35700"/>
                    <a:pt x="57471" y="35700"/>
                    <a:pt x="57471" y="35700"/>
                  </a:cubicBezTo>
                  <a:cubicBezTo>
                    <a:pt x="56091" y="36000"/>
                    <a:pt x="55172" y="36900"/>
                    <a:pt x="54482" y="37800"/>
                  </a:cubicBezTo>
                  <a:cubicBezTo>
                    <a:pt x="52183" y="36600"/>
                    <a:pt x="52183" y="36600"/>
                    <a:pt x="52183" y="36600"/>
                  </a:cubicBezTo>
                  <a:cubicBezTo>
                    <a:pt x="52183" y="36300"/>
                    <a:pt x="52183" y="36000"/>
                    <a:pt x="52183" y="35700"/>
                  </a:cubicBezTo>
                  <a:cubicBezTo>
                    <a:pt x="52183" y="33600"/>
                    <a:pt x="51494" y="31200"/>
                    <a:pt x="50114" y="29700"/>
                  </a:cubicBezTo>
                  <a:cubicBezTo>
                    <a:pt x="49425" y="29100"/>
                    <a:pt x="48965" y="28800"/>
                    <a:pt x="48275" y="28500"/>
                  </a:cubicBezTo>
                  <a:cubicBezTo>
                    <a:pt x="48275" y="25800"/>
                    <a:pt x="48275" y="25800"/>
                    <a:pt x="48275" y="25800"/>
                  </a:cubicBezTo>
                  <a:cubicBezTo>
                    <a:pt x="56091" y="24000"/>
                    <a:pt x="56091" y="24000"/>
                    <a:pt x="56091" y="24000"/>
                  </a:cubicBezTo>
                  <a:cubicBezTo>
                    <a:pt x="56781" y="25200"/>
                    <a:pt x="57701" y="26400"/>
                    <a:pt x="58620" y="27000"/>
                  </a:cubicBezTo>
                  <a:lnTo>
                    <a:pt x="57701" y="35700"/>
                  </a:lnTo>
                  <a:close/>
                  <a:moveTo>
                    <a:pt x="50804" y="40800"/>
                  </a:moveTo>
                  <a:cubicBezTo>
                    <a:pt x="52643" y="42000"/>
                    <a:pt x="52643" y="42000"/>
                    <a:pt x="52643" y="42000"/>
                  </a:cubicBezTo>
                  <a:cubicBezTo>
                    <a:pt x="52643" y="42600"/>
                    <a:pt x="52643" y="42900"/>
                    <a:pt x="52643" y="43200"/>
                  </a:cubicBezTo>
                  <a:cubicBezTo>
                    <a:pt x="52643" y="43800"/>
                    <a:pt x="52643" y="44400"/>
                    <a:pt x="52873" y="45000"/>
                  </a:cubicBezTo>
                  <a:cubicBezTo>
                    <a:pt x="52873" y="46200"/>
                    <a:pt x="53333" y="47100"/>
                    <a:pt x="53793" y="48000"/>
                  </a:cubicBezTo>
                  <a:cubicBezTo>
                    <a:pt x="49425" y="56700"/>
                    <a:pt x="49425" y="56700"/>
                    <a:pt x="49425" y="56700"/>
                  </a:cubicBezTo>
                  <a:cubicBezTo>
                    <a:pt x="49195" y="56700"/>
                    <a:pt x="49195" y="56700"/>
                    <a:pt x="49195" y="56700"/>
                  </a:cubicBezTo>
                  <a:cubicBezTo>
                    <a:pt x="48735" y="42900"/>
                    <a:pt x="48735" y="42900"/>
                    <a:pt x="48735" y="42900"/>
                  </a:cubicBezTo>
                  <a:cubicBezTo>
                    <a:pt x="49425" y="42300"/>
                    <a:pt x="50114" y="41700"/>
                    <a:pt x="50804" y="40800"/>
                  </a:cubicBezTo>
                  <a:close/>
                  <a:moveTo>
                    <a:pt x="58160" y="79200"/>
                  </a:moveTo>
                  <a:cubicBezTo>
                    <a:pt x="57931" y="80100"/>
                    <a:pt x="57931" y="81000"/>
                    <a:pt x="57931" y="81600"/>
                  </a:cubicBezTo>
                  <a:cubicBezTo>
                    <a:pt x="57931" y="82200"/>
                    <a:pt x="57931" y="82800"/>
                    <a:pt x="58160" y="83400"/>
                  </a:cubicBezTo>
                  <a:cubicBezTo>
                    <a:pt x="58390" y="85800"/>
                    <a:pt x="59540" y="87600"/>
                    <a:pt x="61149" y="88500"/>
                  </a:cubicBezTo>
                  <a:cubicBezTo>
                    <a:pt x="60229" y="96600"/>
                    <a:pt x="60229" y="96600"/>
                    <a:pt x="60229" y="96600"/>
                  </a:cubicBezTo>
                  <a:cubicBezTo>
                    <a:pt x="51954" y="73200"/>
                    <a:pt x="51954" y="73200"/>
                    <a:pt x="51954" y="73200"/>
                  </a:cubicBezTo>
                  <a:lnTo>
                    <a:pt x="58160" y="79200"/>
                  </a:lnTo>
                  <a:close/>
                  <a:moveTo>
                    <a:pt x="64137" y="45600"/>
                  </a:moveTo>
                  <a:cubicBezTo>
                    <a:pt x="64367" y="45000"/>
                    <a:pt x="64597" y="44100"/>
                    <a:pt x="64597" y="43200"/>
                  </a:cubicBezTo>
                  <a:cubicBezTo>
                    <a:pt x="64597" y="42900"/>
                    <a:pt x="64367" y="42300"/>
                    <a:pt x="64367" y="41700"/>
                  </a:cubicBezTo>
                  <a:cubicBezTo>
                    <a:pt x="64137" y="39300"/>
                    <a:pt x="62758" y="37500"/>
                    <a:pt x="61149" y="36300"/>
                  </a:cubicBezTo>
                  <a:cubicBezTo>
                    <a:pt x="62298" y="28200"/>
                    <a:pt x="62298" y="28200"/>
                    <a:pt x="62298" y="28200"/>
                  </a:cubicBezTo>
                  <a:cubicBezTo>
                    <a:pt x="70574" y="51900"/>
                    <a:pt x="70574" y="51900"/>
                    <a:pt x="70574" y="51900"/>
                  </a:cubicBezTo>
                  <a:lnTo>
                    <a:pt x="64137" y="45600"/>
                  </a:lnTo>
                  <a:close/>
                  <a:moveTo>
                    <a:pt x="71724" y="8100"/>
                  </a:moveTo>
                  <a:cubicBezTo>
                    <a:pt x="72183" y="24000"/>
                    <a:pt x="72183" y="24000"/>
                    <a:pt x="72183" y="24000"/>
                  </a:cubicBezTo>
                  <a:cubicBezTo>
                    <a:pt x="67126" y="21000"/>
                    <a:pt x="67126" y="21000"/>
                    <a:pt x="67126" y="21000"/>
                  </a:cubicBezTo>
                  <a:cubicBezTo>
                    <a:pt x="67126" y="20700"/>
                    <a:pt x="67356" y="20400"/>
                    <a:pt x="67356" y="20100"/>
                  </a:cubicBezTo>
                  <a:cubicBezTo>
                    <a:pt x="67356" y="19500"/>
                    <a:pt x="67126" y="19200"/>
                    <a:pt x="67126" y="18600"/>
                  </a:cubicBezTo>
                  <a:cubicBezTo>
                    <a:pt x="66896" y="17700"/>
                    <a:pt x="66666" y="16800"/>
                    <a:pt x="66206" y="15900"/>
                  </a:cubicBezTo>
                  <a:cubicBezTo>
                    <a:pt x="71034" y="7800"/>
                    <a:pt x="71034" y="7800"/>
                    <a:pt x="71034" y="7800"/>
                  </a:cubicBezTo>
                  <a:cubicBezTo>
                    <a:pt x="71264" y="8100"/>
                    <a:pt x="71494" y="8100"/>
                    <a:pt x="71724" y="8100"/>
                  </a:cubicBezTo>
                  <a:close/>
                  <a:moveTo>
                    <a:pt x="53793" y="8700"/>
                  </a:moveTo>
                  <a:cubicBezTo>
                    <a:pt x="66436" y="5100"/>
                    <a:pt x="66436" y="5100"/>
                    <a:pt x="66436" y="5100"/>
                  </a:cubicBezTo>
                  <a:cubicBezTo>
                    <a:pt x="66896" y="5100"/>
                    <a:pt x="67356" y="5100"/>
                    <a:pt x="68045" y="5400"/>
                  </a:cubicBezTo>
                  <a:cubicBezTo>
                    <a:pt x="63448" y="12900"/>
                    <a:pt x="63448" y="12900"/>
                    <a:pt x="63448" y="12900"/>
                  </a:cubicBezTo>
                  <a:cubicBezTo>
                    <a:pt x="62758" y="12600"/>
                    <a:pt x="62068" y="12300"/>
                    <a:pt x="61379" y="12300"/>
                  </a:cubicBezTo>
                  <a:cubicBezTo>
                    <a:pt x="60919" y="12300"/>
                    <a:pt x="60459" y="12300"/>
                    <a:pt x="60229" y="12600"/>
                  </a:cubicBezTo>
                  <a:cubicBezTo>
                    <a:pt x="59080" y="12900"/>
                    <a:pt x="58160" y="13500"/>
                    <a:pt x="57241" y="14400"/>
                  </a:cubicBezTo>
                  <a:cubicBezTo>
                    <a:pt x="51954" y="10200"/>
                    <a:pt x="51954" y="10200"/>
                    <a:pt x="51954" y="10200"/>
                  </a:cubicBezTo>
                  <a:cubicBezTo>
                    <a:pt x="52413" y="9600"/>
                    <a:pt x="53103" y="9300"/>
                    <a:pt x="53793" y="8700"/>
                  </a:cubicBezTo>
                  <a:close/>
                  <a:moveTo>
                    <a:pt x="47816" y="15600"/>
                  </a:moveTo>
                  <a:cubicBezTo>
                    <a:pt x="48505" y="15300"/>
                    <a:pt x="49195" y="15000"/>
                    <a:pt x="49655" y="14100"/>
                  </a:cubicBezTo>
                  <a:cubicBezTo>
                    <a:pt x="55632" y="18600"/>
                    <a:pt x="55632" y="18600"/>
                    <a:pt x="55632" y="18600"/>
                  </a:cubicBezTo>
                  <a:cubicBezTo>
                    <a:pt x="55402" y="18900"/>
                    <a:pt x="55402" y="18900"/>
                    <a:pt x="55402" y="19200"/>
                  </a:cubicBezTo>
                  <a:cubicBezTo>
                    <a:pt x="48045" y="21000"/>
                    <a:pt x="48045" y="21000"/>
                    <a:pt x="48045" y="21000"/>
                  </a:cubicBezTo>
                  <a:cubicBezTo>
                    <a:pt x="47816" y="15900"/>
                    <a:pt x="47816" y="15900"/>
                    <a:pt x="47816" y="15900"/>
                  </a:cubicBezTo>
                  <a:cubicBezTo>
                    <a:pt x="47816" y="15900"/>
                    <a:pt x="47816" y="15900"/>
                    <a:pt x="47816" y="15600"/>
                  </a:cubicBezTo>
                  <a:close/>
                  <a:moveTo>
                    <a:pt x="46436" y="33000"/>
                  </a:moveTo>
                  <a:cubicBezTo>
                    <a:pt x="47586" y="33000"/>
                    <a:pt x="48505" y="34200"/>
                    <a:pt x="48505" y="35700"/>
                  </a:cubicBezTo>
                  <a:cubicBezTo>
                    <a:pt x="48505" y="37500"/>
                    <a:pt x="47586" y="38700"/>
                    <a:pt x="46436" y="38700"/>
                  </a:cubicBezTo>
                  <a:cubicBezTo>
                    <a:pt x="45057" y="38700"/>
                    <a:pt x="44137" y="37500"/>
                    <a:pt x="44137" y="35700"/>
                  </a:cubicBezTo>
                  <a:cubicBezTo>
                    <a:pt x="44137" y="34200"/>
                    <a:pt x="45057" y="33000"/>
                    <a:pt x="46436" y="33000"/>
                  </a:cubicBezTo>
                  <a:close/>
                  <a:moveTo>
                    <a:pt x="44137" y="89700"/>
                  </a:moveTo>
                  <a:cubicBezTo>
                    <a:pt x="44137" y="89700"/>
                    <a:pt x="44137" y="89700"/>
                    <a:pt x="44137" y="89700"/>
                  </a:cubicBezTo>
                  <a:cubicBezTo>
                    <a:pt x="44137" y="89700"/>
                    <a:pt x="44137" y="89400"/>
                    <a:pt x="44137" y="89400"/>
                  </a:cubicBezTo>
                  <a:cubicBezTo>
                    <a:pt x="44137" y="89400"/>
                    <a:pt x="43908" y="89100"/>
                    <a:pt x="43908" y="89100"/>
                  </a:cubicBezTo>
                  <a:cubicBezTo>
                    <a:pt x="43908" y="88800"/>
                    <a:pt x="43908" y="88500"/>
                    <a:pt x="43908" y="88200"/>
                  </a:cubicBezTo>
                  <a:cubicBezTo>
                    <a:pt x="43678" y="88200"/>
                    <a:pt x="43678" y="87900"/>
                    <a:pt x="43678" y="87900"/>
                  </a:cubicBezTo>
                  <a:cubicBezTo>
                    <a:pt x="43448" y="87600"/>
                    <a:pt x="43448" y="87300"/>
                    <a:pt x="43448" y="87000"/>
                  </a:cubicBezTo>
                  <a:cubicBezTo>
                    <a:pt x="43218" y="87000"/>
                    <a:pt x="43218" y="86700"/>
                    <a:pt x="43218" y="86700"/>
                  </a:cubicBezTo>
                  <a:cubicBezTo>
                    <a:pt x="42988" y="86400"/>
                    <a:pt x="42988" y="86100"/>
                    <a:pt x="42758" y="86100"/>
                  </a:cubicBezTo>
                  <a:cubicBezTo>
                    <a:pt x="42758" y="85800"/>
                    <a:pt x="42528" y="85800"/>
                    <a:pt x="42528" y="85500"/>
                  </a:cubicBezTo>
                  <a:cubicBezTo>
                    <a:pt x="42298" y="85500"/>
                    <a:pt x="42298" y="85500"/>
                    <a:pt x="42298" y="85200"/>
                  </a:cubicBezTo>
                  <a:cubicBezTo>
                    <a:pt x="45517" y="75900"/>
                    <a:pt x="45517" y="75900"/>
                    <a:pt x="45517" y="75900"/>
                  </a:cubicBezTo>
                  <a:cubicBezTo>
                    <a:pt x="46206" y="93300"/>
                    <a:pt x="46206" y="93300"/>
                    <a:pt x="46206" y="93300"/>
                  </a:cubicBezTo>
                  <a:cubicBezTo>
                    <a:pt x="44137" y="91800"/>
                    <a:pt x="44137" y="91800"/>
                    <a:pt x="44137" y="91800"/>
                  </a:cubicBezTo>
                  <a:cubicBezTo>
                    <a:pt x="44137" y="91800"/>
                    <a:pt x="44137" y="91500"/>
                    <a:pt x="44137" y="91200"/>
                  </a:cubicBezTo>
                  <a:cubicBezTo>
                    <a:pt x="44137" y="91200"/>
                    <a:pt x="44137" y="91200"/>
                    <a:pt x="44137" y="90900"/>
                  </a:cubicBezTo>
                  <a:cubicBezTo>
                    <a:pt x="44137" y="90600"/>
                    <a:pt x="44137" y="90300"/>
                    <a:pt x="44137" y="89700"/>
                  </a:cubicBezTo>
                  <a:close/>
                  <a:moveTo>
                    <a:pt x="38850" y="83400"/>
                  </a:moveTo>
                  <a:cubicBezTo>
                    <a:pt x="38620" y="83400"/>
                    <a:pt x="38390" y="83400"/>
                    <a:pt x="38160" y="83400"/>
                  </a:cubicBezTo>
                  <a:cubicBezTo>
                    <a:pt x="38160" y="83400"/>
                    <a:pt x="38160" y="83400"/>
                    <a:pt x="38160" y="83400"/>
                  </a:cubicBezTo>
                  <a:cubicBezTo>
                    <a:pt x="38160" y="83400"/>
                    <a:pt x="38160" y="83400"/>
                    <a:pt x="38160" y="83400"/>
                  </a:cubicBezTo>
                  <a:cubicBezTo>
                    <a:pt x="38160" y="83400"/>
                    <a:pt x="38160" y="83400"/>
                    <a:pt x="38160" y="83400"/>
                  </a:cubicBezTo>
                  <a:cubicBezTo>
                    <a:pt x="38160" y="83400"/>
                    <a:pt x="38160" y="83400"/>
                    <a:pt x="38160" y="83400"/>
                  </a:cubicBezTo>
                  <a:cubicBezTo>
                    <a:pt x="37931" y="83400"/>
                    <a:pt x="37701" y="83400"/>
                    <a:pt x="37701" y="83400"/>
                  </a:cubicBezTo>
                  <a:cubicBezTo>
                    <a:pt x="32873" y="69900"/>
                    <a:pt x="32873" y="69900"/>
                    <a:pt x="32873" y="69900"/>
                  </a:cubicBezTo>
                  <a:cubicBezTo>
                    <a:pt x="33793" y="69000"/>
                    <a:pt x="34482" y="67500"/>
                    <a:pt x="34712" y="65700"/>
                  </a:cubicBezTo>
                  <a:cubicBezTo>
                    <a:pt x="34712" y="65400"/>
                    <a:pt x="34942" y="64800"/>
                    <a:pt x="34942" y="64200"/>
                  </a:cubicBezTo>
                  <a:cubicBezTo>
                    <a:pt x="34942" y="62400"/>
                    <a:pt x="34252" y="60900"/>
                    <a:pt x="33563" y="59400"/>
                  </a:cubicBezTo>
                  <a:cubicBezTo>
                    <a:pt x="40000" y="49200"/>
                    <a:pt x="40000" y="49200"/>
                    <a:pt x="40000" y="49200"/>
                  </a:cubicBezTo>
                  <a:cubicBezTo>
                    <a:pt x="43448" y="58800"/>
                    <a:pt x="43448" y="58800"/>
                    <a:pt x="43448" y="58800"/>
                  </a:cubicBezTo>
                  <a:cubicBezTo>
                    <a:pt x="42298" y="60000"/>
                    <a:pt x="41609" y="62100"/>
                    <a:pt x="41609" y="64200"/>
                  </a:cubicBezTo>
                  <a:cubicBezTo>
                    <a:pt x="41609" y="64800"/>
                    <a:pt x="41609" y="65400"/>
                    <a:pt x="41839" y="65700"/>
                  </a:cubicBezTo>
                  <a:cubicBezTo>
                    <a:pt x="42068" y="67500"/>
                    <a:pt x="42758" y="69000"/>
                    <a:pt x="43678" y="69900"/>
                  </a:cubicBezTo>
                  <a:lnTo>
                    <a:pt x="38850" y="83400"/>
                  </a:lnTo>
                  <a:close/>
                  <a:moveTo>
                    <a:pt x="40459" y="90900"/>
                  </a:moveTo>
                  <a:cubicBezTo>
                    <a:pt x="40459" y="92700"/>
                    <a:pt x="39540" y="93900"/>
                    <a:pt x="38160" y="93900"/>
                  </a:cubicBezTo>
                  <a:cubicBezTo>
                    <a:pt x="37011" y="93900"/>
                    <a:pt x="36091" y="92700"/>
                    <a:pt x="36091" y="90900"/>
                  </a:cubicBezTo>
                  <a:cubicBezTo>
                    <a:pt x="36091" y="89400"/>
                    <a:pt x="37011" y="88200"/>
                    <a:pt x="38160" y="88200"/>
                  </a:cubicBezTo>
                  <a:cubicBezTo>
                    <a:pt x="39540" y="88200"/>
                    <a:pt x="40459" y="89400"/>
                    <a:pt x="40459" y="90900"/>
                  </a:cubicBezTo>
                  <a:close/>
                  <a:moveTo>
                    <a:pt x="32413" y="90900"/>
                  </a:moveTo>
                  <a:cubicBezTo>
                    <a:pt x="32413" y="91200"/>
                    <a:pt x="32413" y="91500"/>
                    <a:pt x="32413" y="91800"/>
                  </a:cubicBezTo>
                  <a:cubicBezTo>
                    <a:pt x="30344" y="93300"/>
                    <a:pt x="30344" y="93300"/>
                    <a:pt x="30344" y="93300"/>
                  </a:cubicBezTo>
                  <a:cubicBezTo>
                    <a:pt x="31034" y="75900"/>
                    <a:pt x="31034" y="75900"/>
                    <a:pt x="31034" y="75900"/>
                  </a:cubicBezTo>
                  <a:cubicBezTo>
                    <a:pt x="34252" y="85200"/>
                    <a:pt x="34252" y="85200"/>
                    <a:pt x="34252" y="85200"/>
                  </a:cubicBezTo>
                  <a:cubicBezTo>
                    <a:pt x="34252" y="85500"/>
                    <a:pt x="34022" y="85500"/>
                    <a:pt x="34022" y="85500"/>
                  </a:cubicBezTo>
                  <a:cubicBezTo>
                    <a:pt x="34022" y="85800"/>
                    <a:pt x="33793" y="85800"/>
                    <a:pt x="33793" y="86100"/>
                  </a:cubicBezTo>
                  <a:cubicBezTo>
                    <a:pt x="33563" y="86100"/>
                    <a:pt x="33563" y="86400"/>
                    <a:pt x="33333" y="86700"/>
                  </a:cubicBezTo>
                  <a:cubicBezTo>
                    <a:pt x="33333" y="86700"/>
                    <a:pt x="33333" y="87000"/>
                    <a:pt x="33103" y="87000"/>
                  </a:cubicBezTo>
                  <a:cubicBezTo>
                    <a:pt x="33103" y="87300"/>
                    <a:pt x="32873" y="87600"/>
                    <a:pt x="32873" y="87900"/>
                  </a:cubicBezTo>
                  <a:cubicBezTo>
                    <a:pt x="32873" y="87900"/>
                    <a:pt x="32873" y="88200"/>
                    <a:pt x="32643" y="88200"/>
                  </a:cubicBezTo>
                  <a:cubicBezTo>
                    <a:pt x="32643" y="88500"/>
                    <a:pt x="32643" y="88800"/>
                    <a:pt x="32413" y="89100"/>
                  </a:cubicBezTo>
                  <a:cubicBezTo>
                    <a:pt x="32413" y="89100"/>
                    <a:pt x="32413" y="89400"/>
                    <a:pt x="32413" y="89400"/>
                  </a:cubicBezTo>
                  <a:cubicBezTo>
                    <a:pt x="32413" y="89400"/>
                    <a:pt x="32413" y="89700"/>
                    <a:pt x="32413" y="89700"/>
                  </a:cubicBezTo>
                  <a:cubicBezTo>
                    <a:pt x="32413" y="89700"/>
                    <a:pt x="32413" y="89700"/>
                    <a:pt x="32413" y="89700"/>
                  </a:cubicBezTo>
                  <a:cubicBezTo>
                    <a:pt x="32413" y="90300"/>
                    <a:pt x="32413" y="90600"/>
                    <a:pt x="32413" y="90900"/>
                  </a:cubicBezTo>
                  <a:cubicBezTo>
                    <a:pt x="32413" y="90900"/>
                    <a:pt x="32413" y="90900"/>
                    <a:pt x="32413" y="90900"/>
                  </a:cubicBezTo>
                  <a:cubicBezTo>
                    <a:pt x="32413" y="90900"/>
                    <a:pt x="32413" y="90900"/>
                    <a:pt x="32413" y="90900"/>
                  </a:cubicBezTo>
                  <a:cubicBezTo>
                    <a:pt x="32413" y="90900"/>
                    <a:pt x="32413" y="90900"/>
                    <a:pt x="32413" y="90900"/>
                  </a:cubicBezTo>
                  <a:close/>
                  <a:moveTo>
                    <a:pt x="40459" y="39600"/>
                  </a:moveTo>
                  <a:cubicBezTo>
                    <a:pt x="41149" y="39600"/>
                    <a:pt x="41149" y="39600"/>
                    <a:pt x="41149" y="39600"/>
                  </a:cubicBezTo>
                  <a:cubicBezTo>
                    <a:pt x="41149" y="39600"/>
                    <a:pt x="41149" y="39900"/>
                    <a:pt x="41379" y="39900"/>
                  </a:cubicBezTo>
                  <a:cubicBezTo>
                    <a:pt x="40919" y="40500"/>
                    <a:pt x="40919" y="40500"/>
                    <a:pt x="40919" y="40500"/>
                  </a:cubicBezTo>
                  <a:lnTo>
                    <a:pt x="40459" y="39600"/>
                  </a:lnTo>
                  <a:close/>
                  <a:moveTo>
                    <a:pt x="42528" y="45300"/>
                  </a:moveTo>
                  <a:cubicBezTo>
                    <a:pt x="44137" y="42900"/>
                    <a:pt x="44137" y="42900"/>
                    <a:pt x="44137" y="42900"/>
                  </a:cubicBezTo>
                  <a:cubicBezTo>
                    <a:pt x="44367" y="43200"/>
                    <a:pt x="44827" y="43200"/>
                    <a:pt x="45057" y="43200"/>
                  </a:cubicBezTo>
                  <a:cubicBezTo>
                    <a:pt x="45517" y="52800"/>
                    <a:pt x="45517" y="52800"/>
                    <a:pt x="45517" y="52800"/>
                  </a:cubicBezTo>
                  <a:lnTo>
                    <a:pt x="42528" y="45300"/>
                  </a:lnTo>
                  <a:close/>
                  <a:moveTo>
                    <a:pt x="44597" y="28500"/>
                  </a:moveTo>
                  <a:cubicBezTo>
                    <a:pt x="44367" y="28500"/>
                    <a:pt x="44367" y="28500"/>
                    <a:pt x="44137" y="28500"/>
                  </a:cubicBezTo>
                  <a:cubicBezTo>
                    <a:pt x="43218" y="27000"/>
                    <a:pt x="43218" y="27000"/>
                    <a:pt x="43218" y="27000"/>
                  </a:cubicBezTo>
                  <a:cubicBezTo>
                    <a:pt x="44597" y="26700"/>
                    <a:pt x="44597" y="26700"/>
                    <a:pt x="44597" y="26700"/>
                  </a:cubicBezTo>
                  <a:lnTo>
                    <a:pt x="44597" y="28500"/>
                  </a:lnTo>
                  <a:close/>
                  <a:moveTo>
                    <a:pt x="40919" y="19800"/>
                  </a:moveTo>
                  <a:cubicBezTo>
                    <a:pt x="41609" y="20400"/>
                    <a:pt x="42298" y="21000"/>
                    <a:pt x="42758" y="21600"/>
                  </a:cubicBezTo>
                  <a:cubicBezTo>
                    <a:pt x="42988" y="21900"/>
                    <a:pt x="43218" y="21900"/>
                    <a:pt x="43448" y="22200"/>
                  </a:cubicBezTo>
                  <a:cubicBezTo>
                    <a:pt x="40689" y="22800"/>
                    <a:pt x="40689" y="22800"/>
                    <a:pt x="40689" y="22800"/>
                  </a:cubicBezTo>
                  <a:cubicBezTo>
                    <a:pt x="39770" y="21300"/>
                    <a:pt x="39770" y="21300"/>
                    <a:pt x="39770" y="21300"/>
                  </a:cubicBezTo>
                  <a:lnTo>
                    <a:pt x="40919" y="19800"/>
                  </a:lnTo>
                  <a:close/>
                  <a:moveTo>
                    <a:pt x="37931" y="32400"/>
                  </a:moveTo>
                  <a:cubicBezTo>
                    <a:pt x="40459" y="34200"/>
                    <a:pt x="40459" y="34200"/>
                    <a:pt x="40459" y="34200"/>
                  </a:cubicBezTo>
                  <a:cubicBezTo>
                    <a:pt x="40459" y="34500"/>
                    <a:pt x="40459" y="34500"/>
                    <a:pt x="40459" y="34800"/>
                  </a:cubicBezTo>
                  <a:cubicBezTo>
                    <a:pt x="38850" y="35100"/>
                    <a:pt x="38850" y="35100"/>
                    <a:pt x="38850" y="35100"/>
                  </a:cubicBezTo>
                  <a:cubicBezTo>
                    <a:pt x="37701" y="32700"/>
                    <a:pt x="37701" y="32700"/>
                    <a:pt x="37701" y="32700"/>
                  </a:cubicBezTo>
                  <a:cubicBezTo>
                    <a:pt x="37931" y="32400"/>
                    <a:pt x="37931" y="32400"/>
                    <a:pt x="37931" y="32400"/>
                  </a:cubicBezTo>
                  <a:close/>
                  <a:moveTo>
                    <a:pt x="38160" y="44700"/>
                  </a:moveTo>
                  <a:cubicBezTo>
                    <a:pt x="30574" y="56700"/>
                    <a:pt x="30574" y="56700"/>
                    <a:pt x="30574" y="56700"/>
                  </a:cubicBezTo>
                  <a:cubicBezTo>
                    <a:pt x="30344" y="56700"/>
                    <a:pt x="30114" y="56400"/>
                    <a:pt x="29885" y="56400"/>
                  </a:cubicBezTo>
                  <a:cubicBezTo>
                    <a:pt x="29655" y="47700"/>
                    <a:pt x="29655" y="47700"/>
                    <a:pt x="29655" y="47700"/>
                  </a:cubicBezTo>
                  <a:cubicBezTo>
                    <a:pt x="30574" y="47400"/>
                    <a:pt x="31494" y="46500"/>
                    <a:pt x="32183" y="45300"/>
                  </a:cubicBezTo>
                  <a:cubicBezTo>
                    <a:pt x="32873" y="44100"/>
                    <a:pt x="33333" y="42900"/>
                    <a:pt x="33563" y="41400"/>
                  </a:cubicBezTo>
                  <a:cubicBezTo>
                    <a:pt x="36781" y="40500"/>
                    <a:pt x="36781" y="40500"/>
                    <a:pt x="36781" y="40500"/>
                  </a:cubicBezTo>
                  <a:lnTo>
                    <a:pt x="38160" y="44700"/>
                  </a:lnTo>
                  <a:close/>
                  <a:moveTo>
                    <a:pt x="35862" y="27000"/>
                  </a:moveTo>
                  <a:cubicBezTo>
                    <a:pt x="35862" y="28500"/>
                    <a:pt x="34942" y="30000"/>
                    <a:pt x="33793" y="30000"/>
                  </a:cubicBezTo>
                  <a:cubicBezTo>
                    <a:pt x="32413" y="30000"/>
                    <a:pt x="31494" y="28500"/>
                    <a:pt x="31494" y="27000"/>
                  </a:cubicBezTo>
                  <a:cubicBezTo>
                    <a:pt x="31494" y="25500"/>
                    <a:pt x="32413" y="24000"/>
                    <a:pt x="33793" y="24000"/>
                  </a:cubicBezTo>
                  <a:cubicBezTo>
                    <a:pt x="34942" y="24000"/>
                    <a:pt x="35862" y="25500"/>
                    <a:pt x="35862" y="27000"/>
                  </a:cubicBezTo>
                  <a:close/>
                  <a:moveTo>
                    <a:pt x="30344" y="18300"/>
                  </a:moveTo>
                  <a:cubicBezTo>
                    <a:pt x="31034" y="18000"/>
                    <a:pt x="31724" y="17700"/>
                    <a:pt x="32643" y="17700"/>
                  </a:cubicBezTo>
                  <a:cubicBezTo>
                    <a:pt x="33793" y="19200"/>
                    <a:pt x="33793" y="19200"/>
                    <a:pt x="33793" y="19200"/>
                  </a:cubicBezTo>
                  <a:cubicBezTo>
                    <a:pt x="33793" y="19200"/>
                    <a:pt x="33793" y="19200"/>
                    <a:pt x="33793" y="19200"/>
                  </a:cubicBezTo>
                  <a:cubicBezTo>
                    <a:pt x="33333" y="19200"/>
                    <a:pt x="32873" y="19200"/>
                    <a:pt x="32413" y="19500"/>
                  </a:cubicBezTo>
                  <a:cubicBezTo>
                    <a:pt x="31724" y="19500"/>
                    <a:pt x="31034" y="20100"/>
                    <a:pt x="30344" y="20700"/>
                  </a:cubicBezTo>
                  <a:cubicBezTo>
                    <a:pt x="30114" y="20700"/>
                    <a:pt x="30114" y="20700"/>
                    <a:pt x="30114" y="20700"/>
                  </a:cubicBezTo>
                  <a:lnTo>
                    <a:pt x="30344" y="18300"/>
                  </a:lnTo>
                  <a:close/>
                  <a:moveTo>
                    <a:pt x="29655" y="32700"/>
                  </a:moveTo>
                  <a:cubicBezTo>
                    <a:pt x="30804" y="33900"/>
                    <a:pt x="32183" y="34800"/>
                    <a:pt x="33563" y="34800"/>
                  </a:cubicBezTo>
                  <a:cubicBezTo>
                    <a:pt x="34022" y="34800"/>
                    <a:pt x="34252" y="34800"/>
                    <a:pt x="34482" y="34800"/>
                  </a:cubicBezTo>
                  <a:cubicBezTo>
                    <a:pt x="35172" y="36300"/>
                    <a:pt x="35172" y="36300"/>
                    <a:pt x="35172" y="36300"/>
                  </a:cubicBezTo>
                  <a:cubicBezTo>
                    <a:pt x="32873" y="36600"/>
                    <a:pt x="32873" y="36600"/>
                    <a:pt x="32873" y="36600"/>
                  </a:cubicBezTo>
                  <a:cubicBezTo>
                    <a:pt x="32413" y="36000"/>
                    <a:pt x="31954" y="35100"/>
                    <a:pt x="31264" y="34500"/>
                  </a:cubicBezTo>
                  <a:cubicBezTo>
                    <a:pt x="30804" y="33900"/>
                    <a:pt x="30344" y="33600"/>
                    <a:pt x="29655" y="33300"/>
                  </a:cubicBezTo>
                  <a:lnTo>
                    <a:pt x="29655" y="32700"/>
                  </a:lnTo>
                  <a:close/>
                  <a:moveTo>
                    <a:pt x="29885" y="40500"/>
                  </a:moveTo>
                  <a:cubicBezTo>
                    <a:pt x="29885" y="42000"/>
                    <a:pt x="28965" y="43500"/>
                    <a:pt x="27586" y="43500"/>
                  </a:cubicBezTo>
                  <a:cubicBezTo>
                    <a:pt x="26436" y="43500"/>
                    <a:pt x="25287" y="42000"/>
                    <a:pt x="25287" y="40500"/>
                  </a:cubicBezTo>
                  <a:cubicBezTo>
                    <a:pt x="25287" y="39000"/>
                    <a:pt x="26436" y="37500"/>
                    <a:pt x="27586" y="37500"/>
                  </a:cubicBezTo>
                  <a:cubicBezTo>
                    <a:pt x="28965" y="37500"/>
                    <a:pt x="29885" y="39000"/>
                    <a:pt x="29885" y="40500"/>
                  </a:cubicBezTo>
                  <a:close/>
                  <a:moveTo>
                    <a:pt x="16091" y="69900"/>
                  </a:moveTo>
                  <a:cubicBezTo>
                    <a:pt x="23218" y="67800"/>
                    <a:pt x="23218" y="67800"/>
                    <a:pt x="23218" y="67800"/>
                  </a:cubicBezTo>
                  <a:cubicBezTo>
                    <a:pt x="23218" y="68100"/>
                    <a:pt x="23218" y="68100"/>
                    <a:pt x="23448" y="68400"/>
                  </a:cubicBezTo>
                  <a:cubicBezTo>
                    <a:pt x="16091" y="75300"/>
                    <a:pt x="16091" y="75300"/>
                    <a:pt x="16091" y="75300"/>
                  </a:cubicBezTo>
                  <a:cubicBezTo>
                    <a:pt x="15632" y="75000"/>
                    <a:pt x="15172" y="74700"/>
                    <a:pt x="14482" y="74400"/>
                  </a:cubicBezTo>
                  <a:cubicBezTo>
                    <a:pt x="14712" y="74400"/>
                    <a:pt x="14712" y="74100"/>
                    <a:pt x="14712" y="74100"/>
                  </a:cubicBezTo>
                  <a:cubicBezTo>
                    <a:pt x="15402" y="72900"/>
                    <a:pt x="15862" y="71400"/>
                    <a:pt x="16091" y="69900"/>
                  </a:cubicBezTo>
                  <a:close/>
                  <a:moveTo>
                    <a:pt x="14942" y="65100"/>
                  </a:moveTo>
                  <a:cubicBezTo>
                    <a:pt x="15172" y="64800"/>
                    <a:pt x="15172" y="64800"/>
                    <a:pt x="15172" y="64800"/>
                  </a:cubicBezTo>
                  <a:cubicBezTo>
                    <a:pt x="16091" y="65100"/>
                    <a:pt x="16091" y="65100"/>
                    <a:pt x="16091" y="65100"/>
                  </a:cubicBezTo>
                  <a:cubicBezTo>
                    <a:pt x="15172" y="65400"/>
                    <a:pt x="15172" y="65400"/>
                    <a:pt x="15172" y="65400"/>
                  </a:cubicBezTo>
                  <a:cubicBezTo>
                    <a:pt x="15172" y="65100"/>
                    <a:pt x="15172" y="65100"/>
                    <a:pt x="14942" y="65100"/>
                  </a:cubicBezTo>
                  <a:close/>
                  <a:moveTo>
                    <a:pt x="17931" y="60300"/>
                  </a:moveTo>
                  <a:cubicBezTo>
                    <a:pt x="18620" y="59400"/>
                    <a:pt x="18620" y="59400"/>
                    <a:pt x="18620" y="59400"/>
                  </a:cubicBezTo>
                  <a:cubicBezTo>
                    <a:pt x="20459" y="60900"/>
                    <a:pt x="20459" y="60900"/>
                    <a:pt x="20459" y="60900"/>
                  </a:cubicBezTo>
                  <a:lnTo>
                    <a:pt x="17931" y="60300"/>
                  </a:lnTo>
                  <a:close/>
                  <a:moveTo>
                    <a:pt x="20919" y="55500"/>
                  </a:moveTo>
                  <a:cubicBezTo>
                    <a:pt x="25517" y="47700"/>
                    <a:pt x="25517" y="47700"/>
                    <a:pt x="25517" y="47700"/>
                  </a:cubicBezTo>
                  <a:cubicBezTo>
                    <a:pt x="25747" y="47700"/>
                    <a:pt x="25747" y="47700"/>
                    <a:pt x="25977" y="48000"/>
                  </a:cubicBezTo>
                  <a:cubicBezTo>
                    <a:pt x="26206" y="56700"/>
                    <a:pt x="26206" y="56700"/>
                    <a:pt x="26206" y="56700"/>
                  </a:cubicBezTo>
                  <a:cubicBezTo>
                    <a:pt x="25517" y="57000"/>
                    <a:pt x="24827" y="57300"/>
                    <a:pt x="24367" y="58200"/>
                  </a:cubicBezTo>
                  <a:lnTo>
                    <a:pt x="20919" y="55500"/>
                  </a:lnTo>
                  <a:close/>
                  <a:moveTo>
                    <a:pt x="25517" y="22500"/>
                  </a:moveTo>
                  <a:cubicBezTo>
                    <a:pt x="26436" y="23400"/>
                    <a:pt x="26436" y="23400"/>
                    <a:pt x="26436" y="23400"/>
                  </a:cubicBezTo>
                  <a:cubicBezTo>
                    <a:pt x="25977" y="33000"/>
                    <a:pt x="25977" y="33000"/>
                    <a:pt x="25977" y="33000"/>
                  </a:cubicBezTo>
                  <a:cubicBezTo>
                    <a:pt x="25977" y="33000"/>
                    <a:pt x="25747" y="33000"/>
                    <a:pt x="25747" y="33300"/>
                  </a:cubicBezTo>
                  <a:cubicBezTo>
                    <a:pt x="22758" y="28500"/>
                    <a:pt x="22758" y="28500"/>
                    <a:pt x="22758" y="28500"/>
                  </a:cubicBezTo>
                  <a:cubicBezTo>
                    <a:pt x="23448" y="26100"/>
                    <a:pt x="24367" y="24300"/>
                    <a:pt x="25517" y="22500"/>
                  </a:cubicBezTo>
                  <a:close/>
                  <a:moveTo>
                    <a:pt x="12413" y="42300"/>
                  </a:moveTo>
                  <a:cubicBezTo>
                    <a:pt x="14482" y="40800"/>
                    <a:pt x="16781" y="39600"/>
                    <a:pt x="19540" y="39300"/>
                  </a:cubicBezTo>
                  <a:cubicBezTo>
                    <a:pt x="21609" y="40500"/>
                    <a:pt x="21609" y="40500"/>
                    <a:pt x="21609" y="40500"/>
                  </a:cubicBezTo>
                  <a:cubicBezTo>
                    <a:pt x="21609" y="40500"/>
                    <a:pt x="21609" y="40500"/>
                    <a:pt x="21609" y="40500"/>
                  </a:cubicBezTo>
                  <a:cubicBezTo>
                    <a:pt x="21609" y="42000"/>
                    <a:pt x="22068" y="43500"/>
                    <a:pt x="22758" y="44700"/>
                  </a:cubicBezTo>
                  <a:cubicBezTo>
                    <a:pt x="17701" y="53100"/>
                    <a:pt x="17701" y="53100"/>
                    <a:pt x="17701" y="53100"/>
                  </a:cubicBezTo>
                  <a:cubicBezTo>
                    <a:pt x="12183" y="48900"/>
                    <a:pt x="12183" y="48900"/>
                    <a:pt x="12183" y="48900"/>
                  </a:cubicBezTo>
                  <a:lnTo>
                    <a:pt x="12413" y="42300"/>
                  </a:lnTo>
                  <a:close/>
                  <a:moveTo>
                    <a:pt x="12183" y="54300"/>
                  </a:moveTo>
                  <a:cubicBezTo>
                    <a:pt x="15402" y="56700"/>
                    <a:pt x="15402" y="56700"/>
                    <a:pt x="15402" y="56700"/>
                  </a:cubicBezTo>
                  <a:cubicBezTo>
                    <a:pt x="13563" y="60000"/>
                    <a:pt x="13563" y="60000"/>
                    <a:pt x="13563" y="60000"/>
                  </a:cubicBezTo>
                  <a:cubicBezTo>
                    <a:pt x="12183" y="59700"/>
                    <a:pt x="12183" y="59700"/>
                    <a:pt x="12183" y="59700"/>
                  </a:cubicBezTo>
                  <a:lnTo>
                    <a:pt x="12183" y="54300"/>
                  </a:lnTo>
                  <a:close/>
                  <a:moveTo>
                    <a:pt x="4827" y="54000"/>
                  </a:moveTo>
                  <a:cubicBezTo>
                    <a:pt x="5287" y="52800"/>
                    <a:pt x="5747" y="51300"/>
                    <a:pt x="6436" y="50100"/>
                  </a:cubicBezTo>
                  <a:cubicBezTo>
                    <a:pt x="8505" y="51600"/>
                    <a:pt x="8505" y="51600"/>
                    <a:pt x="8505" y="51600"/>
                  </a:cubicBezTo>
                  <a:cubicBezTo>
                    <a:pt x="8505" y="59100"/>
                    <a:pt x="8505" y="59100"/>
                    <a:pt x="8505" y="59100"/>
                  </a:cubicBezTo>
                  <a:cubicBezTo>
                    <a:pt x="7586" y="59100"/>
                    <a:pt x="7586" y="59100"/>
                    <a:pt x="7586" y="59100"/>
                  </a:cubicBezTo>
                  <a:cubicBezTo>
                    <a:pt x="7126" y="57000"/>
                    <a:pt x="6206" y="55200"/>
                    <a:pt x="4827" y="54000"/>
                  </a:cubicBezTo>
                  <a:close/>
                  <a:moveTo>
                    <a:pt x="7816" y="69300"/>
                  </a:moveTo>
                  <a:cubicBezTo>
                    <a:pt x="7816" y="67500"/>
                    <a:pt x="8965" y="66300"/>
                    <a:pt x="10114" y="66300"/>
                  </a:cubicBezTo>
                  <a:cubicBezTo>
                    <a:pt x="11264" y="66300"/>
                    <a:pt x="12413" y="67500"/>
                    <a:pt x="12413" y="69300"/>
                  </a:cubicBezTo>
                  <a:cubicBezTo>
                    <a:pt x="12413" y="70800"/>
                    <a:pt x="11264" y="72300"/>
                    <a:pt x="10114" y="72300"/>
                  </a:cubicBezTo>
                  <a:cubicBezTo>
                    <a:pt x="8965" y="72300"/>
                    <a:pt x="7816" y="70800"/>
                    <a:pt x="7816" y="69300"/>
                  </a:cubicBezTo>
                  <a:close/>
                  <a:moveTo>
                    <a:pt x="12643" y="98100"/>
                  </a:moveTo>
                  <a:cubicBezTo>
                    <a:pt x="10574" y="95400"/>
                    <a:pt x="9195" y="91800"/>
                    <a:pt x="8965" y="87900"/>
                  </a:cubicBezTo>
                  <a:cubicBezTo>
                    <a:pt x="9655" y="88500"/>
                    <a:pt x="10574" y="89100"/>
                    <a:pt x="11494" y="89400"/>
                  </a:cubicBezTo>
                  <a:cubicBezTo>
                    <a:pt x="11494" y="89400"/>
                    <a:pt x="11724" y="89400"/>
                    <a:pt x="11724" y="89400"/>
                  </a:cubicBezTo>
                  <a:cubicBezTo>
                    <a:pt x="12643" y="98100"/>
                    <a:pt x="12643" y="98100"/>
                    <a:pt x="12643" y="98100"/>
                  </a:cubicBezTo>
                  <a:cubicBezTo>
                    <a:pt x="12643" y="98100"/>
                    <a:pt x="12643" y="98100"/>
                    <a:pt x="12643" y="98100"/>
                  </a:cubicBezTo>
                  <a:close/>
                  <a:moveTo>
                    <a:pt x="12643" y="84600"/>
                  </a:moveTo>
                  <a:cubicBezTo>
                    <a:pt x="11494" y="84600"/>
                    <a:pt x="10344" y="83400"/>
                    <a:pt x="10344" y="81600"/>
                  </a:cubicBezTo>
                  <a:cubicBezTo>
                    <a:pt x="10344" y="80100"/>
                    <a:pt x="11494" y="78900"/>
                    <a:pt x="12643" y="78900"/>
                  </a:cubicBezTo>
                  <a:cubicBezTo>
                    <a:pt x="13793" y="78900"/>
                    <a:pt x="14942" y="80100"/>
                    <a:pt x="14942" y="81600"/>
                  </a:cubicBezTo>
                  <a:cubicBezTo>
                    <a:pt x="14942" y="83400"/>
                    <a:pt x="13793" y="84600"/>
                    <a:pt x="12643" y="84600"/>
                  </a:cubicBezTo>
                  <a:close/>
                  <a:moveTo>
                    <a:pt x="15402" y="88500"/>
                  </a:moveTo>
                  <a:cubicBezTo>
                    <a:pt x="16781" y="87600"/>
                    <a:pt x="18160" y="85800"/>
                    <a:pt x="18390" y="83100"/>
                  </a:cubicBezTo>
                  <a:cubicBezTo>
                    <a:pt x="18620" y="82800"/>
                    <a:pt x="18620" y="82200"/>
                    <a:pt x="18620" y="81600"/>
                  </a:cubicBezTo>
                  <a:cubicBezTo>
                    <a:pt x="18620" y="81000"/>
                    <a:pt x="18390" y="80100"/>
                    <a:pt x="18160" y="79200"/>
                  </a:cubicBezTo>
                  <a:cubicBezTo>
                    <a:pt x="24597" y="73200"/>
                    <a:pt x="24597" y="73200"/>
                    <a:pt x="24597" y="73200"/>
                  </a:cubicBezTo>
                  <a:cubicBezTo>
                    <a:pt x="16321" y="96600"/>
                    <a:pt x="16321" y="96600"/>
                    <a:pt x="16321" y="96600"/>
                  </a:cubicBezTo>
                  <a:lnTo>
                    <a:pt x="15402" y="88500"/>
                  </a:lnTo>
                  <a:close/>
                  <a:moveTo>
                    <a:pt x="26436" y="95400"/>
                  </a:moveTo>
                  <a:cubicBezTo>
                    <a:pt x="19770" y="99600"/>
                    <a:pt x="19770" y="99600"/>
                    <a:pt x="19770" y="99600"/>
                  </a:cubicBezTo>
                  <a:cubicBezTo>
                    <a:pt x="19540" y="99600"/>
                    <a:pt x="19540" y="99300"/>
                    <a:pt x="19310" y="99300"/>
                  </a:cubicBezTo>
                  <a:cubicBezTo>
                    <a:pt x="27126" y="77400"/>
                    <a:pt x="27126" y="77400"/>
                    <a:pt x="27126" y="77400"/>
                  </a:cubicBezTo>
                  <a:lnTo>
                    <a:pt x="26436" y="95400"/>
                  </a:lnTo>
                  <a:close/>
                  <a:moveTo>
                    <a:pt x="28275" y="66900"/>
                  </a:moveTo>
                  <a:cubicBezTo>
                    <a:pt x="27126" y="66900"/>
                    <a:pt x="25977" y="65400"/>
                    <a:pt x="25977" y="63900"/>
                  </a:cubicBezTo>
                  <a:cubicBezTo>
                    <a:pt x="25977" y="62400"/>
                    <a:pt x="27126" y="60900"/>
                    <a:pt x="28275" y="60900"/>
                  </a:cubicBezTo>
                  <a:cubicBezTo>
                    <a:pt x="29425" y="60900"/>
                    <a:pt x="30574" y="62400"/>
                    <a:pt x="30574" y="63900"/>
                  </a:cubicBezTo>
                  <a:cubicBezTo>
                    <a:pt x="30574" y="65400"/>
                    <a:pt x="29425" y="66900"/>
                    <a:pt x="28275" y="66900"/>
                  </a:cubicBezTo>
                  <a:close/>
                  <a:moveTo>
                    <a:pt x="29885" y="106200"/>
                  </a:moveTo>
                  <a:cubicBezTo>
                    <a:pt x="30114" y="98700"/>
                    <a:pt x="30114" y="98700"/>
                    <a:pt x="30114" y="98700"/>
                  </a:cubicBezTo>
                  <a:cubicBezTo>
                    <a:pt x="34022" y="96300"/>
                    <a:pt x="34022" y="96300"/>
                    <a:pt x="34022" y="96300"/>
                  </a:cubicBezTo>
                  <a:cubicBezTo>
                    <a:pt x="34022" y="96300"/>
                    <a:pt x="34022" y="96300"/>
                    <a:pt x="34022" y="96600"/>
                  </a:cubicBezTo>
                  <a:cubicBezTo>
                    <a:pt x="34252" y="96600"/>
                    <a:pt x="34252" y="96600"/>
                    <a:pt x="34252" y="96900"/>
                  </a:cubicBezTo>
                  <a:cubicBezTo>
                    <a:pt x="30804" y="107700"/>
                    <a:pt x="30804" y="107700"/>
                    <a:pt x="30804" y="107700"/>
                  </a:cubicBezTo>
                  <a:cubicBezTo>
                    <a:pt x="30344" y="107400"/>
                    <a:pt x="30114" y="106800"/>
                    <a:pt x="29885" y="106200"/>
                  </a:cubicBezTo>
                  <a:close/>
                  <a:moveTo>
                    <a:pt x="42298" y="115200"/>
                  </a:moveTo>
                  <a:cubicBezTo>
                    <a:pt x="39080" y="115200"/>
                    <a:pt x="36091" y="113700"/>
                    <a:pt x="33563" y="111300"/>
                  </a:cubicBezTo>
                  <a:cubicBezTo>
                    <a:pt x="37701" y="98700"/>
                    <a:pt x="37701" y="98700"/>
                    <a:pt x="37701" y="98700"/>
                  </a:cubicBezTo>
                  <a:cubicBezTo>
                    <a:pt x="37931" y="98700"/>
                    <a:pt x="38160" y="98700"/>
                    <a:pt x="38160" y="98700"/>
                  </a:cubicBezTo>
                  <a:cubicBezTo>
                    <a:pt x="38160" y="98700"/>
                    <a:pt x="38160" y="98700"/>
                    <a:pt x="38160" y="98700"/>
                  </a:cubicBezTo>
                  <a:cubicBezTo>
                    <a:pt x="38160" y="98700"/>
                    <a:pt x="38160" y="98700"/>
                    <a:pt x="38160" y="98700"/>
                  </a:cubicBezTo>
                  <a:cubicBezTo>
                    <a:pt x="38160" y="98700"/>
                    <a:pt x="38160" y="98700"/>
                    <a:pt x="38160" y="98700"/>
                  </a:cubicBezTo>
                  <a:cubicBezTo>
                    <a:pt x="38390" y="98700"/>
                    <a:pt x="38620" y="98700"/>
                    <a:pt x="38850" y="98700"/>
                  </a:cubicBezTo>
                  <a:cubicBezTo>
                    <a:pt x="44137" y="114900"/>
                    <a:pt x="44137" y="114900"/>
                    <a:pt x="44137" y="114900"/>
                  </a:cubicBezTo>
                  <a:cubicBezTo>
                    <a:pt x="43678" y="114900"/>
                    <a:pt x="42988" y="115200"/>
                    <a:pt x="42298" y="115200"/>
                  </a:cubicBezTo>
                  <a:close/>
                  <a:moveTo>
                    <a:pt x="42068" y="96900"/>
                  </a:moveTo>
                  <a:cubicBezTo>
                    <a:pt x="42298" y="96600"/>
                    <a:pt x="42298" y="96600"/>
                    <a:pt x="42528" y="96600"/>
                  </a:cubicBezTo>
                  <a:cubicBezTo>
                    <a:pt x="42528" y="96300"/>
                    <a:pt x="42528" y="96300"/>
                    <a:pt x="42528" y="96300"/>
                  </a:cubicBezTo>
                  <a:cubicBezTo>
                    <a:pt x="46436" y="98700"/>
                    <a:pt x="46436" y="98700"/>
                    <a:pt x="46436" y="98700"/>
                  </a:cubicBezTo>
                  <a:cubicBezTo>
                    <a:pt x="46896" y="111300"/>
                    <a:pt x="46896" y="111300"/>
                    <a:pt x="46896" y="111300"/>
                  </a:cubicBezTo>
                  <a:lnTo>
                    <a:pt x="42068" y="96900"/>
                  </a:lnTo>
                  <a:close/>
                  <a:moveTo>
                    <a:pt x="47586" y="67200"/>
                  </a:moveTo>
                  <a:cubicBezTo>
                    <a:pt x="46436" y="67200"/>
                    <a:pt x="45287" y="66000"/>
                    <a:pt x="45287" y="64200"/>
                  </a:cubicBezTo>
                  <a:cubicBezTo>
                    <a:pt x="45287" y="62700"/>
                    <a:pt x="46436" y="61200"/>
                    <a:pt x="47586" y="61200"/>
                  </a:cubicBezTo>
                  <a:cubicBezTo>
                    <a:pt x="48735" y="61200"/>
                    <a:pt x="49885" y="62700"/>
                    <a:pt x="49885" y="64200"/>
                  </a:cubicBezTo>
                  <a:cubicBezTo>
                    <a:pt x="49885" y="66000"/>
                    <a:pt x="48735" y="67200"/>
                    <a:pt x="47586" y="67200"/>
                  </a:cubicBezTo>
                  <a:close/>
                  <a:moveTo>
                    <a:pt x="54482" y="107100"/>
                  </a:moveTo>
                  <a:cubicBezTo>
                    <a:pt x="53333" y="108900"/>
                    <a:pt x="52183" y="110700"/>
                    <a:pt x="50574" y="111900"/>
                  </a:cubicBezTo>
                  <a:cubicBezTo>
                    <a:pt x="50114" y="100800"/>
                    <a:pt x="50114" y="100800"/>
                    <a:pt x="50114" y="100800"/>
                  </a:cubicBezTo>
                  <a:cubicBezTo>
                    <a:pt x="55172" y="104100"/>
                    <a:pt x="55172" y="104100"/>
                    <a:pt x="55172" y="104100"/>
                  </a:cubicBezTo>
                  <a:cubicBezTo>
                    <a:pt x="55172" y="104400"/>
                    <a:pt x="55172" y="104700"/>
                    <a:pt x="55172" y="105000"/>
                  </a:cubicBezTo>
                  <a:cubicBezTo>
                    <a:pt x="55172" y="105300"/>
                    <a:pt x="55172" y="105900"/>
                    <a:pt x="55402" y="106200"/>
                  </a:cubicBezTo>
                  <a:cubicBezTo>
                    <a:pt x="54942" y="106500"/>
                    <a:pt x="54712" y="106800"/>
                    <a:pt x="54482" y="107100"/>
                  </a:cubicBezTo>
                  <a:close/>
                  <a:moveTo>
                    <a:pt x="56781" y="99600"/>
                  </a:moveTo>
                  <a:cubicBezTo>
                    <a:pt x="50114" y="95400"/>
                    <a:pt x="50114" y="95400"/>
                    <a:pt x="50114" y="95400"/>
                  </a:cubicBezTo>
                  <a:cubicBezTo>
                    <a:pt x="49195" y="77400"/>
                    <a:pt x="49195" y="77400"/>
                    <a:pt x="49195" y="77400"/>
                  </a:cubicBezTo>
                  <a:cubicBezTo>
                    <a:pt x="57011" y="99300"/>
                    <a:pt x="57011" y="99300"/>
                    <a:pt x="57011" y="99300"/>
                  </a:cubicBezTo>
                  <a:cubicBezTo>
                    <a:pt x="57011" y="99300"/>
                    <a:pt x="57011" y="99600"/>
                    <a:pt x="56781" y="99600"/>
                  </a:cubicBezTo>
                  <a:close/>
                  <a:moveTo>
                    <a:pt x="61149" y="107700"/>
                  </a:moveTo>
                  <a:cubicBezTo>
                    <a:pt x="60000" y="107700"/>
                    <a:pt x="58850" y="106500"/>
                    <a:pt x="58850" y="105000"/>
                  </a:cubicBezTo>
                  <a:cubicBezTo>
                    <a:pt x="58850" y="103200"/>
                    <a:pt x="60000" y="102000"/>
                    <a:pt x="61149" y="102000"/>
                  </a:cubicBezTo>
                  <a:cubicBezTo>
                    <a:pt x="62298" y="102000"/>
                    <a:pt x="63448" y="103200"/>
                    <a:pt x="63448" y="105000"/>
                  </a:cubicBezTo>
                  <a:cubicBezTo>
                    <a:pt x="63448" y="106500"/>
                    <a:pt x="62298" y="107700"/>
                    <a:pt x="61149" y="107700"/>
                  </a:cubicBezTo>
                  <a:close/>
                  <a:moveTo>
                    <a:pt x="66206" y="101100"/>
                  </a:moveTo>
                  <a:cubicBezTo>
                    <a:pt x="65747" y="99900"/>
                    <a:pt x="64827" y="98700"/>
                    <a:pt x="63908" y="98100"/>
                  </a:cubicBezTo>
                  <a:cubicBezTo>
                    <a:pt x="64827" y="89400"/>
                    <a:pt x="64827" y="89400"/>
                    <a:pt x="64827" y="89400"/>
                  </a:cubicBezTo>
                  <a:cubicBezTo>
                    <a:pt x="64827" y="89400"/>
                    <a:pt x="65057" y="89400"/>
                    <a:pt x="65057" y="89400"/>
                  </a:cubicBezTo>
                  <a:cubicBezTo>
                    <a:pt x="66206" y="89100"/>
                    <a:pt x="67356" y="88200"/>
                    <a:pt x="68045" y="87000"/>
                  </a:cubicBezTo>
                  <a:cubicBezTo>
                    <a:pt x="74022" y="90900"/>
                    <a:pt x="74022" y="90900"/>
                    <a:pt x="74022" y="90900"/>
                  </a:cubicBezTo>
                  <a:cubicBezTo>
                    <a:pt x="74252" y="99300"/>
                    <a:pt x="74252" y="99300"/>
                    <a:pt x="74252" y="99300"/>
                  </a:cubicBezTo>
                  <a:lnTo>
                    <a:pt x="66206" y="101100"/>
                  </a:lnTo>
                  <a:close/>
                  <a:moveTo>
                    <a:pt x="71264" y="109800"/>
                  </a:moveTo>
                  <a:cubicBezTo>
                    <a:pt x="66896" y="106500"/>
                    <a:pt x="66896" y="106500"/>
                    <a:pt x="66896" y="106500"/>
                  </a:cubicBezTo>
                  <a:cubicBezTo>
                    <a:pt x="66896" y="106200"/>
                    <a:pt x="66896" y="106200"/>
                    <a:pt x="66896" y="105900"/>
                  </a:cubicBezTo>
                  <a:cubicBezTo>
                    <a:pt x="74482" y="104100"/>
                    <a:pt x="74482" y="104100"/>
                    <a:pt x="74482" y="104100"/>
                  </a:cubicBezTo>
                  <a:cubicBezTo>
                    <a:pt x="74482" y="107700"/>
                    <a:pt x="74482" y="107700"/>
                    <a:pt x="74482" y="107700"/>
                  </a:cubicBezTo>
                  <a:cubicBezTo>
                    <a:pt x="73563" y="108600"/>
                    <a:pt x="72413" y="109200"/>
                    <a:pt x="71264" y="109800"/>
                  </a:cubicBezTo>
                  <a:close/>
                  <a:moveTo>
                    <a:pt x="74942" y="63600"/>
                  </a:moveTo>
                  <a:cubicBezTo>
                    <a:pt x="73563" y="63600"/>
                    <a:pt x="72643" y="62400"/>
                    <a:pt x="72643" y="60900"/>
                  </a:cubicBezTo>
                  <a:cubicBezTo>
                    <a:pt x="72643" y="59100"/>
                    <a:pt x="73563" y="57900"/>
                    <a:pt x="74942" y="57900"/>
                  </a:cubicBezTo>
                  <a:cubicBezTo>
                    <a:pt x="76091" y="57900"/>
                    <a:pt x="77011" y="59100"/>
                    <a:pt x="77011" y="60900"/>
                  </a:cubicBezTo>
                  <a:cubicBezTo>
                    <a:pt x="77011" y="62400"/>
                    <a:pt x="76091" y="63600"/>
                    <a:pt x="74942" y="63600"/>
                  </a:cubicBezTo>
                  <a:close/>
                  <a:moveTo>
                    <a:pt x="82988" y="96900"/>
                  </a:moveTo>
                  <a:cubicBezTo>
                    <a:pt x="77931" y="98100"/>
                    <a:pt x="77931" y="98100"/>
                    <a:pt x="77931" y="98100"/>
                  </a:cubicBezTo>
                  <a:cubicBezTo>
                    <a:pt x="77701" y="93600"/>
                    <a:pt x="77701" y="93600"/>
                    <a:pt x="77701" y="93600"/>
                  </a:cubicBezTo>
                  <a:cubicBezTo>
                    <a:pt x="82988" y="96900"/>
                    <a:pt x="82988" y="96900"/>
                    <a:pt x="82988" y="96900"/>
                  </a:cubicBezTo>
                  <a:cubicBezTo>
                    <a:pt x="82988" y="96900"/>
                    <a:pt x="82988" y="96900"/>
                    <a:pt x="82988" y="96900"/>
                  </a:cubicBezTo>
                  <a:close/>
                  <a:moveTo>
                    <a:pt x="84597" y="92400"/>
                  </a:moveTo>
                  <a:cubicBezTo>
                    <a:pt x="77471" y="87900"/>
                    <a:pt x="77471" y="87900"/>
                    <a:pt x="77471" y="87900"/>
                  </a:cubicBezTo>
                  <a:cubicBezTo>
                    <a:pt x="77011" y="72000"/>
                    <a:pt x="77011" y="72000"/>
                    <a:pt x="77011" y="72000"/>
                  </a:cubicBezTo>
                  <a:cubicBezTo>
                    <a:pt x="84597" y="92400"/>
                    <a:pt x="84597" y="92400"/>
                    <a:pt x="84597" y="92400"/>
                  </a:cubicBezTo>
                  <a:cubicBezTo>
                    <a:pt x="84597" y="92400"/>
                    <a:pt x="84597" y="92400"/>
                    <a:pt x="84597" y="92400"/>
                  </a:cubicBezTo>
                  <a:close/>
                  <a:moveTo>
                    <a:pt x="88735" y="100800"/>
                  </a:moveTo>
                  <a:cubicBezTo>
                    <a:pt x="87586" y="100800"/>
                    <a:pt x="86436" y="99600"/>
                    <a:pt x="86436" y="98100"/>
                  </a:cubicBezTo>
                  <a:cubicBezTo>
                    <a:pt x="86436" y="96300"/>
                    <a:pt x="87586" y="95100"/>
                    <a:pt x="88735" y="95100"/>
                  </a:cubicBezTo>
                  <a:cubicBezTo>
                    <a:pt x="90114" y="95100"/>
                    <a:pt x="91034" y="96300"/>
                    <a:pt x="91034" y="98100"/>
                  </a:cubicBezTo>
                  <a:cubicBezTo>
                    <a:pt x="91034" y="99600"/>
                    <a:pt x="90114" y="100800"/>
                    <a:pt x="88735" y="100800"/>
                  </a:cubicBezTo>
                  <a:close/>
                  <a:moveTo>
                    <a:pt x="106436" y="84000"/>
                  </a:moveTo>
                  <a:cubicBezTo>
                    <a:pt x="105517" y="84300"/>
                    <a:pt x="104827" y="85200"/>
                    <a:pt x="104827" y="86400"/>
                  </a:cubicBezTo>
                  <a:cubicBezTo>
                    <a:pt x="104827" y="86700"/>
                    <a:pt x="104827" y="86700"/>
                    <a:pt x="104827" y="86700"/>
                  </a:cubicBezTo>
                  <a:cubicBezTo>
                    <a:pt x="104827" y="96600"/>
                    <a:pt x="98850" y="104400"/>
                    <a:pt x="91494" y="105000"/>
                  </a:cubicBezTo>
                  <a:cubicBezTo>
                    <a:pt x="93333" y="103500"/>
                    <a:pt x="94712" y="100800"/>
                    <a:pt x="94712" y="98100"/>
                  </a:cubicBezTo>
                  <a:cubicBezTo>
                    <a:pt x="94712" y="97500"/>
                    <a:pt x="94712" y="96900"/>
                    <a:pt x="94712" y="96300"/>
                  </a:cubicBezTo>
                  <a:cubicBezTo>
                    <a:pt x="94022" y="92700"/>
                    <a:pt x="91494" y="90300"/>
                    <a:pt x="88735" y="90300"/>
                  </a:cubicBezTo>
                  <a:cubicBezTo>
                    <a:pt x="88505" y="90300"/>
                    <a:pt x="88275" y="90300"/>
                    <a:pt x="88045" y="90300"/>
                  </a:cubicBezTo>
                  <a:cubicBezTo>
                    <a:pt x="79770" y="68400"/>
                    <a:pt x="79770" y="68400"/>
                    <a:pt x="79770" y="68400"/>
                  </a:cubicBezTo>
                  <a:cubicBezTo>
                    <a:pt x="91954" y="78600"/>
                    <a:pt x="91954" y="78600"/>
                    <a:pt x="91954" y="78600"/>
                  </a:cubicBezTo>
                  <a:cubicBezTo>
                    <a:pt x="91954" y="79200"/>
                    <a:pt x="91724" y="80100"/>
                    <a:pt x="91724" y="80700"/>
                  </a:cubicBezTo>
                  <a:cubicBezTo>
                    <a:pt x="91724" y="83100"/>
                    <a:pt x="92643" y="85500"/>
                    <a:pt x="94482" y="87000"/>
                  </a:cubicBezTo>
                  <a:cubicBezTo>
                    <a:pt x="95402" y="87900"/>
                    <a:pt x="96551" y="88500"/>
                    <a:pt x="97701" y="88500"/>
                  </a:cubicBezTo>
                  <a:cubicBezTo>
                    <a:pt x="97701" y="88500"/>
                    <a:pt x="97701" y="88500"/>
                    <a:pt x="97701" y="88500"/>
                  </a:cubicBezTo>
                  <a:cubicBezTo>
                    <a:pt x="99540" y="88500"/>
                    <a:pt x="101609" y="87000"/>
                    <a:pt x="102758" y="84900"/>
                  </a:cubicBezTo>
                  <a:cubicBezTo>
                    <a:pt x="102988" y="84000"/>
                    <a:pt x="103218" y="83400"/>
                    <a:pt x="103448" y="82500"/>
                  </a:cubicBezTo>
                  <a:cubicBezTo>
                    <a:pt x="110804" y="81600"/>
                    <a:pt x="110804" y="81600"/>
                    <a:pt x="110804" y="81600"/>
                  </a:cubicBezTo>
                  <a:cubicBezTo>
                    <a:pt x="110804" y="81600"/>
                    <a:pt x="110804" y="81900"/>
                    <a:pt x="110804" y="81900"/>
                  </a:cubicBezTo>
                  <a:cubicBezTo>
                    <a:pt x="109425" y="83100"/>
                    <a:pt x="108045" y="83700"/>
                    <a:pt x="106436" y="84000"/>
                  </a:cubicBezTo>
                  <a:close/>
                  <a:moveTo>
                    <a:pt x="112643" y="72600"/>
                  </a:moveTo>
                  <a:cubicBezTo>
                    <a:pt x="108505" y="68700"/>
                    <a:pt x="108505" y="68700"/>
                    <a:pt x="108505" y="68700"/>
                  </a:cubicBezTo>
                  <a:cubicBezTo>
                    <a:pt x="110804" y="65400"/>
                    <a:pt x="110804" y="65400"/>
                    <a:pt x="110804" y="65400"/>
                  </a:cubicBezTo>
                  <a:cubicBezTo>
                    <a:pt x="112643" y="72300"/>
                    <a:pt x="112643" y="72300"/>
                    <a:pt x="112643" y="72300"/>
                  </a:cubicBezTo>
                  <a:cubicBezTo>
                    <a:pt x="112643" y="72300"/>
                    <a:pt x="112643" y="72600"/>
                    <a:pt x="112643" y="72600"/>
                  </a:cubicBezTo>
                  <a:close/>
                  <a:moveTo>
                    <a:pt x="116321" y="70800"/>
                  </a:moveTo>
                  <a:cubicBezTo>
                    <a:pt x="113793" y="61200"/>
                    <a:pt x="113793" y="61200"/>
                    <a:pt x="113793" y="61200"/>
                  </a:cubicBezTo>
                  <a:cubicBezTo>
                    <a:pt x="114482" y="60300"/>
                    <a:pt x="114482" y="60300"/>
                    <a:pt x="114482" y="60300"/>
                  </a:cubicBezTo>
                  <a:cubicBezTo>
                    <a:pt x="115632" y="62700"/>
                    <a:pt x="116321" y="65700"/>
                    <a:pt x="116321" y="69000"/>
                  </a:cubicBezTo>
                  <a:cubicBezTo>
                    <a:pt x="116321" y="69600"/>
                    <a:pt x="116321" y="70200"/>
                    <a:pt x="116321" y="70800"/>
                  </a:cubicBezTo>
                  <a:cubicBezTo>
                    <a:pt x="116321" y="70800"/>
                    <a:pt x="116321" y="70800"/>
                    <a:pt x="116321" y="70800"/>
                  </a:cubicBezTo>
                  <a:close/>
                </a:path>
              </a:pathLst>
            </a:custGeom>
            <a:solidFill>
              <a:srgbClr val="B1B3B4"/>
            </a:solidFill>
            <a:ln>
              <a:noFill/>
            </a:ln>
          </p:spPr>
          <p:txBody>
            <a:bodyPr anchorCtr="0" anchor="t" bIns="54425" lIns="108875" rIns="108875" tIns="54425">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grpSp>
          <p:nvGrpSpPr>
            <p:cNvPr id="481" name="Shape 481"/>
            <p:cNvGrpSpPr/>
            <p:nvPr/>
          </p:nvGrpSpPr>
          <p:grpSpPr>
            <a:xfrm>
              <a:off x="7034168" y="5701088"/>
              <a:ext cx="1962778" cy="777410"/>
              <a:chOff x="6074842" y="5105635"/>
              <a:chExt cx="1590090" cy="1148358"/>
            </a:xfrm>
          </p:grpSpPr>
          <p:sp>
            <p:nvSpPr>
              <p:cNvPr id="482" name="Shape 482"/>
              <p:cNvSpPr/>
              <p:nvPr/>
            </p:nvSpPr>
            <p:spPr>
              <a:xfrm>
                <a:off x="6074842" y="5105635"/>
                <a:ext cx="1590090" cy="1148358"/>
              </a:xfrm>
              <a:custGeom>
                <a:pathLst>
                  <a:path extrusionOk="0" h="120000" w="120000">
                    <a:moveTo>
                      <a:pt x="25517" y="106766"/>
                    </a:moveTo>
                    <a:cubicBezTo>
                      <a:pt x="24137" y="107067"/>
                      <a:pt x="22528" y="107368"/>
                      <a:pt x="20919" y="107368"/>
                    </a:cubicBezTo>
                    <a:cubicBezTo>
                      <a:pt x="20919" y="107368"/>
                      <a:pt x="20919" y="107368"/>
                      <a:pt x="20919" y="107368"/>
                    </a:cubicBezTo>
                    <a:cubicBezTo>
                      <a:pt x="12183" y="107368"/>
                      <a:pt x="5287" y="98345"/>
                      <a:pt x="5287" y="86917"/>
                    </a:cubicBezTo>
                    <a:cubicBezTo>
                      <a:pt x="5287" y="86917"/>
                      <a:pt x="5287" y="86917"/>
                      <a:pt x="5287" y="86917"/>
                    </a:cubicBezTo>
                    <a:cubicBezTo>
                      <a:pt x="5287" y="84812"/>
                      <a:pt x="5517" y="82706"/>
                      <a:pt x="5977" y="80902"/>
                    </a:cubicBezTo>
                    <a:cubicBezTo>
                      <a:pt x="5977" y="80902"/>
                      <a:pt x="5977" y="80902"/>
                      <a:pt x="5977" y="80902"/>
                    </a:cubicBezTo>
                    <a:cubicBezTo>
                      <a:pt x="2298" y="75789"/>
                      <a:pt x="0" y="69172"/>
                      <a:pt x="0" y="61954"/>
                    </a:cubicBezTo>
                    <a:cubicBezTo>
                      <a:pt x="0" y="61954"/>
                      <a:pt x="0" y="61954"/>
                      <a:pt x="0" y="61954"/>
                    </a:cubicBezTo>
                    <a:cubicBezTo>
                      <a:pt x="0" y="47819"/>
                      <a:pt x="8045" y="36390"/>
                      <a:pt x="18620" y="34586"/>
                    </a:cubicBezTo>
                    <a:cubicBezTo>
                      <a:pt x="18620" y="34586"/>
                      <a:pt x="18620" y="34586"/>
                      <a:pt x="18620" y="34586"/>
                    </a:cubicBezTo>
                    <a:cubicBezTo>
                      <a:pt x="18620" y="34285"/>
                      <a:pt x="18390" y="33984"/>
                      <a:pt x="18390" y="33383"/>
                    </a:cubicBezTo>
                    <a:cubicBezTo>
                      <a:pt x="18390" y="33383"/>
                      <a:pt x="18390" y="33383"/>
                      <a:pt x="18390" y="33383"/>
                    </a:cubicBezTo>
                    <a:cubicBezTo>
                      <a:pt x="18390" y="21954"/>
                      <a:pt x="25747" y="12631"/>
                      <a:pt x="34482" y="12631"/>
                    </a:cubicBezTo>
                    <a:cubicBezTo>
                      <a:pt x="34482" y="12631"/>
                      <a:pt x="34482" y="12631"/>
                      <a:pt x="34482" y="12631"/>
                    </a:cubicBezTo>
                    <a:cubicBezTo>
                      <a:pt x="37701" y="12631"/>
                      <a:pt x="40689" y="13834"/>
                      <a:pt x="43218" y="16240"/>
                    </a:cubicBezTo>
                    <a:cubicBezTo>
                      <a:pt x="43218" y="16240"/>
                      <a:pt x="43218" y="16240"/>
                      <a:pt x="43218" y="16240"/>
                    </a:cubicBezTo>
                    <a:cubicBezTo>
                      <a:pt x="47356" y="6616"/>
                      <a:pt x="55172" y="0"/>
                      <a:pt x="64137" y="0"/>
                    </a:cubicBezTo>
                    <a:cubicBezTo>
                      <a:pt x="64137" y="0"/>
                      <a:pt x="64137" y="0"/>
                      <a:pt x="64137" y="0"/>
                    </a:cubicBezTo>
                    <a:cubicBezTo>
                      <a:pt x="74712" y="0"/>
                      <a:pt x="83448" y="9022"/>
                      <a:pt x="86436" y="21654"/>
                    </a:cubicBezTo>
                    <a:cubicBezTo>
                      <a:pt x="86436" y="21654"/>
                      <a:pt x="86436" y="21654"/>
                      <a:pt x="86436" y="21654"/>
                    </a:cubicBezTo>
                    <a:cubicBezTo>
                      <a:pt x="87126" y="21654"/>
                      <a:pt x="87586" y="21654"/>
                      <a:pt x="88045" y="21654"/>
                    </a:cubicBezTo>
                    <a:cubicBezTo>
                      <a:pt x="88045" y="21654"/>
                      <a:pt x="88045" y="21654"/>
                      <a:pt x="88045" y="21654"/>
                    </a:cubicBezTo>
                    <a:cubicBezTo>
                      <a:pt x="91954" y="21654"/>
                      <a:pt x="95632" y="23157"/>
                      <a:pt x="98850" y="25563"/>
                    </a:cubicBezTo>
                    <a:cubicBezTo>
                      <a:pt x="98850" y="25563"/>
                      <a:pt x="98850" y="25563"/>
                      <a:pt x="98850" y="25563"/>
                    </a:cubicBezTo>
                    <a:cubicBezTo>
                      <a:pt x="98850" y="25563"/>
                      <a:pt x="98850" y="25563"/>
                      <a:pt x="98850" y="25563"/>
                    </a:cubicBezTo>
                    <a:cubicBezTo>
                      <a:pt x="99540" y="26466"/>
                      <a:pt x="100000" y="27669"/>
                      <a:pt x="99310" y="28872"/>
                    </a:cubicBezTo>
                    <a:cubicBezTo>
                      <a:pt x="99310" y="28872"/>
                      <a:pt x="99310" y="28872"/>
                      <a:pt x="99310" y="28872"/>
                    </a:cubicBezTo>
                    <a:cubicBezTo>
                      <a:pt x="98850" y="30075"/>
                      <a:pt x="97701" y="30375"/>
                      <a:pt x="96781" y="29774"/>
                    </a:cubicBezTo>
                    <a:cubicBezTo>
                      <a:pt x="96781" y="29774"/>
                      <a:pt x="96781" y="29774"/>
                      <a:pt x="96781" y="29774"/>
                    </a:cubicBezTo>
                    <a:cubicBezTo>
                      <a:pt x="94252" y="27669"/>
                      <a:pt x="91264" y="26466"/>
                      <a:pt x="88045" y="26466"/>
                    </a:cubicBezTo>
                    <a:cubicBezTo>
                      <a:pt x="88045" y="26466"/>
                      <a:pt x="88045" y="26466"/>
                      <a:pt x="88045" y="26466"/>
                    </a:cubicBezTo>
                    <a:cubicBezTo>
                      <a:pt x="87356" y="26466"/>
                      <a:pt x="86436" y="26466"/>
                      <a:pt x="85517" y="26766"/>
                    </a:cubicBezTo>
                    <a:cubicBezTo>
                      <a:pt x="85517" y="26766"/>
                      <a:pt x="85517" y="26766"/>
                      <a:pt x="85517" y="26766"/>
                    </a:cubicBezTo>
                    <a:cubicBezTo>
                      <a:pt x="84597" y="26766"/>
                      <a:pt x="83678" y="26165"/>
                      <a:pt x="83448" y="24962"/>
                    </a:cubicBezTo>
                    <a:cubicBezTo>
                      <a:pt x="83448" y="24962"/>
                      <a:pt x="83448" y="24962"/>
                      <a:pt x="83448" y="24962"/>
                    </a:cubicBezTo>
                    <a:cubicBezTo>
                      <a:pt x="81379" y="13533"/>
                      <a:pt x="73333" y="4812"/>
                      <a:pt x="64137" y="4812"/>
                    </a:cubicBezTo>
                    <a:cubicBezTo>
                      <a:pt x="64137" y="4812"/>
                      <a:pt x="64137" y="4812"/>
                      <a:pt x="64137" y="4812"/>
                    </a:cubicBezTo>
                    <a:cubicBezTo>
                      <a:pt x="55862" y="4812"/>
                      <a:pt x="48735" y="11428"/>
                      <a:pt x="45747" y="20751"/>
                    </a:cubicBezTo>
                    <a:cubicBezTo>
                      <a:pt x="45747" y="20751"/>
                      <a:pt x="45747" y="20751"/>
                      <a:pt x="45747" y="20751"/>
                    </a:cubicBezTo>
                    <a:cubicBezTo>
                      <a:pt x="45517" y="21353"/>
                      <a:pt x="44827" y="21954"/>
                      <a:pt x="44367" y="22255"/>
                    </a:cubicBezTo>
                    <a:cubicBezTo>
                      <a:pt x="44367" y="22255"/>
                      <a:pt x="44367" y="22255"/>
                      <a:pt x="44367" y="22255"/>
                    </a:cubicBezTo>
                    <a:cubicBezTo>
                      <a:pt x="43678" y="22255"/>
                      <a:pt x="43218" y="22255"/>
                      <a:pt x="42758" y="21654"/>
                    </a:cubicBezTo>
                    <a:cubicBezTo>
                      <a:pt x="42758" y="21654"/>
                      <a:pt x="42758" y="21654"/>
                      <a:pt x="42758" y="21654"/>
                    </a:cubicBezTo>
                    <a:cubicBezTo>
                      <a:pt x="40459" y="18947"/>
                      <a:pt x="37701" y="17443"/>
                      <a:pt x="34482" y="17443"/>
                    </a:cubicBezTo>
                    <a:cubicBezTo>
                      <a:pt x="34482" y="17443"/>
                      <a:pt x="34482" y="17443"/>
                      <a:pt x="34482" y="17443"/>
                    </a:cubicBezTo>
                    <a:cubicBezTo>
                      <a:pt x="27586" y="17443"/>
                      <a:pt x="22298" y="24661"/>
                      <a:pt x="22068" y="33383"/>
                    </a:cubicBezTo>
                    <a:cubicBezTo>
                      <a:pt x="22068" y="33383"/>
                      <a:pt x="22068" y="33383"/>
                      <a:pt x="22068" y="33383"/>
                    </a:cubicBezTo>
                    <a:cubicBezTo>
                      <a:pt x="22068" y="34586"/>
                      <a:pt x="22298" y="35488"/>
                      <a:pt x="22298" y="36390"/>
                    </a:cubicBezTo>
                    <a:cubicBezTo>
                      <a:pt x="22298" y="36390"/>
                      <a:pt x="22298" y="36390"/>
                      <a:pt x="22298" y="36390"/>
                    </a:cubicBezTo>
                    <a:cubicBezTo>
                      <a:pt x="22528" y="37293"/>
                      <a:pt x="22298" y="37894"/>
                      <a:pt x="22068" y="38496"/>
                    </a:cubicBezTo>
                    <a:cubicBezTo>
                      <a:pt x="22068" y="38496"/>
                      <a:pt x="22068" y="38496"/>
                      <a:pt x="22068" y="38496"/>
                    </a:cubicBezTo>
                    <a:cubicBezTo>
                      <a:pt x="21609" y="39097"/>
                      <a:pt x="21149" y="39398"/>
                      <a:pt x="20689" y="39398"/>
                    </a:cubicBezTo>
                    <a:cubicBezTo>
                      <a:pt x="20689" y="39398"/>
                      <a:pt x="20689" y="39398"/>
                      <a:pt x="20689" y="39398"/>
                    </a:cubicBezTo>
                    <a:cubicBezTo>
                      <a:pt x="11264" y="39699"/>
                      <a:pt x="3678" y="49624"/>
                      <a:pt x="3678" y="61954"/>
                    </a:cubicBezTo>
                    <a:cubicBezTo>
                      <a:pt x="3678" y="61954"/>
                      <a:pt x="3678" y="61954"/>
                      <a:pt x="3678" y="61954"/>
                    </a:cubicBezTo>
                    <a:cubicBezTo>
                      <a:pt x="3678" y="68270"/>
                      <a:pt x="5747" y="74285"/>
                      <a:pt x="9195" y="78496"/>
                    </a:cubicBezTo>
                    <a:cubicBezTo>
                      <a:pt x="9195" y="78496"/>
                      <a:pt x="9195" y="78496"/>
                      <a:pt x="9195" y="78496"/>
                    </a:cubicBezTo>
                    <a:cubicBezTo>
                      <a:pt x="9885" y="79097"/>
                      <a:pt x="10114" y="80000"/>
                      <a:pt x="9655" y="81203"/>
                    </a:cubicBezTo>
                    <a:cubicBezTo>
                      <a:pt x="9655" y="81203"/>
                      <a:pt x="9655" y="81203"/>
                      <a:pt x="9655" y="81203"/>
                    </a:cubicBezTo>
                    <a:cubicBezTo>
                      <a:pt x="9195" y="83007"/>
                      <a:pt x="8965" y="84812"/>
                      <a:pt x="8965" y="86917"/>
                    </a:cubicBezTo>
                    <a:cubicBezTo>
                      <a:pt x="8965" y="86917"/>
                      <a:pt x="8965" y="86917"/>
                      <a:pt x="8965" y="86917"/>
                    </a:cubicBezTo>
                    <a:cubicBezTo>
                      <a:pt x="8965" y="95639"/>
                      <a:pt x="14252" y="102556"/>
                      <a:pt x="20919" y="102556"/>
                    </a:cubicBezTo>
                    <a:cubicBezTo>
                      <a:pt x="20919" y="102556"/>
                      <a:pt x="20919" y="102556"/>
                      <a:pt x="20919" y="102556"/>
                    </a:cubicBezTo>
                    <a:cubicBezTo>
                      <a:pt x="22758" y="102556"/>
                      <a:pt x="24367" y="102255"/>
                      <a:pt x="25747" y="101353"/>
                    </a:cubicBezTo>
                    <a:cubicBezTo>
                      <a:pt x="25747" y="101353"/>
                      <a:pt x="25747" y="101353"/>
                      <a:pt x="25747" y="101353"/>
                    </a:cubicBezTo>
                    <a:cubicBezTo>
                      <a:pt x="26206" y="101052"/>
                      <a:pt x="26896" y="101052"/>
                      <a:pt x="27356" y="101353"/>
                    </a:cubicBezTo>
                    <a:cubicBezTo>
                      <a:pt x="27356" y="101353"/>
                      <a:pt x="27356" y="101353"/>
                      <a:pt x="27356" y="101353"/>
                    </a:cubicBezTo>
                    <a:cubicBezTo>
                      <a:pt x="27816" y="101654"/>
                      <a:pt x="28045" y="102255"/>
                      <a:pt x="28275" y="102857"/>
                    </a:cubicBezTo>
                    <a:cubicBezTo>
                      <a:pt x="28275" y="102857"/>
                      <a:pt x="28275" y="102857"/>
                      <a:pt x="28275" y="102857"/>
                    </a:cubicBezTo>
                    <a:cubicBezTo>
                      <a:pt x="30344" y="110075"/>
                      <a:pt x="35862" y="115187"/>
                      <a:pt x="42298" y="115187"/>
                    </a:cubicBezTo>
                    <a:cubicBezTo>
                      <a:pt x="42298" y="115187"/>
                      <a:pt x="42298" y="115187"/>
                      <a:pt x="42298" y="115187"/>
                    </a:cubicBezTo>
                    <a:cubicBezTo>
                      <a:pt x="47356" y="115187"/>
                      <a:pt x="51724" y="112180"/>
                      <a:pt x="54482" y="107368"/>
                    </a:cubicBezTo>
                    <a:cubicBezTo>
                      <a:pt x="54482" y="107368"/>
                      <a:pt x="54482" y="107368"/>
                      <a:pt x="54482" y="107368"/>
                    </a:cubicBezTo>
                    <a:cubicBezTo>
                      <a:pt x="54712" y="106766"/>
                      <a:pt x="55172" y="106466"/>
                      <a:pt x="55632" y="106466"/>
                    </a:cubicBezTo>
                    <a:cubicBezTo>
                      <a:pt x="55632" y="106466"/>
                      <a:pt x="55632" y="106466"/>
                      <a:pt x="55632" y="106466"/>
                    </a:cubicBezTo>
                    <a:cubicBezTo>
                      <a:pt x="56091" y="106165"/>
                      <a:pt x="56551" y="106466"/>
                      <a:pt x="57011" y="106766"/>
                    </a:cubicBezTo>
                    <a:cubicBezTo>
                      <a:pt x="57011" y="106766"/>
                      <a:pt x="57011" y="106766"/>
                      <a:pt x="57011" y="106766"/>
                    </a:cubicBezTo>
                    <a:cubicBezTo>
                      <a:pt x="59540" y="109473"/>
                      <a:pt x="62758" y="110977"/>
                      <a:pt x="66436" y="110977"/>
                    </a:cubicBezTo>
                    <a:cubicBezTo>
                      <a:pt x="66436" y="110977"/>
                      <a:pt x="66436" y="110977"/>
                      <a:pt x="66436" y="110977"/>
                    </a:cubicBezTo>
                    <a:cubicBezTo>
                      <a:pt x="71724" y="110977"/>
                      <a:pt x="76551" y="107368"/>
                      <a:pt x="79080" y="101654"/>
                    </a:cubicBezTo>
                    <a:cubicBezTo>
                      <a:pt x="79080" y="101654"/>
                      <a:pt x="79080" y="101654"/>
                      <a:pt x="79080" y="101654"/>
                    </a:cubicBezTo>
                    <a:cubicBezTo>
                      <a:pt x="79310" y="101052"/>
                      <a:pt x="79770" y="100751"/>
                      <a:pt x="80459" y="100451"/>
                    </a:cubicBezTo>
                    <a:cubicBezTo>
                      <a:pt x="80459" y="100451"/>
                      <a:pt x="80459" y="100451"/>
                      <a:pt x="80459" y="100451"/>
                    </a:cubicBezTo>
                    <a:cubicBezTo>
                      <a:pt x="80919" y="100451"/>
                      <a:pt x="81379" y="100451"/>
                      <a:pt x="81839" y="101052"/>
                    </a:cubicBezTo>
                    <a:cubicBezTo>
                      <a:pt x="81839" y="101052"/>
                      <a:pt x="81839" y="101052"/>
                      <a:pt x="81839" y="101052"/>
                    </a:cubicBezTo>
                    <a:cubicBezTo>
                      <a:pt x="84367" y="103458"/>
                      <a:pt x="87356" y="105263"/>
                      <a:pt x="90804" y="105263"/>
                    </a:cubicBezTo>
                    <a:cubicBezTo>
                      <a:pt x="90804" y="105263"/>
                      <a:pt x="90804" y="105263"/>
                      <a:pt x="90804" y="105263"/>
                    </a:cubicBezTo>
                    <a:cubicBezTo>
                      <a:pt x="98390" y="105263"/>
                      <a:pt x="104597" y="97142"/>
                      <a:pt x="104597" y="86917"/>
                    </a:cubicBezTo>
                    <a:cubicBezTo>
                      <a:pt x="104597" y="86917"/>
                      <a:pt x="104597" y="86917"/>
                      <a:pt x="104597" y="86917"/>
                    </a:cubicBezTo>
                    <a:cubicBezTo>
                      <a:pt x="104597" y="86917"/>
                      <a:pt x="104597" y="86917"/>
                      <a:pt x="104597" y="86616"/>
                    </a:cubicBezTo>
                    <a:cubicBezTo>
                      <a:pt x="104597" y="86616"/>
                      <a:pt x="104597" y="86616"/>
                      <a:pt x="104597" y="86616"/>
                    </a:cubicBezTo>
                    <a:cubicBezTo>
                      <a:pt x="104597" y="85413"/>
                      <a:pt x="105287" y="84511"/>
                      <a:pt x="106206" y="84210"/>
                    </a:cubicBezTo>
                    <a:cubicBezTo>
                      <a:pt x="106206" y="84210"/>
                      <a:pt x="106206" y="84210"/>
                      <a:pt x="106206" y="84210"/>
                    </a:cubicBezTo>
                    <a:cubicBezTo>
                      <a:pt x="111954" y="83007"/>
                      <a:pt x="116321" y="76691"/>
                      <a:pt x="116321" y="68872"/>
                    </a:cubicBezTo>
                    <a:cubicBezTo>
                      <a:pt x="116321" y="68872"/>
                      <a:pt x="116321" y="68872"/>
                      <a:pt x="116321" y="68872"/>
                    </a:cubicBezTo>
                    <a:cubicBezTo>
                      <a:pt x="116321" y="61052"/>
                      <a:pt x="111724" y="54436"/>
                      <a:pt x="105747" y="53533"/>
                    </a:cubicBezTo>
                    <a:cubicBezTo>
                      <a:pt x="105747" y="53533"/>
                      <a:pt x="105747" y="53533"/>
                      <a:pt x="105747" y="53533"/>
                    </a:cubicBezTo>
                    <a:cubicBezTo>
                      <a:pt x="105287" y="53533"/>
                      <a:pt x="104827" y="53233"/>
                      <a:pt x="104597" y="52631"/>
                    </a:cubicBezTo>
                    <a:cubicBezTo>
                      <a:pt x="104597" y="52631"/>
                      <a:pt x="104597" y="52631"/>
                      <a:pt x="104597" y="52631"/>
                    </a:cubicBezTo>
                    <a:cubicBezTo>
                      <a:pt x="104137" y="52330"/>
                      <a:pt x="104137" y="51428"/>
                      <a:pt x="104137" y="50827"/>
                    </a:cubicBezTo>
                    <a:cubicBezTo>
                      <a:pt x="104137" y="50827"/>
                      <a:pt x="104137" y="50827"/>
                      <a:pt x="104137" y="50827"/>
                    </a:cubicBezTo>
                    <a:cubicBezTo>
                      <a:pt x="104367" y="49924"/>
                      <a:pt x="104367" y="48721"/>
                      <a:pt x="104367" y="47518"/>
                    </a:cubicBezTo>
                    <a:cubicBezTo>
                      <a:pt x="104367" y="47518"/>
                      <a:pt x="104367" y="47518"/>
                      <a:pt x="104367" y="47518"/>
                    </a:cubicBezTo>
                    <a:cubicBezTo>
                      <a:pt x="104367" y="43308"/>
                      <a:pt x="103448" y="39097"/>
                      <a:pt x="101609" y="35789"/>
                    </a:cubicBezTo>
                    <a:cubicBezTo>
                      <a:pt x="101609" y="35789"/>
                      <a:pt x="101609" y="35789"/>
                      <a:pt x="101609" y="35789"/>
                    </a:cubicBezTo>
                    <a:cubicBezTo>
                      <a:pt x="100919" y="34586"/>
                      <a:pt x="101149" y="33082"/>
                      <a:pt x="102068" y="32481"/>
                    </a:cubicBezTo>
                    <a:cubicBezTo>
                      <a:pt x="102068" y="32481"/>
                      <a:pt x="102068" y="32481"/>
                      <a:pt x="102068" y="32481"/>
                    </a:cubicBezTo>
                    <a:cubicBezTo>
                      <a:pt x="102988" y="31578"/>
                      <a:pt x="104137" y="31879"/>
                      <a:pt x="104597" y="33082"/>
                    </a:cubicBezTo>
                    <a:cubicBezTo>
                      <a:pt x="104597" y="33082"/>
                      <a:pt x="104597" y="33082"/>
                      <a:pt x="104597" y="33082"/>
                    </a:cubicBezTo>
                    <a:cubicBezTo>
                      <a:pt x="106666" y="37293"/>
                      <a:pt x="108045" y="42105"/>
                      <a:pt x="108045" y="47518"/>
                    </a:cubicBezTo>
                    <a:cubicBezTo>
                      <a:pt x="108045" y="47518"/>
                      <a:pt x="108045" y="47518"/>
                      <a:pt x="108045" y="47518"/>
                    </a:cubicBezTo>
                    <a:cubicBezTo>
                      <a:pt x="108045" y="48120"/>
                      <a:pt x="108045" y="48721"/>
                      <a:pt x="108045" y="49323"/>
                    </a:cubicBezTo>
                    <a:cubicBezTo>
                      <a:pt x="108045" y="49323"/>
                      <a:pt x="108045" y="49323"/>
                      <a:pt x="108045" y="49323"/>
                    </a:cubicBezTo>
                    <a:cubicBezTo>
                      <a:pt x="114942" y="51428"/>
                      <a:pt x="120000" y="59248"/>
                      <a:pt x="120000" y="68872"/>
                    </a:cubicBezTo>
                    <a:cubicBezTo>
                      <a:pt x="120000" y="68872"/>
                      <a:pt x="120000" y="68872"/>
                      <a:pt x="120000" y="68872"/>
                    </a:cubicBezTo>
                    <a:cubicBezTo>
                      <a:pt x="120000" y="78496"/>
                      <a:pt x="114942" y="86315"/>
                      <a:pt x="108275" y="88721"/>
                    </a:cubicBezTo>
                    <a:cubicBezTo>
                      <a:pt x="108275" y="88721"/>
                      <a:pt x="108275" y="88721"/>
                      <a:pt x="108275" y="88721"/>
                    </a:cubicBezTo>
                    <a:cubicBezTo>
                      <a:pt x="107586" y="100451"/>
                      <a:pt x="100000" y="110075"/>
                      <a:pt x="90804" y="110075"/>
                    </a:cubicBezTo>
                    <a:cubicBezTo>
                      <a:pt x="90804" y="110075"/>
                      <a:pt x="90804" y="110075"/>
                      <a:pt x="90804" y="110075"/>
                    </a:cubicBezTo>
                    <a:cubicBezTo>
                      <a:pt x="87126" y="110075"/>
                      <a:pt x="83908" y="108571"/>
                      <a:pt x="81149" y="106165"/>
                    </a:cubicBezTo>
                    <a:cubicBezTo>
                      <a:pt x="81149" y="106165"/>
                      <a:pt x="81149" y="106165"/>
                      <a:pt x="81149" y="106165"/>
                    </a:cubicBezTo>
                    <a:cubicBezTo>
                      <a:pt x="77701" y="112180"/>
                      <a:pt x="72413" y="115789"/>
                      <a:pt x="66436" y="115789"/>
                    </a:cubicBezTo>
                    <a:cubicBezTo>
                      <a:pt x="66436" y="115789"/>
                      <a:pt x="66436" y="115789"/>
                      <a:pt x="66436" y="115789"/>
                    </a:cubicBezTo>
                    <a:cubicBezTo>
                      <a:pt x="62528" y="115789"/>
                      <a:pt x="59080" y="114586"/>
                      <a:pt x="56321" y="111879"/>
                    </a:cubicBezTo>
                    <a:cubicBezTo>
                      <a:pt x="56321" y="111879"/>
                      <a:pt x="56321" y="111879"/>
                      <a:pt x="56321" y="111879"/>
                    </a:cubicBezTo>
                    <a:cubicBezTo>
                      <a:pt x="52873" y="116992"/>
                      <a:pt x="47816" y="119999"/>
                      <a:pt x="42298" y="119999"/>
                    </a:cubicBezTo>
                    <a:cubicBezTo>
                      <a:pt x="42298" y="119999"/>
                      <a:pt x="42298" y="119999"/>
                      <a:pt x="42298" y="119999"/>
                    </a:cubicBezTo>
                    <a:cubicBezTo>
                      <a:pt x="34942" y="119999"/>
                      <a:pt x="28735" y="114586"/>
                      <a:pt x="25517" y="106766"/>
                    </a:cubicBezTo>
                    <a:close/>
                  </a:path>
                </a:pathLst>
              </a:custGeom>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a:noFill/>
              </a:ln>
            </p:spPr>
            <p:txBody>
              <a:bodyPr anchorCtr="0" anchor="t" bIns="45700" lIns="91425" rIns="91425" tIns="4570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grpSp>
            <p:nvGrpSpPr>
              <p:cNvPr id="483" name="Shape 483"/>
              <p:cNvGrpSpPr/>
              <p:nvPr/>
            </p:nvGrpSpPr>
            <p:grpSpPr>
              <a:xfrm>
                <a:off x="6418005" y="5374634"/>
                <a:ext cx="934670" cy="775192"/>
                <a:chOff x="1727958" y="4240914"/>
                <a:chExt cx="692445" cy="704829"/>
              </a:xfrm>
            </p:grpSpPr>
            <p:sp>
              <p:nvSpPr>
                <p:cNvPr id="484" name="Shape 484"/>
                <p:cNvSpPr/>
                <p:nvPr/>
              </p:nvSpPr>
              <p:spPr>
                <a:xfrm>
                  <a:off x="1727958" y="4268542"/>
                  <a:ext cx="307360" cy="300442"/>
                </a:xfrm>
                <a:prstGeom prst="ellipse">
                  <a:avLst/>
                </a:prstGeom>
                <a:noFill/>
                <a:ln cap="flat" cmpd="sng" w="38100">
                  <a:solidFill>
                    <a:srgbClr val="FFFF00"/>
                  </a:solidFill>
                  <a:prstDash val="solid"/>
                  <a:round/>
                  <a:headEnd len="med" w="med" type="none"/>
                  <a:tailEnd len="med" w="med" type="none"/>
                </a:ln>
              </p:spPr>
              <p:txBody>
                <a:bodyPr anchorCtr="0" anchor="t" bIns="45700" lIns="54000" rIns="54000"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485" name="Shape 485"/>
                <p:cNvSpPr/>
                <p:nvPr/>
              </p:nvSpPr>
              <p:spPr>
                <a:xfrm>
                  <a:off x="2003523" y="4372142"/>
                  <a:ext cx="381549" cy="372961"/>
                </a:xfrm>
                <a:prstGeom prst="ellipse">
                  <a:avLst/>
                </a:prstGeom>
                <a:noFill/>
                <a:ln cap="flat" cmpd="sng" w="38100">
                  <a:solidFill>
                    <a:srgbClr val="FFFF00"/>
                  </a:solidFill>
                  <a:prstDash val="solid"/>
                  <a:round/>
                  <a:headEnd len="med" w="med" type="none"/>
                  <a:tailEnd len="med" w="med" type="none"/>
                </a:ln>
              </p:spPr>
              <p:txBody>
                <a:bodyPr anchorCtr="0" anchor="t" bIns="45700" lIns="54000" rIns="54000"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486" name="Shape 486"/>
                <p:cNvSpPr/>
                <p:nvPr/>
              </p:nvSpPr>
              <p:spPr>
                <a:xfrm>
                  <a:off x="1763288" y="4613876"/>
                  <a:ext cx="307360" cy="300442"/>
                </a:xfrm>
                <a:prstGeom prst="ellipse">
                  <a:avLst/>
                </a:prstGeom>
                <a:noFill/>
                <a:ln cap="flat" cmpd="sng" w="38100">
                  <a:solidFill>
                    <a:srgbClr val="FFFF00"/>
                  </a:solidFill>
                  <a:prstDash val="solid"/>
                  <a:round/>
                  <a:headEnd len="med" w="med" type="none"/>
                  <a:tailEnd len="med" w="med" type="none"/>
                </a:ln>
              </p:spPr>
              <p:txBody>
                <a:bodyPr anchorCtr="0" anchor="t" bIns="45700" lIns="54000" rIns="54000"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487" name="Shape 487"/>
                <p:cNvSpPr/>
                <p:nvPr/>
              </p:nvSpPr>
              <p:spPr>
                <a:xfrm>
                  <a:off x="1756222" y="4240914"/>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488" name="Shape 488"/>
                <p:cNvSpPr/>
                <p:nvPr/>
              </p:nvSpPr>
              <p:spPr>
                <a:xfrm>
                  <a:off x="1756222" y="4627691"/>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489" name="Shape 489"/>
                <p:cNvSpPr/>
                <p:nvPr/>
              </p:nvSpPr>
              <p:spPr>
                <a:xfrm>
                  <a:off x="1975260" y="4420489"/>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490" name="Shape 490"/>
                <p:cNvSpPr/>
                <p:nvPr/>
              </p:nvSpPr>
              <p:spPr>
                <a:xfrm>
                  <a:off x="1727959" y="4482650"/>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491" name="Shape 491"/>
                <p:cNvSpPr/>
                <p:nvPr/>
              </p:nvSpPr>
              <p:spPr>
                <a:xfrm>
                  <a:off x="1890471" y="4855612"/>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492" name="Shape 492"/>
                <p:cNvSpPr/>
                <p:nvPr/>
              </p:nvSpPr>
              <p:spPr>
                <a:xfrm>
                  <a:off x="2010590" y="4627692"/>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493" name="Shape 493"/>
                <p:cNvSpPr/>
                <p:nvPr/>
              </p:nvSpPr>
              <p:spPr>
                <a:xfrm>
                  <a:off x="2158971" y="4323796"/>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494" name="Shape 494"/>
                <p:cNvSpPr/>
                <p:nvPr/>
              </p:nvSpPr>
              <p:spPr>
                <a:xfrm>
                  <a:off x="2257891" y="4648410"/>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495" name="Shape 495"/>
                <p:cNvSpPr/>
                <p:nvPr/>
              </p:nvSpPr>
              <p:spPr>
                <a:xfrm>
                  <a:off x="2328549" y="4448116"/>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grpSp>
        </p:grpSp>
        <p:sp>
          <p:nvSpPr>
            <p:cNvPr id="496" name="Shape 496"/>
            <p:cNvSpPr/>
            <p:nvPr/>
          </p:nvSpPr>
          <p:spPr>
            <a:xfrm flipH="1">
              <a:off x="5104613" y="4936780"/>
              <a:ext cx="1531409" cy="667612"/>
            </a:xfrm>
            <a:custGeom>
              <a:pathLst>
                <a:path extrusionOk="0" h="120000" w="120000">
                  <a:moveTo>
                    <a:pt x="108045" y="49200"/>
                  </a:moveTo>
                  <a:cubicBezTo>
                    <a:pt x="108045" y="48600"/>
                    <a:pt x="108045" y="48000"/>
                    <a:pt x="108045" y="47400"/>
                  </a:cubicBezTo>
                  <a:cubicBezTo>
                    <a:pt x="108045" y="33300"/>
                    <a:pt x="99080" y="21600"/>
                    <a:pt x="88275" y="21600"/>
                  </a:cubicBezTo>
                  <a:cubicBezTo>
                    <a:pt x="87586" y="21600"/>
                    <a:pt x="87126" y="21600"/>
                    <a:pt x="86666" y="21600"/>
                  </a:cubicBezTo>
                  <a:cubicBezTo>
                    <a:pt x="83678" y="9000"/>
                    <a:pt x="74712" y="0"/>
                    <a:pt x="64137" y="0"/>
                  </a:cubicBezTo>
                  <a:cubicBezTo>
                    <a:pt x="55172" y="0"/>
                    <a:pt x="47356" y="6600"/>
                    <a:pt x="43448" y="16200"/>
                  </a:cubicBezTo>
                  <a:cubicBezTo>
                    <a:pt x="40919" y="13800"/>
                    <a:pt x="37701" y="12600"/>
                    <a:pt x="34482" y="12600"/>
                  </a:cubicBezTo>
                  <a:cubicBezTo>
                    <a:pt x="25747" y="12600"/>
                    <a:pt x="18620" y="21900"/>
                    <a:pt x="18620" y="33300"/>
                  </a:cubicBezTo>
                  <a:cubicBezTo>
                    <a:pt x="18620" y="33900"/>
                    <a:pt x="18620" y="34200"/>
                    <a:pt x="18620" y="34500"/>
                  </a:cubicBezTo>
                  <a:cubicBezTo>
                    <a:pt x="8275" y="36300"/>
                    <a:pt x="0" y="47700"/>
                    <a:pt x="0" y="61800"/>
                  </a:cubicBezTo>
                  <a:cubicBezTo>
                    <a:pt x="0" y="69000"/>
                    <a:pt x="2298" y="75900"/>
                    <a:pt x="5977" y="80700"/>
                  </a:cubicBezTo>
                  <a:cubicBezTo>
                    <a:pt x="5517" y="82500"/>
                    <a:pt x="5287" y="84600"/>
                    <a:pt x="5287" y="86700"/>
                  </a:cubicBezTo>
                  <a:cubicBezTo>
                    <a:pt x="5287" y="98100"/>
                    <a:pt x="12413" y="107400"/>
                    <a:pt x="21149" y="107400"/>
                  </a:cubicBezTo>
                  <a:cubicBezTo>
                    <a:pt x="22528" y="107400"/>
                    <a:pt x="24137" y="107100"/>
                    <a:pt x="25517" y="106500"/>
                  </a:cubicBezTo>
                  <a:cubicBezTo>
                    <a:pt x="28735" y="114300"/>
                    <a:pt x="34942" y="120000"/>
                    <a:pt x="42298" y="120000"/>
                  </a:cubicBezTo>
                  <a:cubicBezTo>
                    <a:pt x="47816" y="120000"/>
                    <a:pt x="52873" y="116700"/>
                    <a:pt x="56321" y="111900"/>
                  </a:cubicBezTo>
                  <a:cubicBezTo>
                    <a:pt x="59310" y="114300"/>
                    <a:pt x="62758" y="115500"/>
                    <a:pt x="66436" y="115500"/>
                  </a:cubicBezTo>
                  <a:cubicBezTo>
                    <a:pt x="72413" y="115500"/>
                    <a:pt x="77701" y="111900"/>
                    <a:pt x="81149" y="106200"/>
                  </a:cubicBezTo>
                  <a:cubicBezTo>
                    <a:pt x="83908" y="108300"/>
                    <a:pt x="87356" y="109800"/>
                    <a:pt x="90804" y="109800"/>
                  </a:cubicBezTo>
                  <a:cubicBezTo>
                    <a:pt x="100000" y="109800"/>
                    <a:pt x="107586" y="100200"/>
                    <a:pt x="108275" y="88500"/>
                  </a:cubicBezTo>
                  <a:cubicBezTo>
                    <a:pt x="115172" y="86100"/>
                    <a:pt x="120000" y="78300"/>
                    <a:pt x="120000" y="69000"/>
                  </a:cubicBezTo>
                  <a:cubicBezTo>
                    <a:pt x="120000" y="59400"/>
                    <a:pt x="114942" y="51300"/>
                    <a:pt x="108045" y="49200"/>
                  </a:cubicBezTo>
                  <a:close/>
                  <a:moveTo>
                    <a:pt x="104137" y="50700"/>
                  </a:moveTo>
                  <a:cubicBezTo>
                    <a:pt x="104137" y="50700"/>
                    <a:pt x="104137" y="50700"/>
                    <a:pt x="104137" y="50700"/>
                  </a:cubicBezTo>
                  <a:cubicBezTo>
                    <a:pt x="104137" y="50700"/>
                    <a:pt x="104137" y="50700"/>
                    <a:pt x="104137" y="50700"/>
                  </a:cubicBezTo>
                  <a:cubicBezTo>
                    <a:pt x="104137" y="51600"/>
                    <a:pt x="104367" y="52200"/>
                    <a:pt x="104597" y="52500"/>
                  </a:cubicBezTo>
                  <a:cubicBezTo>
                    <a:pt x="104827" y="53100"/>
                    <a:pt x="105287" y="53400"/>
                    <a:pt x="105747" y="53700"/>
                  </a:cubicBezTo>
                  <a:cubicBezTo>
                    <a:pt x="106666" y="53700"/>
                    <a:pt x="107356" y="54000"/>
                    <a:pt x="108045" y="54300"/>
                  </a:cubicBezTo>
                  <a:cubicBezTo>
                    <a:pt x="109655" y="60000"/>
                    <a:pt x="109655" y="60000"/>
                    <a:pt x="109655" y="60000"/>
                  </a:cubicBezTo>
                  <a:cubicBezTo>
                    <a:pt x="105287" y="66000"/>
                    <a:pt x="105287" y="66000"/>
                    <a:pt x="105287" y="66000"/>
                  </a:cubicBezTo>
                  <a:cubicBezTo>
                    <a:pt x="98620" y="60300"/>
                    <a:pt x="98620" y="60300"/>
                    <a:pt x="98620" y="60300"/>
                  </a:cubicBezTo>
                  <a:cubicBezTo>
                    <a:pt x="98850" y="59400"/>
                    <a:pt x="98850" y="58800"/>
                    <a:pt x="98850" y="57900"/>
                  </a:cubicBezTo>
                  <a:cubicBezTo>
                    <a:pt x="98850" y="57300"/>
                    <a:pt x="98850" y="56400"/>
                    <a:pt x="98620" y="55500"/>
                  </a:cubicBezTo>
                  <a:cubicBezTo>
                    <a:pt x="103908" y="50400"/>
                    <a:pt x="103908" y="50400"/>
                    <a:pt x="103908" y="50400"/>
                  </a:cubicBezTo>
                  <a:cubicBezTo>
                    <a:pt x="104137" y="50400"/>
                    <a:pt x="104137" y="50700"/>
                    <a:pt x="104137" y="50700"/>
                  </a:cubicBezTo>
                  <a:close/>
                  <a:moveTo>
                    <a:pt x="105977" y="72300"/>
                  </a:moveTo>
                  <a:cubicBezTo>
                    <a:pt x="110574" y="76500"/>
                    <a:pt x="110574" y="76500"/>
                    <a:pt x="110574" y="76500"/>
                  </a:cubicBezTo>
                  <a:cubicBezTo>
                    <a:pt x="110574" y="76500"/>
                    <a:pt x="110574" y="76800"/>
                    <a:pt x="110574" y="76800"/>
                  </a:cubicBezTo>
                  <a:cubicBezTo>
                    <a:pt x="103218" y="77700"/>
                    <a:pt x="103218" y="77700"/>
                    <a:pt x="103218" y="77700"/>
                  </a:cubicBezTo>
                  <a:cubicBezTo>
                    <a:pt x="102988" y="77400"/>
                    <a:pt x="102988" y="77100"/>
                    <a:pt x="102988" y="76800"/>
                  </a:cubicBezTo>
                  <a:lnTo>
                    <a:pt x="105977" y="72300"/>
                  </a:lnTo>
                  <a:close/>
                  <a:moveTo>
                    <a:pt x="97931" y="72900"/>
                  </a:moveTo>
                  <a:cubicBezTo>
                    <a:pt x="96321" y="64500"/>
                    <a:pt x="96321" y="64500"/>
                    <a:pt x="96321" y="64500"/>
                  </a:cubicBezTo>
                  <a:cubicBezTo>
                    <a:pt x="96321" y="64500"/>
                    <a:pt x="96551" y="64200"/>
                    <a:pt x="96551" y="64200"/>
                  </a:cubicBezTo>
                  <a:cubicBezTo>
                    <a:pt x="102758" y="69600"/>
                    <a:pt x="102758" y="69600"/>
                    <a:pt x="102758" y="69600"/>
                  </a:cubicBezTo>
                  <a:cubicBezTo>
                    <a:pt x="100229" y="73500"/>
                    <a:pt x="100229" y="73500"/>
                    <a:pt x="100229" y="73500"/>
                  </a:cubicBezTo>
                  <a:cubicBezTo>
                    <a:pt x="99540" y="73200"/>
                    <a:pt x="98620" y="72900"/>
                    <a:pt x="97931" y="72900"/>
                  </a:cubicBezTo>
                  <a:close/>
                  <a:moveTo>
                    <a:pt x="100000" y="80700"/>
                  </a:moveTo>
                  <a:cubicBezTo>
                    <a:pt x="100000" y="82200"/>
                    <a:pt x="98850" y="83400"/>
                    <a:pt x="97701" y="83400"/>
                  </a:cubicBezTo>
                  <a:cubicBezTo>
                    <a:pt x="96551" y="83400"/>
                    <a:pt x="95402" y="82200"/>
                    <a:pt x="95402" y="80700"/>
                  </a:cubicBezTo>
                  <a:cubicBezTo>
                    <a:pt x="95402" y="78900"/>
                    <a:pt x="96551" y="77700"/>
                    <a:pt x="97701" y="77700"/>
                  </a:cubicBezTo>
                  <a:cubicBezTo>
                    <a:pt x="98850" y="77700"/>
                    <a:pt x="100000" y="78900"/>
                    <a:pt x="100000" y="80700"/>
                  </a:cubicBezTo>
                  <a:close/>
                  <a:moveTo>
                    <a:pt x="102988" y="39000"/>
                  </a:moveTo>
                  <a:cubicBezTo>
                    <a:pt x="102758" y="39300"/>
                    <a:pt x="102758" y="39600"/>
                    <a:pt x="102528" y="39900"/>
                  </a:cubicBezTo>
                  <a:cubicBezTo>
                    <a:pt x="101839" y="41100"/>
                    <a:pt x="101609" y="42600"/>
                    <a:pt x="101609" y="44100"/>
                  </a:cubicBezTo>
                  <a:cubicBezTo>
                    <a:pt x="101609" y="45000"/>
                    <a:pt x="101609" y="45900"/>
                    <a:pt x="101839" y="46500"/>
                  </a:cubicBezTo>
                  <a:cubicBezTo>
                    <a:pt x="96781" y="51300"/>
                    <a:pt x="96781" y="51300"/>
                    <a:pt x="96781" y="51300"/>
                  </a:cubicBezTo>
                  <a:cubicBezTo>
                    <a:pt x="101379" y="35100"/>
                    <a:pt x="101379" y="35100"/>
                    <a:pt x="101379" y="35100"/>
                  </a:cubicBezTo>
                  <a:cubicBezTo>
                    <a:pt x="102068" y="36300"/>
                    <a:pt x="102528" y="37500"/>
                    <a:pt x="102988" y="39000"/>
                  </a:cubicBezTo>
                  <a:close/>
                  <a:moveTo>
                    <a:pt x="98620" y="31200"/>
                  </a:moveTo>
                  <a:cubicBezTo>
                    <a:pt x="93103" y="50400"/>
                    <a:pt x="93103" y="50400"/>
                    <a:pt x="93103" y="50400"/>
                  </a:cubicBezTo>
                  <a:cubicBezTo>
                    <a:pt x="93103" y="50400"/>
                    <a:pt x="93103" y="50400"/>
                    <a:pt x="92873" y="50400"/>
                  </a:cubicBezTo>
                  <a:cubicBezTo>
                    <a:pt x="92873" y="50400"/>
                    <a:pt x="92873" y="50400"/>
                    <a:pt x="92643" y="50400"/>
                  </a:cubicBezTo>
                  <a:cubicBezTo>
                    <a:pt x="90114" y="41100"/>
                    <a:pt x="90114" y="41100"/>
                    <a:pt x="90114" y="41100"/>
                  </a:cubicBezTo>
                  <a:cubicBezTo>
                    <a:pt x="97701" y="30300"/>
                    <a:pt x="97701" y="30300"/>
                    <a:pt x="97701" y="30300"/>
                  </a:cubicBezTo>
                  <a:cubicBezTo>
                    <a:pt x="97931" y="30600"/>
                    <a:pt x="98160" y="30900"/>
                    <a:pt x="98620" y="31200"/>
                  </a:cubicBezTo>
                  <a:close/>
                  <a:moveTo>
                    <a:pt x="92873" y="60900"/>
                  </a:moveTo>
                  <a:cubicBezTo>
                    <a:pt x="91724" y="60900"/>
                    <a:pt x="90804" y="59700"/>
                    <a:pt x="90804" y="57900"/>
                  </a:cubicBezTo>
                  <a:cubicBezTo>
                    <a:pt x="90804" y="56400"/>
                    <a:pt x="91724" y="55200"/>
                    <a:pt x="92873" y="55200"/>
                  </a:cubicBezTo>
                  <a:cubicBezTo>
                    <a:pt x="94252" y="55200"/>
                    <a:pt x="95172" y="56400"/>
                    <a:pt x="95172" y="57900"/>
                  </a:cubicBezTo>
                  <a:cubicBezTo>
                    <a:pt x="95172" y="59700"/>
                    <a:pt x="94252" y="60900"/>
                    <a:pt x="92873" y="60900"/>
                  </a:cubicBezTo>
                  <a:close/>
                  <a:moveTo>
                    <a:pt x="94482" y="74100"/>
                  </a:moveTo>
                  <a:cubicBezTo>
                    <a:pt x="94252" y="74400"/>
                    <a:pt x="94022" y="74400"/>
                    <a:pt x="94022" y="74700"/>
                  </a:cubicBezTo>
                  <a:cubicBezTo>
                    <a:pt x="80459" y="63300"/>
                    <a:pt x="80459" y="63300"/>
                    <a:pt x="80459" y="63300"/>
                  </a:cubicBezTo>
                  <a:cubicBezTo>
                    <a:pt x="80459" y="63000"/>
                    <a:pt x="80689" y="62700"/>
                    <a:pt x="80689" y="62400"/>
                  </a:cubicBezTo>
                  <a:cubicBezTo>
                    <a:pt x="87586" y="61200"/>
                    <a:pt x="87586" y="61200"/>
                    <a:pt x="87586" y="61200"/>
                  </a:cubicBezTo>
                  <a:cubicBezTo>
                    <a:pt x="88045" y="62400"/>
                    <a:pt x="88735" y="63600"/>
                    <a:pt x="89655" y="64500"/>
                  </a:cubicBezTo>
                  <a:cubicBezTo>
                    <a:pt x="90574" y="65400"/>
                    <a:pt x="91724" y="65700"/>
                    <a:pt x="92643" y="65700"/>
                  </a:cubicBezTo>
                  <a:lnTo>
                    <a:pt x="94482" y="74100"/>
                  </a:lnTo>
                  <a:close/>
                  <a:moveTo>
                    <a:pt x="90114" y="26700"/>
                  </a:moveTo>
                  <a:cubicBezTo>
                    <a:pt x="90574" y="26700"/>
                    <a:pt x="90574" y="26700"/>
                    <a:pt x="90574" y="26700"/>
                  </a:cubicBezTo>
                  <a:cubicBezTo>
                    <a:pt x="91954" y="27000"/>
                    <a:pt x="93103" y="27300"/>
                    <a:pt x="94252" y="27900"/>
                  </a:cubicBezTo>
                  <a:cubicBezTo>
                    <a:pt x="90114" y="33900"/>
                    <a:pt x="90114" y="33900"/>
                    <a:pt x="90114" y="33900"/>
                  </a:cubicBezTo>
                  <a:cubicBezTo>
                    <a:pt x="90114" y="33600"/>
                    <a:pt x="90114" y="33000"/>
                    <a:pt x="90114" y="32400"/>
                  </a:cubicBezTo>
                  <a:cubicBezTo>
                    <a:pt x="89885" y="31800"/>
                    <a:pt x="89655" y="31200"/>
                    <a:pt x="89655" y="30600"/>
                  </a:cubicBezTo>
                  <a:cubicBezTo>
                    <a:pt x="90114" y="29700"/>
                    <a:pt x="90344" y="28200"/>
                    <a:pt x="90344" y="27000"/>
                  </a:cubicBezTo>
                  <a:cubicBezTo>
                    <a:pt x="90344" y="27000"/>
                    <a:pt x="90114" y="27000"/>
                    <a:pt x="90114" y="26700"/>
                  </a:cubicBezTo>
                  <a:close/>
                  <a:moveTo>
                    <a:pt x="84137" y="31200"/>
                  </a:moveTo>
                  <a:cubicBezTo>
                    <a:pt x="85517" y="31200"/>
                    <a:pt x="86436" y="32400"/>
                    <a:pt x="86436" y="33900"/>
                  </a:cubicBezTo>
                  <a:cubicBezTo>
                    <a:pt x="86436" y="35700"/>
                    <a:pt x="85517" y="36900"/>
                    <a:pt x="84137" y="36900"/>
                  </a:cubicBezTo>
                  <a:cubicBezTo>
                    <a:pt x="82988" y="36900"/>
                    <a:pt x="82068" y="35700"/>
                    <a:pt x="82068" y="33900"/>
                  </a:cubicBezTo>
                  <a:cubicBezTo>
                    <a:pt x="82068" y="32400"/>
                    <a:pt x="82988" y="31200"/>
                    <a:pt x="84137" y="31200"/>
                  </a:cubicBezTo>
                  <a:close/>
                  <a:moveTo>
                    <a:pt x="84827" y="41700"/>
                  </a:moveTo>
                  <a:cubicBezTo>
                    <a:pt x="82298" y="45300"/>
                    <a:pt x="82298" y="45300"/>
                    <a:pt x="82298" y="45300"/>
                  </a:cubicBezTo>
                  <a:cubicBezTo>
                    <a:pt x="83448" y="41700"/>
                    <a:pt x="83448" y="41700"/>
                    <a:pt x="83448" y="41700"/>
                  </a:cubicBezTo>
                  <a:cubicBezTo>
                    <a:pt x="83678" y="41700"/>
                    <a:pt x="83908" y="41700"/>
                    <a:pt x="84137" y="41700"/>
                  </a:cubicBezTo>
                  <a:cubicBezTo>
                    <a:pt x="84367" y="41700"/>
                    <a:pt x="84597" y="41700"/>
                    <a:pt x="84827" y="41700"/>
                  </a:cubicBezTo>
                  <a:close/>
                  <a:moveTo>
                    <a:pt x="82068" y="19800"/>
                  </a:moveTo>
                  <a:cubicBezTo>
                    <a:pt x="82068" y="20100"/>
                    <a:pt x="81839" y="20100"/>
                    <a:pt x="81609" y="20100"/>
                  </a:cubicBezTo>
                  <a:cubicBezTo>
                    <a:pt x="80000" y="15300"/>
                    <a:pt x="80000" y="15300"/>
                    <a:pt x="80000" y="15300"/>
                  </a:cubicBezTo>
                  <a:cubicBezTo>
                    <a:pt x="80919" y="16800"/>
                    <a:pt x="81609" y="18300"/>
                    <a:pt x="82068" y="19800"/>
                  </a:cubicBezTo>
                  <a:close/>
                  <a:moveTo>
                    <a:pt x="87356" y="45000"/>
                  </a:moveTo>
                  <a:cubicBezTo>
                    <a:pt x="89195" y="51900"/>
                    <a:pt x="89195" y="51900"/>
                    <a:pt x="89195" y="51900"/>
                  </a:cubicBezTo>
                  <a:cubicBezTo>
                    <a:pt x="88735" y="52500"/>
                    <a:pt x="88275" y="53100"/>
                    <a:pt x="88045" y="53700"/>
                  </a:cubicBezTo>
                  <a:cubicBezTo>
                    <a:pt x="87586" y="54600"/>
                    <a:pt x="87356" y="55500"/>
                    <a:pt x="87126" y="56400"/>
                  </a:cubicBezTo>
                  <a:cubicBezTo>
                    <a:pt x="80229" y="57600"/>
                    <a:pt x="80229" y="57600"/>
                    <a:pt x="80229" y="57600"/>
                  </a:cubicBezTo>
                  <a:cubicBezTo>
                    <a:pt x="80000" y="57000"/>
                    <a:pt x="79770" y="56700"/>
                    <a:pt x="79770" y="56400"/>
                  </a:cubicBezTo>
                  <a:lnTo>
                    <a:pt x="87356" y="45000"/>
                  </a:lnTo>
                  <a:close/>
                  <a:moveTo>
                    <a:pt x="78390" y="35700"/>
                  </a:moveTo>
                  <a:cubicBezTo>
                    <a:pt x="78620" y="36300"/>
                    <a:pt x="78850" y="37200"/>
                    <a:pt x="79080" y="37800"/>
                  </a:cubicBezTo>
                  <a:cubicBezTo>
                    <a:pt x="76781" y="45300"/>
                    <a:pt x="76781" y="45300"/>
                    <a:pt x="76781" y="45300"/>
                  </a:cubicBezTo>
                  <a:cubicBezTo>
                    <a:pt x="76321" y="31800"/>
                    <a:pt x="76321" y="31800"/>
                    <a:pt x="76321" y="31800"/>
                  </a:cubicBezTo>
                  <a:cubicBezTo>
                    <a:pt x="78390" y="33000"/>
                    <a:pt x="78390" y="33000"/>
                    <a:pt x="78390" y="33000"/>
                  </a:cubicBezTo>
                  <a:cubicBezTo>
                    <a:pt x="78390" y="33300"/>
                    <a:pt x="78160" y="33600"/>
                    <a:pt x="78160" y="33900"/>
                  </a:cubicBezTo>
                  <a:cubicBezTo>
                    <a:pt x="78160" y="34500"/>
                    <a:pt x="78390" y="35100"/>
                    <a:pt x="78390" y="35700"/>
                  </a:cubicBezTo>
                  <a:close/>
                  <a:moveTo>
                    <a:pt x="78850" y="24000"/>
                  </a:moveTo>
                  <a:cubicBezTo>
                    <a:pt x="78620" y="24900"/>
                    <a:pt x="78390" y="26100"/>
                    <a:pt x="78390" y="27000"/>
                  </a:cubicBezTo>
                  <a:cubicBezTo>
                    <a:pt x="78390" y="27300"/>
                    <a:pt x="78390" y="27600"/>
                    <a:pt x="78390" y="27900"/>
                  </a:cubicBezTo>
                  <a:cubicBezTo>
                    <a:pt x="76091" y="26400"/>
                    <a:pt x="76091" y="26400"/>
                    <a:pt x="76091" y="26400"/>
                  </a:cubicBezTo>
                  <a:cubicBezTo>
                    <a:pt x="75632" y="13800"/>
                    <a:pt x="75632" y="13800"/>
                    <a:pt x="75632" y="13800"/>
                  </a:cubicBezTo>
                  <a:lnTo>
                    <a:pt x="78850" y="24000"/>
                  </a:lnTo>
                  <a:close/>
                  <a:moveTo>
                    <a:pt x="73103" y="47700"/>
                  </a:moveTo>
                  <a:cubicBezTo>
                    <a:pt x="65287" y="25800"/>
                    <a:pt x="65287" y="25800"/>
                    <a:pt x="65287" y="25800"/>
                  </a:cubicBezTo>
                  <a:cubicBezTo>
                    <a:pt x="65517" y="25800"/>
                    <a:pt x="65517" y="25500"/>
                    <a:pt x="65747" y="25500"/>
                  </a:cubicBezTo>
                  <a:cubicBezTo>
                    <a:pt x="72413" y="29400"/>
                    <a:pt x="72413" y="29400"/>
                    <a:pt x="72413" y="29400"/>
                  </a:cubicBezTo>
                  <a:lnTo>
                    <a:pt x="73103" y="47700"/>
                  </a:lnTo>
                  <a:close/>
                  <a:moveTo>
                    <a:pt x="69655" y="80100"/>
                  </a:moveTo>
                  <a:cubicBezTo>
                    <a:pt x="69425" y="78900"/>
                    <a:pt x="69195" y="78000"/>
                    <a:pt x="68505" y="77100"/>
                  </a:cubicBezTo>
                  <a:cubicBezTo>
                    <a:pt x="72873" y="68400"/>
                    <a:pt x="72873" y="68400"/>
                    <a:pt x="72873" y="68400"/>
                  </a:cubicBezTo>
                  <a:cubicBezTo>
                    <a:pt x="73103" y="68400"/>
                    <a:pt x="73103" y="68400"/>
                    <a:pt x="73103" y="68400"/>
                  </a:cubicBezTo>
                  <a:cubicBezTo>
                    <a:pt x="73793" y="85500"/>
                    <a:pt x="73793" y="85500"/>
                    <a:pt x="73793" y="85500"/>
                  </a:cubicBezTo>
                  <a:cubicBezTo>
                    <a:pt x="69655" y="82800"/>
                    <a:pt x="69655" y="82800"/>
                    <a:pt x="69655" y="82800"/>
                  </a:cubicBezTo>
                  <a:cubicBezTo>
                    <a:pt x="69885" y="82500"/>
                    <a:pt x="69885" y="82200"/>
                    <a:pt x="69885" y="81600"/>
                  </a:cubicBezTo>
                  <a:cubicBezTo>
                    <a:pt x="69885" y="81300"/>
                    <a:pt x="69885" y="80700"/>
                    <a:pt x="69655" y="80100"/>
                  </a:cubicBezTo>
                  <a:close/>
                  <a:moveTo>
                    <a:pt x="65517" y="74400"/>
                  </a:moveTo>
                  <a:cubicBezTo>
                    <a:pt x="65057" y="74100"/>
                    <a:pt x="64367" y="74100"/>
                    <a:pt x="63908" y="74100"/>
                  </a:cubicBezTo>
                  <a:cubicBezTo>
                    <a:pt x="63448" y="74100"/>
                    <a:pt x="62988" y="74100"/>
                    <a:pt x="62758" y="74100"/>
                  </a:cubicBezTo>
                  <a:cubicBezTo>
                    <a:pt x="62758" y="74100"/>
                    <a:pt x="62758" y="74100"/>
                    <a:pt x="62758" y="74100"/>
                  </a:cubicBezTo>
                  <a:cubicBezTo>
                    <a:pt x="61839" y="74400"/>
                    <a:pt x="61149" y="74700"/>
                    <a:pt x="60459" y="75300"/>
                  </a:cubicBezTo>
                  <a:cubicBezTo>
                    <a:pt x="52873" y="68100"/>
                    <a:pt x="52873" y="68100"/>
                    <a:pt x="52873" y="68100"/>
                  </a:cubicBezTo>
                  <a:cubicBezTo>
                    <a:pt x="53103" y="67500"/>
                    <a:pt x="53333" y="66600"/>
                    <a:pt x="53563" y="66000"/>
                  </a:cubicBezTo>
                  <a:cubicBezTo>
                    <a:pt x="55402" y="65700"/>
                    <a:pt x="55402" y="65700"/>
                    <a:pt x="55402" y="65700"/>
                  </a:cubicBezTo>
                  <a:cubicBezTo>
                    <a:pt x="68505" y="63900"/>
                    <a:pt x="68505" y="63900"/>
                    <a:pt x="68505" y="63900"/>
                  </a:cubicBezTo>
                  <a:cubicBezTo>
                    <a:pt x="68965" y="64800"/>
                    <a:pt x="69195" y="65400"/>
                    <a:pt x="69655" y="66300"/>
                  </a:cubicBezTo>
                  <a:lnTo>
                    <a:pt x="65517" y="74400"/>
                  </a:lnTo>
                  <a:close/>
                  <a:moveTo>
                    <a:pt x="66206" y="81600"/>
                  </a:moveTo>
                  <a:cubicBezTo>
                    <a:pt x="66206" y="83400"/>
                    <a:pt x="65057" y="84600"/>
                    <a:pt x="63908" y="84600"/>
                  </a:cubicBezTo>
                  <a:cubicBezTo>
                    <a:pt x="62528" y="84600"/>
                    <a:pt x="61609" y="83400"/>
                    <a:pt x="61609" y="81600"/>
                  </a:cubicBezTo>
                  <a:cubicBezTo>
                    <a:pt x="61609" y="80100"/>
                    <a:pt x="62528" y="78900"/>
                    <a:pt x="63908" y="78900"/>
                  </a:cubicBezTo>
                  <a:cubicBezTo>
                    <a:pt x="65057" y="78900"/>
                    <a:pt x="66206" y="80100"/>
                    <a:pt x="66206" y="81600"/>
                  </a:cubicBezTo>
                  <a:close/>
                  <a:moveTo>
                    <a:pt x="60919" y="43200"/>
                  </a:moveTo>
                  <a:cubicBezTo>
                    <a:pt x="60919" y="45000"/>
                    <a:pt x="59770" y="46200"/>
                    <a:pt x="58620" y="46200"/>
                  </a:cubicBezTo>
                  <a:cubicBezTo>
                    <a:pt x="57241" y="46200"/>
                    <a:pt x="56321" y="45000"/>
                    <a:pt x="56321" y="43200"/>
                  </a:cubicBezTo>
                  <a:cubicBezTo>
                    <a:pt x="56321" y="41700"/>
                    <a:pt x="57241" y="40500"/>
                    <a:pt x="58620" y="40500"/>
                  </a:cubicBezTo>
                  <a:cubicBezTo>
                    <a:pt x="59770" y="40500"/>
                    <a:pt x="60919" y="41700"/>
                    <a:pt x="60919" y="43200"/>
                  </a:cubicBezTo>
                  <a:close/>
                  <a:moveTo>
                    <a:pt x="59080" y="20100"/>
                  </a:moveTo>
                  <a:cubicBezTo>
                    <a:pt x="59080" y="18600"/>
                    <a:pt x="60000" y="17100"/>
                    <a:pt x="61379" y="17100"/>
                  </a:cubicBezTo>
                  <a:cubicBezTo>
                    <a:pt x="62528" y="17100"/>
                    <a:pt x="63678" y="18600"/>
                    <a:pt x="63678" y="20100"/>
                  </a:cubicBezTo>
                  <a:cubicBezTo>
                    <a:pt x="63678" y="21600"/>
                    <a:pt x="62528" y="23100"/>
                    <a:pt x="61379" y="23100"/>
                  </a:cubicBezTo>
                  <a:cubicBezTo>
                    <a:pt x="60000" y="23100"/>
                    <a:pt x="59080" y="21600"/>
                    <a:pt x="59080" y="20100"/>
                  </a:cubicBezTo>
                  <a:close/>
                  <a:moveTo>
                    <a:pt x="59770" y="51000"/>
                  </a:moveTo>
                  <a:cubicBezTo>
                    <a:pt x="60689" y="50700"/>
                    <a:pt x="61379" y="50100"/>
                    <a:pt x="62068" y="49500"/>
                  </a:cubicBezTo>
                  <a:cubicBezTo>
                    <a:pt x="69195" y="56400"/>
                    <a:pt x="69195" y="56400"/>
                    <a:pt x="69195" y="56400"/>
                  </a:cubicBezTo>
                  <a:cubicBezTo>
                    <a:pt x="69195" y="56400"/>
                    <a:pt x="69195" y="56400"/>
                    <a:pt x="68965" y="56700"/>
                  </a:cubicBezTo>
                  <a:cubicBezTo>
                    <a:pt x="68735" y="57300"/>
                    <a:pt x="68275" y="58200"/>
                    <a:pt x="68275" y="59100"/>
                  </a:cubicBezTo>
                  <a:cubicBezTo>
                    <a:pt x="55402" y="60900"/>
                    <a:pt x="55402" y="60900"/>
                    <a:pt x="55402" y="60900"/>
                  </a:cubicBezTo>
                  <a:cubicBezTo>
                    <a:pt x="53103" y="61200"/>
                    <a:pt x="53103" y="61200"/>
                    <a:pt x="53103" y="61200"/>
                  </a:cubicBezTo>
                  <a:cubicBezTo>
                    <a:pt x="52873" y="60600"/>
                    <a:pt x="52643" y="60000"/>
                    <a:pt x="52413" y="59400"/>
                  </a:cubicBezTo>
                  <a:cubicBezTo>
                    <a:pt x="57011" y="50700"/>
                    <a:pt x="57011" y="50700"/>
                    <a:pt x="57011" y="50700"/>
                  </a:cubicBezTo>
                  <a:cubicBezTo>
                    <a:pt x="57471" y="51000"/>
                    <a:pt x="57931" y="51000"/>
                    <a:pt x="58620" y="51000"/>
                  </a:cubicBezTo>
                  <a:cubicBezTo>
                    <a:pt x="59080" y="51000"/>
                    <a:pt x="59310" y="51000"/>
                    <a:pt x="59770" y="51000"/>
                  </a:cubicBezTo>
                  <a:close/>
                  <a:moveTo>
                    <a:pt x="57701" y="35700"/>
                  </a:moveTo>
                  <a:cubicBezTo>
                    <a:pt x="57471" y="35700"/>
                    <a:pt x="57471" y="35700"/>
                    <a:pt x="57471" y="35700"/>
                  </a:cubicBezTo>
                  <a:cubicBezTo>
                    <a:pt x="56091" y="36000"/>
                    <a:pt x="55172" y="36900"/>
                    <a:pt x="54482" y="37800"/>
                  </a:cubicBezTo>
                  <a:cubicBezTo>
                    <a:pt x="52183" y="36600"/>
                    <a:pt x="52183" y="36600"/>
                    <a:pt x="52183" y="36600"/>
                  </a:cubicBezTo>
                  <a:cubicBezTo>
                    <a:pt x="52183" y="36300"/>
                    <a:pt x="52183" y="36000"/>
                    <a:pt x="52183" y="35700"/>
                  </a:cubicBezTo>
                  <a:cubicBezTo>
                    <a:pt x="52183" y="33600"/>
                    <a:pt x="51494" y="31200"/>
                    <a:pt x="50114" y="29700"/>
                  </a:cubicBezTo>
                  <a:cubicBezTo>
                    <a:pt x="49425" y="29100"/>
                    <a:pt x="48965" y="28800"/>
                    <a:pt x="48275" y="28500"/>
                  </a:cubicBezTo>
                  <a:cubicBezTo>
                    <a:pt x="48275" y="25800"/>
                    <a:pt x="48275" y="25800"/>
                    <a:pt x="48275" y="25800"/>
                  </a:cubicBezTo>
                  <a:cubicBezTo>
                    <a:pt x="56091" y="24000"/>
                    <a:pt x="56091" y="24000"/>
                    <a:pt x="56091" y="24000"/>
                  </a:cubicBezTo>
                  <a:cubicBezTo>
                    <a:pt x="56781" y="25200"/>
                    <a:pt x="57701" y="26400"/>
                    <a:pt x="58620" y="27000"/>
                  </a:cubicBezTo>
                  <a:lnTo>
                    <a:pt x="57701" y="35700"/>
                  </a:lnTo>
                  <a:close/>
                  <a:moveTo>
                    <a:pt x="50804" y="40800"/>
                  </a:moveTo>
                  <a:cubicBezTo>
                    <a:pt x="52643" y="42000"/>
                    <a:pt x="52643" y="42000"/>
                    <a:pt x="52643" y="42000"/>
                  </a:cubicBezTo>
                  <a:cubicBezTo>
                    <a:pt x="52643" y="42600"/>
                    <a:pt x="52643" y="42900"/>
                    <a:pt x="52643" y="43200"/>
                  </a:cubicBezTo>
                  <a:cubicBezTo>
                    <a:pt x="52643" y="43800"/>
                    <a:pt x="52643" y="44400"/>
                    <a:pt x="52873" y="45000"/>
                  </a:cubicBezTo>
                  <a:cubicBezTo>
                    <a:pt x="52873" y="46200"/>
                    <a:pt x="53333" y="47100"/>
                    <a:pt x="53793" y="48000"/>
                  </a:cubicBezTo>
                  <a:cubicBezTo>
                    <a:pt x="49425" y="56700"/>
                    <a:pt x="49425" y="56700"/>
                    <a:pt x="49425" y="56700"/>
                  </a:cubicBezTo>
                  <a:cubicBezTo>
                    <a:pt x="49195" y="56700"/>
                    <a:pt x="49195" y="56700"/>
                    <a:pt x="49195" y="56700"/>
                  </a:cubicBezTo>
                  <a:cubicBezTo>
                    <a:pt x="48735" y="42900"/>
                    <a:pt x="48735" y="42900"/>
                    <a:pt x="48735" y="42900"/>
                  </a:cubicBezTo>
                  <a:cubicBezTo>
                    <a:pt x="49425" y="42300"/>
                    <a:pt x="50114" y="41700"/>
                    <a:pt x="50804" y="40800"/>
                  </a:cubicBezTo>
                  <a:close/>
                  <a:moveTo>
                    <a:pt x="58160" y="79200"/>
                  </a:moveTo>
                  <a:cubicBezTo>
                    <a:pt x="57931" y="80100"/>
                    <a:pt x="57931" y="81000"/>
                    <a:pt x="57931" y="81600"/>
                  </a:cubicBezTo>
                  <a:cubicBezTo>
                    <a:pt x="57931" y="82200"/>
                    <a:pt x="57931" y="82800"/>
                    <a:pt x="58160" y="83400"/>
                  </a:cubicBezTo>
                  <a:cubicBezTo>
                    <a:pt x="58390" y="85800"/>
                    <a:pt x="59540" y="87600"/>
                    <a:pt x="61149" y="88500"/>
                  </a:cubicBezTo>
                  <a:cubicBezTo>
                    <a:pt x="60229" y="96600"/>
                    <a:pt x="60229" y="96600"/>
                    <a:pt x="60229" y="96600"/>
                  </a:cubicBezTo>
                  <a:cubicBezTo>
                    <a:pt x="51954" y="73200"/>
                    <a:pt x="51954" y="73200"/>
                    <a:pt x="51954" y="73200"/>
                  </a:cubicBezTo>
                  <a:lnTo>
                    <a:pt x="58160" y="79200"/>
                  </a:lnTo>
                  <a:close/>
                  <a:moveTo>
                    <a:pt x="64137" y="45600"/>
                  </a:moveTo>
                  <a:cubicBezTo>
                    <a:pt x="64367" y="45000"/>
                    <a:pt x="64597" y="44100"/>
                    <a:pt x="64597" y="43200"/>
                  </a:cubicBezTo>
                  <a:cubicBezTo>
                    <a:pt x="64597" y="42900"/>
                    <a:pt x="64367" y="42300"/>
                    <a:pt x="64367" y="41700"/>
                  </a:cubicBezTo>
                  <a:cubicBezTo>
                    <a:pt x="64137" y="39300"/>
                    <a:pt x="62758" y="37500"/>
                    <a:pt x="61149" y="36300"/>
                  </a:cubicBezTo>
                  <a:cubicBezTo>
                    <a:pt x="62298" y="28200"/>
                    <a:pt x="62298" y="28200"/>
                    <a:pt x="62298" y="28200"/>
                  </a:cubicBezTo>
                  <a:cubicBezTo>
                    <a:pt x="70574" y="51900"/>
                    <a:pt x="70574" y="51900"/>
                    <a:pt x="70574" y="51900"/>
                  </a:cubicBezTo>
                  <a:lnTo>
                    <a:pt x="64137" y="45600"/>
                  </a:lnTo>
                  <a:close/>
                  <a:moveTo>
                    <a:pt x="71724" y="8100"/>
                  </a:moveTo>
                  <a:cubicBezTo>
                    <a:pt x="72183" y="24000"/>
                    <a:pt x="72183" y="24000"/>
                    <a:pt x="72183" y="24000"/>
                  </a:cubicBezTo>
                  <a:cubicBezTo>
                    <a:pt x="67126" y="21000"/>
                    <a:pt x="67126" y="21000"/>
                    <a:pt x="67126" y="21000"/>
                  </a:cubicBezTo>
                  <a:cubicBezTo>
                    <a:pt x="67126" y="20700"/>
                    <a:pt x="67356" y="20400"/>
                    <a:pt x="67356" y="20100"/>
                  </a:cubicBezTo>
                  <a:cubicBezTo>
                    <a:pt x="67356" y="19500"/>
                    <a:pt x="67126" y="19200"/>
                    <a:pt x="67126" y="18600"/>
                  </a:cubicBezTo>
                  <a:cubicBezTo>
                    <a:pt x="66896" y="17700"/>
                    <a:pt x="66666" y="16800"/>
                    <a:pt x="66206" y="15900"/>
                  </a:cubicBezTo>
                  <a:cubicBezTo>
                    <a:pt x="71034" y="7800"/>
                    <a:pt x="71034" y="7800"/>
                    <a:pt x="71034" y="7800"/>
                  </a:cubicBezTo>
                  <a:cubicBezTo>
                    <a:pt x="71264" y="8100"/>
                    <a:pt x="71494" y="8100"/>
                    <a:pt x="71724" y="8100"/>
                  </a:cubicBezTo>
                  <a:close/>
                  <a:moveTo>
                    <a:pt x="53793" y="8700"/>
                  </a:moveTo>
                  <a:cubicBezTo>
                    <a:pt x="66436" y="5100"/>
                    <a:pt x="66436" y="5100"/>
                    <a:pt x="66436" y="5100"/>
                  </a:cubicBezTo>
                  <a:cubicBezTo>
                    <a:pt x="66896" y="5100"/>
                    <a:pt x="67356" y="5100"/>
                    <a:pt x="68045" y="5400"/>
                  </a:cubicBezTo>
                  <a:cubicBezTo>
                    <a:pt x="63448" y="12900"/>
                    <a:pt x="63448" y="12900"/>
                    <a:pt x="63448" y="12900"/>
                  </a:cubicBezTo>
                  <a:cubicBezTo>
                    <a:pt x="62758" y="12600"/>
                    <a:pt x="62068" y="12300"/>
                    <a:pt x="61379" y="12300"/>
                  </a:cubicBezTo>
                  <a:cubicBezTo>
                    <a:pt x="60919" y="12300"/>
                    <a:pt x="60459" y="12300"/>
                    <a:pt x="60229" y="12600"/>
                  </a:cubicBezTo>
                  <a:cubicBezTo>
                    <a:pt x="59080" y="12900"/>
                    <a:pt x="58160" y="13500"/>
                    <a:pt x="57241" y="14400"/>
                  </a:cubicBezTo>
                  <a:cubicBezTo>
                    <a:pt x="51954" y="10200"/>
                    <a:pt x="51954" y="10200"/>
                    <a:pt x="51954" y="10200"/>
                  </a:cubicBezTo>
                  <a:cubicBezTo>
                    <a:pt x="52413" y="9600"/>
                    <a:pt x="53103" y="9300"/>
                    <a:pt x="53793" y="8700"/>
                  </a:cubicBezTo>
                  <a:close/>
                  <a:moveTo>
                    <a:pt x="47816" y="15600"/>
                  </a:moveTo>
                  <a:cubicBezTo>
                    <a:pt x="48505" y="15300"/>
                    <a:pt x="49195" y="15000"/>
                    <a:pt x="49655" y="14100"/>
                  </a:cubicBezTo>
                  <a:cubicBezTo>
                    <a:pt x="55632" y="18600"/>
                    <a:pt x="55632" y="18600"/>
                    <a:pt x="55632" y="18600"/>
                  </a:cubicBezTo>
                  <a:cubicBezTo>
                    <a:pt x="55402" y="18900"/>
                    <a:pt x="55402" y="18900"/>
                    <a:pt x="55402" y="19200"/>
                  </a:cubicBezTo>
                  <a:cubicBezTo>
                    <a:pt x="48045" y="21000"/>
                    <a:pt x="48045" y="21000"/>
                    <a:pt x="48045" y="21000"/>
                  </a:cubicBezTo>
                  <a:cubicBezTo>
                    <a:pt x="47816" y="15900"/>
                    <a:pt x="47816" y="15900"/>
                    <a:pt x="47816" y="15900"/>
                  </a:cubicBezTo>
                  <a:cubicBezTo>
                    <a:pt x="47816" y="15900"/>
                    <a:pt x="47816" y="15900"/>
                    <a:pt x="47816" y="15600"/>
                  </a:cubicBezTo>
                  <a:close/>
                  <a:moveTo>
                    <a:pt x="46436" y="33000"/>
                  </a:moveTo>
                  <a:cubicBezTo>
                    <a:pt x="47586" y="33000"/>
                    <a:pt x="48505" y="34200"/>
                    <a:pt x="48505" y="35700"/>
                  </a:cubicBezTo>
                  <a:cubicBezTo>
                    <a:pt x="48505" y="37500"/>
                    <a:pt x="47586" y="38700"/>
                    <a:pt x="46436" y="38700"/>
                  </a:cubicBezTo>
                  <a:cubicBezTo>
                    <a:pt x="45057" y="38700"/>
                    <a:pt x="44137" y="37500"/>
                    <a:pt x="44137" y="35700"/>
                  </a:cubicBezTo>
                  <a:cubicBezTo>
                    <a:pt x="44137" y="34200"/>
                    <a:pt x="45057" y="33000"/>
                    <a:pt x="46436" y="33000"/>
                  </a:cubicBezTo>
                  <a:close/>
                  <a:moveTo>
                    <a:pt x="44137" y="89700"/>
                  </a:moveTo>
                  <a:cubicBezTo>
                    <a:pt x="44137" y="89700"/>
                    <a:pt x="44137" y="89700"/>
                    <a:pt x="44137" y="89700"/>
                  </a:cubicBezTo>
                  <a:cubicBezTo>
                    <a:pt x="44137" y="89700"/>
                    <a:pt x="44137" y="89400"/>
                    <a:pt x="44137" y="89400"/>
                  </a:cubicBezTo>
                  <a:cubicBezTo>
                    <a:pt x="44137" y="89400"/>
                    <a:pt x="43908" y="89100"/>
                    <a:pt x="43908" y="89100"/>
                  </a:cubicBezTo>
                  <a:cubicBezTo>
                    <a:pt x="43908" y="88800"/>
                    <a:pt x="43908" y="88500"/>
                    <a:pt x="43908" y="88200"/>
                  </a:cubicBezTo>
                  <a:cubicBezTo>
                    <a:pt x="43678" y="88200"/>
                    <a:pt x="43678" y="87900"/>
                    <a:pt x="43678" y="87900"/>
                  </a:cubicBezTo>
                  <a:cubicBezTo>
                    <a:pt x="43448" y="87600"/>
                    <a:pt x="43448" y="87300"/>
                    <a:pt x="43448" y="87000"/>
                  </a:cubicBezTo>
                  <a:cubicBezTo>
                    <a:pt x="43218" y="87000"/>
                    <a:pt x="43218" y="86700"/>
                    <a:pt x="43218" y="86700"/>
                  </a:cubicBezTo>
                  <a:cubicBezTo>
                    <a:pt x="42988" y="86400"/>
                    <a:pt x="42988" y="86100"/>
                    <a:pt x="42758" y="86100"/>
                  </a:cubicBezTo>
                  <a:cubicBezTo>
                    <a:pt x="42758" y="85800"/>
                    <a:pt x="42528" y="85800"/>
                    <a:pt x="42528" y="85500"/>
                  </a:cubicBezTo>
                  <a:cubicBezTo>
                    <a:pt x="42298" y="85500"/>
                    <a:pt x="42298" y="85500"/>
                    <a:pt x="42298" y="85200"/>
                  </a:cubicBezTo>
                  <a:cubicBezTo>
                    <a:pt x="45517" y="75900"/>
                    <a:pt x="45517" y="75900"/>
                    <a:pt x="45517" y="75900"/>
                  </a:cubicBezTo>
                  <a:cubicBezTo>
                    <a:pt x="46206" y="93300"/>
                    <a:pt x="46206" y="93300"/>
                    <a:pt x="46206" y="93300"/>
                  </a:cubicBezTo>
                  <a:cubicBezTo>
                    <a:pt x="44137" y="91800"/>
                    <a:pt x="44137" y="91800"/>
                    <a:pt x="44137" y="91800"/>
                  </a:cubicBezTo>
                  <a:cubicBezTo>
                    <a:pt x="44137" y="91800"/>
                    <a:pt x="44137" y="91500"/>
                    <a:pt x="44137" y="91200"/>
                  </a:cubicBezTo>
                  <a:cubicBezTo>
                    <a:pt x="44137" y="91200"/>
                    <a:pt x="44137" y="91200"/>
                    <a:pt x="44137" y="90900"/>
                  </a:cubicBezTo>
                  <a:cubicBezTo>
                    <a:pt x="44137" y="90600"/>
                    <a:pt x="44137" y="90300"/>
                    <a:pt x="44137" y="89700"/>
                  </a:cubicBezTo>
                  <a:close/>
                  <a:moveTo>
                    <a:pt x="38850" y="83400"/>
                  </a:moveTo>
                  <a:cubicBezTo>
                    <a:pt x="38620" y="83400"/>
                    <a:pt x="38390" y="83400"/>
                    <a:pt x="38160" y="83400"/>
                  </a:cubicBezTo>
                  <a:cubicBezTo>
                    <a:pt x="38160" y="83400"/>
                    <a:pt x="38160" y="83400"/>
                    <a:pt x="38160" y="83400"/>
                  </a:cubicBezTo>
                  <a:cubicBezTo>
                    <a:pt x="38160" y="83400"/>
                    <a:pt x="38160" y="83400"/>
                    <a:pt x="38160" y="83400"/>
                  </a:cubicBezTo>
                  <a:cubicBezTo>
                    <a:pt x="38160" y="83400"/>
                    <a:pt x="38160" y="83400"/>
                    <a:pt x="38160" y="83400"/>
                  </a:cubicBezTo>
                  <a:cubicBezTo>
                    <a:pt x="38160" y="83400"/>
                    <a:pt x="38160" y="83400"/>
                    <a:pt x="38160" y="83400"/>
                  </a:cubicBezTo>
                  <a:cubicBezTo>
                    <a:pt x="37931" y="83400"/>
                    <a:pt x="37701" y="83400"/>
                    <a:pt x="37701" y="83400"/>
                  </a:cubicBezTo>
                  <a:cubicBezTo>
                    <a:pt x="32873" y="69900"/>
                    <a:pt x="32873" y="69900"/>
                    <a:pt x="32873" y="69900"/>
                  </a:cubicBezTo>
                  <a:cubicBezTo>
                    <a:pt x="33793" y="69000"/>
                    <a:pt x="34482" y="67500"/>
                    <a:pt x="34712" y="65700"/>
                  </a:cubicBezTo>
                  <a:cubicBezTo>
                    <a:pt x="34712" y="65400"/>
                    <a:pt x="34942" y="64800"/>
                    <a:pt x="34942" y="64200"/>
                  </a:cubicBezTo>
                  <a:cubicBezTo>
                    <a:pt x="34942" y="62400"/>
                    <a:pt x="34252" y="60900"/>
                    <a:pt x="33563" y="59400"/>
                  </a:cubicBezTo>
                  <a:cubicBezTo>
                    <a:pt x="40000" y="49200"/>
                    <a:pt x="40000" y="49200"/>
                    <a:pt x="40000" y="49200"/>
                  </a:cubicBezTo>
                  <a:cubicBezTo>
                    <a:pt x="43448" y="58800"/>
                    <a:pt x="43448" y="58800"/>
                    <a:pt x="43448" y="58800"/>
                  </a:cubicBezTo>
                  <a:cubicBezTo>
                    <a:pt x="42298" y="60000"/>
                    <a:pt x="41609" y="62100"/>
                    <a:pt x="41609" y="64200"/>
                  </a:cubicBezTo>
                  <a:cubicBezTo>
                    <a:pt x="41609" y="64800"/>
                    <a:pt x="41609" y="65400"/>
                    <a:pt x="41839" y="65700"/>
                  </a:cubicBezTo>
                  <a:cubicBezTo>
                    <a:pt x="42068" y="67500"/>
                    <a:pt x="42758" y="69000"/>
                    <a:pt x="43678" y="69900"/>
                  </a:cubicBezTo>
                  <a:lnTo>
                    <a:pt x="38850" y="83400"/>
                  </a:lnTo>
                  <a:close/>
                  <a:moveTo>
                    <a:pt x="40459" y="90900"/>
                  </a:moveTo>
                  <a:cubicBezTo>
                    <a:pt x="40459" y="92700"/>
                    <a:pt x="39540" y="93900"/>
                    <a:pt x="38160" y="93900"/>
                  </a:cubicBezTo>
                  <a:cubicBezTo>
                    <a:pt x="37011" y="93900"/>
                    <a:pt x="36091" y="92700"/>
                    <a:pt x="36091" y="90900"/>
                  </a:cubicBezTo>
                  <a:cubicBezTo>
                    <a:pt x="36091" y="89400"/>
                    <a:pt x="37011" y="88200"/>
                    <a:pt x="38160" y="88200"/>
                  </a:cubicBezTo>
                  <a:cubicBezTo>
                    <a:pt x="39540" y="88200"/>
                    <a:pt x="40459" y="89400"/>
                    <a:pt x="40459" y="90900"/>
                  </a:cubicBezTo>
                  <a:close/>
                  <a:moveTo>
                    <a:pt x="32413" y="90900"/>
                  </a:moveTo>
                  <a:cubicBezTo>
                    <a:pt x="32413" y="91200"/>
                    <a:pt x="32413" y="91500"/>
                    <a:pt x="32413" y="91800"/>
                  </a:cubicBezTo>
                  <a:cubicBezTo>
                    <a:pt x="30344" y="93300"/>
                    <a:pt x="30344" y="93300"/>
                    <a:pt x="30344" y="93300"/>
                  </a:cubicBezTo>
                  <a:cubicBezTo>
                    <a:pt x="31034" y="75900"/>
                    <a:pt x="31034" y="75900"/>
                    <a:pt x="31034" y="75900"/>
                  </a:cubicBezTo>
                  <a:cubicBezTo>
                    <a:pt x="34252" y="85200"/>
                    <a:pt x="34252" y="85200"/>
                    <a:pt x="34252" y="85200"/>
                  </a:cubicBezTo>
                  <a:cubicBezTo>
                    <a:pt x="34252" y="85500"/>
                    <a:pt x="34022" y="85500"/>
                    <a:pt x="34022" y="85500"/>
                  </a:cubicBezTo>
                  <a:cubicBezTo>
                    <a:pt x="34022" y="85800"/>
                    <a:pt x="33793" y="85800"/>
                    <a:pt x="33793" y="86100"/>
                  </a:cubicBezTo>
                  <a:cubicBezTo>
                    <a:pt x="33563" y="86100"/>
                    <a:pt x="33563" y="86400"/>
                    <a:pt x="33333" y="86700"/>
                  </a:cubicBezTo>
                  <a:cubicBezTo>
                    <a:pt x="33333" y="86700"/>
                    <a:pt x="33333" y="87000"/>
                    <a:pt x="33103" y="87000"/>
                  </a:cubicBezTo>
                  <a:cubicBezTo>
                    <a:pt x="33103" y="87300"/>
                    <a:pt x="32873" y="87600"/>
                    <a:pt x="32873" y="87900"/>
                  </a:cubicBezTo>
                  <a:cubicBezTo>
                    <a:pt x="32873" y="87900"/>
                    <a:pt x="32873" y="88200"/>
                    <a:pt x="32643" y="88200"/>
                  </a:cubicBezTo>
                  <a:cubicBezTo>
                    <a:pt x="32643" y="88500"/>
                    <a:pt x="32643" y="88800"/>
                    <a:pt x="32413" y="89100"/>
                  </a:cubicBezTo>
                  <a:cubicBezTo>
                    <a:pt x="32413" y="89100"/>
                    <a:pt x="32413" y="89400"/>
                    <a:pt x="32413" y="89400"/>
                  </a:cubicBezTo>
                  <a:cubicBezTo>
                    <a:pt x="32413" y="89400"/>
                    <a:pt x="32413" y="89700"/>
                    <a:pt x="32413" y="89700"/>
                  </a:cubicBezTo>
                  <a:cubicBezTo>
                    <a:pt x="32413" y="89700"/>
                    <a:pt x="32413" y="89700"/>
                    <a:pt x="32413" y="89700"/>
                  </a:cubicBezTo>
                  <a:cubicBezTo>
                    <a:pt x="32413" y="90300"/>
                    <a:pt x="32413" y="90600"/>
                    <a:pt x="32413" y="90900"/>
                  </a:cubicBezTo>
                  <a:cubicBezTo>
                    <a:pt x="32413" y="90900"/>
                    <a:pt x="32413" y="90900"/>
                    <a:pt x="32413" y="90900"/>
                  </a:cubicBezTo>
                  <a:cubicBezTo>
                    <a:pt x="32413" y="90900"/>
                    <a:pt x="32413" y="90900"/>
                    <a:pt x="32413" y="90900"/>
                  </a:cubicBezTo>
                  <a:cubicBezTo>
                    <a:pt x="32413" y="90900"/>
                    <a:pt x="32413" y="90900"/>
                    <a:pt x="32413" y="90900"/>
                  </a:cubicBezTo>
                  <a:close/>
                  <a:moveTo>
                    <a:pt x="40459" y="39600"/>
                  </a:moveTo>
                  <a:cubicBezTo>
                    <a:pt x="41149" y="39600"/>
                    <a:pt x="41149" y="39600"/>
                    <a:pt x="41149" y="39600"/>
                  </a:cubicBezTo>
                  <a:cubicBezTo>
                    <a:pt x="41149" y="39600"/>
                    <a:pt x="41149" y="39900"/>
                    <a:pt x="41379" y="39900"/>
                  </a:cubicBezTo>
                  <a:cubicBezTo>
                    <a:pt x="40919" y="40500"/>
                    <a:pt x="40919" y="40500"/>
                    <a:pt x="40919" y="40500"/>
                  </a:cubicBezTo>
                  <a:lnTo>
                    <a:pt x="40459" y="39600"/>
                  </a:lnTo>
                  <a:close/>
                  <a:moveTo>
                    <a:pt x="42528" y="45300"/>
                  </a:moveTo>
                  <a:cubicBezTo>
                    <a:pt x="44137" y="42900"/>
                    <a:pt x="44137" y="42900"/>
                    <a:pt x="44137" y="42900"/>
                  </a:cubicBezTo>
                  <a:cubicBezTo>
                    <a:pt x="44367" y="43200"/>
                    <a:pt x="44827" y="43200"/>
                    <a:pt x="45057" y="43200"/>
                  </a:cubicBezTo>
                  <a:cubicBezTo>
                    <a:pt x="45517" y="52800"/>
                    <a:pt x="45517" y="52800"/>
                    <a:pt x="45517" y="52800"/>
                  </a:cubicBezTo>
                  <a:lnTo>
                    <a:pt x="42528" y="45300"/>
                  </a:lnTo>
                  <a:close/>
                  <a:moveTo>
                    <a:pt x="44597" y="28500"/>
                  </a:moveTo>
                  <a:cubicBezTo>
                    <a:pt x="44367" y="28500"/>
                    <a:pt x="44367" y="28500"/>
                    <a:pt x="44137" y="28500"/>
                  </a:cubicBezTo>
                  <a:cubicBezTo>
                    <a:pt x="43218" y="27000"/>
                    <a:pt x="43218" y="27000"/>
                    <a:pt x="43218" y="27000"/>
                  </a:cubicBezTo>
                  <a:cubicBezTo>
                    <a:pt x="44597" y="26700"/>
                    <a:pt x="44597" y="26700"/>
                    <a:pt x="44597" y="26700"/>
                  </a:cubicBezTo>
                  <a:lnTo>
                    <a:pt x="44597" y="28500"/>
                  </a:lnTo>
                  <a:close/>
                  <a:moveTo>
                    <a:pt x="40919" y="19800"/>
                  </a:moveTo>
                  <a:cubicBezTo>
                    <a:pt x="41609" y="20400"/>
                    <a:pt x="42298" y="21000"/>
                    <a:pt x="42758" y="21600"/>
                  </a:cubicBezTo>
                  <a:cubicBezTo>
                    <a:pt x="42988" y="21900"/>
                    <a:pt x="43218" y="21900"/>
                    <a:pt x="43448" y="22200"/>
                  </a:cubicBezTo>
                  <a:cubicBezTo>
                    <a:pt x="40689" y="22800"/>
                    <a:pt x="40689" y="22800"/>
                    <a:pt x="40689" y="22800"/>
                  </a:cubicBezTo>
                  <a:cubicBezTo>
                    <a:pt x="39770" y="21300"/>
                    <a:pt x="39770" y="21300"/>
                    <a:pt x="39770" y="21300"/>
                  </a:cubicBezTo>
                  <a:lnTo>
                    <a:pt x="40919" y="19800"/>
                  </a:lnTo>
                  <a:close/>
                  <a:moveTo>
                    <a:pt x="37931" y="32400"/>
                  </a:moveTo>
                  <a:cubicBezTo>
                    <a:pt x="40459" y="34200"/>
                    <a:pt x="40459" y="34200"/>
                    <a:pt x="40459" y="34200"/>
                  </a:cubicBezTo>
                  <a:cubicBezTo>
                    <a:pt x="40459" y="34500"/>
                    <a:pt x="40459" y="34500"/>
                    <a:pt x="40459" y="34800"/>
                  </a:cubicBezTo>
                  <a:cubicBezTo>
                    <a:pt x="38850" y="35100"/>
                    <a:pt x="38850" y="35100"/>
                    <a:pt x="38850" y="35100"/>
                  </a:cubicBezTo>
                  <a:cubicBezTo>
                    <a:pt x="37701" y="32700"/>
                    <a:pt x="37701" y="32700"/>
                    <a:pt x="37701" y="32700"/>
                  </a:cubicBezTo>
                  <a:cubicBezTo>
                    <a:pt x="37931" y="32400"/>
                    <a:pt x="37931" y="32400"/>
                    <a:pt x="37931" y="32400"/>
                  </a:cubicBezTo>
                  <a:close/>
                  <a:moveTo>
                    <a:pt x="38160" y="44700"/>
                  </a:moveTo>
                  <a:cubicBezTo>
                    <a:pt x="30574" y="56700"/>
                    <a:pt x="30574" y="56700"/>
                    <a:pt x="30574" y="56700"/>
                  </a:cubicBezTo>
                  <a:cubicBezTo>
                    <a:pt x="30344" y="56700"/>
                    <a:pt x="30114" y="56400"/>
                    <a:pt x="29885" y="56400"/>
                  </a:cubicBezTo>
                  <a:cubicBezTo>
                    <a:pt x="29655" y="47700"/>
                    <a:pt x="29655" y="47700"/>
                    <a:pt x="29655" y="47700"/>
                  </a:cubicBezTo>
                  <a:cubicBezTo>
                    <a:pt x="30574" y="47400"/>
                    <a:pt x="31494" y="46500"/>
                    <a:pt x="32183" y="45300"/>
                  </a:cubicBezTo>
                  <a:cubicBezTo>
                    <a:pt x="32873" y="44100"/>
                    <a:pt x="33333" y="42900"/>
                    <a:pt x="33563" y="41400"/>
                  </a:cubicBezTo>
                  <a:cubicBezTo>
                    <a:pt x="36781" y="40500"/>
                    <a:pt x="36781" y="40500"/>
                    <a:pt x="36781" y="40500"/>
                  </a:cubicBezTo>
                  <a:lnTo>
                    <a:pt x="38160" y="44700"/>
                  </a:lnTo>
                  <a:close/>
                  <a:moveTo>
                    <a:pt x="35862" y="27000"/>
                  </a:moveTo>
                  <a:cubicBezTo>
                    <a:pt x="35862" y="28500"/>
                    <a:pt x="34942" y="30000"/>
                    <a:pt x="33793" y="30000"/>
                  </a:cubicBezTo>
                  <a:cubicBezTo>
                    <a:pt x="32413" y="30000"/>
                    <a:pt x="31494" y="28500"/>
                    <a:pt x="31494" y="27000"/>
                  </a:cubicBezTo>
                  <a:cubicBezTo>
                    <a:pt x="31494" y="25500"/>
                    <a:pt x="32413" y="24000"/>
                    <a:pt x="33793" y="24000"/>
                  </a:cubicBezTo>
                  <a:cubicBezTo>
                    <a:pt x="34942" y="24000"/>
                    <a:pt x="35862" y="25500"/>
                    <a:pt x="35862" y="27000"/>
                  </a:cubicBezTo>
                  <a:close/>
                  <a:moveTo>
                    <a:pt x="30344" y="18300"/>
                  </a:moveTo>
                  <a:cubicBezTo>
                    <a:pt x="31034" y="18000"/>
                    <a:pt x="31724" y="17700"/>
                    <a:pt x="32643" y="17700"/>
                  </a:cubicBezTo>
                  <a:cubicBezTo>
                    <a:pt x="33793" y="19200"/>
                    <a:pt x="33793" y="19200"/>
                    <a:pt x="33793" y="19200"/>
                  </a:cubicBezTo>
                  <a:cubicBezTo>
                    <a:pt x="33793" y="19200"/>
                    <a:pt x="33793" y="19200"/>
                    <a:pt x="33793" y="19200"/>
                  </a:cubicBezTo>
                  <a:cubicBezTo>
                    <a:pt x="33333" y="19200"/>
                    <a:pt x="32873" y="19200"/>
                    <a:pt x="32413" y="19500"/>
                  </a:cubicBezTo>
                  <a:cubicBezTo>
                    <a:pt x="31724" y="19500"/>
                    <a:pt x="31034" y="20100"/>
                    <a:pt x="30344" y="20700"/>
                  </a:cubicBezTo>
                  <a:cubicBezTo>
                    <a:pt x="30114" y="20700"/>
                    <a:pt x="30114" y="20700"/>
                    <a:pt x="30114" y="20700"/>
                  </a:cubicBezTo>
                  <a:lnTo>
                    <a:pt x="30344" y="18300"/>
                  </a:lnTo>
                  <a:close/>
                  <a:moveTo>
                    <a:pt x="29655" y="32700"/>
                  </a:moveTo>
                  <a:cubicBezTo>
                    <a:pt x="30804" y="33900"/>
                    <a:pt x="32183" y="34800"/>
                    <a:pt x="33563" y="34800"/>
                  </a:cubicBezTo>
                  <a:cubicBezTo>
                    <a:pt x="34022" y="34800"/>
                    <a:pt x="34252" y="34800"/>
                    <a:pt x="34482" y="34800"/>
                  </a:cubicBezTo>
                  <a:cubicBezTo>
                    <a:pt x="35172" y="36300"/>
                    <a:pt x="35172" y="36300"/>
                    <a:pt x="35172" y="36300"/>
                  </a:cubicBezTo>
                  <a:cubicBezTo>
                    <a:pt x="32873" y="36600"/>
                    <a:pt x="32873" y="36600"/>
                    <a:pt x="32873" y="36600"/>
                  </a:cubicBezTo>
                  <a:cubicBezTo>
                    <a:pt x="32413" y="36000"/>
                    <a:pt x="31954" y="35100"/>
                    <a:pt x="31264" y="34500"/>
                  </a:cubicBezTo>
                  <a:cubicBezTo>
                    <a:pt x="30804" y="33900"/>
                    <a:pt x="30344" y="33600"/>
                    <a:pt x="29655" y="33300"/>
                  </a:cubicBezTo>
                  <a:lnTo>
                    <a:pt x="29655" y="32700"/>
                  </a:lnTo>
                  <a:close/>
                  <a:moveTo>
                    <a:pt x="29885" y="40500"/>
                  </a:moveTo>
                  <a:cubicBezTo>
                    <a:pt x="29885" y="42000"/>
                    <a:pt x="28965" y="43500"/>
                    <a:pt x="27586" y="43500"/>
                  </a:cubicBezTo>
                  <a:cubicBezTo>
                    <a:pt x="26436" y="43500"/>
                    <a:pt x="25287" y="42000"/>
                    <a:pt x="25287" y="40500"/>
                  </a:cubicBezTo>
                  <a:cubicBezTo>
                    <a:pt x="25287" y="39000"/>
                    <a:pt x="26436" y="37500"/>
                    <a:pt x="27586" y="37500"/>
                  </a:cubicBezTo>
                  <a:cubicBezTo>
                    <a:pt x="28965" y="37500"/>
                    <a:pt x="29885" y="39000"/>
                    <a:pt x="29885" y="40500"/>
                  </a:cubicBezTo>
                  <a:close/>
                  <a:moveTo>
                    <a:pt x="16091" y="69900"/>
                  </a:moveTo>
                  <a:cubicBezTo>
                    <a:pt x="23218" y="67800"/>
                    <a:pt x="23218" y="67800"/>
                    <a:pt x="23218" y="67800"/>
                  </a:cubicBezTo>
                  <a:cubicBezTo>
                    <a:pt x="23218" y="68100"/>
                    <a:pt x="23218" y="68100"/>
                    <a:pt x="23448" y="68400"/>
                  </a:cubicBezTo>
                  <a:cubicBezTo>
                    <a:pt x="16091" y="75300"/>
                    <a:pt x="16091" y="75300"/>
                    <a:pt x="16091" y="75300"/>
                  </a:cubicBezTo>
                  <a:cubicBezTo>
                    <a:pt x="15632" y="75000"/>
                    <a:pt x="15172" y="74700"/>
                    <a:pt x="14482" y="74400"/>
                  </a:cubicBezTo>
                  <a:cubicBezTo>
                    <a:pt x="14712" y="74400"/>
                    <a:pt x="14712" y="74100"/>
                    <a:pt x="14712" y="74100"/>
                  </a:cubicBezTo>
                  <a:cubicBezTo>
                    <a:pt x="15402" y="72900"/>
                    <a:pt x="15862" y="71400"/>
                    <a:pt x="16091" y="69900"/>
                  </a:cubicBezTo>
                  <a:close/>
                  <a:moveTo>
                    <a:pt x="14942" y="65100"/>
                  </a:moveTo>
                  <a:cubicBezTo>
                    <a:pt x="15172" y="64800"/>
                    <a:pt x="15172" y="64800"/>
                    <a:pt x="15172" y="64800"/>
                  </a:cubicBezTo>
                  <a:cubicBezTo>
                    <a:pt x="16091" y="65100"/>
                    <a:pt x="16091" y="65100"/>
                    <a:pt x="16091" y="65100"/>
                  </a:cubicBezTo>
                  <a:cubicBezTo>
                    <a:pt x="15172" y="65400"/>
                    <a:pt x="15172" y="65400"/>
                    <a:pt x="15172" y="65400"/>
                  </a:cubicBezTo>
                  <a:cubicBezTo>
                    <a:pt x="15172" y="65100"/>
                    <a:pt x="15172" y="65100"/>
                    <a:pt x="14942" y="65100"/>
                  </a:cubicBezTo>
                  <a:close/>
                  <a:moveTo>
                    <a:pt x="17931" y="60300"/>
                  </a:moveTo>
                  <a:cubicBezTo>
                    <a:pt x="18620" y="59400"/>
                    <a:pt x="18620" y="59400"/>
                    <a:pt x="18620" y="59400"/>
                  </a:cubicBezTo>
                  <a:cubicBezTo>
                    <a:pt x="20459" y="60900"/>
                    <a:pt x="20459" y="60900"/>
                    <a:pt x="20459" y="60900"/>
                  </a:cubicBezTo>
                  <a:lnTo>
                    <a:pt x="17931" y="60300"/>
                  </a:lnTo>
                  <a:close/>
                  <a:moveTo>
                    <a:pt x="20919" y="55500"/>
                  </a:moveTo>
                  <a:cubicBezTo>
                    <a:pt x="25517" y="47700"/>
                    <a:pt x="25517" y="47700"/>
                    <a:pt x="25517" y="47700"/>
                  </a:cubicBezTo>
                  <a:cubicBezTo>
                    <a:pt x="25747" y="47700"/>
                    <a:pt x="25747" y="47700"/>
                    <a:pt x="25977" y="48000"/>
                  </a:cubicBezTo>
                  <a:cubicBezTo>
                    <a:pt x="26206" y="56700"/>
                    <a:pt x="26206" y="56700"/>
                    <a:pt x="26206" y="56700"/>
                  </a:cubicBezTo>
                  <a:cubicBezTo>
                    <a:pt x="25517" y="57000"/>
                    <a:pt x="24827" y="57300"/>
                    <a:pt x="24367" y="58200"/>
                  </a:cubicBezTo>
                  <a:lnTo>
                    <a:pt x="20919" y="55500"/>
                  </a:lnTo>
                  <a:close/>
                  <a:moveTo>
                    <a:pt x="25517" y="22500"/>
                  </a:moveTo>
                  <a:cubicBezTo>
                    <a:pt x="26436" y="23400"/>
                    <a:pt x="26436" y="23400"/>
                    <a:pt x="26436" y="23400"/>
                  </a:cubicBezTo>
                  <a:cubicBezTo>
                    <a:pt x="25977" y="33000"/>
                    <a:pt x="25977" y="33000"/>
                    <a:pt x="25977" y="33000"/>
                  </a:cubicBezTo>
                  <a:cubicBezTo>
                    <a:pt x="25977" y="33000"/>
                    <a:pt x="25747" y="33000"/>
                    <a:pt x="25747" y="33300"/>
                  </a:cubicBezTo>
                  <a:cubicBezTo>
                    <a:pt x="22758" y="28500"/>
                    <a:pt x="22758" y="28500"/>
                    <a:pt x="22758" y="28500"/>
                  </a:cubicBezTo>
                  <a:cubicBezTo>
                    <a:pt x="23448" y="26100"/>
                    <a:pt x="24367" y="24300"/>
                    <a:pt x="25517" y="22500"/>
                  </a:cubicBezTo>
                  <a:close/>
                  <a:moveTo>
                    <a:pt x="12413" y="42300"/>
                  </a:moveTo>
                  <a:cubicBezTo>
                    <a:pt x="14482" y="40800"/>
                    <a:pt x="16781" y="39600"/>
                    <a:pt x="19540" y="39300"/>
                  </a:cubicBezTo>
                  <a:cubicBezTo>
                    <a:pt x="21609" y="40500"/>
                    <a:pt x="21609" y="40500"/>
                    <a:pt x="21609" y="40500"/>
                  </a:cubicBezTo>
                  <a:cubicBezTo>
                    <a:pt x="21609" y="40500"/>
                    <a:pt x="21609" y="40500"/>
                    <a:pt x="21609" y="40500"/>
                  </a:cubicBezTo>
                  <a:cubicBezTo>
                    <a:pt x="21609" y="42000"/>
                    <a:pt x="22068" y="43500"/>
                    <a:pt x="22758" y="44700"/>
                  </a:cubicBezTo>
                  <a:cubicBezTo>
                    <a:pt x="17701" y="53100"/>
                    <a:pt x="17701" y="53100"/>
                    <a:pt x="17701" y="53100"/>
                  </a:cubicBezTo>
                  <a:cubicBezTo>
                    <a:pt x="12183" y="48900"/>
                    <a:pt x="12183" y="48900"/>
                    <a:pt x="12183" y="48900"/>
                  </a:cubicBezTo>
                  <a:lnTo>
                    <a:pt x="12413" y="42300"/>
                  </a:lnTo>
                  <a:close/>
                  <a:moveTo>
                    <a:pt x="12183" y="54300"/>
                  </a:moveTo>
                  <a:cubicBezTo>
                    <a:pt x="15402" y="56700"/>
                    <a:pt x="15402" y="56700"/>
                    <a:pt x="15402" y="56700"/>
                  </a:cubicBezTo>
                  <a:cubicBezTo>
                    <a:pt x="13563" y="60000"/>
                    <a:pt x="13563" y="60000"/>
                    <a:pt x="13563" y="60000"/>
                  </a:cubicBezTo>
                  <a:cubicBezTo>
                    <a:pt x="12183" y="59700"/>
                    <a:pt x="12183" y="59700"/>
                    <a:pt x="12183" y="59700"/>
                  </a:cubicBezTo>
                  <a:lnTo>
                    <a:pt x="12183" y="54300"/>
                  </a:lnTo>
                  <a:close/>
                  <a:moveTo>
                    <a:pt x="4827" y="54000"/>
                  </a:moveTo>
                  <a:cubicBezTo>
                    <a:pt x="5287" y="52800"/>
                    <a:pt x="5747" y="51300"/>
                    <a:pt x="6436" y="50100"/>
                  </a:cubicBezTo>
                  <a:cubicBezTo>
                    <a:pt x="8505" y="51600"/>
                    <a:pt x="8505" y="51600"/>
                    <a:pt x="8505" y="51600"/>
                  </a:cubicBezTo>
                  <a:cubicBezTo>
                    <a:pt x="8505" y="59100"/>
                    <a:pt x="8505" y="59100"/>
                    <a:pt x="8505" y="59100"/>
                  </a:cubicBezTo>
                  <a:cubicBezTo>
                    <a:pt x="7586" y="59100"/>
                    <a:pt x="7586" y="59100"/>
                    <a:pt x="7586" y="59100"/>
                  </a:cubicBezTo>
                  <a:cubicBezTo>
                    <a:pt x="7126" y="57000"/>
                    <a:pt x="6206" y="55200"/>
                    <a:pt x="4827" y="54000"/>
                  </a:cubicBezTo>
                  <a:close/>
                  <a:moveTo>
                    <a:pt x="7816" y="69300"/>
                  </a:moveTo>
                  <a:cubicBezTo>
                    <a:pt x="7816" y="67500"/>
                    <a:pt x="8965" y="66300"/>
                    <a:pt x="10114" y="66300"/>
                  </a:cubicBezTo>
                  <a:cubicBezTo>
                    <a:pt x="11264" y="66300"/>
                    <a:pt x="12413" y="67500"/>
                    <a:pt x="12413" y="69300"/>
                  </a:cubicBezTo>
                  <a:cubicBezTo>
                    <a:pt x="12413" y="70800"/>
                    <a:pt x="11264" y="72300"/>
                    <a:pt x="10114" y="72300"/>
                  </a:cubicBezTo>
                  <a:cubicBezTo>
                    <a:pt x="8965" y="72300"/>
                    <a:pt x="7816" y="70800"/>
                    <a:pt x="7816" y="69300"/>
                  </a:cubicBezTo>
                  <a:close/>
                  <a:moveTo>
                    <a:pt x="12643" y="98100"/>
                  </a:moveTo>
                  <a:cubicBezTo>
                    <a:pt x="10574" y="95400"/>
                    <a:pt x="9195" y="91800"/>
                    <a:pt x="8965" y="87900"/>
                  </a:cubicBezTo>
                  <a:cubicBezTo>
                    <a:pt x="9655" y="88500"/>
                    <a:pt x="10574" y="89100"/>
                    <a:pt x="11494" y="89400"/>
                  </a:cubicBezTo>
                  <a:cubicBezTo>
                    <a:pt x="11494" y="89400"/>
                    <a:pt x="11724" y="89400"/>
                    <a:pt x="11724" y="89400"/>
                  </a:cubicBezTo>
                  <a:cubicBezTo>
                    <a:pt x="12643" y="98100"/>
                    <a:pt x="12643" y="98100"/>
                    <a:pt x="12643" y="98100"/>
                  </a:cubicBezTo>
                  <a:cubicBezTo>
                    <a:pt x="12643" y="98100"/>
                    <a:pt x="12643" y="98100"/>
                    <a:pt x="12643" y="98100"/>
                  </a:cubicBezTo>
                  <a:close/>
                  <a:moveTo>
                    <a:pt x="12643" y="84600"/>
                  </a:moveTo>
                  <a:cubicBezTo>
                    <a:pt x="11494" y="84600"/>
                    <a:pt x="10344" y="83400"/>
                    <a:pt x="10344" y="81600"/>
                  </a:cubicBezTo>
                  <a:cubicBezTo>
                    <a:pt x="10344" y="80100"/>
                    <a:pt x="11494" y="78900"/>
                    <a:pt x="12643" y="78900"/>
                  </a:cubicBezTo>
                  <a:cubicBezTo>
                    <a:pt x="13793" y="78900"/>
                    <a:pt x="14942" y="80100"/>
                    <a:pt x="14942" y="81600"/>
                  </a:cubicBezTo>
                  <a:cubicBezTo>
                    <a:pt x="14942" y="83400"/>
                    <a:pt x="13793" y="84600"/>
                    <a:pt x="12643" y="84600"/>
                  </a:cubicBezTo>
                  <a:close/>
                  <a:moveTo>
                    <a:pt x="15402" y="88500"/>
                  </a:moveTo>
                  <a:cubicBezTo>
                    <a:pt x="16781" y="87600"/>
                    <a:pt x="18160" y="85800"/>
                    <a:pt x="18390" y="83100"/>
                  </a:cubicBezTo>
                  <a:cubicBezTo>
                    <a:pt x="18620" y="82800"/>
                    <a:pt x="18620" y="82200"/>
                    <a:pt x="18620" y="81600"/>
                  </a:cubicBezTo>
                  <a:cubicBezTo>
                    <a:pt x="18620" y="81000"/>
                    <a:pt x="18390" y="80100"/>
                    <a:pt x="18160" y="79200"/>
                  </a:cubicBezTo>
                  <a:cubicBezTo>
                    <a:pt x="24597" y="73200"/>
                    <a:pt x="24597" y="73200"/>
                    <a:pt x="24597" y="73200"/>
                  </a:cubicBezTo>
                  <a:cubicBezTo>
                    <a:pt x="16321" y="96600"/>
                    <a:pt x="16321" y="96600"/>
                    <a:pt x="16321" y="96600"/>
                  </a:cubicBezTo>
                  <a:lnTo>
                    <a:pt x="15402" y="88500"/>
                  </a:lnTo>
                  <a:close/>
                  <a:moveTo>
                    <a:pt x="26436" y="95400"/>
                  </a:moveTo>
                  <a:cubicBezTo>
                    <a:pt x="19770" y="99600"/>
                    <a:pt x="19770" y="99600"/>
                    <a:pt x="19770" y="99600"/>
                  </a:cubicBezTo>
                  <a:cubicBezTo>
                    <a:pt x="19540" y="99600"/>
                    <a:pt x="19540" y="99300"/>
                    <a:pt x="19310" y="99300"/>
                  </a:cubicBezTo>
                  <a:cubicBezTo>
                    <a:pt x="27126" y="77400"/>
                    <a:pt x="27126" y="77400"/>
                    <a:pt x="27126" y="77400"/>
                  </a:cubicBezTo>
                  <a:lnTo>
                    <a:pt x="26436" y="95400"/>
                  </a:lnTo>
                  <a:close/>
                  <a:moveTo>
                    <a:pt x="28275" y="66900"/>
                  </a:moveTo>
                  <a:cubicBezTo>
                    <a:pt x="27126" y="66900"/>
                    <a:pt x="25977" y="65400"/>
                    <a:pt x="25977" y="63900"/>
                  </a:cubicBezTo>
                  <a:cubicBezTo>
                    <a:pt x="25977" y="62400"/>
                    <a:pt x="27126" y="60900"/>
                    <a:pt x="28275" y="60900"/>
                  </a:cubicBezTo>
                  <a:cubicBezTo>
                    <a:pt x="29425" y="60900"/>
                    <a:pt x="30574" y="62400"/>
                    <a:pt x="30574" y="63900"/>
                  </a:cubicBezTo>
                  <a:cubicBezTo>
                    <a:pt x="30574" y="65400"/>
                    <a:pt x="29425" y="66900"/>
                    <a:pt x="28275" y="66900"/>
                  </a:cubicBezTo>
                  <a:close/>
                  <a:moveTo>
                    <a:pt x="29885" y="106200"/>
                  </a:moveTo>
                  <a:cubicBezTo>
                    <a:pt x="30114" y="98700"/>
                    <a:pt x="30114" y="98700"/>
                    <a:pt x="30114" y="98700"/>
                  </a:cubicBezTo>
                  <a:cubicBezTo>
                    <a:pt x="34022" y="96300"/>
                    <a:pt x="34022" y="96300"/>
                    <a:pt x="34022" y="96300"/>
                  </a:cubicBezTo>
                  <a:cubicBezTo>
                    <a:pt x="34022" y="96300"/>
                    <a:pt x="34022" y="96300"/>
                    <a:pt x="34022" y="96600"/>
                  </a:cubicBezTo>
                  <a:cubicBezTo>
                    <a:pt x="34252" y="96600"/>
                    <a:pt x="34252" y="96600"/>
                    <a:pt x="34252" y="96900"/>
                  </a:cubicBezTo>
                  <a:cubicBezTo>
                    <a:pt x="30804" y="107700"/>
                    <a:pt x="30804" y="107700"/>
                    <a:pt x="30804" y="107700"/>
                  </a:cubicBezTo>
                  <a:cubicBezTo>
                    <a:pt x="30344" y="107400"/>
                    <a:pt x="30114" y="106800"/>
                    <a:pt x="29885" y="106200"/>
                  </a:cubicBezTo>
                  <a:close/>
                  <a:moveTo>
                    <a:pt x="42298" y="115200"/>
                  </a:moveTo>
                  <a:cubicBezTo>
                    <a:pt x="39080" y="115200"/>
                    <a:pt x="36091" y="113700"/>
                    <a:pt x="33563" y="111300"/>
                  </a:cubicBezTo>
                  <a:cubicBezTo>
                    <a:pt x="37701" y="98700"/>
                    <a:pt x="37701" y="98700"/>
                    <a:pt x="37701" y="98700"/>
                  </a:cubicBezTo>
                  <a:cubicBezTo>
                    <a:pt x="37931" y="98700"/>
                    <a:pt x="38160" y="98700"/>
                    <a:pt x="38160" y="98700"/>
                  </a:cubicBezTo>
                  <a:cubicBezTo>
                    <a:pt x="38160" y="98700"/>
                    <a:pt x="38160" y="98700"/>
                    <a:pt x="38160" y="98700"/>
                  </a:cubicBezTo>
                  <a:cubicBezTo>
                    <a:pt x="38160" y="98700"/>
                    <a:pt x="38160" y="98700"/>
                    <a:pt x="38160" y="98700"/>
                  </a:cubicBezTo>
                  <a:cubicBezTo>
                    <a:pt x="38160" y="98700"/>
                    <a:pt x="38160" y="98700"/>
                    <a:pt x="38160" y="98700"/>
                  </a:cubicBezTo>
                  <a:cubicBezTo>
                    <a:pt x="38390" y="98700"/>
                    <a:pt x="38620" y="98700"/>
                    <a:pt x="38850" y="98700"/>
                  </a:cubicBezTo>
                  <a:cubicBezTo>
                    <a:pt x="44137" y="114900"/>
                    <a:pt x="44137" y="114900"/>
                    <a:pt x="44137" y="114900"/>
                  </a:cubicBezTo>
                  <a:cubicBezTo>
                    <a:pt x="43678" y="114900"/>
                    <a:pt x="42988" y="115200"/>
                    <a:pt x="42298" y="115200"/>
                  </a:cubicBezTo>
                  <a:close/>
                  <a:moveTo>
                    <a:pt x="42068" y="96900"/>
                  </a:moveTo>
                  <a:cubicBezTo>
                    <a:pt x="42298" y="96600"/>
                    <a:pt x="42298" y="96600"/>
                    <a:pt x="42528" y="96600"/>
                  </a:cubicBezTo>
                  <a:cubicBezTo>
                    <a:pt x="42528" y="96300"/>
                    <a:pt x="42528" y="96300"/>
                    <a:pt x="42528" y="96300"/>
                  </a:cubicBezTo>
                  <a:cubicBezTo>
                    <a:pt x="46436" y="98700"/>
                    <a:pt x="46436" y="98700"/>
                    <a:pt x="46436" y="98700"/>
                  </a:cubicBezTo>
                  <a:cubicBezTo>
                    <a:pt x="46896" y="111300"/>
                    <a:pt x="46896" y="111300"/>
                    <a:pt x="46896" y="111300"/>
                  </a:cubicBezTo>
                  <a:lnTo>
                    <a:pt x="42068" y="96900"/>
                  </a:lnTo>
                  <a:close/>
                  <a:moveTo>
                    <a:pt x="47586" y="67200"/>
                  </a:moveTo>
                  <a:cubicBezTo>
                    <a:pt x="46436" y="67200"/>
                    <a:pt x="45287" y="66000"/>
                    <a:pt x="45287" y="64200"/>
                  </a:cubicBezTo>
                  <a:cubicBezTo>
                    <a:pt x="45287" y="62700"/>
                    <a:pt x="46436" y="61200"/>
                    <a:pt x="47586" y="61200"/>
                  </a:cubicBezTo>
                  <a:cubicBezTo>
                    <a:pt x="48735" y="61200"/>
                    <a:pt x="49885" y="62700"/>
                    <a:pt x="49885" y="64200"/>
                  </a:cubicBezTo>
                  <a:cubicBezTo>
                    <a:pt x="49885" y="66000"/>
                    <a:pt x="48735" y="67200"/>
                    <a:pt x="47586" y="67200"/>
                  </a:cubicBezTo>
                  <a:close/>
                  <a:moveTo>
                    <a:pt x="54482" y="107100"/>
                  </a:moveTo>
                  <a:cubicBezTo>
                    <a:pt x="53333" y="108900"/>
                    <a:pt x="52183" y="110700"/>
                    <a:pt x="50574" y="111900"/>
                  </a:cubicBezTo>
                  <a:cubicBezTo>
                    <a:pt x="50114" y="100800"/>
                    <a:pt x="50114" y="100800"/>
                    <a:pt x="50114" y="100800"/>
                  </a:cubicBezTo>
                  <a:cubicBezTo>
                    <a:pt x="55172" y="104100"/>
                    <a:pt x="55172" y="104100"/>
                    <a:pt x="55172" y="104100"/>
                  </a:cubicBezTo>
                  <a:cubicBezTo>
                    <a:pt x="55172" y="104400"/>
                    <a:pt x="55172" y="104700"/>
                    <a:pt x="55172" y="105000"/>
                  </a:cubicBezTo>
                  <a:cubicBezTo>
                    <a:pt x="55172" y="105300"/>
                    <a:pt x="55172" y="105900"/>
                    <a:pt x="55402" y="106200"/>
                  </a:cubicBezTo>
                  <a:cubicBezTo>
                    <a:pt x="54942" y="106500"/>
                    <a:pt x="54712" y="106800"/>
                    <a:pt x="54482" y="107100"/>
                  </a:cubicBezTo>
                  <a:close/>
                  <a:moveTo>
                    <a:pt x="56781" y="99600"/>
                  </a:moveTo>
                  <a:cubicBezTo>
                    <a:pt x="50114" y="95400"/>
                    <a:pt x="50114" y="95400"/>
                    <a:pt x="50114" y="95400"/>
                  </a:cubicBezTo>
                  <a:cubicBezTo>
                    <a:pt x="49195" y="77400"/>
                    <a:pt x="49195" y="77400"/>
                    <a:pt x="49195" y="77400"/>
                  </a:cubicBezTo>
                  <a:cubicBezTo>
                    <a:pt x="57011" y="99300"/>
                    <a:pt x="57011" y="99300"/>
                    <a:pt x="57011" y="99300"/>
                  </a:cubicBezTo>
                  <a:cubicBezTo>
                    <a:pt x="57011" y="99300"/>
                    <a:pt x="57011" y="99600"/>
                    <a:pt x="56781" y="99600"/>
                  </a:cubicBezTo>
                  <a:close/>
                  <a:moveTo>
                    <a:pt x="61149" y="107700"/>
                  </a:moveTo>
                  <a:cubicBezTo>
                    <a:pt x="60000" y="107700"/>
                    <a:pt x="58850" y="106500"/>
                    <a:pt x="58850" y="105000"/>
                  </a:cubicBezTo>
                  <a:cubicBezTo>
                    <a:pt x="58850" y="103200"/>
                    <a:pt x="60000" y="102000"/>
                    <a:pt x="61149" y="102000"/>
                  </a:cubicBezTo>
                  <a:cubicBezTo>
                    <a:pt x="62298" y="102000"/>
                    <a:pt x="63448" y="103200"/>
                    <a:pt x="63448" y="105000"/>
                  </a:cubicBezTo>
                  <a:cubicBezTo>
                    <a:pt x="63448" y="106500"/>
                    <a:pt x="62298" y="107700"/>
                    <a:pt x="61149" y="107700"/>
                  </a:cubicBezTo>
                  <a:close/>
                  <a:moveTo>
                    <a:pt x="66206" y="101100"/>
                  </a:moveTo>
                  <a:cubicBezTo>
                    <a:pt x="65747" y="99900"/>
                    <a:pt x="64827" y="98700"/>
                    <a:pt x="63908" y="98100"/>
                  </a:cubicBezTo>
                  <a:cubicBezTo>
                    <a:pt x="64827" y="89400"/>
                    <a:pt x="64827" y="89400"/>
                    <a:pt x="64827" y="89400"/>
                  </a:cubicBezTo>
                  <a:cubicBezTo>
                    <a:pt x="64827" y="89400"/>
                    <a:pt x="65057" y="89400"/>
                    <a:pt x="65057" y="89400"/>
                  </a:cubicBezTo>
                  <a:cubicBezTo>
                    <a:pt x="66206" y="89100"/>
                    <a:pt x="67356" y="88200"/>
                    <a:pt x="68045" y="87000"/>
                  </a:cubicBezTo>
                  <a:cubicBezTo>
                    <a:pt x="74022" y="90900"/>
                    <a:pt x="74022" y="90900"/>
                    <a:pt x="74022" y="90900"/>
                  </a:cubicBezTo>
                  <a:cubicBezTo>
                    <a:pt x="74252" y="99300"/>
                    <a:pt x="74252" y="99300"/>
                    <a:pt x="74252" y="99300"/>
                  </a:cubicBezTo>
                  <a:lnTo>
                    <a:pt x="66206" y="101100"/>
                  </a:lnTo>
                  <a:close/>
                  <a:moveTo>
                    <a:pt x="71264" y="109800"/>
                  </a:moveTo>
                  <a:cubicBezTo>
                    <a:pt x="66896" y="106500"/>
                    <a:pt x="66896" y="106500"/>
                    <a:pt x="66896" y="106500"/>
                  </a:cubicBezTo>
                  <a:cubicBezTo>
                    <a:pt x="66896" y="106200"/>
                    <a:pt x="66896" y="106200"/>
                    <a:pt x="66896" y="105900"/>
                  </a:cubicBezTo>
                  <a:cubicBezTo>
                    <a:pt x="74482" y="104100"/>
                    <a:pt x="74482" y="104100"/>
                    <a:pt x="74482" y="104100"/>
                  </a:cubicBezTo>
                  <a:cubicBezTo>
                    <a:pt x="74482" y="107700"/>
                    <a:pt x="74482" y="107700"/>
                    <a:pt x="74482" y="107700"/>
                  </a:cubicBezTo>
                  <a:cubicBezTo>
                    <a:pt x="73563" y="108600"/>
                    <a:pt x="72413" y="109200"/>
                    <a:pt x="71264" y="109800"/>
                  </a:cubicBezTo>
                  <a:close/>
                  <a:moveTo>
                    <a:pt x="74942" y="63600"/>
                  </a:moveTo>
                  <a:cubicBezTo>
                    <a:pt x="73563" y="63600"/>
                    <a:pt x="72643" y="62400"/>
                    <a:pt x="72643" y="60900"/>
                  </a:cubicBezTo>
                  <a:cubicBezTo>
                    <a:pt x="72643" y="59100"/>
                    <a:pt x="73563" y="57900"/>
                    <a:pt x="74942" y="57900"/>
                  </a:cubicBezTo>
                  <a:cubicBezTo>
                    <a:pt x="76091" y="57900"/>
                    <a:pt x="77011" y="59100"/>
                    <a:pt x="77011" y="60900"/>
                  </a:cubicBezTo>
                  <a:cubicBezTo>
                    <a:pt x="77011" y="62400"/>
                    <a:pt x="76091" y="63600"/>
                    <a:pt x="74942" y="63600"/>
                  </a:cubicBezTo>
                  <a:close/>
                  <a:moveTo>
                    <a:pt x="82988" y="96900"/>
                  </a:moveTo>
                  <a:cubicBezTo>
                    <a:pt x="77931" y="98100"/>
                    <a:pt x="77931" y="98100"/>
                    <a:pt x="77931" y="98100"/>
                  </a:cubicBezTo>
                  <a:cubicBezTo>
                    <a:pt x="77701" y="93600"/>
                    <a:pt x="77701" y="93600"/>
                    <a:pt x="77701" y="93600"/>
                  </a:cubicBezTo>
                  <a:cubicBezTo>
                    <a:pt x="82988" y="96900"/>
                    <a:pt x="82988" y="96900"/>
                    <a:pt x="82988" y="96900"/>
                  </a:cubicBezTo>
                  <a:cubicBezTo>
                    <a:pt x="82988" y="96900"/>
                    <a:pt x="82988" y="96900"/>
                    <a:pt x="82988" y="96900"/>
                  </a:cubicBezTo>
                  <a:close/>
                  <a:moveTo>
                    <a:pt x="84597" y="92400"/>
                  </a:moveTo>
                  <a:cubicBezTo>
                    <a:pt x="77471" y="87900"/>
                    <a:pt x="77471" y="87900"/>
                    <a:pt x="77471" y="87900"/>
                  </a:cubicBezTo>
                  <a:cubicBezTo>
                    <a:pt x="77011" y="72000"/>
                    <a:pt x="77011" y="72000"/>
                    <a:pt x="77011" y="72000"/>
                  </a:cubicBezTo>
                  <a:cubicBezTo>
                    <a:pt x="84597" y="92400"/>
                    <a:pt x="84597" y="92400"/>
                    <a:pt x="84597" y="92400"/>
                  </a:cubicBezTo>
                  <a:cubicBezTo>
                    <a:pt x="84597" y="92400"/>
                    <a:pt x="84597" y="92400"/>
                    <a:pt x="84597" y="92400"/>
                  </a:cubicBezTo>
                  <a:close/>
                  <a:moveTo>
                    <a:pt x="88735" y="100800"/>
                  </a:moveTo>
                  <a:cubicBezTo>
                    <a:pt x="87586" y="100800"/>
                    <a:pt x="86436" y="99600"/>
                    <a:pt x="86436" y="98100"/>
                  </a:cubicBezTo>
                  <a:cubicBezTo>
                    <a:pt x="86436" y="96300"/>
                    <a:pt x="87586" y="95100"/>
                    <a:pt x="88735" y="95100"/>
                  </a:cubicBezTo>
                  <a:cubicBezTo>
                    <a:pt x="90114" y="95100"/>
                    <a:pt x="91034" y="96300"/>
                    <a:pt x="91034" y="98100"/>
                  </a:cubicBezTo>
                  <a:cubicBezTo>
                    <a:pt x="91034" y="99600"/>
                    <a:pt x="90114" y="100800"/>
                    <a:pt x="88735" y="100800"/>
                  </a:cubicBezTo>
                  <a:close/>
                  <a:moveTo>
                    <a:pt x="106436" y="84000"/>
                  </a:moveTo>
                  <a:cubicBezTo>
                    <a:pt x="105517" y="84300"/>
                    <a:pt x="104827" y="85200"/>
                    <a:pt x="104827" y="86400"/>
                  </a:cubicBezTo>
                  <a:cubicBezTo>
                    <a:pt x="104827" y="86700"/>
                    <a:pt x="104827" y="86700"/>
                    <a:pt x="104827" y="86700"/>
                  </a:cubicBezTo>
                  <a:cubicBezTo>
                    <a:pt x="104827" y="96600"/>
                    <a:pt x="98850" y="104400"/>
                    <a:pt x="91494" y="105000"/>
                  </a:cubicBezTo>
                  <a:cubicBezTo>
                    <a:pt x="93333" y="103500"/>
                    <a:pt x="94712" y="100800"/>
                    <a:pt x="94712" y="98100"/>
                  </a:cubicBezTo>
                  <a:cubicBezTo>
                    <a:pt x="94712" y="97500"/>
                    <a:pt x="94712" y="96900"/>
                    <a:pt x="94712" y="96300"/>
                  </a:cubicBezTo>
                  <a:cubicBezTo>
                    <a:pt x="94022" y="92700"/>
                    <a:pt x="91494" y="90300"/>
                    <a:pt x="88735" y="90300"/>
                  </a:cubicBezTo>
                  <a:cubicBezTo>
                    <a:pt x="88505" y="90300"/>
                    <a:pt x="88275" y="90300"/>
                    <a:pt x="88045" y="90300"/>
                  </a:cubicBezTo>
                  <a:cubicBezTo>
                    <a:pt x="79770" y="68400"/>
                    <a:pt x="79770" y="68400"/>
                    <a:pt x="79770" y="68400"/>
                  </a:cubicBezTo>
                  <a:cubicBezTo>
                    <a:pt x="91954" y="78600"/>
                    <a:pt x="91954" y="78600"/>
                    <a:pt x="91954" y="78600"/>
                  </a:cubicBezTo>
                  <a:cubicBezTo>
                    <a:pt x="91954" y="79200"/>
                    <a:pt x="91724" y="80100"/>
                    <a:pt x="91724" y="80700"/>
                  </a:cubicBezTo>
                  <a:cubicBezTo>
                    <a:pt x="91724" y="83100"/>
                    <a:pt x="92643" y="85500"/>
                    <a:pt x="94482" y="87000"/>
                  </a:cubicBezTo>
                  <a:cubicBezTo>
                    <a:pt x="95402" y="87900"/>
                    <a:pt x="96551" y="88500"/>
                    <a:pt x="97701" y="88500"/>
                  </a:cubicBezTo>
                  <a:cubicBezTo>
                    <a:pt x="97701" y="88500"/>
                    <a:pt x="97701" y="88500"/>
                    <a:pt x="97701" y="88500"/>
                  </a:cubicBezTo>
                  <a:cubicBezTo>
                    <a:pt x="99540" y="88500"/>
                    <a:pt x="101609" y="87000"/>
                    <a:pt x="102758" y="84900"/>
                  </a:cubicBezTo>
                  <a:cubicBezTo>
                    <a:pt x="102988" y="84000"/>
                    <a:pt x="103218" y="83400"/>
                    <a:pt x="103448" y="82500"/>
                  </a:cubicBezTo>
                  <a:cubicBezTo>
                    <a:pt x="110804" y="81600"/>
                    <a:pt x="110804" y="81600"/>
                    <a:pt x="110804" y="81600"/>
                  </a:cubicBezTo>
                  <a:cubicBezTo>
                    <a:pt x="110804" y="81600"/>
                    <a:pt x="110804" y="81900"/>
                    <a:pt x="110804" y="81900"/>
                  </a:cubicBezTo>
                  <a:cubicBezTo>
                    <a:pt x="109425" y="83100"/>
                    <a:pt x="108045" y="83700"/>
                    <a:pt x="106436" y="84000"/>
                  </a:cubicBezTo>
                  <a:close/>
                  <a:moveTo>
                    <a:pt x="112643" y="72600"/>
                  </a:moveTo>
                  <a:cubicBezTo>
                    <a:pt x="108505" y="68700"/>
                    <a:pt x="108505" y="68700"/>
                    <a:pt x="108505" y="68700"/>
                  </a:cubicBezTo>
                  <a:cubicBezTo>
                    <a:pt x="110804" y="65400"/>
                    <a:pt x="110804" y="65400"/>
                    <a:pt x="110804" y="65400"/>
                  </a:cubicBezTo>
                  <a:cubicBezTo>
                    <a:pt x="112643" y="72300"/>
                    <a:pt x="112643" y="72300"/>
                    <a:pt x="112643" y="72300"/>
                  </a:cubicBezTo>
                  <a:cubicBezTo>
                    <a:pt x="112643" y="72300"/>
                    <a:pt x="112643" y="72600"/>
                    <a:pt x="112643" y="72600"/>
                  </a:cubicBezTo>
                  <a:close/>
                  <a:moveTo>
                    <a:pt x="116321" y="70800"/>
                  </a:moveTo>
                  <a:cubicBezTo>
                    <a:pt x="113793" y="61200"/>
                    <a:pt x="113793" y="61200"/>
                    <a:pt x="113793" y="61200"/>
                  </a:cubicBezTo>
                  <a:cubicBezTo>
                    <a:pt x="114482" y="60300"/>
                    <a:pt x="114482" y="60300"/>
                    <a:pt x="114482" y="60300"/>
                  </a:cubicBezTo>
                  <a:cubicBezTo>
                    <a:pt x="115632" y="62700"/>
                    <a:pt x="116321" y="65700"/>
                    <a:pt x="116321" y="69000"/>
                  </a:cubicBezTo>
                  <a:cubicBezTo>
                    <a:pt x="116321" y="69600"/>
                    <a:pt x="116321" y="70200"/>
                    <a:pt x="116321" y="70800"/>
                  </a:cubicBezTo>
                  <a:cubicBezTo>
                    <a:pt x="116321" y="70800"/>
                    <a:pt x="116321" y="70800"/>
                    <a:pt x="116321" y="70800"/>
                  </a:cubicBezTo>
                  <a:close/>
                </a:path>
              </a:pathLst>
            </a:custGeom>
            <a:solidFill>
              <a:srgbClr val="B1B3B4"/>
            </a:solidFill>
            <a:ln>
              <a:noFill/>
            </a:ln>
          </p:spPr>
          <p:txBody>
            <a:bodyPr anchorCtr="0" anchor="t" bIns="54425" lIns="108875" rIns="108875" tIns="54425">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
          <p:nvSpPr>
            <p:cNvPr id="497" name="Shape 497"/>
            <p:cNvSpPr/>
            <p:nvPr/>
          </p:nvSpPr>
          <p:spPr>
            <a:xfrm flipH="1">
              <a:off x="7274111" y="4936780"/>
              <a:ext cx="1531409" cy="667612"/>
            </a:xfrm>
            <a:custGeom>
              <a:pathLst>
                <a:path extrusionOk="0" h="120000" w="120000">
                  <a:moveTo>
                    <a:pt x="108045" y="49200"/>
                  </a:moveTo>
                  <a:cubicBezTo>
                    <a:pt x="108045" y="48600"/>
                    <a:pt x="108045" y="48000"/>
                    <a:pt x="108045" y="47400"/>
                  </a:cubicBezTo>
                  <a:cubicBezTo>
                    <a:pt x="108045" y="33300"/>
                    <a:pt x="99080" y="21600"/>
                    <a:pt x="88275" y="21600"/>
                  </a:cubicBezTo>
                  <a:cubicBezTo>
                    <a:pt x="87586" y="21600"/>
                    <a:pt x="87126" y="21600"/>
                    <a:pt x="86666" y="21600"/>
                  </a:cubicBezTo>
                  <a:cubicBezTo>
                    <a:pt x="83678" y="9000"/>
                    <a:pt x="74712" y="0"/>
                    <a:pt x="64137" y="0"/>
                  </a:cubicBezTo>
                  <a:cubicBezTo>
                    <a:pt x="55172" y="0"/>
                    <a:pt x="47356" y="6600"/>
                    <a:pt x="43448" y="16200"/>
                  </a:cubicBezTo>
                  <a:cubicBezTo>
                    <a:pt x="40919" y="13800"/>
                    <a:pt x="37701" y="12600"/>
                    <a:pt x="34482" y="12600"/>
                  </a:cubicBezTo>
                  <a:cubicBezTo>
                    <a:pt x="25747" y="12600"/>
                    <a:pt x="18620" y="21900"/>
                    <a:pt x="18620" y="33300"/>
                  </a:cubicBezTo>
                  <a:cubicBezTo>
                    <a:pt x="18620" y="33900"/>
                    <a:pt x="18620" y="34200"/>
                    <a:pt x="18620" y="34500"/>
                  </a:cubicBezTo>
                  <a:cubicBezTo>
                    <a:pt x="8275" y="36300"/>
                    <a:pt x="0" y="47700"/>
                    <a:pt x="0" y="61800"/>
                  </a:cubicBezTo>
                  <a:cubicBezTo>
                    <a:pt x="0" y="69000"/>
                    <a:pt x="2298" y="75900"/>
                    <a:pt x="5977" y="80700"/>
                  </a:cubicBezTo>
                  <a:cubicBezTo>
                    <a:pt x="5517" y="82500"/>
                    <a:pt x="5287" y="84600"/>
                    <a:pt x="5287" y="86700"/>
                  </a:cubicBezTo>
                  <a:cubicBezTo>
                    <a:pt x="5287" y="98100"/>
                    <a:pt x="12413" y="107400"/>
                    <a:pt x="21149" y="107400"/>
                  </a:cubicBezTo>
                  <a:cubicBezTo>
                    <a:pt x="22528" y="107400"/>
                    <a:pt x="24137" y="107100"/>
                    <a:pt x="25517" y="106500"/>
                  </a:cubicBezTo>
                  <a:cubicBezTo>
                    <a:pt x="28735" y="114300"/>
                    <a:pt x="34942" y="120000"/>
                    <a:pt x="42298" y="120000"/>
                  </a:cubicBezTo>
                  <a:cubicBezTo>
                    <a:pt x="47816" y="120000"/>
                    <a:pt x="52873" y="116700"/>
                    <a:pt x="56321" y="111900"/>
                  </a:cubicBezTo>
                  <a:cubicBezTo>
                    <a:pt x="59310" y="114300"/>
                    <a:pt x="62758" y="115500"/>
                    <a:pt x="66436" y="115500"/>
                  </a:cubicBezTo>
                  <a:cubicBezTo>
                    <a:pt x="72413" y="115500"/>
                    <a:pt x="77701" y="111900"/>
                    <a:pt x="81149" y="106200"/>
                  </a:cubicBezTo>
                  <a:cubicBezTo>
                    <a:pt x="83908" y="108300"/>
                    <a:pt x="87356" y="109800"/>
                    <a:pt x="90804" y="109800"/>
                  </a:cubicBezTo>
                  <a:cubicBezTo>
                    <a:pt x="100000" y="109800"/>
                    <a:pt x="107586" y="100200"/>
                    <a:pt x="108275" y="88500"/>
                  </a:cubicBezTo>
                  <a:cubicBezTo>
                    <a:pt x="115172" y="86100"/>
                    <a:pt x="120000" y="78300"/>
                    <a:pt x="120000" y="69000"/>
                  </a:cubicBezTo>
                  <a:cubicBezTo>
                    <a:pt x="120000" y="59400"/>
                    <a:pt x="114942" y="51300"/>
                    <a:pt x="108045" y="49200"/>
                  </a:cubicBezTo>
                  <a:close/>
                  <a:moveTo>
                    <a:pt x="104137" y="50700"/>
                  </a:moveTo>
                  <a:cubicBezTo>
                    <a:pt x="104137" y="50700"/>
                    <a:pt x="104137" y="50700"/>
                    <a:pt x="104137" y="50700"/>
                  </a:cubicBezTo>
                  <a:cubicBezTo>
                    <a:pt x="104137" y="50700"/>
                    <a:pt x="104137" y="50700"/>
                    <a:pt x="104137" y="50700"/>
                  </a:cubicBezTo>
                  <a:cubicBezTo>
                    <a:pt x="104137" y="51600"/>
                    <a:pt x="104367" y="52200"/>
                    <a:pt x="104597" y="52500"/>
                  </a:cubicBezTo>
                  <a:cubicBezTo>
                    <a:pt x="104827" y="53100"/>
                    <a:pt x="105287" y="53400"/>
                    <a:pt x="105747" y="53700"/>
                  </a:cubicBezTo>
                  <a:cubicBezTo>
                    <a:pt x="106666" y="53700"/>
                    <a:pt x="107356" y="54000"/>
                    <a:pt x="108045" y="54300"/>
                  </a:cubicBezTo>
                  <a:cubicBezTo>
                    <a:pt x="109655" y="60000"/>
                    <a:pt x="109655" y="60000"/>
                    <a:pt x="109655" y="60000"/>
                  </a:cubicBezTo>
                  <a:cubicBezTo>
                    <a:pt x="105287" y="66000"/>
                    <a:pt x="105287" y="66000"/>
                    <a:pt x="105287" y="66000"/>
                  </a:cubicBezTo>
                  <a:cubicBezTo>
                    <a:pt x="98620" y="60300"/>
                    <a:pt x="98620" y="60300"/>
                    <a:pt x="98620" y="60300"/>
                  </a:cubicBezTo>
                  <a:cubicBezTo>
                    <a:pt x="98850" y="59400"/>
                    <a:pt x="98850" y="58800"/>
                    <a:pt x="98850" y="57900"/>
                  </a:cubicBezTo>
                  <a:cubicBezTo>
                    <a:pt x="98850" y="57300"/>
                    <a:pt x="98850" y="56400"/>
                    <a:pt x="98620" y="55500"/>
                  </a:cubicBezTo>
                  <a:cubicBezTo>
                    <a:pt x="103908" y="50400"/>
                    <a:pt x="103908" y="50400"/>
                    <a:pt x="103908" y="50400"/>
                  </a:cubicBezTo>
                  <a:cubicBezTo>
                    <a:pt x="104137" y="50400"/>
                    <a:pt x="104137" y="50700"/>
                    <a:pt x="104137" y="50700"/>
                  </a:cubicBezTo>
                  <a:close/>
                  <a:moveTo>
                    <a:pt x="105977" y="72300"/>
                  </a:moveTo>
                  <a:cubicBezTo>
                    <a:pt x="110574" y="76500"/>
                    <a:pt x="110574" y="76500"/>
                    <a:pt x="110574" y="76500"/>
                  </a:cubicBezTo>
                  <a:cubicBezTo>
                    <a:pt x="110574" y="76500"/>
                    <a:pt x="110574" y="76800"/>
                    <a:pt x="110574" y="76800"/>
                  </a:cubicBezTo>
                  <a:cubicBezTo>
                    <a:pt x="103218" y="77700"/>
                    <a:pt x="103218" y="77700"/>
                    <a:pt x="103218" y="77700"/>
                  </a:cubicBezTo>
                  <a:cubicBezTo>
                    <a:pt x="102988" y="77400"/>
                    <a:pt x="102988" y="77100"/>
                    <a:pt x="102988" y="76800"/>
                  </a:cubicBezTo>
                  <a:lnTo>
                    <a:pt x="105977" y="72300"/>
                  </a:lnTo>
                  <a:close/>
                  <a:moveTo>
                    <a:pt x="97931" y="72900"/>
                  </a:moveTo>
                  <a:cubicBezTo>
                    <a:pt x="96321" y="64500"/>
                    <a:pt x="96321" y="64500"/>
                    <a:pt x="96321" y="64500"/>
                  </a:cubicBezTo>
                  <a:cubicBezTo>
                    <a:pt x="96321" y="64500"/>
                    <a:pt x="96551" y="64200"/>
                    <a:pt x="96551" y="64200"/>
                  </a:cubicBezTo>
                  <a:cubicBezTo>
                    <a:pt x="102758" y="69600"/>
                    <a:pt x="102758" y="69600"/>
                    <a:pt x="102758" y="69600"/>
                  </a:cubicBezTo>
                  <a:cubicBezTo>
                    <a:pt x="100229" y="73500"/>
                    <a:pt x="100229" y="73500"/>
                    <a:pt x="100229" y="73500"/>
                  </a:cubicBezTo>
                  <a:cubicBezTo>
                    <a:pt x="99540" y="73200"/>
                    <a:pt x="98620" y="72900"/>
                    <a:pt x="97931" y="72900"/>
                  </a:cubicBezTo>
                  <a:close/>
                  <a:moveTo>
                    <a:pt x="100000" y="80700"/>
                  </a:moveTo>
                  <a:cubicBezTo>
                    <a:pt x="100000" y="82200"/>
                    <a:pt x="98850" y="83400"/>
                    <a:pt x="97701" y="83400"/>
                  </a:cubicBezTo>
                  <a:cubicBezTo>
                    <a:pt x="96551" y="83400"/>
                    <a:pt x="95402" y="82200"/>
                    <a:pt x="95402" y="80700"/>
                  </a:cubicBezTo>
                  <a:cubicBezTo>
                    <a:pt x="95402" y="78900"/>
                    <a:pt x="96551" y="77700"/>
                    <a:pt x="97701" y="77700"/>
                  </a:cubicBezTo>
                  <a:cubicBezTo>
                    <a:pt x="98850" y="77700"/>
                    <a:pt x="100000" y="78900"/>
                    <a:pt x="100000" y="80700"/>
                  </a:cubicBezTo>
                  <a:close/>
                  <a:moveTo>
                    <a:pt x="102988" y="39000"/>
                  </a:moveTo>
                  <a:cubicBezTo>
                    <a:pt x="102758" y="39300"/>
                    <a:pt x="102758" y="39600"/>
                    <a:pt x="102528" y="39900"/>
                  </a:cubicBezTo>
                  <a:cubicBezTo>
                    <a:pt x="101839" y="41100"/>
                    <a:pt x="101609" y="42600"/>
                    <a:pt x="101609" y="44100"/>
                  </a:cubicBezTo>
                  <a:cubicBezTo>
                    <a:pt x="101609" y="45000"/>
                    <a:pt x="101609" y="45900"/>
                    <a:pt x="101839" y="46500"/>
                  </a:cubicBezTo>
                  <a:cubicBezTo>
                    <a:pt x="96781" y="51300"/>
                    <a:pt x="96781" y="51300"/>
                    <a:pt x="96781" y="51300"/>
                  </a:cubicBezTo>
                  <a:cubicBezTo>
                    <a:pt x="101379" y="35100"/>
                    <a:pt x="101379" y="35100"/>
                    <a:pt x="101379" y="35100"/>
                  </a:cubicBezTo>
                  <a:cubicBezTo>
                    <a:pt x="102068" y="36300"/>
                    <a:pt x="102528" y="37500"/>
                    <a:pt x="102988" y="39000"/>
                  </a:cubicBezTo>
                  <a:close/>
                  <a:moveTo>
                    <a:pt x="98620" y="31200"/>
                  </a:moveTo>
                  <a:cubicBezTo>
                    <a:pt x="93103" y="50400"/>
                    <a:pt x="93103" y="50400"/>
                    <a:pt x="93103" y="50400"/>
                  </a:cubicBezTo>
                  <a:cubicBezTo>
                    <a:pt x="93103" y="50400"/>
                    <a:pt x="93103" y="50400"/>
                    <a:pt x="92873" y="50400"/>
                  </a:cubicBezTo>
                  <a:cubicBezTo>
                    <a:pt x="92873" y="50400"/>
                    <a:pt x="92873" y="50400"/>
                    <a:pt x="92643" y="50400"/>
                  </a:cubicBezTo>
                  <a:cubicBezTo>
                    <a:pt x="90114" y="41100"/>
                    <a:pt x="90114" y="41100"/>
                    <a:pt x="90114" y="41100"/>
                  </a:cubicBezTo>
                  <a:cubicBezTo>
                    <a:pt x="97701" y="30300"/>
                    <a:pt x="97701" y="30300"/>
                    <a:pt x="97701" y="30300"/>
                  </a:cubicBezTo>
                  <a:cubicBezTo>
                    <a:pt x="97931" y="30600"/>
                    <a:pt x="98160" y="30900"/>
                    <a:pt x="98620" y="31200"/>
                  </a:cubicBezTo>
                  <a:close/>
                  <a:moveTo>
                    <a:pt x="92873" y="60900"/>
                  </a:moveTo>
                  <a:cubicBezTo>
                    <a:pt x="91724" y="60900"/>
                    <a:pt x="90804" y="59700"/>
                    <a:pt x="90804" y="57900"/>
                  </a:cubicBezTo>
                  <a:cubicBezTo>
                    <a:pt x="90804" y="56400"/>
                    <a:pt x="91724" y="55200"/>
                    <a:pt x="92873" y="55200"/>
                  </a:cubicBezTo>
                  <a:cubicBezTo>
                    <a:pt x="94252" y="55200"/>
                    <a:pt x="95172" y="56400"/>
                    <a:pt x="95172" y="57900"/>
                  </a:cubicBezTo>
                  <a:cubicBezTo>
                    <a:pt x="95172" y="59700"/>
                    <a:pt x="94252" y="60900"/>
                    <a:pt x="92873" y="60900"/>
                  </a:cubicBezTo>
                  <a:close/>
                  <a:moveTo>
                    <a:pt x="94482" y="74100"/>
                  </a:moveTo>
                  <a:cubicBezTo>
                    <a:pt x="94252" y="74400"/>
                    <a:pt x="94022" y="74400"/>
                    <a:pt x="94022" y="74700"/>
                  </a:cubicBezTo>
                  <a:cubicBezTo>
                    <a:pt x="80459" y="63300"/>
                    <a:pt x="80459" y="63300"/>
                    <a:pt x="80459" y="63300"/>
                  </a:cubicBezTo>
                  <a:cubicBezTo>
                    <a:pt x="80459" y="63000"/>
                    <a:pt x="80689" y="62700"/>
                    <a:pt x="80689" y="62400"/>
                  </a:cubicBezTo>
                  <a:cubicBezTo>
                    <a:pt x="87586" y="61200"/>
                    <a:pt x="87586" y="61200"/>
                    <a:pt x="87586" y="61200"/>
                  </a:cubicBezTo>
                  <a:cubicBezTo>
                    <a:pt x="88045" y="62400"/>
                    <a:pt x="88735" y="63600"/>
                    <a:pt x="89655" y="64500"/>
                  </a:cubicBezTo>
                  <a:cubicBezTo>
                    <a:pt x="90574" y="65400"/>
                    <a:pt x="91724" y="65700"/>
                    <a:pt x="92643" y="65700"/>
                  </a:cubicBezTo>
                  <a:lnTo>
                    <a:pt x="94482" y="74100"/>
                  </a:lnTo>
                  <a:close/>
                  <a:moveTo>
                    <a:pt x="90114" y="26700"/>
                  </a:moveTo>
                  <a:cubicBezTo>
                    <a:pt x="90574" y="26700"/>
                    <a:pt x="90574" y="26700"/>
                    <a:pt x="90574" y="26700"/>
                  </a:cubicBezTo>
                  <a:cubicBezTo>
                    <a:pt x="91954" y="27000"/>
                    <a:pt x="93103" y="27300"/>
                    <a:pt x="94252" y="27900"/>
                  </a:cubicBezTo>
                  <a:cubicBezTo>
                    <a:pt x="90114" y="33900"/>
                    <a:pt x="90114" y="33900"/>
                    <a:pt x="90114" y="33900"/>
                  </a:cubicBezTo>
                  <a:cubicBezTo>
                    <a:pt x="90114" y="33600"/>
                    <a:pt x="90114" y="33000"/>
                    <a:pt x="90114" y="32400"/>
                  </a:cubicBezTo>
                  <a:cubicBezTo>
                    <a:pt x="89885" y="31800"/>
                    <a:pt x="89655" y="31200"/>
                    <a:pt x="89655" y="30600"/>
                  </a:cubicBezTo>
                  <a:cubicBezTo>
                    <a:pt x="90114" y="29700"/>
                    <a:pt x="90344" y="28200"/>
                    <a:pt x="90344" y="27000"/>
                  </a:cubicBezTo>
                  <a:cubicBezTo>
                    <a:pt x="90344" y="27000"/>
                    <a:pt x="90114" y="27000"/>
                    <a:pt x="90114" y="26700"/>
                  </a:cubicBezTo>
                  <a:close/>
                  <a:moveTo>
                    <a:pt x="84137" y="31200"/>
                  </a:moveTo>
                  <a:cubicBezTo>
                    <a:pt x="85517" y="31200"/>
                    <a:pt x="86436" y="32400"/>
                    <a:pt x="86436" y="33900"/>
                  </a:cubicBezTo>
                  <a:cubicBezTo>
                    <a:pt x="86436" y="35700"/>
                    <a:pt x="85517" y="36900"/>
                    <a:pt x="84137" y="36900"/>
                  </a:cubicBezTo>
                  <a:cubicBezTo>
                    <a:pt x="82988" y="36900"/>
                    <a:pt x="82068" y="35700"/>
                    <a:pt x="82068" y="33900"/>
                  </a:cubicBezTo>
                  <a:cubicBezTo>
                    <a:pt x="82068" y="32400"/>
                    <a:pt x="82988" y="31200"/>
                    <a:pt x="84137" y="31200"/>
                  </a:cubicBezTo>
                  <a:close/>
                  <a:moveTo>
                    <a:pt x="84827" y="41700"/>
                  </a:moveTo>
                  <a:cubicBezTo>
                    <a:pt x="82298" y="45300"/>
                    <a:pt x="82298" y="45300"/>
                    <a:pt x="82298" y="45300"/>
                  </a:cubicBezTo>
                  <a:cubicBezTo>
                    <a:pt x="83448" y="41700"/>
                    <a:pt x="83448" y="41700"/>
                    <a:pt x="83448" y="41700"/>
                  </a:cubicBezTo>
                  <a:cubicBezTo>
                    <a:pt x="83678" y="41700"/>
                    <a:pt x="83908" y="41700"/>
                    <a:pt x="84137" y="41700"/>
                  </a:cubicBezTo>
                  <a:cubicBezTo>
                    <a:pt x="84367" y="41700"/>
                    <a:pt x="84597" y="41700"/>
                    <a:pt x="84827" y="41700"/>
                  </a:cubicBezTo>
                  <a:close/>
                  <a:moveTo>
                    <a:pt x="82068" y="19800"/>
                  </a:moveTo>
                  <a:cubicBezTo>
                    <a:pt x="82068" y="20100"/>
                    <a:pt x="81839" y="20100"/>
                    <a:pt x="81609" y="20100"/>
                  </a:cubicBezTo>
                  <a:cubicBezTo>
                    <a:pt x="80000" y="15300"/>
                    <a:pt x="80000" y="15300"/>
                    <a:pt x="80000" y="15300"/>
                  </a:cubicBezTo>
                  <a:cubicBezTo>
                    <a:pt x="80919" y="16800"/>
                    <a:pt x="81609" y="18300"/>
                    <a:pt x="82068" y="19800"/>
                  </a:cubicBezTo>
                  <a:close/>
                  <a:moveTo>
                    <a:pt x="87356" y="45000"/>
                  </a:moveTo>
                  <a:cubicBezTo>
                    <a:pt x="89195" y="51900"/>
                    <a:pt x="89195" y="51900"/>
                    <a:pt x="89195" y="51900"/>
                  </a:cubicBezTo>
                  <a:cubicBezTo>
                    <a:pt x="88735" y="52500"/>
                    <a:pt x="88275" y="53100"/>
                    <a:pt x="88045" y="53700"/>
                  </a:cubicBezTo>
                  <a:cubicBezTo>
                    <a:pt x="87586" y="54600"/>
                    <a:pt x="87356" y="55500"/>
                    <a:pt x="87126" y="56400"/>
                  </a:cubicBezTo>
                  <a:cubicBezTo>
                    <a:pt x="80229" y="57600"/>
                    <a:pt x="80229" y="57600"/>
                    <a:pt x="80229" y="57600"/>
                  </a:cubicBezTo>
                  <a:cubicBezTo>
                    <a:pt x="80000" y="57000"/>
                    <a:pt x="79770" y="56700"/>
                    <a:pt x="79770" y="56400"/>
                  </a:cubicBezTo>
                  <a:lnTo>
                    <a:pt x="87356" y="45000"/>
                  </a:lnTo>
                  <a:close/>
                  <a:moveTo>
                    <a:pt x="78390" y="35700"/>
                  </a:moveTo>
                  <a:cubicBezTo>
                    <a:pt x="78620" y="36300"/>
                    <a:pt x="78850" y="37200"/>
                    <a:pt x="79080" y="37800"/>
                  </a:cubicBezTo>
                  <a:cubicBezTo>
                    <a:pt x="76781" y="45300"/>
                    <a:pt x="76781" y="45300"/>
                    <a:pt x="76781" y="45300"/>
                  </a:cubicBezTo>
                  <a:cubicBezTo>
                    <a:pt x="76321" y="31800"/>
                    <a:pt x="76321" y="31800"/>
                    <a:pt x="76321" y="31800"/>
                  </a:cubicBezTo>
                  <a:cubicBezTo>
                    <a:pt x="78390" y="33000"/>
                    <a:pt x="78390" y="33000"/>
                    <a:pt x="78390" y="33000"/>
                  </a:cubicBezTo>
                  <a:cubicBezTo>
                    <a:pt x="78390" y="33300"/>
                    <a:pt x="78160" y="33600"/>
                    <a:pt x="78160" y="33900"/>
                  </a:cubicBezTo>
                  <a:cubicBezTo>
                    <a:pt x="78160" y="34500"/>
                    <a:pt x="78390" y="35100"/>
                    <a:pt x="78390" y="35700"/>
                  </a:cubicBezTo>
                  <a:close/>
                  <a:moveTo>
                    <a:pt x="78850" y="24000"/>
                  </a:moveTo>
                  <a:cubicBezTo>
                    <a:pt x="78620" y="24900"/>
                    <a:pt x="78390" y="26100"/>
                    <a:pt x="78390" y="27000"/>
                  </a:cubicBezTo>
                  <a:cubicBezTo>
                    <a:pt x="78390" y="27300"/>
                    <a:pt x="78390" y="27600"/>
                    <a:pt x="78390" y="27900"/>
                  </a:cubicBezTo>
                  <a:cubicBezTo>
                    <a:pt x="76091" y="26400"/>
                    <a:pt x="76091" y="26400"/>
                    <a:pt x="76091" y="26400"/>
                  </a:cubicBezTo>
                  <a:cubicBezTo>
                    <a:pt x="75632" y="13800"/>
                    <a:pt x="75632" y="13800"/>
                    <a:pt x="75632" y="13800"/>
                  </a:cubicBezTo>
                  <a:lnTo>
                    <a:pt x="78850" y="24000"/>
                  </a:lnTo>
                  <a:close/>
                  <a:moveTo>
                    <a:pt x="73103" y="47700"/>
                  </a:moveTo>
                  <a:cubicBezTo>
                    <a:pt x="65287" y="25800"/>
                    <a:pt x="65287" y="25800"/>
                    <a:pt x="65287" y="25800"/>
                  </a:cubicBezTo>
                  <a:cubicBezTo>
                    <a:pt x="65517" y="25800"/>
                    <a:pt x="65517" y="25500"/>
                    <a:pt x="65747" y="25500"/>
                  </a:cubicBezTo>
                  <a:cubicBezTo>
                    <a:pt x="72413" y="29400"/>
                    <a:pt x="72413" y="29400"/>
                    <a:pt x="72413" y="29400"/>
                  </a:cubicBezTo>
                  <a:lnTo>
                    <a:pt x="73103" y="47700"/>
                  </a:lnTo>
                  <a:close/>
                  <a:moveTo>
                    <a:pt x="69655" y="80100"/>
                  </a:moveTo>
                  <a:cubicBezTo>
                    <a:pt x="69425" y="78900"/>
                    <a:pt x="69195" y="78000"/>
                    <a:pt x="68505" y="77100"/>
                  </a:cubicBezTo>
                  <a:cubicBezTo>
                    <a:pt x="72873" y="68400"/>
                    <a:pt x="72873" y="68400"/>
                    <a:pt x="72873" y="68400"/>
                  </a:cubicBezTo>
                  <a:cubicBezTo>
                    <a:pt x="73103" y="68400"/>
                    <a:pt x="73103" y="68400"/>
                    <a:pt x="73103" y="68400"/>
                  </a:cubicBezTo>
                  <a:cubicBezTo>
                    <a:pt x="73793" y="85500"/>
                    <a:pt x="73793" y="85500"/>
                    <a:pt x="73793" y="85500"/>
                  </a:cubicBezTo>
                  <a:cubicBezTo>
                    <a:pt x="69655" y="82800"/>
                    <a:pt x="69655" y="82800"/>
                    <a:pt x="69655" y="82800"/>
                  </a:cubicBezTo>
                  <a:cubicBezTo>
                    <a:pt x="69885" y="82500"/>
                    <a:pt x="69885" y="82200"/>
                    <a:pt x="69885" y="81600"/>
                  </a:cubicBezTo>
                  <a:cubicBezTo>
                    <a:pt x="69885" y="81300"/>
                    <a:pt x="69885" y="80700"/>
                    <a:pt x="69655" y="80100"/>
                  </a:cubicBezTo>
                  <a:close/>
                  <a:moveTo>
                    <a:pt x="65517" y="74400"/>
                  </a:moveTo>
                  <a:cubicBezTo>
                    <a:pt x="65057" y="74100"/>
                    <a:pt x="64367" y="74100"/>
                    <a:pt x="63908" y="74100"/>
                  </a:cubicBezTo>
                  <a:cubicBezTo>
                    <a:pt x="63448" y="74100"/>
                    <a:pt x="62988" y="74100"/>
                    <a:pt x="62758" y="74100"/>
                  </a:cubicBezTo>
                  <a:cubicBezTo>
                    <a:pt x="62758" y="74100"/>
                    <a:pt x="62758" y="74100"/>
                    <a:pt x="62758" y="74100"/>
                  </a:cubicBezTo>
                  <a:cubicBezTo>
                    <a:pt x="61839" y="74400"/>
                    <a:pt x="61149" y="74700"/>
                    <a:pt x="60459" y="75300"/>
                  </a:cubicBezTo>
                  <a:cubicBezTo>
                    <a:pt x="52873" y="68100"/>
                    <a:pt x="52873" y="68100"/>
                    <a:pt x="52873" y="68100"/>
                  </a:cubicBezTo>
                  <a:cubicBezTo>
                    <a:pt x="53103" y="67500"/>
                    <a:pt x="53333" y="66600"/>
                    <a:pt x="53563" y="66000"/>
                  </a:cubicBezTo>
                  <a:cubicBezTo>
                    <a:pt x="55402" y="65700"/>
                    <a:pt x="55402" y="65700"/>
                    <a:pt x="55402" y="65700"/>
                  </a:cubicBezTo>
                  <a:cubicBezTo>
                    <a:pt x="68505" y="63900"/>
                    <a:pt x="68505" y="63900"/>
                    <a:pt x="68505" y="63900"/>
                  </a:cubicBezTo>
                  <a:cubicBezTo>
                    <a:pt x="68965" y="64800"/>
                    <a:pt x="69195" y="65400"/>
                    <a:pt x="69655" y="66300"/>
                  </a:cubicBezTo>
                  <a:lnTo>
                    <a:pt x="65517" y="74400"/>
                  </a:lnTo>
                  <a:close/>
                  <a:moveTo>
                    <a:pt x="66206" y="81600"/>
                  </a:moveTo>
                  <a:cubicBezTo>
                    <a:pt x="66206" y="83400"/>
                    <a:pt x="65057" y="84600"/>
                    <a:pt x="63908" y="84600"/>
                  </a:cubicBezTo>
                  <a:cubicBezTo>
                    <a:pt x="62528" y="84600"/>
                    <a:pt x="61609" y="83400"/>
                    <a:pt x="61609" y="81600"/>
                  </a:cubicBezTo>
                  <a:cubicBezTo>
                    <a:pt x="61609" y="80100"/>
                    <a:pt x="62528" y="78900"/>
                    <a:pt x="63908" y="78900"/>
                  </a:cubicBezTo>
                  <a:cubicBezTo>
                    <a:pt x="65057" y="78900"/>
                    <a:pt x="66206" y="80100"/>
                    <a:pt x="66206" y="81600"/>
                  </a:cubicBezTo>
                  <a:close/>
                  <a:moveTo>
                    <a:pt x="60919" y="43200"/>
                  </a:moveTo>
                  <a:cubicBezTo>
                    <a:pt x="60919" y="45000"/>
                    <a:pt x="59770" y="46200"/>
                    <a:pt x="58620" y="46200"/>
                  </a:cubicBezTo>
                  <a:cubicBezTo>
                    <a:pt x="57241" y="46200"/>
                    <a:pt x="56321" y="45000"/>
                    <a:pt x="56321" y="43200"/>
                  </a:cubicBezTo>
                  <a:cubicBezTo>
                    <a:pt x="56321" y="41700"/>
                    <a:pt x="57241" y="40500"/>
                    <a:pt x="58620" y="40500"/>
                  </a:cubicBezTo>
                  <a:cubicBezTo>
                    <a:pt x="59770" y="40500"/>
                    <a:pt x="60919" y="41700"/>
                    <a:pt x="60919" y="43200"/>
                  </a:cubicBezTo>
                  <a:close/>
                  <a:moveTo>
                    <a:pt x="59080" y="20100"/>
                  </a:moveTo>
                  <a:cubicBezTo>
                    <a:pt x="59080" y="18600"/>
                    <a:pt x="60000" y="17100"/>
                    <a:pt x="61379" y="17100"/>
                  </a:cubicBezTo>
                  <a:cubicBezTo>
                    <a:pt x="62528" y="17100"/>
                    <a:pt x="63678" y="18600"/>
                    <a:pt x="63678" y="20100"/>
                  </a:cubicBezTo>
                  <a:cubicBezTo>
                    <a:pt x="63678" y="21600"/>
                    <a:pt x="62528" y="23100"/>
                    <a:pt x="61379" y="23100"/>
                  </a:cubicBezTo>
                  <a:cubicBezTo>
                    <a:pt x="60000" y="23100"/>
                    <a:pt x="59080" y="21600"/>
                    <a:pt x="59080" y="20100"/>
                  </a:cubicBezTo>
                  <a:close/>
                  <a:moveTo>
                    <a:pt x="59770" y="51000"/>
                  </a:moveTo>
                  <a:cubicBezTo>
                    <a:pt x="60689" y="50700"/>
                    <a:pt x="61379" y="50100"/>
                    <a:pt x="62068" y="49500"/>
                  </a:cubicBezTo>
                  <a:cubicBezTo>
                    <a:pt x="69195" y="56400"/>
                    <a:pt x="69195" y="56400"/>
                    <a:pt x="69195" y="56400"/>
                  </a:cubicBezTo>
                  <a:cubicBezTo>
                    <a:pt x="69195" y="56400"/>
                    <a:pt x="69195" y="56400"/>
                    <a:pt x="68965" y="56700"/>
                  </a:cubicBezTo>
                  <a:cubicBezTo>
                    <a:pt x="68735" y="57300"/>
                    <a:pt x="68275" y="58200"/>
                    <a:pt x="68275" y="59100"/>
                  </a:cubicBezTo>
                  <a:cubicBezTo>
                    <a:pt x="55402" y="60900"/>
                    <a:pt x="55402" y="60900"/>
                    <a:pt x="55402" y="60900"/>
                  </a:cubicBezTo>
                  <a:cubicBezTo>
                    <a:pt x="53103" y="61200"/>
                    <a:pt x="53103" y="61200"/>
                    <a:pt x="53103" y="61200"/>
                  </a:cubicBezTo>
                  <a:cubicBezTo>
                    <a:pt x="52873" y="60600"/>
                    <a:pt x="52643" y="60000"/>
                    <a:pt x="52413" y="59400"/>
                  </a:cubicBezTo>
                  <a:cubicBezTo>
                    <a:pt x="57011" y="50700"/>
                    <a:pt x="57011" y="50700"/>
                    <a:pt x="57011" y="50700"/>
                  </a:cubicBezTo>
                  <a:cubicBezTo>
                    <a:pt x="57471" y="51000"/>
                    <a:pt x="57931" y="51000"/>
                    <a:pt x="58620" y="51000"/>
                  </a:cubicBezTo>
                  <a:cubicBezTo>
                    <a:pt x="59080" y="51000"/>
                    <a:pt x="59310" y="51000"/>
                    <a:pt x="59770" y="51000"/>
                  </a:cubicBezTo>
                  <a:close/>
                  <a:moveTo>
                    <a:pt x="57701" y="35700"/>
                  </a:moveTo>
                  <a:cubicBezTo>
                    <a:pt x="57471" y="35700"/>
                    <a:pt x="57471" y="35700"/>
                    <a:pt x="57471" y="35700"/>
                  </a:cubicBezTo>
                  <a:cubicBezTo>
                    <a:pt x="56091" y="36000"/>
                    <a:pt x="55172" y="36900"/>
                    <a:pt x="54482" y="37800"/>
                  </a:cubicBezTo>
                  <a:cubicBezTo>
                    <a:pt x="52183" y="36600"/>
                    <a:pt x="52183" y="36600"/>
                    <a:pt x="52183" y="36600"/>
                  </a:cubicBezTo>
                  <a:cubicBezTo>
                    <a:pt x="52183" y="36300"/>
                    <a:pt x="52183" y="36000"/>
                    <a:pt x="52183" y="35700"/>
                  </a:cubicBezTo>
                  <a:cubicBezTo>
                    <a:pt x="52183" y="33600"/>
                    <a:pt x="51494" y="31200"/>
                    <a:pt x="50114" y="29700"/>
                  </a:cubicBezTo>
                  <a:cubicBezTo>
                    <a:pt x="49425" y="29100"/>
                    <a:pt x="48965" y="28800"/>
                    <a:pt x="48275" y="28500"/>
                  </a:cubicBezTo>
                  <a:cubicBezTo>
                    <a:pt x="48275" y="25800"/>
                    <a:pt x="48275" y="25800"/>
                    <a:pt x="48275" y="25800"/>
                  </a:cubicBezTo>
                  <a:cubicBezTo>
                    <a:pt x="56091" y="24000"/>
                    <a:pt x="56091" y="24000"/>
                    <a:pt x="56091" y="24000"/>
                  </a:cubicBezTo>
                  <a:cubicBezTo>
                    <a:pt x="56781" y="25200"/>
                    <a:pt x="57701" y="26400"/>
                    <a:pt x="58620" y="27000"/>
                  </a:cubicBezTo>
                  <a:lnTo>
                    <a:pt x="57701" y="35700"/>
                  </a:lnTo>
                  <a:close/>
                  <a:moveTo>
                    <a:pt x="50804" y="40800"/>
                  </a:moveTo>
                  <a:cubicBezTo>
                    <a:pt x="52643" y="42000"/>
                    <a:pt x="52643" y="42000"/>
                    <a:pt x="52643" y="42000"/>
                  </a:cubicBezTo>
                  <a:cubicBezTo>
                    <a:pt x="52643" y="42600"/>
                    <a:pt x="52643" y="42900"/>
                    <a:pt x="52643" y="43200"/>
                  </a:cubicBezTo>
                  <a:cubicBezTo>
                    <a:pt x="52643" y="43800"/>
                    <a:pt x="52643" y="44400"/>
                    <a:pt x="52873" y="45000"/>
                  </a:cubicBezTo>
                  <a:cubicBezTo>
                    <a:pt x="52873" y="46200"/>
                    <a:pt x="53333" y="47100"/>
                    <a:pt x="53793" y="48000"/>
                  </a:cubicBezTo>
                  <a:cubicBezTo>
                    <a:pt x="49425" y="56700"/>
                    <a:pt x="49425" y="56700"/>
                    <a:pt x="49425" y="56700"/>
                  </a:cubicBezTo>
                  <a:cubicBezTo>
                    <a:pt x="49195" y="56700"/>
                    <a:pt x="49195" y="56700"/>
                    <a:pt x="49195" y="56700"/>
                  </a:cubicBezTo>
                  <a:cubicBezTo>
                    <a:pt x="48735" y="42900"/>
                    <a:pt x="48735" y="42900"/>
                    <a:pt x="48735" y="42900"/>
                  </a:cubicBezTo>
                  <a:cubicBezTo>
                    <a:pt x="49425" y="42300"/>
                    <a:pt x="50114" y="41700"/>
                    <a:pt x="50804" y="40800"/>
                  </a:cubicBezTo>
                  <a:close/>
                  <a:moveTo>
                    <a:pt x="58160" y="79200"/>
                  </a:moveTo>
                  <a:cubicBezTo>
                    <a:pt x="57931" y="80100"/>
                    <a:pt x="57931" y="81000"/>
                    <a:pt x="57931" y="81600"/>
                  </a:cubicBezTo>
                  <a:cubicBezTo>
                    <a:pt x="57931" y="82200"/>
                    <a:pt x="57931" y="82800"/>
                    <a:pt x="58160" y="83400"/>
                  </a:cubicBezTo>
                  <a:cubicBezTo>
                    <a:pt x="58390" y="85800"/>
                    <a:pt x="59540" y="87600"/>
                    <a:pt x="61149" y="88500"/>
                  </a:cubicBezTo>
                  <a:cubicBezTo>
                    <a:pt x="60229" y="96600"/>
                    <a:pt x="60229" y="96600"/>
                    <a:pt x="60229" y="96600"/>
                  </a:cubicBezTo>
                  <a:cubicBezTo>
                    <a:pt x="51954" y="73200"/>
                    <a:pt x="51954" y="73200"/>
                    <a:pt x="51954" y="73200"/>
                  </a:cubicBezTo>
                  <a:lnTo>
                    <a:pt x="58160" y="79200"/>
                  </a:lnTo>
                  <a:close/>
                  <a:moveTo>
                    <a:pt x="64137" y="45600"/>
                  </a:moveTo>
                  <a:cubicBezTo>
                    <a:pt x="64367" y="45000"/>
                    <a:pt x="64597" y="44100"/>
                    <a:pt x="64597" y="43200"/>
                  </a:cubicBezTo>
                  <a:cubicBezTo>
                    <a:pt x="64597" y="42900"/>
                    <a:pt x="64367" y="42300"/>
                    <a:pt x="64367" y="41700"/>
                  </a:cubicBezTo>
                  <a:cubicBezTo>
                    <a:pt x="64137" y="39300"/>
                    <a:pt x="62758" y="37500"/>
                    <a:pt x="61149" y="36300"/>
                  </a:cubicBezTo>
                  <a:cubicBezTo>
                    <a:pt x="62298" y="28200"/>
                    <a:pt x="62298" y="28200"/>
                    <a:pt x="62298" y="28200"/>
                  </a:cubicBezTo>
                  <a:cubicBezTo>
                    <a:pt x="70574" y="51900"/>
                    <a:pt x="70574" y="51900"/>
                    <a:pt x="70574" y="51900"/>
                  </a:cubicBezTo>
                  <a:lnTo>
                    <a:pt x="64137" y="45600"/>
                  </a:lnTo>
                  <a:close/>
                  <a:moveTo>
                    <a:pt x="71724" y="8100"/>
                  </a:moveTo>
                  <a:cubicBezTo>
                    <a:pt x="72183" y="24000"/>
                    <a:pt x="72183" y="24000"/>
                    <a:pt x="72183" y="24000"/>
                  </a:cubicBezTo>
                  <a:cubicBezTo>
                    <a:pt x="67126" y="21000"/>
                    <a:pt x="67126" y="21000"/>
                    <a:pt x="67126" y="21000"/>
                  </a:cubicBezTo>
                  <a:cubicBezTo>
                    <a:pt x="67126" y="20700"/>
                    <a:pt x="67356" y="20400"/>
                    <a:pt x="67356" y="20100"/>
                  </a:cubicBezTo>
                  <a:cubicBezTo>
                    <a:pt x="67356" y="19500"/>
                    <a:pt x="67126" y="19200"/>
                    <a:pt x="67126" y="18600"/>
                  </a:cubicBezTo>
                  <a:cubicBezTo>
                    <a:pt x="66896" y="17700"/>
                    <a:pt x="66666" y="16800"/>
                    <a:pt x="66206" y="15900"/>
                  </a:cubicBezTo>
                  <a:cubicBezTo>
                    <a:pt x="71034" y="7800"/>
                    <a:pt x="71034" y="7800"/>
                    <a:pt x="71034" y="7800"/>
                  </a:cubicBezTo>
                  <a:cubicBezTo>
                    <a:pt x="71264" y="8100"/>
                    <a:pt x="71494" y="8100"/>
                    <a:pt x="71724" y="8100"/>
                  </a:cubicBezTo>
                  <a:close/>
                  <a:moveTo>
                    <a:pt x="53793" y="8700"/>
                  </a:moveTo>
                  <a:cubicBezTo>
                    <a:pt x="66436" y="5100"/>
                    <a:pt x="66436" y="5100"/>
                    <a:pt x="66436" y="5100"/>
                  </a:cubicBezTo>
                  <a:cubicBezTo>
                    <a:pt x="66896" y="5100"/>
                    <a:pt x="67356" y="5100"/>
                    <a:pt x="68045" y="5400"/>
                  </a:cubicBezTo>
                  <a:cubicBezTo>
                    <a:pt x="63448" y="12900"/>
                    <a:pt x="63448" y="12900"/>
                    <a:pt x="63448" y="12900"/>
                  </a:cubicBezTo>
                  <a:cubicBezTo>
                    <a:pt x="62758" y="12600"/>
                    <a:pt x="62068" y="12300"/>
                    <a:pt x="61379" y="12300"/>
                  </a:cubicBezTo>
                  <a:cubicBezTo>
                    <a:pt x="60919" y="12300"/>
                    <a:pt x="60459" y="12300"/>
                    <a:pt x="60229" y="12600"/>
                  </a:cubicBezTo>
                  <a:cubicBezTo>
                    <a:pt x="59080" y="12900"/>
                    <a:pt x="58160" y="13500"/>
                    <a:pt x="57241" y="14400"/>
                  </a:cubicBezTo>
                  <a:cubicBezTo>
                    <a:pt x="51954" y="10200"/>
                    <a:pt x="51954" y="10200"/>
                    <a:pt x="51954" y="10200"/>
                  </a:cubicBezTo>
                  <a:cubicBezTo>
                    <a:pt x="52413" y="9600"/>
                    <a:pt x="53103" y="9300"/>
                    <a:pt x="53793" y="8700"/>
                  </a:cubicBezTo>
                  <a:close/>
                  <a:moveTo>
                    <a:pt x="47816" y="15600"/>
                  </a:moveTo>
                  <a:cubicBezTo>
                    <a:pt x="48505" y="15300"/>
                    <a:pt x="49195" y="15000"/>
                    <a:pt x="49655" y="14100"/>
                  </a:cubicBezTo>
                  <a:cubicBezTo>
                    <a:pt x="55632" y="18600"/>
                    <a:pt x="55632" y="18600"/>
                    <a:pt x="55632" y="18600"/>
                  </a:cubicBezTo>
                  <a:cubicBezTo>
                    <a:pt x="55402" y="18900"/>
                    <a:pt x="55402" y="18900"/>
                    <a:pt x="55402" y="19200"/>
                  </a:cubicBezTo>
                  <a:cubicBezTo>
                    <a:pt x="48045" y="21000"/>
                    <a:pt x="48045" y="21000"/>
                    <a:pt x="48045" y="21000"/>
                  </a:cubicBezTo>
                  <a:cubicBezTo>
                    <a:pt x="47816" y="15900"/>
                    <a:pt x="47816" y="15900"/>
                    <a:pt x="47816" y="15900"/>
                  </a:cubicBezTo>
                  <a:cubicBezTo>
                    <a:pt x="47816" y="15900"/>
                    <a:pt x="47816" y="15900"/>
                    <a:pt x="47816" y="15600"/>
                  </a:cubicBezTo>
                  <a:close/>
                  <a:moveTo>
                    <a:pt x="46436" y="33000"/>
                  </a:moveTo>
                  <a:cubicBezTo>
                    <a:pt x="47586" y="33000"/>
                    <a:pt x="48505" y="34200"/>
                    <a:pt x="48505" y="35700"/>
                  </a:cubicBezTo>
                  <a:cubicBezTo>
                    <a:pt x="48505" y="37500"/>
                    <a:pt x="47586" y="38700"/>
                    <a:pt x="46436" y="38700"/>
                  </a:cubicBezTo>
                  <a:cubicBezTo>
                    <a:pt x="45057" y="38700"/>
                    <a:pt x="44137" y="37500"/>
                    <a:pt x="44137" y="35700"/>
                  </a:cubicBezTo>
                  <a:cubicBezTo>
                    <a:pt x="44137" y="34200"/>
                    <a:pt x="45057" y="33000"/>
                    <a:pt x="46436" y="33000"/>
                  </a:cubicBezTo>
                  <a:close/>
                  <a:moveTo>
                    <a:pt x="44137" y="89700"/>
                  </a:moveTo>
                  <a:cubicBezTo>
                    <a:pt x="44137" y="89700"/>
                    <a:pt x="44137" y="89700"/>
                    <a:pt x="44137" y="89700"/>
                  </a:cubicBezTo>
                  <a:cubicBezTo>
                    <a:pt x="44137" y="89700"/>
                    <a:pt x="44137" y="89400"/>
                    <a:pt x="44137" y="89400"/>
                  </a:cubicBezTo>
                  <a:cubicBezTo>
                    <a:pt x="44137" y="89400"/>
                    <a:pt x="43908" y="89100"/>
                    <a:pt x="43908" y="89100"/>
                  </a:cubicBezTo>
                  <a:cubicBezTo>
                    <a:pt x="43908" y="88800"/>
                    <a:pt x="43908" y="88500"/>
                    <a:pt x="43908" y="88200"/>
                  </a:cubicBezTo>
                  <a:cubicBezTo>
                    <a:pt x="43678" y="88200"/>
                    <a:pt x="43678" y="87900"/>
                    <a:pt x="43678" y="87900"/>
                  </a:cubicBezTo>
                  <a:cubicBezTo>
                    <a:pt x="43448" y="87600"/>
                    <a:pt x="43448" y="87300"/>
                    <a:pt x="43448" y="87000"/>
                  </a:cubicBezTo>
                  <a:cubicBezTo>
                    <a:pt x="43218" y="87000"/>
                    <a:pt x="43218" y="86700"/>
                    <a:pt x="43218" y="86700"/>
                  </a:cubicBezTo>
                  <a:cubicBezTo>
                    <a:pt x="42988" y="86400"/>
                    <a:pt x="42988" y="86100"/>
                    <a:pt x="42758" y="86100"/>
                  </a:cubicBezTo>
                  <a:cubicBezTo>
                    <a:pt x="42758" y="85800"/>
                    <a:pt x="42528" y="85800"/>
                    <a:pt x="42528" y="85500"/>
                  </a:cubicBezTo>
                  <a:cubicBezTo>
                    <a:pt x="42298" y="85500"/>
                    <a:pt x="42298" y="85500"/>
                    <a:pt x="42298" y="85200"/>
                  </a:cubicBezTo>
                  <a:cubicBezTo>
                    <a:pt x="45517" y="75900"/>
                    <a:pt x="45517" y="75900"/>
                    <a:pt x="45517" y="75900"/>
                  </a:cubicBezTo>
                  <a:cubicBezTo>
                    <a:pt x="46206" y="93300"/>
                    <a:pt x="46206" y="93300"/>
                    <a:pt x="46206" y="93300"/>
                  </a:cubicBezTo>
                  <a:cubicBezTo>
                    <a:pt x="44137" y="91800"/>
                    <a:pt x="44137" y="91800"/>
                    <a:pt x="44137" y="91800"/>
                  </a:cubicBezTo>
                  <a:cubicBezTo>
                    <a:pt x="44137" y="91800"/>
                    <a:pt x="44137" y="91500"/>
                    <a:pt x="44137" y="91200"/>
                  </a:cubicBezTo>
                  <a:cubicBezTo>
                    <a:pt x="44137" y="91200"/>
                    <a:pt x="44137" y="91200"/>
                    <a:pt x="44137" y="90900"/>
                  </a:cubicBezTo>
                  <a:cubicBezTo>
                    <a:pt x="44137" y="90600"/>
                    <a:pt x="44137" y="90300"/>
                    <a:pt x="44137" y="89700"/>
                  </a:cubicBezTo>
                  <a:close/>
                  <a:moveTo>
                    <a:pt x="38850" y="83400"/>
                  </a:moveTo>
                  <a:cubicBezTo>
                    <a:pt x="38620" y="83400"/>
                    <a:pt x="38390" y="83400"/>
                    <a:pt x="38160" y="83400"/>
                  </a:cubicBezTo>
                  <a:cubicBezTo>
                    <a:pt x="38160" y="83400"/>
                    <a:pt x="38160" y="83400"/>
                    <a:pt x="38160" y="83400"/>
                  </a:cubicBezTo>
                  <a:cubicBezTo>
                    <a:pt x="38160" y="83400"/>
                    <a:pt x="38160" y="83400"/>
                    <a:pt x="38160" y="83400"/>
                  </a:cubicBezTo>
                  <a:cubicBezTo>
                    <a:pt x="38160" y="83400"/>
                    <a:pt x="38160" y="83400"/>
                    <a:pt x="38160" y="83400"/>
                  </a:cubicBezTo>
                  <a:cubicBezTo>
                    <a:pt x="38160" y="83400"/>
                    <a:pt x="38160" y="83400"/>
                    <a:pt x="38160" y="83400"/>
                  </a:cubicBezTo>
                  <a:cubicBezTo>
                    <a:pt x="37931" y="83400"/>
                    <a:pt x="37701" y="83400"/>
                    <a:pt x="37701" y="83400"/>
                  </a:cubicBezTo>
                  <a:cubicBezTo>
                    <a:pt x="32873" y="69900"/>
                    <a:pt x="32873" y="69900"/>
                    <a:pt x="32873" y="69900"/>
                  </a:cubicBezTo>
                  <a:cubicBezTo>
                    <a:pt x="33793" y="69000"/>
                    <a:pt x="34482" y="67500"/>
                    <a:pt x="34712" y="65700"/>
                  </a:cubicBezTo>
                  <a:cubicBezTo>
                    <a:pt x="34712" y="65400"/>
                    <a:pt x="34942" y="64800"/>
                    <a:pt x="34942" y="64200"/>
                  </a:cubicBezTo>
                  <a:cubicBezTo>
                    <a:pt x="34942" y="62400"/>
                    <a:pt x="34252" y="60900"/>
                    <a:pt x="33563" y="59400"/>
                  </a:cubicBezTo>
                  <a:cubicBezTo>
                    <a:pt x="40000" y="49200"/>
                    <a:pt x="40000" y="49200"/>
                    <a:pt x="40000" y="49200"/>
                  </a:cubicBezTo>
                  <a:cubicBezTo>
                    <a:pt x="43448" y="58800"/>
                    <a:pt x="43448" y="58800"/>
                    <a:pt x="43448" y="58800"/>
                  </a:cubicBezTo>
                  <a:cubicBezTo>
                    <a:pt x="42298" y="60000"/>
                    <a:pt x="41609" y="62100"/>
                    <a:pt x="41609" y="64200"/>
                  </a:cubicBezTo>
                  <a:cubicBezTo>
                    <a:pt x="41609" y="64800"/>
                    <a:pt x="41609" y="65400"/>
                    <a:pt x="41839" y="65700"/>
                  </a:cubicBezTo>
                  <a:cubicBezTo>
                    <a:pt x="42068" y="67500"/>
                    <a:pt x="42758" y="69000"/>
                    <a:pt x="43678" y="69900"/>
                  </a:cubicBezTo>
                  <a:lnTo>
                    <a:pt x="38850" y="83400"/>
                  </a:lnTo>
                  <a:close/>
                  <a:moveTo>
                    <a:pt x="40459" y="90900"/>
                  </a:moveTo>
                  <a:cubicBezTo>
                    <a:pt x="40459" y="92700"/>
                    <a:pt x="39540" y="93900"/>
                    <a:pt x="38160" y="93900"/>
                  </a:cubicBezTo>
                  <a:cubicBezTo>
                    <a:pt x="37011" y="93900"/>
                    <a:pt x="36091" y="92700"/>
                    <a:pt x="36091" y="90900"/>
                  </a:cubicBezTo>
                  <a:cubicBezTo>
                    <a:pt x="36091" y="89400"/>
                    <a:pt x="37011" y="88200"/>
                    <a:pt x="38160" y="88200"/>
                  </a:cubicBezTo>
                  <a:cubicBezTo>
                    <a:pt x="39540" y="88200"/>
                    <a:pt x="40459" y="89400"/>
                    <a:pt x="40459" y="90900"/>
                  </a:cubicBezTo>
                  <a:close/>
                  <a:moveTo>
                    <a:pt x="32413" y="90900"/>
                  </a:moveTo>
                  <a:cubicBezTo>
                    <a:pt x="32413" y="91200"/>
                    <a:pt x="32413" y="91500"/>
                    <a:pt x="32413" y="91800"/>
                  </a:cubicBezTo>
                  <a:cubicBezTo>
                    <a:pt x="30344" y="93300"/>
                    <a:pt x="30344" y="93300"/>
                    <a:pt x="30344" y="93300"/>
                  </a:cubicBezTo>
                  <a:cubicBezTo>
                    <a:pt x="31034" y="75900"/>
                    <a:pt x="31034" y="75900"/>
                    <a:pt x="31034" y="75900"/>
                  </a:cubicBezTo>
                  <a:cubicBezTo>
                    <a:pt x="34252" y="85200"/>
                    <a:pt x="34252" y="85200"/>
                    <a:pt x="34252" y="85200"/>
                  </a:cubicBezTo>
                  <a:cubicBezTo>
                    <a:pt x="34252" y="85500"/>
                    <a:pt x="34022" y="85500"/>
                    <a:pt x="34022" y="85500"/>
                  </a:cubicBezTo>
                  <a:cubicBezTo>
                    <a:pt x="34022" y="85800"/>
                    <a:pt x="33793" y="85800"/>
                    <a:pt x="33793" y="86100"/>
                  </a:cubicBezTo>
                  <a:cubicBezTo>
                    <a:pt x="33563" y="86100"/>
                    <a:pt x="33563" y="86400"/>
                    <a:pt x="33333" y="86700"/>
                  </a:cubicBezTo>
                  <a:cubicBezTo>
                    <a:pt x="33333" y="86700"/>
                    <a:pt x="33333" y="87000"/>
                    <a:pt x="33103" y="87000"/>
                  </a:cubicBezTo>
                  <a:cubicBezTo>
                    <a:pt x="33103" y="87300"/>
                    <a:pt x="32873" y="87600"/>
                    <a:pt x="32873" y="87900"/>
                  </a:cubicBezTo>
                  <a:cubicBezTo>
                    <a:pt x="32873" y="87900"/>
                    <a:pt x="32873" y="88200"/>
                    <a:pt x="32643" y="88200"/>
                  </a:cubicBezTo>
                  <a:cubicBezTo>
                    <a:pt x="32643" y="88500"/>
                    <a:pt x="32643" y="88800"/>
                    <a:pt x="32413" y="89100"/>
                  </a:cubicBezTo>
                  <a:cubicBezTo>
                    <a:pt x="32413" y="89100"/>
                    <a:pt x="32413" y="89400"/>
                    <a:pt x="32413" y="89400"/>
                  </a:cubicBezTo>
                  <a:cubicBezTo>
                    <a:pt x="32413" y="89400"/>
                    <a:pt x="32413" y="89700"/>
                    <a:pt x="32413" y="89700"/>
                  </a:cubicBezTo>
                  <a:cubicBezTo>
                    <a:pt x="32413" y="89700"/>
                    <a:pt x="32413" y="89700"/>
                    <a:pt x="32413" y="89700"/>
                  </a:cubicBezTo>
                  <a:cubicBezTo>
                    <a:pt x="32413" y="90300"/>
                    <a:pt x="32413" y="90600"/>
                    <a:pt x="32413" y="90900"/>
                  </a:cubicBezTo>
                  <a:cubicBezTo>
                    <a:pt x="32413" y="90900"/>
                    <a:pt x="32413" y="90900"/>
                    <a:pt x="32413" y="90900"/>
                  </a:cubicBezTo>
                  <a:cubicBezTo>
                    <a:pt x="32413" y="90900"/>
                    <a:pt x="32413" y="90900"/>
                    <a:pt x="32413" y="90900"/>
                  </a:cubicBezTo>
                  <a:cubicBezTo>
                    <a:pt x="32413" y="90900"/>
                    <a:pt x="32413" y="90900"/>
                    <a:pt x="32413" y="90900"/>
                  </a:cubicBezTo>
                  <a:close/>
                  <a:moveTo>
                    <a:pt x="40459" y="39600"/>
                  </a:moveTo>
                  <a:cubicBezTo>
                    <a:pt x="41149" y="39600"/>
                    <a:pt x="41149" y="39600"/>
                    <a:pt x="41149" y="39600"/>
                  </a:cubicBezTo>
                  <a:cubicBezTo>
                    <a:pt x="41149" y="39600"/>
                    <a:pt x="41149" y="39900"/>
                    <a:pt x="41379" y="39900"/>
                  </a:cubicBezTo>
                  <a:cubicBezTo>
                    <a:pt x="40919" y="40500"/>
                    <a:pt x="40919" y="40500"/>
                    <a:pt x="40919" y="40500"/>
                  </a:cubicBezTo>
                  <a:lnTo>
                    <a:pt x="40459" y="39600"/>
                  </a:lnTo>
                  <a:close/>
                  <a:moveTo>
                    <a:pt x="42528" y="45300"/>
                  </a:moveTo>
                  <a:cubicBezTo>
                    <a:pt x="44137" y="42900"/>
                    <a:pt x="44137" y="42900"/>
                    <a:pt x="44137" y="42900"/>
                  </a:cubicBezTo>
                  <a:cubicBezTo>
                    <a:pt x="44367" y="43200"/>
                    <a:pt x="44827" y="43200"/>
                    <a:pt x="45057" y="43200"/>
                  </a:cubicBezTo>
                  <a:cubicBezTo>
                    <a:pt x="45517" y="52800"/>
                    <a:pt x="45517" y="52800"/>
                    <a:pt x="45517" y="52800"/>
                  </a:cubicBezTo>
                  <a:lnTo>
                    <a:pt x="42528" y="45300"/>
                  </a:lnTo>
                  <a:close/>
                  <a:moveTo>
                    <a:pt x="44597" y="28500"/>
                  </a:moveTo>
                  <a:cubicBezTo>
                    <a:pt x="44367" y="28500"/>
                    <a:pt x="44367" y="28500"/>
                    <a:pt x="44137" y="28500"/>
                  </a:cubicBezTo>
                  <a:cubicBezTo>
                    <a:pt x="43218" y="27000"/>
                    <a:pt x="43218" y="27000"/>
                    <a:pt x="43218" y="27000"/>
                  </a:cubicBezTo>
                  <a:cubicBezTo>
                    <a:pt x="44597" y="26700"/>
                    <a:pt x="44597" y="26700"/>
                    <a:pt x="44597" y="26700"/>
                  </a:cubicBezTo>
                  <a:lnTo>
                    <a:pt x="44597" y="28500"/>
                  </a:lnTo>
                  <a:close/>
                  <a:moveTo>
                    <a:pt x="40919" y="19800"/>
                  </a:moveTo>
                  <a:cubicBezTo>
                    <a:pt x="41609" y="20400"/>
                    <a:pt x="42298" y="21000"/>
                    <a:pt x="42758" y="21600"/>
                  </a:cubicBezTo>
                  <a:cubicBezTo>
                    <a:pt x="42988" y="21900"/>
                    <a:pt x="43218" y="21900"/>
                    <a:pt x="43448" y="22200"/>
                  </a:cubicBezTo>
                  <a:cubicBezTo>
                    <a:pt x="40689" y="22800"/>
                    <a:pt x="40689" y="22800"/>
                    <a:pt x="40689" y="22800"/>
                  </a:cubicBezTo>
                  <a:cubicBezTo>
                    <a:pt x="39770" y="21300"/>
                    <a:pt x="39770" y="21300"/>
                    <a:pt x="39770" y="21300"/>
                  </a:cubicBezTo>
                  <a:lnTo>
                    <a:pt x="40919" y="19800"/>
                  </a:lnTo>
                  <a:close/>
                  <a:moveTo>
                    <a:pt x="37931" y="32400"/>
                  </a:moveTo>
                  <a:cubicBezTo>
                    <a:pt x="40459" y="34200"/>
                    <a:pt x="40459" y="34200"/>
                    <a:pt x="40459" y="34200"/>
                  </a:cubicBezTo>
                  <a:cubicBezTo>
                    <a:pt x="40459" y="34500"/>
                    <a:pt x="40459" y="34500"/>
                    <a:pt x="40459" y="34800"/>
                  </a:cubicBezTo>
                  <a:cubicBezTo>
                    <a:pt x="38850" y="35100"/>
                    <a:pt x="38850" y="35100"/>
                    <a:pt x="38850" y="35100"/>
                  </a:cubicBezTo>
                  <a:cubicBezTo>
                    <a:pt x="37701" y="32700"/>
                    <a:pt x="37701" y="32700"/>
                    <a:pt x="37701" y="32700"/>
                  </a:cubicBezTo>
                  <a:cubicBezTo>
                    <a:pt x="37931" y="32400"/>
                    <a:pt x="37931" y="32400"/>
                    <a:pt x="37931" y="32400"/>
                  </a:cubicBezTo>
                  <a:close/>
                  <a:moveTo>
                    <a:pt x="38160" y="44700"/>
                  </a:moveTo>
                  <a:cubicBezTo>
                    <a:pt x="30574" y="56700"/>
                    <a:pt x="30574" y="56700"/>
                    <a:pt x="30574" y="56700"/>
                  </a:cubicBezTo>
                  <a:cubicBezTo>
                    <a:pt x="30344" y="56700"/>
                    <a:pt x="30114" y="56400"/>
                    <a:pt x="29885" y="56400"/>
                  </a:cubicBezTo>
                  <a:cubicBezTo>
                    <a:pt x="29655" y="47700"/>
                    <a:pt x="29655" y="47700"/>
                    <a:pt x="29655" y="47700"/>
                  </a:cubicBezTo>
                  <a:cubicBezTo>
                    <a:pt x="30574" y="47400"/>
                    <a:pt x="31494" y="46500"/>
                    <a:pt x="32183" y="45300"/>
                  </a:cubicBezTo>
                  <a:cubicBezTo>
                    <a:pt x="32873" y="44100"/>
                    <a:pt x="33333" y="42900"/>
                    <a:pt x="33563" y="41400"/>
                  </a:cubicBezTo>
                  <a:cubicBezTo>
                    <a:pt x="36781" y="40500"/>
                    <a:pt x="36781" y="40500"/>
                    <a:pt x="36781" y="40500"/>
                  </a:cubicBezTo>
                  <a:lnTo>
                    <a:pt x="38160" y="44700"/>
                  </a:lnTo>
                  <a:close/>
                  <a:moveTo>
                    <a:pt x="35862" y="27000"/>
                  </a:moveTo>
                  <a:cubicBezTo>
                    <a:pt x="35862" y="28500"/>
                    <a:pt x="34942" y="30000"/>
                    <a:pt x="33793" y="30000"/>
                  </a:cubicBezTo>
                  <a:cubicBezTo>
                    <a:pt x="32413" y="30000"/>
                    <a:pt x="31494" y="28500"/>
                    <a:pt x="31494" y="27000"/>
                  </a:cubicBezTo>
                  <a:cubicBezTo>
                    <a:pt x="31494" y="25500"/>
                    <a:pt x="32413" y="24000"/>
                    <a:pt x="33793" y="24000"/>
                  </a:cubicBezTo>
                  <a:cubicBezTo>
                    <a:pt x="34942" y="24000"/>
                    <a:pt x="35862" y="25500"/>
                    <a:pt x="35862" y="27000"/>
                  </a:cubicBezTo>
                  <a:close/>
                  <a:moveTo>
                    <a:pt x="30344" y="18300"/>
                  </a:moveTo>
                  <a:cubicBezTo>
                    <a:pt x="31034" y="18000"/>
                    <a:pt x="31724" y="17700"/>
                    <a:pt x="32643" y="17700"/>
                  </a:cubicBezTo>
                  <a:cubicBezTo>
                    <a:pt x="33793" y="19200"/>
                    <a:pt x="33793" y="19200"/>
                    <a:pt x="33793" y="19200"/>
                  </a:cubicBezTo>
                  <a:cubicBezTo>
                    <a:pt x="33793" y="19200"/>
                    <a:pt x="33793" y="19200"/>
                    <a:pt x="33793" y="19200"/>
                  </a:cubicBezTo>
                  <a:cubicBezTo>
                    <a:pt x="33333" y="19200"/>
                    <a:pt x="32873" y="19200"/>
                    <a:pt x="32413" y="19500"/>
                  </a:cubicBezTo>
                  <a:cubicBezTo>
                    <a:pt x="31724" y="19500"/>
                    <a:pt x="31034" y="20100"/>
                    <a:pt x="30344" y="20700"/>
                  </a:cubicBezTo>
                  <a:cubicBezTo>
                    <a:pt x="30114" y="20700"/>
                    <a:pt x="30114" y="20700"/>
                    <a:pt x="30114" y="20700"/>
                  </a:cubicBezTo>
                  <a:lnTo>
                    <a:pt x="30344" y="18300"/>
                  </a:lnTo>
                  <a:close/>
                  <a:moveTo>
                    <a:pt x="29655" y="32700"/>
                  </a:moveTo>
                  <a:cubicBezTo>
                    <a:pt x="30804" y="33900"/>
                    <a:pt x="32183" y="34800"/>
                    <a:pt x="33563" y="34800"/>
                  </a:cubicBezTo>
                  <a:cubicBezTo>
                    <a:pt x="34022" y="34800"/>
                    <a:pt x="34252" y="34800"/>
                    <a:pt x="34482" y="34800"/>
                  </a:cubicBezTo>
                  <a:cubicBezTo>
                    <a:pt x="35172" y="36300"/>
                    <a:pt x="35172" y="36300"/>
                    <a:pt x="35172" y="36300"/>
                  </a:cubicBezTo>
                  <a:cubicBezTo>
                    <a:pt x="32873" y="36600"/>
                    <a:pt x="32873" y="36600"/>
                    <a:pt x="32873" y="36600"/>
                  </a:cubicBezTo>
                  <a:cubicBezTo>
                    <a:pt x="32413" y="36000"/>
                    <a:pt x="31954" y="35100"/>
                    <a:pt x="31264" y="34500"/>
                  </a:cubicBezTo>
                  <a:cubicBezTo>
                    <a:pt x="30804" y="33900"/>
                    <a:pt x="30344" y="33600"/>
                    <a:pt x="29655" y="33300"/>
                  </a:cubicBezTo>
                  <a:lnTo>
                    <a:pt x="29655" y="32700"/>
                  </a:lnTo>
                  <a:close/>
                  <a:moveTo>
                    <a:pt x="29885" y="40500"/>
                  </a:moveTo>
                  <a:cubicBezTo>
                    <a:pt x="29885" y="42000"/>
                    <a:pt x="28965" y="43500"/>
                    <a:pt x="27586" y="43500"/>
                  </a:cubicBezTo>
                  <a:cubicBezTo>
                    <a:pt x="26436" y="43500"/>
                    <a:pt x="25287" y="42000"/>
                    <a:pt x="25287" y="40500"/>
                  </a:cubicBezTo>
                  <a:cubicBezTo>
                    <a:pt x="25287" y="39000"/>
                    <a:pt x="26436" y="37500"/>
                    <a:pt x="27586" y="37500"/>
                  </a:cubicBezTo>
                  <a:cubicBezTo>
                    <a:pt x="28965" y="37500"/>
                    <a:pt x="29885" y="39000"/>
                    <a:pt x="29885" y="40500"/>
                  </a:cubicBezTo>
                  <a:close/>
                  <a:moveTo>
                    <a:pt x="16091" y="69900"/>
                  </a:moveTo>
                  <a:cubicBezTo>
                    <a:pt x="23218" y="67800"/>
                    <a:pt x="23218" y="67800"/>
                    <a:pt x="23218" y="67800"/>
                  </a:cubicBezTo>
                  <a:cubicBezTo>
                    <a:pt x="23218" y="68100"/>
                    <a:pt x="23218" y="68100"/>
                    <a:pt x="23448" y="68400"/>
                  </a:cubicBezTo>
                  <a:cubicBezTo>
                    <a:pt x="16091" y="75300"/>
                    <a:pt x="16091" y="75300"/>
                    <a:pt x="16091" y="75300"/>
                  </a:cubicBezTo>
                  <a:cubicBezTo>
                    <a:pt x="15632" y="75000"/>
                    <a:pt x="15172" y="74700"/>
                    <a:pt x="14482" y="74400"/>
                  </a:cubicBezTo>
                  <a:cubicBezTo>
                    <a:pt x="14712" y="74400"/>
                    <a:pt x="14712" y="74100"/>
                    <a:pt x="14712" y="74100"/>
                  </a:cubicBezTo>
                  <a:cubicBezTo>
                    <a:pt x="15402" y="72900"/>
                    <a:pt x="15862" y="71400"/>
                    <a:pt x="16091" y="69900"/>
                  </a:cubicBezTo>
                  <a:close/>
                  <a:moveTo>
                    <a:pt x="14942" y="65100"/>
                  </a:moveTo>
                  <a:cubicBezTo>
                    <a:pt x="15172" y="64800"/>
                    <a:pt x="15172" y="64800"/>
                    <a:pt x="15172" y="64800"/>
                  </a:cubicBezTo>
                  <a:cubicBezTo>
                    <a:pt x="16091" y="65100"/>
                    <a:pt x="16091" y="65100"/>
                    <a:pt x="16091" y="65100"/>
                  </a:cubicBezTo>
                  <a:cubicBezTo>
                    <a:pt x="15172" y="65400"/>
                    <a:pt x="15172" y="65400"/>
                    <a:pt x="15172" y="65400"/>
                  </a:cubicBezTo>
                  <a:cubicBezTo>
                    <a:pt x="15172" y="65100"/>
                    <a:pt x="15172" y="65100"/>
                    <a:pt x="14942" y="65100"/>
                  </a:cubicBezTo>
                  <a:close/>
                  <a:moveTo>
                    <a:pt x="17931" y="60300"/>
                  </a:moveTo>
                  <a:cubicBezTo>
                    <a:pt x="18620" y="59400"/>
                    <a:pt x="18620" y="59400"/>
                    <a:pt x="18620" y="59400"/>
                  </a:cubicBezTo>
                  <a:cubicBezTo>
                    <a:pt x="20459" y="60900"/>
                    <a:pt x="20459" y="60900"/>
                    <a:pt x="20459" y="60900"/>
                  </a:cubicBezTo>
                  <a:lnTo>
                    <a:pt x="17931" y="60300"/>
                  </a:lnTo>
                  <a:close/>
                  <a:moveTo>
                    <a:pt x="20919" y="55500"/>
                  </a:moveTo>
                  <a:cubicBezTo>
                    <a:pt x="25517" y="47700"/>
                    <a:pt x="25517" y="47700"/>
                    <a:pt x="25517" y="47700"/>
                  </a:cubicBezTo>
                  <a:cubicBezTo>
                    <a:pt x="25747" y="47700"/>
                    <a:pt x="25747" y="47700"/>
                    <a:pt x="25977" y="48000"/>
                  </a:cubicBezTo>
                  <a:cubicBezTo>
                    <a:pt x="26206" y="56700"/>
                    <a:pt x="26206" y="56700"/>
                    <a:pt x="26206" y="56700"/>
                  </a:cubicBezTo>
                  <a:cubicBezTo>
                    <a:pt x="25517" y="57000"/>
                    <a:pt x="24827" y="57300"/>
                    <a:pt x="24367" y="58200"/>
                  </a:cubicBezTo>
                  <a:lnTo>
                    <a:pt x="20919" y="55500"/>
                  </a:lnTo>
                  <a:close/>
                  <a:moveTo>
                    <a:pt x="25517" y="22500"/>
                  </a:moveTo>
                  <a:cubicBezTo>
                    <a:pt x="26436" y="23400"/>
                    <a:pt x="26436" y="23400"/>
                    <a:pt x="26436" y="23400"/>
                  </a:cubicBezTo>
                  <a:cubicBezTo>
                    <a:pt x="25977" y="33000"/>
                    <a:pt x="25977" y="33000"/>
                    <a:pt x="25977" y="33000"/>
                  </a:cubicBezTo>
                  <a:cubicBezTo>
                    <a:pt x="25977" y="33000"/>
                    <a:pt x="25747" y="33000"/>
                    <a:pt x="25747" y="33300"/>
                  </a:cubicBezTo>
                  <a:cubicBezTo>
                    <a:pt x="22758" y="28500"/>
                    <a:pt x="22758" y="28500"/>
                    <a:pt x="22758" y="28500"/>
                  </a:cubicBezTo>
                  <a:cubicBezTo>
                    <a:pt x="23448" y="26100"/>
                    <a:pt x="24367" y="24300"/>
                    <a:pt x="25517" y="22500"/>
                  </a:cubicBezTo>
                  <a:close/>
                  <a:moveTo>
                    <a:pt x="12413" y="42300"/>
                  </a:moveTo>
                  <a:cubicBezTo>
                    <a:pt x="14482" y="40800"/>
                    <a:pt x="16781" y="39600"/>
                    <a:pt x="19540" y="39300"/>
                  </a:cubicBezTo>
                  <a:cubicBezTo>
                    <a:pt x="21609" y="40500"/>
                    <a:pt x="21609" y="40500"/>
                    <a:pt x="21609" y="40500"/>
                  </a:cubicBezTo>
                  <a:cubicBezTo>
                    <a:pt x="21609" y="40500"/>
                    <a:pt x="21609" y="40500"/>
                    <a:pt x="21609" y="40500"/>
                  </a:cubicBezTo>
                  <a:cubicBezTo>
                    <a:pt x="21609" y="42000"/>
                    <a:pt x="22068" y="43500"/>
                    <a:pt x="22758" y="44700"/>
                  </a:cubicBezTo>
                  <a:cubicBezTo>
                    <a:pt x="17701" y="53100"/>
                    <a:pt x="17701" y="53100"/>
                    <a:pt x="17701" y="53100"/>
                  </a:cubicBezTo>
                  <a:cubicBezTo>
                    <a:pt x="12183" y="48900"/>
                    <a:pt x="12183" y="48900"/>
                    <a:pt x="12183" y="48900"/>
                  </a:cubicBezTo>
                  <a:lnTo>
                    <a:pt x="12413" y="42300"/>
                  </a:lnTo>
                  <a:close/>
                  <a:moveTo>
                    <a:pt x="12183" y="54300"/>
                  </a:moveTo>
                  <a:cubicBezTo>
                    <a:pt x="15402" y="56700"/>
                    <a:pt x="15402" y="56700"/>
                    <a:pt x="15402" y="56700"/>
                  </a:cubicBezTo>
                  <a:cubicBezTo>
                    <a:pt x="13563" y="60000"/>
                    <a:pt x="13563" y="60000"/>
                    <a:pt x="13563" y="60000"/>
                  </a:cubicBezTo>
                  <a:cubicBezTo>
                    <a:pt x="12183" y="59700"/>
                    <a:pt x="12183" y="59700"/>
                    <a:pt x="12183" y="59700"/>
                  </a:cubicBezTo>
                  <a:lnTo>
                    <a:pt x="12183" y="54300"/>
                  </a:lnTo>
                  <a:close/>
                  <a:moveTo>
                    <a:pt x="4827" y="54000"/>
                  </a:moveTo>
                  <a:cubicBezTo>
                    <a:pt x="5287" y="52800"/>
                    <a:pt x="5747" y="51300"/>
                    <a:pt x="6436" y="50100"/>
                  </a:cubicBezTo>
                  <a:cubicBezTo>
                    <a:pt x="8505" y="51600"/>
                    <a:pt x="8505" y="51600"/>
                    <a:pt x="8505" y="51600"/>
                  </a:cubicBezTo>
                  <a:cubicBezTo>
                    <a:pt x="8505" y="59100"/>
                    <a:pt x="8505" y="59100"/>
                    <a:pt x="8505" y="59100"/>
                  </a:cubicBezTo>
                  <a:cubicBezTo>
                    <a:pt x="7586" y="59100"/>
                    <a:pt x="7586" y="59100"/>
                    <a:pt x="7586" y="59100"/>
                  </a:cubicBezTo>
                  <a:cubicBezTo>
                    <a:pt x="7126" y="57000"/>
                    <a:pt x="6206" y="55200"/>
                    <a:pt x="4827" y="54000"/>
                  </a:cubicBezTo>
                  <a:close/>
                  <a:moveTo>
                    <a:pt x="7816" y="69300"/>
                  </a:moveTo>
                  <a:cubicBezTo>
                    <a:pt x="7816" y="67500"/>
                    <a:pt x="8965" y="66300"/>
                    <a:pt x="10114" y="66300"/>
                  </a:cubicBezTo>
                  <a:cubicBezTo>
                    <a:pt x="11264" y="66300"/>
                    <a:pt x="12413" y="67500"/>
                    <a:pt x="12413" y="69300"/>
                  </a:cubicBezTo>
                  <a:cubicBezTo>
                    <a:pt x="12413" y="70800"/>
                    <a:pt x="11264" y="72300"/>
                    <a:pt x="10114" y="72300"/>
                  </a:cubicBezTo>
                  <a:cubicBezTo>
                    <a:pt x="8965" y="72300"/>
                    <a:pt x="7816" y="70800"/>
                    <a:pt x="7816" y="69300"/>
                  </a:cubicBezTo>
                  <a:close/>
                  <a:moveTo>
                    <a:pt x="12643" y="98100"/>
                  </a:moveTo>
                  <a:cubicBezTo>
                    <a:pt x="10574" y="95400"/>
                    <a:pt x="9195" y="91800"/>
                    <a:pt x="8965" y="87900"/>
                  </a:cubicBezTo>
                  <a:cubicBezTo>
                    <a:pt x="9655" y="88500"/>
                    <a:pt x="10574" y="89100"/>
                    <a:pt x="11494" y="89400"/>
                  </a:cubicBezTo>
                  <a:cubicBezTo>
                    <a:pt x="11494" y="89400"/>
                    <a:pt x="11724" y="89400"/>
                    <a:pt x="11724" y="89400"/>
                  </a:cubicBezTo>
                  <a:cubicBezTo>
                    <a:pt x="12643" y="98100"/>
                    <a:pt x="12643" y="98100"/>
                    <a:pt x="12643" y="98100"/>
                  </a:cubicBezTo>
                  <a:cubicBezTo>
                    <a:pt x="12643" y="98100"/>
                    <a:pt x="12643" y="98100"/>
                    <a:pt x="12643" y="98100"/>
                  </a:cubicBezTo>
                  <a:close/>
                  <a:moveTo>
                    <a:pt x="12643" y="84600"/>
                  </a:moveTo>
                  <a:cubicBezTo>
                    <a:pt x="11494" y="84600"/>
                    <a:pt x="10344" y="83400"/>
                    <a:pt x="10344" y="81600"/>
                  </a:cubicBezTo>
                  <a:cubicBezTo>
                    <a:pt x="10344" y="80100"/>
                    <a:pt x="11494" y="78900"/>
                    <a:pt x="12643" y="78900"/>
                  </a:cubicBezTo>
                  <a:cubicBezTo>
                    <a:pt x="13793" y="78900"/>
                    <a:pt x="14942" y="80100"/>
                    <a:pt x="14942" y="81600"/>
                  </a:cubicBezTo>
                  <a:cubicBezTo>
                    <a:pt x="14942" y="83400"/>
                    <a:pt x="13793" y="84600"/>
                    <a:pt x="12643" y="84600"/>
                  </a:cubicBezTo>
                  <a:close/>
                  <a:moveTo>
                    <a:pt x="15402" y="88500"/>
                  </a:moveTo>
                  <a:cubicBezTo>
                    <a:pt x="16781" y="87600"/>
                    <a:pt x="18160" y="85800"/>
                    <a:pt x="18390" y="83100"/>
                  </a:cubicBezTo>
                  <a:cubicBezTo>
                    <a:pt x="18620" y="82800"/>
                    <a:pt x="18620" y="82200"/>
                    <a:pt x="18620" y="81600"/>
                  </a:cubicBezTo>
                  <a:cubicBezTo>
                    <a:pt x="18620" y="81000"/>
                    <a:pt x="18390" y="80100"/>
                    <a:pt x="18160" y="79200"/>
                  </a:cubicBezTo>
                  <a:cubicBezTo>
                    <a:pt x="24597" y="73200"/>
                    <a:pt x="24597" y="73200"/>
                    <a:pt x="24597" y="73200"/>
                  </a:cubicBezTo>
                  <a:cubicBezTo>
                    <a:pt x="16321" y="96600"/>
                    <a:pt x="16321" y="96600"/>
                    <a:pt x="16321" y="96600"/>
                  </a:cubicBezTo>
                  <a:lnTo>
                    <a:pt x="15402" y="88500"/>
                  </a:lnTo>
                  <a:close/>
                  <a:moveTo>
                    <a:pt x="26436" y="95400"/>
                  </a:moveTo>
                  <a:cubicBezTo>
                    <a:pt x="19770" y="99600"/>
                    <a:pt x="19770" y="99600"/>
                    <a:pt x="19770" y="99600"/>
                  </a:cubicBezTo>
                  <a:cubicBezTo>
                    <a:pt x="19540" y="99600"/>
                    <a:pt x="19540" y="99300"/>
                    <a:pt x="19310" y="99300"/>
                  </a:cubicBezTo>
                  <a:cubicBezTo>
                    <a:pt x="27126" y="77400"/>
                    <a:pt x="27126" y="77400"/>
                    <a:pt x="27126" y="77400"/>
                  </a:cubicBezTo>
                  <a:lnTo>
                    <a:pt x="26436" y="95400"/>
                  </a:lnTo>
                  <a:close/>
                  <a:moveTo>
                    <a:pt x="28275" y="66900"/>
                  </a:moveTo>
                  <a:cubicBezTo>
                    <a:pt x="27126" y="66900"/>
                    <a:pt x="25977" y="65400"/>
                    <a:pt x="25977" y="63900"/>
                  </a:cubicBezTo>
                  <a:cubicBezTo>
                    <a:pt x="25977" y="62400"/>
                    <a:pt x="27126" y="60900"/>
                    <a:pt x="28275" y="60900"/>
                  </a:cubicBezTo>
                  <a:cubicBezTo>
                    <a:pt x="29425" y="60900"/>
                    <a:pt x="30574" y="62400"/>
                    <a:pt x="30574" y="63900"/>
                  </a:cubicBezTo>
                  <a:cubicBezTo>
                    <a:pt x="30574" y="65400"/>
                    <a:pt x="29425" y="66900"/>
                    <a:pt x="28275" y="66900"/>
                  </a:cubicBezTo>
                  <a:close/>
                  <a:moveTo>
                    <a:pt x="29885" y="106200"/>
                  </a:moveTo>
                  <a:cubicBezTo>
                    <a:pt x="30114" y="98700"/>
                    <a:pt x="30114" y="98700"/>
                    <a:pt x="30114" y="98700"/>
                  </a:cubicBezTo>
                  <a:cubicBezTo>
                    <a:pt x="34022" y="96300"/>
                    <a:pt x="34022" y="96300"/>
                    <a:pt x="34022" y="96300"/>
                  </a:cubicBezTo>
                  <a:cubicBezTo>
                    <a:pt x="34022" y="96300"/>
                    <a:pt x="34022" y="96300"/>
                    <a:pt x="34022" y="96600"/>
                  </a:cubicBezTo>
                  <a:cubicBezTo>
                    <a:pt x="34252" y="96600"/>
                    <a:pt x="34252" y="96600"/>
                    <a:pt x="34252" y="96900"/>
                  </a:cubicBezTo>
                  <a:cubicBezTo>
                    <a:pt x="30804" y="107700"/>
                    <a:pt x="30804" y="107700"/>
                    <a:pt x="30804" y="107700"/>
                  </a:cubicBezTo>
                  <a:cubicBezTo>
                    <a:pt x="30344" y="107400"/>
                    <a:pt x="30114" y="106800"/>
                    <a:pt x="29885" y="106200"/>
                  </a:cubicBezTo>
                  <a:close/>
                  <a:moveTo>
                    <a:pt x="42298" y="115200"/>
                  </a:moveTo>
                  <a:cubicBezTo>
                    <a:pt x="39080" y="115200"/>
                    <a:pt x="36091" y="113700"/>
                    <a:pt x="33563" y="111300"/>
                  </a:cubicBezTo>
                  <a:cubicBezTo>
                    <a:pt x="37701" y="98700"/>
                    <a:pt x="37701" y="98700"/>
                    <a:pt x="37701" y="98700"/>
                  </a:cubicBezTo>
                  <a:cubicBezTo>
                    <a:pt x="37931" y="98700"/>
                    <a:pt x="38160" y="98700"/>
                    <a:pt x="38160" y="98700"/>
                  </a:cubicBezTo>
                  <a:cubicBezTo>
                    <a:pt x="38160" y="98700"/>
                    <a:pt x="38160" y="98700"/>
                    <a:pt x="38160" y="98700"/>
                  </a:cubicBezTo>
                  <a:cubicBezTo>
                    <a:pt x="38160" y="98700"/>
                    <a:pt x="38160" y="98700"/>
                    <a:pt x="38160" y="98700"/>
                  </a:cubicBezTo>
                  <a:cubicBezTo>
                    <a:pt x="38160" y="98700"/>
                    <a:pt x="38160" y="98700"/>
                    <a:pt x="38160" y="98700"/>
                  </a:cubicBezTo>
                  <a:cubicBezTo>
                    <a:pt x="38390" y="98700"/>
                    <a:pt x="38620" y="98700"/>
                    <a:pt x="38850" y="98700"/>
                  </a:cubicBezTo>
                  <a:cubicBezTo>
                    <a:pt x="44137" y="114900"/>
                    <a:pt x="44137" y="114900"/>
                    <a:pt x="44137" y="114900"/>
                  </a:cubicBezTo>
                  <a:cubicBezTo>
                    <a:pt x="43678" y="114900"/>
                    <a:pt x="42988" y="115200"/>
                    <a:pt x="42298" y="115200"/>
                  </a:cubicBezTo>
                  <a:close/>
                  <a:moveTo>
                    <a:pt x="42068" y="96900"/>
                  </a:moveTo>
                  <a:cubicBezTo>
                    <a:pt x="42298" y="96600"/>
                    <a:pt x="42298" y="96600"/>
                    <a:pt x="42528" y="96600"/>
                  </a:cubicBezTo>
                  <a:cubicBezTo>
                    <a:pt x="42528" y="96300"/>
                    <a:pt x="42528" y="96300"/>
                    <a:pt x="42528" y="96300"/>
                  </a:cubicBezTo>
                  <a:cubicBezTo>
                    <a:pt x="46436" y="98700"/>
                    <a:pt x="46436" y="98700"/>
                    <a:pt x="46436" y="98700"/>
                  </a:cubicBezTo>
                  <a:cubicBezTo>
                    <a:pt x="46896" y="111300"/>
                    <a:pt x="46896" y="111300"/>
                    <a:pt x="46896" y="111300"/>
                  </a:cubicBezTo>
                  <a:lnTo>
                    <a:pt x="42068" y="96900"/>
                  </a:lnTo>
                  <a:close/>
                  <a:moveTo>
                    <a:pt x="47586" y="67200"/>
                  </a:moveTo>
                  <a:cubicBezTo>
                    <a:pt x="46436" y="67200"/>
                    <a:pt x="45287" y="66000"/>
                    <a:pt x="45287" y="64200"/>
                  </a:cubicBezTo>
                  <a:cubicBezTo>
                    <a:pt x="45287" y="62700"/>
                    <a:pt x="46436" y="61200"/>
                    <a:pt x="47586" y="61200"/>
                  </a:cubicBezTo>
                  <a:cubicBezTo>
                    <a:pt x="48735" y="61200"/>
                    <a:pt x="49885" y="62700"/>
                    <a:pt x="49885" y="64200"/>
                  </a:cubicBezTo>
                  <a:cubicBezTo>
                    <a:pt x="49885" y="66000"/>
                    <a:pt x="48735" y="67200"/>
                    <a:pt x="47586" y="67200"/>
                  </a:cubicBezTo>
                  <a:close/>
                  <a:moveTo>
                    <a:pt x="54482" y="107100"/>
                  </a:moveTo>
                  <a:cubicBezTo>
                    <a:pt x="53333" y="108900"/>
                    <a:pt x="52183" y="110700"/>
                    <a:pt x="50574" y="111900"/>
                  </a:cubicBezTo>
                  <a:cubicBezTo>
                    <a:pt x="50114" y="100800"/>
                    <a:pt x="50114" y="100800"/>
                    <a:pt x="50114" y="100800"/>
                  </a:cubicBezTo>
                  <a:cubicBezTo>
                    <a:pt x="55172" y="104100"/>
                    <a:pt x="55172" y="104100"/>
                    <a:pt x="55172" y="104100"/>
                  </a:cubicBezTo>
                  <a:cubicBezTo>
                    <a:pt x="55172" y="104400"/>
                    <a:pt x="55172" y="104700"/>
                    <a:pt x="55172" y="105000"/>
                  </a:cubicBezTo>
                  <a:cubicBezTo>
                    <a:pt x="55172" y="105300"/>
                    <a:pt x="55172" y="105900"/>
                    <a:pt x="55402" y="106200"/>
                  </a:cubicBezTo>
                  <a:cubicBezTo>
                    <a:pt x="54942" y="106500"/>
                    <a:pt x="54712" y="106800"/>
                    <a:pt x="54482" y="107100"/>
                  </a:cubicBezTo>
                  <a:close/>
                  <a:moveTo>
                    <a:pt x="56781" y="99600"/>
                  </a:moveTo>
                  <a:cubicBezTo>
                    <a:pt x="50114" y="95400"/>
                    <a:pt x="50114" y="95400"/>
                    <a:pt x="50114" y="95400"/>
                  </a:cubicBezTo>
                  <a:cubicBezTo>
                    <a:pt x="49195" y="77400"/>
                    <a:pt x="49195" y="77400"/>
                    <a:pt x="49195" y="77400"/>
                  </a:cubicBezTo>
                  <a:cubicBezTo>
                    <a:pt x="57011" y="99300"/>
                    <a:pt x="57011" y="99300"/>
                    <a:pt x="57011" y="99300"/>
                  </a:cubicBezTo>
                  <a:cubicBezTo>
                    <a:pt x="57011" y="99300"/>
                    <a:pt x="57011" y="99600"/>
                    <a:pt x="56781" y="99600"/>
                  </a:cubicBezTo>
                  <a:close/>
                  <a:moveTo>
                    <a:pt x="61149" y="107700"/>
                  </a:moveTo>
                  <a:cubicBezTo>
                    <a:pt x="60000" y="107700"/>
                    <a:pt x="58850" y="106500"/>
                    <a:pt x="58850" y="105000"/>
                  </a:cubicBezTo>
                  <a:cubicBezTo>
                    <a:pt x="58850" y="103200"/>
                    <a:pt x="60000" y="102000"/>
                    <a:pt x="61149" y="102000"/>
                  </a:cubicBezTo>
                  <a:cubicBezTo>
                    <a:pt x="62298" y="102000"/>
                    <a:pt x="63448" y="103200"/>
                    <a:pt x="63448" y="105000"/>
                  </a:cubicBezTo>
                  <a:cubicBezTo>
                    <a:pt x="63448" y="106500"/>
                    <a:pt x="62298" y="107700"/>
                    <a:pt x="61149" y="107700"/>
                  </a:cubicBezTo>
                  <a:close/>
                  <a:moveTo>
                    <a:pt x="66206" y="101100"/>
                  </a:moveTo>
                  <a:cubicBezTo>
                    <a:pt x="65747" y="99900"/>
                    <a:pt x="64827" y="98700"/>
                    <a:pt x="63908" y="98100"/>
                  </a:cubicBezTo>
                  <a:cubicBezTo>
                    <a:pt x="64827" y="89400"/>
                    <a:pt x="64827" y="89400"/>
                    <a:pt x="64827" y="89400"/>
                  </a:cubicBezTo>
                  <a:cubicBezTo>
                    <a:pt x="64827" y="89400"/>
                    <a:pt x="65057" y="89400"/>
                    <a:pt x="65057" y="89400"/>
                  </a:cubicBezTo>
                  <a:cubicBezTo>
                    <a:pt x="66206" y="89100"/>
                    <a:pt x="67356" y="88200"/>
                    <a:pt x="68045" y="87000"/>
                  </a:cubicBezTo>
                  <a:cubicBezTo>
                    <a:pt x="74022" y="90900"/>
                    <a:pt x="74022" y="90900"/>
                    <a:pt x="74022" y="90900"/>
                  </a:cubicBezTo>
                  <a:cubicBezTo>
                    <a:pt x="74252" y="99300"/>
                    <a:pt x="74252" y="99300"/>
                    <a:pt x="74252" y="99300"/>
                  </a:cubicBezTo>
                  <a:lnTo>
                    <a:pt x="66206" y="101100"/>
                  </a:lnTo>
                  <a:close/>
                  <a:moveTo>
                    <a:pt x="71264" y="109800"/>
                  </a:moveTo>
                  <a:cubicBezTo>
                    <a:pt x="66896" y="106500"/>
                    <a:pt x="66896" y="106500"/>
                    <a:pt x="66896" y="106500"/>
                  </a:cubicBezTo>
                  <a:cubicBezTo>
                    <a:pt x="66896" y="106200"/>
                    <a:pt x="66896" y="106200"/>
                    <a:pt x="66896" y="105900"/>
                  </a:cubicBezTo>
                  <a:cubicBezTo>
                    <a:pt x="74482" y="104100"/>
                    <a:pt x="74482" y="104100"/>
                    <a:pt x="74482" y="104100"/>
                  </a:cubicBezTo>
                  <a:cubicBezTo>
                    <a:pt x="74482" y="107700"/>
                    <a:pt x="74482" y="107700"/>
                    <a:pt x="74482" y="107700"/>
                  </a:cubicBezTo>
                  <a:cubicBezTo>
                    <a:pt x="73563" y="108600"/>
                    <a:pt x="72413" y="109200"/>
                    <a:pt x="71264" y="109800"/>
                  </a:cubicBezTo>
                  <a:close/>
                  <a:moveTo>
                    <a:pt x="74942" y="63600"/>
                  </a:moveTo>
                  <a:cubicBezTo>
                    <a:pt x="73563" y="63600"/>
                    <a:pt x="72643" y="62400"/>
                    <a:pt x="72643" y="60900"/>
                  </a:cubicBezTo>
                  <a:cubicBezTo>
                    <a:pt x="72643" y="59100"/>
                    <a:pt x="73563" y="57900"/>
                    <a:pt x="74942" y="57900"/>
                  </a:cubicBezTo>
                  <a:cubicBezTo>
                    <a:pt x="76091" y="57900"/>
                    <a:pt x="77011" y="59100"/>
                    <a:pt x="77011" y="60900"/>
                  </a:cubicBezTo>
                  <a:cubicBezTo>
                    <a:pt x="77011" y="62400"/>
                    <a:pt x="76091" y="63600"/>
                    <a:pt x="74942" y="63600"/>
                  </a:cubicBezTo>
                  <a:close/>
                  <a:moveTo>
                    <a:pt x="82988" y="96900"/>
                  </a:moveTo>
                  <a:cubicBezTo>
                    <a:pt x="77931" y="98100"/>
                    <a:pt x="77931" y="98100"/>
                    <a:pt x="77931" y="98100"/>
                  </a:cubicBezTo>
                  <a:cubicBezTo>
                    <a:pt x="77701" y="93600"/>
                    <a:pt x="77701" y="93600"/>
                    <a:pt x="77701" y="93600"/>
                  </a:cubicBezTo>
                  <a:cubicBezTo>
                    <a:pt x="82988" y="96900"/>
                    <a:pt x="82988" y="96900"/>
                    <a:pt x="82988" y="96900"/>
                  </a:cubicBezTo>
                  <a:cubicBezTo>
                    <a:pt x="82988" y="96900"/>
                    <a:pt x="82988" y="96900"/>
                    <a:pt x="82988" y="96900"/>
                  </a:cubicBezTo>
                  <a:close/>
                  <a:moveTo>
                    <a:pt x="84597" y="92400"/>
                  </a:moveTo>
                  <a:cubicBezTo>
                    <a:pt x="77471" y="87900"/>
                    <a:pt x="77471" y="87900"/>
                    <a:pt x="77471" y="87900"/>
                  </a:cubicBezTo>
                  <a:cubicBezTo>
                    <a:pt x="77011" y="72000"/>
                    <a:pt x="77011" y="72000"/>
                    <a:pt x="77011" y="72000"/>
                  </a:cubicBezTo>
                  <a:cubicBezTo>
                    <a:pt x="84597" y="92400"/>
                    <a:pt x="84597" y="92400"/>
                    <a:pt x="84597" y="92400"/>
                  </a:cubicBezTo>
                  <a:cubicBezTo>
                    <a:pt x="84597" y="92400"/>
                    <a:pt x="84597" y="92400"/>
                    <a:pt x="84597" y="92400"/>
                  </a:cubicBezTo>
                  <a:close/>
                  <a:moveTo>
                    <a:pt x="88735" y="100800"/>
                  </a:moveTo>
                  <a:cubicBezTo>
                    <a:pt x="87586" y="100800"/>
                    <a:pt x="86436" y="99600"/>
                    <a:pt x="86436" y="98100"/>
                  </a:cubicBezTo>
                  <a:cubicBezTo>
                    <a:pt x="86436" y="96300"/>
                    <a:pt x="87586" y="95100"/>
                    <a:pt x="88735" y="95100"/>
                  </a:cubicBezTo>
                  <a:cubicBezTo>
                    <a:pt x="90114" y="95100"/>
                    <a:pt x="91034" y="96300"/>
                    <a:pt x="91034" y="98100"/>
                  </a:cubicBezTo>
                  <a:cubicBezTo>
                    <a:pt x="91034" y="99600"/>
                    <a:pt x="90114" y="100800"/>
                    <a:pt x="88735" y="100800"/>
                  </a:cubicBezTo>
                  <a:close/>
                  <a:moveTo>
                    <a:pt x="106436" y="84000"/>
                  </a:moveTo>
                  <a:cubicBezTo>
                    <a:pt x="105517" y="84300"/>
                    <a:pt x="104827" y="85200"/>
                    <a:pt x="104827" y="86400"/>
                  </a:cubicBezTo>
                  <a:cubicBezTo>
                    <a:pt x="104827" y="86700"/>
                    <a:pt x="104827" y="86700"/>
                    <a:pt x="104827" y="86700"/>
                  </a:cubicBezTo>
                  <a:cubicBezTo>
                    <a:pt x="104827" y="96600"/>
                    <a:pt x="98850" y="104400"/>
                    <a:pt x="91494" y="105000"/>
                  </a:cubicBezTo>
                  <a:cubicBezTo>
                    <a:pt x="93333" y="103500"/>
                    <a:pt x="94712" y="100800"/>
                    <a:pt x="94712" y="98100"/>
                  </a:cubicBezTo>
                  <a:cubicBezTo>
                    <a:pt x="94712" y="97500"/>
                    <a:pt x="94712" y="96900"/>
                    <a:pt x="94712" y="96300"/>
                  </a:cubicBezTo>
                  <a:cubicBezTo>
                    <a:pt x="94022" y="92700"/>
                    <a:pt x="91494" y="90300"/>
                    <a:pt x="88735" y="90300"/>
                  </a:cubicBezTo>
                  <a:cubicBezTo>
                    <a:pt x="88505" y="90300"/>
                    <a:pt x="88275" y="90300"/>
                    <a:pt x="88045" y="90300"/>
                  </a:cubicBezTo>
                  <a:cubicBezTo>
                    <a:pt x="79770" y="68400"/>
                    <a:pt x="79770" y="68400"/>
                    <a:pt x="79770" y="68400"/>
                  </a:cubicBezTo>
                  <a:cubicBezTo>
                    <a:pt x="91954" y="78600"/>
                    <a:pt x="91954" y="78600"/>
                    <a:pt x="91954" y="78600"/>
                  </a:cubicBezTo>
                  <a:cubicBezTo>
                    <a:pt x="91954" y="79200"/>
                    <a:pt x="91724" y="80100"/>
                    <a:pt x="91724" y="80700"/>
                  </a:cubicBezTo>
                  <a:cubicBezTo>
                    <a:pt x="91724" y="83100"/>
                    <a:pt x="92643" y="85500"/>
                    <a:pt x="94482" y="87000"/>
                  </a:cubicBezTo>
                  <a:cubicBezTo>
                    <a:pt x="95402" y="87900"/>
                    <a:pt x="96551" y="88500"/>
                    <a:pt x="97701" y="88500"/>
                  </a:cubicBezTo>
                  <a:cubicBezTo>
                    <a:pt x="97701" y="88500"/>
                    <a:pt x="97701" y="88500"/>
                    <a:pt x="97701" y="88500"/>
                  </a:cubicBezTo>
                  <a:cubicBezTo>
                    <a:pt x="99540" y="88500"/>
                    <a:pt x="101609" y="87000"/>
                    <a:pt x="102758" y="84900"/>
                  </a:cubicBezTo>
                  <a:cubicBezTo>
                    <a:pt x="102988" y="84000"/>
                    <a:pt x="103218" y="83400"/>
                    <a:pt x="103448" y="82500"/>
                  </a:cubicBezTo>
                  <a:cubicBezTo>
                    <a:pt x="110804" y="81600"/>
                    <a:pt x="110804" y="81600"/>
                    <a:pt x="110804" y="81600"/>
                  </a:cubicBezTo>
                  <a:cubicBezTo>
                    <a:pt x="110804" y="81600"/>
                    <a:pt x="110804" y="81900"/>
                    <a:pt x="110804" y="81900"/>
                  </a:cubicBezTo>
                  <a:cubicBezTo>
                    <a:pt x="109425" y="83100"/>
                    <a:pt x="108045" y="83700"/>
                    <a:pt x="106436" y="84000"/>
                  </a:cubicBezTo>
                  <a:close/>
                  <a:moveTo>
                    <a:pt x="112643" y="72600"/>
                  </a:moveTo>
                  <a:cubicBezTo>
                    <a:pt x="108505" y="68700"/>
                    <a:pt x="108505" y="68700"/>
                    <a:pt x="108505" y="68700"/>
                  </a:cubicBezTo>
                  <a:cubicBezTo>
                    <a:pt x="110804" y="65400"/>
                    <a:pt x="110804" y="65400"/>
                    <a:pt x="110804" y="65400"/>
                  </a:cubicBezTo>
                  <a:cubicBezTo>
                    <a:pt x="112643" y="72300"/>
                    <a:pt x="112643" y="72300"/>
                    <a:pt x="112643" y="72300"/>
                  </a:cubicBezTo>
                  <a:cubicBezTo>
                    <a:pt x="112643" y="72300"/>
                    <a:pt x="112643" y="72600"/>
                    <a:pt x="112643" y="72600"/>
                  </a:cubicBezTo>
                  <a:close/>
                  <a:moveTo>
                    <a:pt x="116321" y="70800"/>
                  </a:moveTo>
                  <a:cubicBezTo>
                    <a:pt x="113793" y="61200"/>
                    <a:pt x="113793" y="61200"/>
                    <a:pt x="113793" y="61200"/>
                  </a:cubicBezTo>
                  <a:cubicBezTo>
                    <a:pt x="114482" y="60300"/>
                    <a:pt x="114482" y="60300"/>
                    <a:pt x="114482" y="60300"/>
                  </a:cubicBezTo>
                  <a:cubicBezTo>
                    <a:pt x="115632" y="62700"/>
                    <a:pt x="116321" y="65700"/>
                    <a:pt x="116321" y="69000"/>
                  </a:cubicBezTo>
                  <a:cubicBezTo>
                    <a:pt x="116321" y="69600"/>
                    <a:pt x="116321" y="70200"/>
                    <a:pt x="116321" y="70800"/>
                  </a:cubicBezTo>
                  <a:cubicBezTo>
                    <a:pt x="116321" y="70800"/>
                    <a:pt x="116321" y="70800"/>
                    <a:pt x="116321" y="70800"/>
                  </a:cubicBezTo>
                  <a:close/>
                </a:path>
              </a:pathLst>
            </a:custGeom>
            <a:solidFill>
              <a:srgbClr val="B1B3B4"/>
            </a:solidFill>
            <a:ln>
              <a:noFill/>
            </a:ln>
          </p:spPr>
          <p:txBody>
            <a:bodyPr anchorCtr="0" anchor="t" bIns="54425" lIns="108875" rIns="108875" tIns="54425">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cxnSp>
          <p:nvCxnSpPr>
            <p:cNvPr id="498" name="Shape 498"/>
            <p:cNvCxnSpPr/>
            <p:nvPr/>
          </p:nvCxnSpPr>
          <p:spPr>
            <a:xfrm flipH="1">
              <a:off x="3791946" y="3354846"/>
              <a:ext cx="1795157" cy="422115"/>
            </a:xfrm>
            <a:prstGeom prst="straightConnector1">
              <a:avLst/>
            </a:prstGeom>
            <a:solidFill>
              <a:schemeClr val="accent1"/>
            </a:solidFill>
            <a:ln cap="flat" cmpd="sng" w="12700">
              <a:solidFill>
                <a:schemeClr val="dk1"/>
              </a:solidFill>
              <a:prstDash val="solid"/>
              <a:round/>
              <a:headEnd len="lg" w="lg" type="triangle"/>
              <a:tailEnd len="lg" w="lg" type="triangle"/>
            </a:ln>
          </p:spPr>
        </p:cxnSp>
        <p:cxnSp>
          <p:nvCxnSpPr>
            <p:cNvPr id="499" name="Shape 499"/>
            <p:cNvCxnSpPr/>
            <p:nvPr/>
          </p:nvCxnSpPr>
          <p:spPr>
            <a:xfrm>
              <a:off x="6748672" y="3270425"/>
              <a:ext cx="1372765" cy="506537"/>
            </a:xfrm>
            <a:prstGeom prst="straightConnector1">
              <a:avLst/>
            </a:prstGeom>
            <a:solidFill>
              <a:schemeClr val="accent1"/>
            </a:solidFill>
            <a:ln cap="flat" cmpd="sng" w="12700">
              <a:solidFill>
                <a:schemeClr val="dk1"/>
              </a:solidFill>
              <a:prstDash val="solid"/>
              <a:round/>
              <a:headEnd len="lg" w="lg" type="triangle"/>
              <a:tailEnd len="lg" w="lg" type="triangle"/>
            </a:ln>
          </p:spPr>
        </p:cxnSp>
        <p:cxnSp>
          <p:nvCxnSpPr>
            <p:cNvPr id="500" name="Shape 500"/>
            <p:cNvCxnSpPr/>
            <p:nvPr/>
          </p:nvCxnSpPr>
          <p:spPr>
            <a:xfrm flipH="1">
              <a:off x="7130913" y="4721771"/>
              <a:ext cx="2219" cy="1161421"/>
            </a:xfrm>
            <a:prstGeom prst="straightConnector1">
              <a:avLst/>
            </a:prstGeom>
            <a:solidFill>
              <a:schemeClr val="accent1"/>
            </a:solidFill>
            <a:ln cap="flat" cmpd="sng" w="12700">
              <a:solidFill>
                <a:schemeClr val="dk1"/>
              </a:solidFill>
              <a:prstDash val="solid"/>
              <a:round/>
              <a:headEnd len="lg" w="lg" type="triangle"/>
              <a:tailEnd len="lg" w="lg" type="triangle"/>
            </a:ln>
          </p:spPr>
        </p:cxnSp>
        <p:cxnSp>
          <p:nvCxnSpPr>
            <p:cNvPr id="501" name="Shape 501"/>
            <p:cNvCxnSpPr/>
            <p:nvPr/>
          </p:nvCxnSpPr>
          <p:spPr>
            <a:xfrm>
              <a:off x="8229117" y="4700898"/>
              <a:ext cx="5652" cy="246418"/>
            </a:xfrm>
            <a:prstGeom prst="straightConnector1">
              <a:avLst/>
            </a:prstGeom>
            <a:solidFill>
              <a:schemeClr val="accent1"/>
            </a:solidFill>
            <a:ln cap="flat" cmpd="sng" w="12700">
              <a:solidFill>
                <a:schemeClr val="dk1"/>
              </a:solidFill>
              <a:prstDash val="solid"/>
              <a:round/>
              <a:headEnd len="lg" w="lg" type="triangle"/>
              <a:tailEnd len="lg" w="lg" type="triangle"/>
            </a:ln>
          </p:spPr>
        </p:cxnSp>
        <p:cxnSp>
          <p:nvCxnSpPr>
            <p:cNvPr id="502" name="Shape 502"/>
            <p:cNvCxnSpPr/>
            <p:nvPr/>
          </p:nvCxnSpPr>
          <p:spPr>
            <a:xfrm>
              <a:off x="6061746" y="4796889"/>
              <a:ext cx="5652" cy="246418"/>
            </a:xfrm>
            <a:prstGeom prst="straightConnector1">
              <a:avLst/>
            </a:prstGeom>
            <a:solidFill>
              <a:schemeClr val="accent1"/>
            </a:solidFill>
            <a:ln cap="flat" cmpd="sng" w="12700">
              <a:solidFill>
                <a:schemeClr val="dk1"/>
              </a:solidFill>
              <a:prstDash val="solid"/>
              <a:round/>
              <a:headEnd len="lg" w="lg" type="triangle"/>
              <a:tailEnd len="lg" w="lg" type="triangle"/>
            </a:ln>
          </p:spPr>
        </p:cxnSp>
        <p:cxnSp>
          <p:nvCxnSpPr>
            <p:cNvPr id="503" name="Shape 503"/>
            <p:cNvCxnSpPr/>
            <p:nvPr/>
          </p:nvCxnSpPr>
          <p:spPr>
            <a:xfrm>
              <a:off x="3686350" y="4705614"/>
              <a:ext cx="5652" cy="246418"/>
            </a:xfrm>
            <a:prstGeom prst="straightConnector1">
              <a:avLst/>
            </a:prstGeom>
            <a:solidFill>
              <a:schemeClr val="accent1"/>
            </a:solidFill>
            <a:ln cap="flat" cmpd="sng" w="12700">
              <a:solidFill>
                <a:schemeClr val="dk1"/>
              </a:solidFill>
              <a:prstDash val="solid"/>
              <a:round/>
              <a:headEnd len="lg" w="lg" type="triangle"/>
              <a:tailEnd len="lg" w="lg" type="triangle"/>
            </a:ln>
          </p:spPr>
        </p:cxnSp>
        <p:cxnSp>
          <p:nvCxnSpPr>
            <p:cNvPr id="504" name="Shape 504"/>
            <p:cNvCxnSpPr/>
            <p:nvPr/>
          </p:nvCxnSpPr>
          <p:spPr>
            <a:xfrm>
              <a:off x="4594144" y="5212312"/>
              <a:ext cx="701896" cy="0"/>
            </a:xfrm>
            <a:prstGeom prst="straightConnector1">
              <a:avLst/>
            </a:prstGeom>
            <a:solidFill>
              <a:schemeClr val="accent1"/>
            </a:solidFill>
            <a:ln cap="flat" cmpd="sng" w="12700">
              <a:solidFill>
                <a:schemeClr val="dk1"/>
              </a:solidFill>
              <a:prstDash val="solid"/>
              <a:round/>
              <a:headEnd len="med" w="med" type="none"/>
              <a:tailEnd len="med" w="med" type="none"/>
            </a:ln>
          </p:spPr>
        </p:cxnSp>
        <p:cxnSp>
          <p:nvCxnSpPr>
            <p:cNvPr id="505" name="Shape 505"/>
            <p:cNvCxnSpPr/>
            <p:nvPr/>
          </p:nvCxnSpPr>
          <p:spPr>
            <a:xfrm>
              <a:off x="4530337" y="5371294"/>
              <a:ext cx="701896" cy="0"/>
            </a:xfrm>
            <a:prstGeom prst="straightConnector1">
              <a:avLst/>
            </a:prstGeom>
            <a:solidFill>
              <a:schemeClr val="accent1"/>
            </a:solidFill>
            <a:ln cap="flat" cmpd="sng" w="12700">
              <a:solidFill>
                <a:schemeClr val="dk1"/>
              </a:solidFill>
              <a:prstDash val="solid"/>
              <a:round/>
              <a:headEnd len="med" w="med" type="none"/>
              <a:tailEnd len="med" w="med" type="none"/>
            </a:ln>
          </p:spPr>
        </p:cxnSp>
        <p:cxnSp>
          <p:nvCxnSpPr>
            <p:cNvPr id="506" name="Shape 506"/>
            <p:cNvCxnSpPr/>
            <p:nvPr/>
          </p:nvCxnSpPr>
          <p:spPr>
            <a:xfrm>
              <a:off x="6572215" y="5371294"/>
              <a:ext cx="701896" cy="0"/>
            </a:xfrm>
            <a:prstGeom prst="straightConnector1">
              <a:avLst/>
            </a:prstGeom>
            <a:solidFill>
              <a:schemeClr val="accent1"/>
            </a:solidFill>
            <a:ln cap="flat" cmpd="sng" w="12700">
              <a:solidFill>
                <a:schemeClr val="dk1"/>
              </a:solidFill>
              <a:prstDash val="solid"/>
              <a:round/>
              <a:headEnd len="med" w="med" type="none"/>
              <a:tailEnd len="med" w="med" type="none"/>
            </a:ln>
          </p:spPr>
        </p:cxnSp>
        <p:cxnSp>
          <p:nvCxnSpPr>
            <p:cNvPr id="507" name="Shape 507"/>
            <p:cNvCxnSpPr/>
            <p:nvPr/>
          </p:nvCxnSpPr>
          <p:spPr>
            <a:xfrm>
              <a:off x="6636025" y="5270585"/>
              <a:ext cx="701896" cy="0"/>
            </a:xfrm>
            <a:prstGeom prst="straightConnector1">
              <a:avLst/>
            </a:prstGeom>
            <a:solidFill>
              <a:schemeClr val="accent1"/>
            </a:solidFill>
            <a:ln cap="flat" cmpd="sng" w="12700">
              <a:solidFill>
                <a:schemeClr val="dk1"/>
              </a:solidFill>
              <a:prstDash val="solid"/>
              <a:round/>
              <a:headEnd len="med" w="med" type="none"/>
              <a:tailEnd len="med" w="med" type="none"/>
            </a:ln>
          </p:spPr>
        </p:cxnSp>
        <p:cxnSp>
          <p:nvCxnSpPr>
            <p:cNvPr id="508" name="Shape 508"/>
            <p:cNvCxnSpPr/>
            <p:nvPr/>
          </p:nvCxnSpPr>
          <p:spPr>
            <a:xfrm>
              <a:off x="7504857" y="5540721"/>
              <a:ext cx="0" cy="238490"/>
            </a:xfrm>
            <a:prstGeom prst="straightConnector1">
              <a:avLst/>
            </a:prstGeom>
            <a:solidFill>
              <a:schemeClr val="accent1"/>
            </a:solidFill>
            <a:ln cap="flat" cmpd="sng" w="12700">
              <a:solidFill>
                <a:schemeClr val="dk1"/>
              </a:solidFill>
              <a:prstDash val="solid"/>
              <a:round/>
              <a:headEnd len="med" w="med" type="none"/>
              <a:tailEnd len="med" w="med" type="none"/>
            </a:ln>
          </p:spPr>
        </p:cxnSp>
        <p:cxnSp>
          <p:nvCxnSpPr>
            <p:cNvPr id="509" name="Shape 509"/>
            <p:cNvCxnSpPr/>
            <p:nvPr/>
          </p:nvCxnSpPr>
          <p:spPr>
            <a:xfrm>
              <a:off x="7820659" y="5540721"/>
              <a:ext cx="0" cy="238490"/>
            </a:xfrm>
            <a:prstGeom prst="straightConnector1">
              <a:avLst/>
            </a:prstGeom>
            <a:solidFill>
              <a:schemeClr val="accent1"/>
            </a:solidFill>
            <a:ln cap="flat" cmpd="sng" w="12700">
              <a:solidFill>
                <a:schemeClr val="dk1"/>
              </a:solidFill>
              <a:prstDash val="solid"/>
              <a:round/>
              <a:headEnd len="med" w="med" type="none"/>
              <a:tailEnd len="med" w="med" type="none"/>
            </a:ln>
          </p:spPr>
        </p:cxnSp>
        <p:cxnSp>
          <p:nvCxnSpPr>
            <p:cNvPr id="510" name="Shape 510"/>
            <p:cNvCxnSpPr/>
            <p:nvPr/>
          </p:nvCxnSpPr>
          <p:spPr>
            <a:xfrm>
              <a:off x="8367553" y="5540721"/>
              <a:ext cx="0" cy="238490"/>
            </a:xfrm>
            <a:prstGeom prst="straightConnector1">
              <a:avLst/>
            </a:prstGeom>
            <a:solidFill>
              <a:schemeClr val="accent1"/>
            </a:solidFill>
            <a:ln cap="flat" cmpd="sng" w="12700">
              <a:solidFill>
                <a:schemeClr val="dk1"/>
              </a:solidFill>
              <a:prstDash val="solid"/>
              <a:round/>
              <a:headEnd len="med" w="med" type="none"/>
              <a:tailEnd len="med" w="med" type="none"/>
            </a:ln>
          </p:spPr>
        </p:cxnSp>
        <p:cxnSp>
          <p:nvCxnSpPr>
            <p:cNvPr id="511" name="Shape 511"/>
            <p:cNvCxnSpPr/>
            <p:nvPr/>
          </p:nvCxnSpPr>
          <p:spPr>
            <a:xfrm>
              <a:off x="8579242" y="5598996"/>
              <a:ext cx="0" cy="238490"/>
            </a:xfrm>
            <a:prstGeom prst="straightConnector1">
              <a:avLst/>
            </a:prstGeom>
            <a:solidFill>
              <a:schemeClr val="accent1"/>
            </a:solidFill>
            <a:ln cap="flat" cmpd="sng" w="12700">
              <a:solidFill>
                <a:schemeClr val="dk1"/>
              </a:solidFill>
              <a:prstDash val="solid"/>
              <a:round/>
              <a:headEnd len="med" w="med" type="none"/>
              <a:tailEnd len="med" w="med" type="none"/>
            </a:ln>
          </p:spPr>
        </p:cxnSp>
        <p:grpSp>
          <p:nvGrpSpPr>
            <p:cNvPr id="512" name="Shape 512"/>
            <p:cNvGrpSpPr/>
            <p:nvPr/>
          </p:nvGrpSpPr>
          <p:grpSpPr>
            <a:xfrm>
              <a:off x="4892372" y="5701088"/>
              <a:ext cx="1962778" cy="777410"/>
              <a:chOff x="6074842" y="5105635"/>
              <a:chExt cx="1590090" cy="1148358"/>
            </a:xfrm>
          </p:grpSpPr>
          <p:sp>
            <p:nvSpPr>
              <p:cNvPr id="513" name="Shape 513"/>
              <p:cNvSpPr/>
              <p:nvPr/>
            </p:nvSpPr>
            <p:spPr>
              <a:xfrm>
                <a:off x="6074842" y="5105635"/>
                <a:ext cx="1590090" cy="1148358"/>
              </a:xfrm>
              <a:custGeom>
                <a:pathLst>
                  <a:path extrusionOk="0" h="120000" w="120000">
                    <a:moveTo>
                      <a:pt x="25517" y="106766"/>
                    </a:moveTo>
                    <a:cubicBezTo>
                      <a:pt x="24137" y="107067"/>
                      <a:pt x="22528" y="107368"/>
                      <a:pt x="20919" y="107368"/>
                    </a:cubicBezTo>
                    <a:cubicBezTo>
                      <a:pt x="20919" y="107368"/>
                      <a:pt x="20919" y="107368"/>
                      <a:pt x="20919" y="107368"/>
                    </a:cubicBezTo>
                    <a:cubicBezTo>
                      <a:pt x="12183" y="107368"/>
                      <a:pt x="5287" y="98345"/>
                      <a:pt x="5287" y="86917"/>
                    </a:cubicBezTo>
                    <a:cubicBezTo>
                      <a:pt x="5287" y="86917"/>
                      <a:pt x="5287" y="86917"/>
                      <a:pt x="5287" y="86917"/>
                    </a:cubicBezTo>
                    <a:cubicBezTo>
                      <a:pt x="5287" y="84812"/>
                      <a:pt x="5517" y="82706"/>
                      <a:pt x="5977" y="80902"/>
                    </a:cubicBezTo>
                    <a:cubicBezTo>
                      <a:pt x="5977" y="80902"/>
                      <a:pt x="5977" y="80902"/>
                      <a:pt x="5977" y="80902"/>
                    </a:cubicBezTo>
                    <a:cubicBezTo>
                      <a:pt x="2298" y="75789"/>
                      <a:pt x="0" y="69172"/>
                      <a:pt x="0" y="61954"/>
                    </a:cubicBezTo>
                    <a:cubicBezTo>
                      <a:pt x="0" y="61954"/>
                      <a:pt x="0" y="61954"/>
                      <a:pt x="0" y="61954"/>
                    </a:cubicBezTo>
                    <a:cubicBezTo>
                      <a:pt x="0" y="47819"/>
                      <a:pt x="8045" y="36390"/>
                      <a:pt x="18620" y="34586"/>
                    </a:cubicBezTo>
                    <a:cubicBezTo>
                      <a:pt x="18620" y="34586"/>
                      <a:pt x="18620" y="34586"/>
                      <a:pt x="18620" y="34586"/>
                    </a:cubicBezTo>
                    <a:cubicBezTo>
                      <a:pt x="18620" y="34285"/>
                      <a:pt x="18390" y="33984"/>
                      <a:pt x="18390" y="33383"/>
                    </a:cubicBezTo>
                    <a:cubicBezTo>
                      <a:pt x="18390" y="33383"/>
                      <a:pt x="18390" y="33383"/>
                      <a:pt x="18390" y="33383"/>
                    </a:cubicBezTo>
                    <a:cubicBezTo>
                      <a:pt x="18390" y="21954"/>
                      <a:pt x="25747" y="12631"/>
                      <a:pt x="34482" y="12631"/>
                    </a:cubicBezTo>
                    <a:cubicBezTo>
                      <a:pt x="34482" y="12631"/>
                      <a:pt x="34482" y="12631"/>
                      <a:pt x="34482" y="12631"/>
                    </a:cubicBezTo>
                    <a:cubicBezTo>
                      <a:pt x="37701" y="12631"/>
                      <a:pt x="40689" y="13834"/>
                      <a:pt x="43218" y="16240"/>
                    </a:cubicBezTo>
                    <a:cubicBezTo>
                      <a:pt x="43218" y="16240"/>
                      <a:pt x="43218" y="16240"/>
                      <a:pt x="43218" y="16240"/>
                    </a:cubicBezTo>
                    <a:cubicBezTo>
                      <a:pt x="47356" y="6616"/>
                      <a:pt x="55172" y="0"/>
                      <a:pt x="64137" y="0"/>
                    </a:cubicBezTo>
                    <a:cubicBezTo>
                      <a:pt x="64137" y="0"/>
                      <a:pt x="64137" y="0"/>
                      <a:pt x="64137" y="0"/>
                    </a:cubicBezTo>
                    <a:cubicBezTo>
                      <a:pt x="74712" y="0"/>
                      <a:pt x="83448" y="9022"/>
                      <a:pt x="86436" y="21654"/>
                    </a:cubicBezTo>
                    <a:cubicBezTo>
                      <a:pt x="86436" y="21654"/>
                      <a:pt x="86436" y="21654"/>
                      <a:pt x="86436" y="21654"/>
                    </a:cubicBezTo>
                    <a:cubicBezTo>
                      <a:pt x="87126" y="21654"/>
                      <a:pt x="87586" y="21654"/>
                      <a:pt x="88045" y="21654"/>
                    </a:cubicBezTo>
                    <a:cubicBezTo>
                      <a:pt x="88045" y="21654"/>
                      <a:pt x="88045" y="21654"/>
                      <a:pt x="88045" y="21654"/>
                    </a:cubicBezTo>
                    <a:cubicBezTo>
                      <a:pt x="91954" y="21654"/>
                      <a:pt x="95632" y="23157"/>
                      <a:pt x="98850" y="25563"/>
                    </a:cubicBezTo>
                    <a:cubicBezTo>
                      <a:pt x="98850" y="25563"/>
                      <a:pt x="98850" y="25563"/>
                      <a:pt x="98850" y="25563"/>
                    </a:cubicBezTo>
                    <a:cubicBezTo>
                      <a:pt x="98850" y="25563"/>
                      <a:pt x="98850" y="25563"/>
                      <a:pt x="98850" y="25563"/>
                    </a:cubicBezTo>
                    <a:cubicBezTo>
                      <a:pt x="99540" y="26466"/>
                      <a:pt x="100000" y="27669"/>
                      <a:pt x="99310" y="28872"/>
                    </a:cubicBezTo>
                    <a:cubicBezTo>
                      <a:pt x="99310" y="28872"/>
                      <a:pt x="99310" y="28872"/>
                      <a:pt x="99310" y="28872"/>
                    </a:cubicBezTo>
                    <a:cubicBezTo>
                      <a:pt x="98850" y="30075"/>
                      <a:pt x="97701" y="30375"/>
                      <a:pt x="96781" y="29774"/>
                    </a:cubicBezTo>
                    <a:cubicBezTo>
                      <a:pt x="96781" y="29774"/>
                      <a:pt x="96781" y="29774"/>
                      <a:pt x="96781" y="29774"/>
                    </a:cubicBezTo>
                    <a:cubicBezTo>
                      <a:pt x="94252" y="27669"/>
                      <a:pt x="91264" y="26466"/>
                      <a:pt x="88045" y="26466"/>
                    </a:cubicBezTo>
                    <a:cubicBezTo>
                      <a:pt x="88045" y="26466"/>
                      <a:pt x="88045" y="26466"/>
                      <a:pt x="88045" y="26466"/>
                    </a:cubicBezTo>
                    <a:cubicBezTo>
                      <a:pt x="87356" y="26466"/>
                      <a:pt x="86436" y="26466"/>
                      <a:pt x="85517" y="26766"/>
                    </a:cubicBezTo>
                    <a:cubicBezTo>
                      <a:pt x="85517" y="26766"/>
                      <a:pt x="85517" y="26766"/>
                      <a:pt x="85517" y="26766"/>
                    </a:cubicBezTo>
                    <a:cubicBezTo>
                      <a:pt x="84597" y="26766"/>
                      <a:pt x="83678" y="26165"/>
                      <a:pt x="83448" y="24962"/>
                    </a:cubicBezTo>
                    <a:cubicBezTo>
                      <a:pt x="83448" y="24962"/>
                      <a:pt x="83448" y="24962"/>
                      <a:pt x="83448" y="24962"/>
                    </a:cubicBezTo>
                    <a:cubicBezTo>
                      <a:pt x="81379" y="13533"/>
                      <a:pt x="73333" y="4812"/>
                      <a:pt x="64137" y="4812"/>
                    </a:cubicBezTo>
                    <a:cubicBezTo>
                      <a:pt x="64137" y="4812"/>
                      <a:pt x="64137" y="4812"/>
                      <a:pt x="64137" y="4812"/>
                    </a:cubicBezTo>
                    <a:cubicBezTo>
                      <a:pt x="55862" y="4812"/>
                      <a:pt x="48735" y="11428"/>
                      <a:pt x="45747" y="20751"/>
                    </a:cubicBezTo>
                    <a:cubicBezTo>
                      <a:pt x="45747" y="20751"/>
                      <a:pt x="45747" y="20751"/>
                      <a:pt x="45747" y="20751"/>
                    </a:cubicBezTo>
                    <a:cubicBezTo>
                      <a:pt x="45517" y="21353"/>
                      <a:pt x="44827" y="21954"/>
                      <a:pt x="44367" y="22255"/>
                    </a:cubicBezTo>
                    <a:cubicBezTo>
                      <a:pt x="44367" y="22255"/>
                      <a:pt x="44367" y="22255"/>
                      <a:pt x="44367" y="22255"/>
                    </a:cubicBezTo>
                    <a:cubicBezTo>
                      <a:pt x="43678" y="22255"/>
                      <a:pt x="43218" y="22255"/>
                      <a:pt x="42758" y="21654"/>
                    </a:cubicBezTo>
                    <a:cubicBezTo>
                      <a:pt x="42758" y="21654"/>
                      <a:pt x="42758" y="21654"/>
                      <a:pt x="42758" y="21654"/>
                    </a:cubicBezTo>
                    <a:cubicBezTo>
                      <a:pt x="40459" y="18947"/>
                      <a:pt x="37701" y="17443"/>
                      <a:pt x="34482" y="17443"/>
                    </a:cubicBezTo>
                    <a:cubicBezTo>
                      <a:pt x="34482" y="17443"/>
                      <a:pt x="34482" y="17443"/>
                      <a:pt x="34482" y="17443"/>
                    </a:cubicBezTo>
                    <a:cubicBezTo>
                      <a:pt x="27586" y="17443"/>
                      <a:pt x="22298" y="24661"/>
                      <a:pt x="22068" y="33383"/>
                    </a:cubicBezTo>
                    <a:cubicBezTo>
                      <a:pt x="22068" y="33383"/>
                      <a:pt x="22068" y="33383"/>
                      <a:pt x="22068" y="33383"/>
                    </a:cubicBezTo>
                    <a:cubicBezTo>
                      <a:pt x="22068" y="34586"/>
                      <a:pt x="22298" y="35488"/>
                      <a:pt x="22298" y="36390"/>
                    </a:cubicBezTo>
                    <a:cubicBezTo>
                      <a:pt x="22298" y="36390"/>
                      <a:pt x="22298" y="36390"/>
                      <a:pt x="22298" y="36390"/>
                    </a:cubicBezTo>
                    <a:cubicBezTo>
                      <a:pt x="22528" y="37293"/>
                      <a:pt x="22298" y="37894"/>
                      <a:pt x="22068" y="38496"/>
                    </a:cubicBezTo>
                    <a:cubicBezTo>
                      <a:pt x="22068" y="38496"/>
                      <a:pt x="22068" y="38496"/>
                      <a:pt x="22068" y="38496"/>
                    </a:cubicBezTo>
                    <a:cubicBezTo>
                      <a:pt x="21609" y="39097"/>
                      <a:pt x="21149" y="39398"/>
                      <a:pt x="20689" y="39398"/>
                    </a:cubicBezTo>
                    <a:cubicBezTo>
                      <a:pt x="20689" y="39398"/>
                      <a:pt x="20689" y="39398"/>
                      <a:pt x="20689" y="39398"/>
                    </a:cubicBezTo>
                    <a:cubicBezTo>
                      <a:pt x="11264" y="39699"/>
                      <a:pt x="3678" y="49624"/>
                      <a:pt x="3678" y="61954"/>
                    </a:cubicBezTo>
                    <a:cubicBezTo>
                      <a:pt x="3678" y="61954"/>
                      <a:pt x="3678" y="61954"/>
                      <a:pt x="3678" y="61954"/>
                    </a:cubicBezTo>
                    <a:cubicBezTo>
                      <a:pt x="3678" y="68270"/>
                      <a:pt x="5747" y="74285"/>
                      <a:pt x="9195" y="78496"/>
                    </a:cubicBezTo>
                    <a:cubicBezTo>
                      <a:pt x="9195" y="78496"/>
                      <a:pt x="9195" y="78496"/>
                      <a:pt x="9195" y="78496"/>
                    </a:cubicBezTo>
                    <a:cubicBezTo>
                      <a:pt x="9885" y="79097"/>
                      <a:pt x="10114" y="80000"/>
                      <a:pt x="9655" y="81203"/>
                    </a:cubicBezTo>
                    <a:cubicBezTo>
                      <a:pt x="9655" y="81203"/>
                      <a:pt x="9655" y="81203"/>
                      <a:pt x="9655" y="81203"/>
                    </a:cubicBezTo>
                    <a:cubicBezTo>
                      <a:pt x="9195" y="83007"/>
                      <a:pt x="8965" y="84812"/>
                      <a:pt x="8965" y="86917"/>
                    </a:cubicBezTo>
                    <a:cubicBezTo>
                      <a:pt x="8965" y="86917"/>
                      <a:pt x="8965" y="86917"/>
                      <a:pt x="8965" y="86917"/>
                    </a:cubicBezTo>
                    <a:cubicBezTo>
                      <a:pt x="8965" y="95639"/>
                      <a:pt x="14252" y="102556"/>
                      <a:pt x="20919" y="102556"/>
                    </a:cubicBezTo>
                    <a:cubicBezTo>
                      <a:pt x="20919" y="102556"/>
                      <a:pt x="20919" y="102556"/>
                      <a:pt x="20919" y="102556"/>
                    </a:cubicBezTo>
                    <a:cubicBezTo>
                      <a:pt x="22758" y="102556"/>
                      <a:pt x="24367" y="102255"/>
                      <a:pt x="25747" y="101353"/>
                    </a:cubicBezTo>
                    <a:cubicBezTo>
                      <a:pt x="25747" y="101353"/>
                      <a:pt x="25747" y="101353"/>
                      <a:pt x="25747" y="101353"/>
                    </a:cubicBezTo>
                    <a:cubicBezTo>
                      <a:pt x="26206" y="101052"/>
                      <a:pt x="26896" y="101052"/>
                      <a:pt x="27356" y="101353"/>
                    </a:cubicBezTo>
                    <a:cubicBezTo>
                      <a:pt x="27356" y="101353"/>
                      <a:pt x="27356" y="101353"/>
                      <a:pt x="27356" y="101353"/>
                    </a:cubicBezTo>
                    <a:cubicBezTo>
                      <a:pt x="27816" y="101654"/>
                      <a:pt x="28045" y="102255"/>
                      <a:pt x="28275" y="102857"/>
                    </a:cubicBezTo>
                    <a:cubicBezTo>
                      <a:pt x="28275" y="102857"/>
                      <a:pt x="28275" y="102857"/>
                      <a:pt x="28275" y="102857"/>
                    </a:cubicBezTo>
                    <a:cubicBezTo>
                      <a:pt x="30344" y="110075"/>
                      <a:pt x="35862" y="115187"/>
                      <a:pt x="42298" y="115187"/>
                    </a:cubicBezTo>
                    <a:cubicBezTo>
                      <a:pt x="42298" y="115187"/>
                      <a:pt x="42298" y="115187"/>
                      <a:pt x="42298" y="115187"/>
                    </a:cubicBezTo>
                    <a:cubicBezTo>
                      <a:pt x="47356" y="115187"/>
                      <a:pt x="51724" y="112180"/>
                      <a:pt x="54482" y="107368"/>
                    </a:cubicBezTo>
                    <a:cubicBezTo>
                      <a:pt x="54482" y="107368"/>
                      <a:pt x="54482" y="107368"/>
                      <a:pt x="54482" y="107368"/>
                    </a:cubicBezTo>
                    <a:cubicBezTo>
                      <a:pt x="54712" y="106766"/>
                      <a:pt x="55172" y="106466"/>
                      <a:pt x="55632" y="106466"/>
                    </a:cubicBezTo>
                    <a:cubicBezTo>
                      <a:pt x="55632" y="106466"/>
                      <a:pt x="55632" y="106466"/>
                      <a:pt x="55632" y="106466"/>
                    </a:cubicBezTo>
                    <a:cubicBezTo>
                      <a:pt x="56091" y="106165"/>
                      <a:pt x="56551" y="106466"/>
                      <a:pt x="57011" y="106766"/>
                    </a:cubicBezTo>
                    <a:cubicBezTo>
                      <a:pt x="57011" y="106766"/>
                      <a:pt x="57011" y="106766"/>
                      <a:pt x="57011" y="106766"/>
                    </a:cubicBezTo>
                    <a:cubicBezTo>
                      <a:pt x="59540" y="109473"/>
                      <a:pt x="62758" y="110977"/>
                      <a:pt x="66436" y="110977"/>
                    </a:cubicBezTo>
                    <a:cubicBezTo>
                      <a:pt x="66436" y="110977"/>
                      <a:pt x="66436" y="110977"/>
                      <a:pt x="66436" y="110977"/>
                    </a:cubicBezTo>
                    <a:cubicBezTo>
                      <a:pt x="71724" y="110977"/>
                      <a:pt x="76551" y="107368"/>
                      <a:pt x="79080" y="101654"/>
                    </a:cubicBezTo>
                    <a:cubicBezTo>
                      <a:pt x="79080" y="101654"/>
                      <a:pt x="79080" y="101654"/>
                      <a:pt x="79080" y="101654"/>
                    </a:cubicBezTo>
                    <a:cubicBezTo>
                      <a:pt x="79310" y="101052"/>
                      <a:pt x="79770" y="100751"/>
                      <a:pt x="80459" y="100451"/>
                    </a:cubicBezTo>
                    <a:cubicBezTo>
                      <a:pt x="80459" y="100451"/>
                      <a:pt x="80459" y="100451"/>
                      <a:pt x="80459" y="100451"/>
                    </a:cubicBezTo>
                    <a:cubicBezTo>
                      <a:pt x="80919" y="100451"/>
                      <a:pt x="81379" y="100451"/>
                      <a:pt x="81839" y="101052"/>
                    </a:cubicBezTo>
                    <a:cubicBezTo>
                      <a:pt x="81839" y="101052"/>
                      <a:pt x="81839" y="101052"/>
                      <a:pt x="81839" y="101052"/>
                    </a:cubicBezTo>
                    <a:cubicBezTo>
                      <a:pt x="84367" y="103458"/>
                      <a:pt x="87356" y="105263"/>
                      <a:pt x="90804" y="105263"/>
                    </a:cubicBezTo>
                    <a:cubicBezTo>
                      <a:pt x="90804" y="105263"/>
                      <a:pt x="90804" y="105263"/>
                      <a:pt x="90804" y="105263"/>
                    </a:cubicBezTo>
                    <a:cubicBezTo>
                      <a:pt x="98390" y="105263"/>
                      <a:pt x="104597" y="97142"/>
                      <a:pt x="104597" y="86917"/>
                    </a:cubicBezTo>
                    <a:cubicBezTo>
                      <a:pt x="104597" y="86917"/>
                      <a:pt x="104597" y="86917"/>
                      <a:pt x="104597" y="86917"/>
                    </a:cubicBezTo>
                    <a:cubicBezTo>
                      <a:pt x="104597" y="86917"/>
                      <a:pt x="104597" y="86917"/>
                      <a:pt x="104597" y="86616"/>
                    </a:cubicBezTo>
                    <a:cubicBezTo>
                      <a:pt x="104597" y="86616"/>
                      <a:pt x="104597" y="86616"/>
                      <a:pt x="104597" y="86616"/>
                    </a:cubicBezTo>
                    <a:cubicBezTo>
                      <a:pt x="104597" y="85413"/>
                      <a:pt x="105287" y="84511"/>
                      <a:pt x="106206" y="84210"/>
                    </a:cubicBezTo>
                    <a:cubicBezTo>
                      <a:pt x="106206" y="84210"/>
                      <a:pt x="106206" y="84210"/>
                      <a:pt x="106206" y="84210"/>
                    </a:cubicBezTo>
                    <a:cubicBezTo>
                      <a:pt x="111954" y="83007"/>
                      <a:pt x="116321" y="76691"/>
                      <a:pt x="116321" y="68872"/>
                    </a:cubicBezTo>
                    <a:cubicBezTo>
                      <a:pt x="116321" y="68872"/>
                      <a:pt x="116321" y="68872"/>
                      <a:pt x="116321" y="68872"/>
                    </a:cubicBezTo>
                    <a:cubicBezTo>
                      <a:pt x="116321" y="61052"/>
                      <a:pt x="111724" y="54436"/>
                      <a:pt x="105747" y="53533"/>
                    </a:cubicBezTo>
                    <a:cubicBezTo>
                      <a:pt x="105747" y="53533"/>
                      <a:pt x="105747" y="53533"/>
                      <a:pt x="105747" y="53533"/>
                    </a:cubicBezTo>
                    <a:cubicBezTo>
                      <a:pt x="105287" y="53533"/>
                      <a:pt x="104827" y="53233"/>
                      <a:pt x="104597" y="52631"/>
                    </a:cubicBezTo>
                    <a:cubicBezTo>
                      <a:pt x="104597" y="52631"/>
                      <a:pt x="104597" y="52631"/>
                      <a:pt x="104597" y="52631"/>
                    </a:cubicBezTo>
                    <a:cubicBezTo>
                      <a:pt x="104137" y="52330"/>
                      <a:pt x="104137" y="51428"/>
                      <a:pt x="104137" y="50827"/>
                    </a:cubicBezTo>
                    <a:cubicBezTo>
                      <a:pt x="104137" y="50827"/>
                      <a:pt x="104137" y="50827"/>
                      <a:pt x="104137" y="50827"/>
                    </a:cubicBezTo>
                    <a:cubicBezTo>
                      <a:pt x="104367" y="49924"/>
                      <a:pt x="104367" y="48721"/>
                      <a:pt x="104367" y="47518"/>
                    </a:cubicBezTo>
                    <a:cubicBezTo>
                      <a:pt x="104367" y="47518"/>
                      <a:pt x="104367" y="47518"/>
                      <a:pt x="104367" y="47518"/>
                    </a:cubicBezTo>
                    <a:cubicBezTo>
                      <a:pt x="104367" y="43308"/>
                      <a:pt x="103448" y="39097"/>
                      <a:pt x="101609" y="35789"/>
                    </a:cubicBezTo>
                    <a:cubicBezTo>
                      <a:pt x="101609" y="35789"/>
                      <a:pt x="101609" y="35789"/>
                      <a:pt x="101609" y="35789"/>
                    </a:cubicBezTo>
                    <a:cubicBezTo>
                      <a:pt x="100919" y="34586"/>
                      <a:pt x="101149" y="33082"/>
                      <a:pt x="102068" y="32481"/>
                    </a:cubicBezTo>
                    <a:cubicBezTo>
                      <a:pt x="102068" y="32481"/>
                      <a:pt x="102068" y="32481"/>
                      <a:pt x="102068" y="32481"/>
                    </a:cubicBezTo>
                    <a:cubicBezTo>
                      <a:pt x="102988" y="31578"/>
                      <a:pt x="104137" y="31879"/>
                      <a:pt x="104597" y="33082"/>
                    </a:cubicBezTo>
                    <a:cubicBezTo>
                      <a:pt x="104597" y="33082"/>
                      <a:pt x="104597" y="33082"/>
                      <a:pt x="104597" y="33082"/>
                    </a:cubicBezTo>
                    <a:cubicBezTo>
                      <a:pt x="106666" y="37293"/>
                      <a:pt x="108045" y="42105"/>
                      <a:pt x="108045" y="47518"/>
                    </a:cubicBezTo>
                    <a:cubicBezTo>
                      <a:pt x="108045" y="47518"/>
                      <a:pt x="108045" y="47518"/>
                      <a:pt x="108045" y="47518"/>
                    </a:cubicBezTo>
                    <a:cubicBezTo>
                      <a:pt x="108045" y="48120"/>
                      <a:pt x="108045" y="48721"/>
                      <a:pt x="108045" y="49323"/>
                    </a:cubicBezTo>
                    <a:cubicBezTo>
                      <a:pt x="108045" y="49323"/>
                      <a:pt x="108045" y="49323"/>
                      <a:pt x="108045" y="49323"/>
                    </a:cubicBezTo>
                    <a:cubicBezTo>
                      <a:pt x="114942" y="51428"/>
                      <a:pt x="120000" y="59248"/>
                      <a:pt x="120000" y="68872"/>
                    </a:cubicBezTo>
                    <a:cubicBezTo>
                      <a:pt x="120000" y="68872"/>
                      <a:pt x="120000" y="68872"/>
                      <a:pt x="120000" y="68872"/>
                    </a:cubicBezTo>
                    <a:cubicBezTo>
                      <a:pt x="120000" y="78496"/>
                      <a:pt x="114942" y="86315"/>
                      <a:pt x="108275" y="88721"/>
                    </a:cubicBezTo>
                    <a:cubicBezTo>
                      <a:pt x="108275" y="88721"/>
                      <a:pt x="108275" y="88721"/>
                      <a:pt x="108275" y="88721"/>
                    </a:cubicBezTo>
                    <a:cubicBezTo>
                      <a:pt x="107586" y="100451"/>
                      <a:pt x="100000" y="110075"/>
                      <a:pt x="90804" y="110075"/>
                    </a:cubicBezTo>
                    <a:cubicBezTo>
                      <a:pt x="90804" y="110075"/>
                      <a:pt x="90804" y="110075"/>
                      <a:pt x="90804" y="110075"/>
                    </a:cubicBezTo>
                    <a:cubicBezTo>
                      <a:pt x="87126" y="110075"/>
                      <a:pt x="83908" y="108571"/>
                      <a:pt x="81149" y="106165"/>
                    </a:cubicBezTo>
                    <a:cubicBezTo>
                      <a:pt x="81149" y="106165"/>
                      <a:pt x="81149" y="106165"/>
                      <a:pt x="81149" y="106165"/>
                    </a:cubicBezTo>
                    <a:cubicBezTo>
                      <a:pt x="77701" y="112180"/>
                      <a:pt x="72413" y="115789"/>
                      <a:pt x="66436" y="115789"/>
                    </a:cubicBezTo>
                    <a:cubicBezTo>
                      <a:pt x="66436" y="115789"/>
                      <a:pt x="66436" y="115789"/>
                      <a:pt x="66436" y="115789"/>
                    </a:cubicBezTo>
                    <a:cubicBezTo>
                      <a:pt x="62528" y="115789"/>
                      <a:pt x="59080" y="114586"/>
                      <a:pt x="56321" y="111879"/>
                    </a:cubicBezTo>
                    <a:cubicBezTo>
                      <a:pt x="56321" y="111879"/>
                      <a:pt x="56321" y="111879"/>
                      <a:pt x="56321" y="111879"/>
                    </a:cubicBezTo>
                    <a:cubicBezTo>
                      <a:pt x="52873" y="116992"/>
                      <a:pt x="47816" y="119999"/>
                      <a:pt x="42298" y="119999"/>
                    </a:cubicBezTo>
                    <a:cubicBezTo>
                      <a:pt x="42298" y="119999"/>
                      <a:pt x="42298" y="119999"/>
                      <a:pt x="42298" y="119999"/>
                    </a:cubicBezTo>
                    <a:cubicBezTo>
                      <a:pt x="34942" y="119999"/>
                      <a:pt x="28735" y="114586"/>
                      <a:pt x="25517" y="106766"/>
                    </a:cubicBezTo>
                    <a:close/>
                  </a:path>
                </a:pathLst>
              </a:custGeom>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a:noFill/>
              </a:ln>
            </p:spPr>
            <p:txBody>
              <a:bodyPr anchorCtr="0" anchor="t" bIns="45700" lIns="91425" rIns="91425" tIns="4570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grpSp>
            <p:nvGrpSpPr>
              <p:cNvPr id="514" name="Shape 514"/>
              <p:cNvGrpSpPr/>
              <p:nvPr/>
            </p:nvGrpSpPr>
            <p:grpSpPr>
              <a:xfrm>
                <a:off x="6418005" y="5374634"/>
                <a:ext cx="934670" cy="775192"/>
                <a:chOff x="1727958" y="4240914"/>
                <a:chExt cx="692445" cy="704829"/>
              </a:xfrm>
            </p:grpSpPr>
            <p:sp>
              <p:nvSpPr>
                <p:cNvPr id="515" name="Shape 515"/>
                <p:cNvSpPr/>
                <p:nvPr/>
              </p:nvSpPr>
              <p:spPr>
                <a:xfrm>
                  <a:off x="1727958" y="4268542"/>
                  <a:ext cx="307360" cy="300442"/>
                </a:xfrm>
                <a:prstGeom prst="ellipse">
                  <a:avLst/>
                </a:prstGeom>
                <a:noFill/>
                <a:ln cap="flat" cmpd="sng" w="38100">
                  <a:solidFill>
                    <a:srgbClr val="FFFF00"/>
                  </a:solidFill>
                  <a:prstDash val="solid"/>
                  <a:round/>
                  <a:headEnd len="med" w="med" type="none"/>
                  <a:tailEnd len="med" w="med" type="none"/>
                </a:ln>
              </p:spPr>
              <p:txBody>
                <a:bodyPr anchorCtr="0" anchor="t" bIns="45700" lIns="54000" rIns="54000"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516" name="Shape 516"/>
                <p:cNvSpPr/>
                <p:nvPr/>
              </p:nvSpPr>
              <p:spPr>
                <a:xfrm>
                  <a:off x="2003523" y="4372142"/>
                  <a:ext cx="381549" cy="372961"/>
                </a:xfrm>
                <a:prstGeom prst="ellipse">
                  <a:avLst/>
                </a:prstGeom>
                <a:noFill/>
                <a:ln cap="flat" cmpd="sng" w="38100">
                  <a:solidFill>
                    <a:srgbClr val="FFFF00"/>
                  </a:solidFill>
                  <a:prstDash val="solid"/>
                  <a:round/>
                  <a:headEnd len="med" w="med" type="none"/>
                  <a:tailEnd len="med" w="med" type="none"/>
                </a:ln>
              </p:spPr>
              <p:txBody>
                <a:bodyPr anchorCtr="0" anchor="t" bIns="45700" lIns="54000" rIns="54000"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517" name="Shape 517"/>
                <p:cNvSpPr/>
                <p:nvPr/>
              </p:nvSpPr>
              <p:spPr>
                <a:xfrm>
                  <a:off x="1763288" y="4613876"/>
                  <a:ext cx="307360" cy="300442"/>
                </a:xfrm>
                <a:prstGeom prst="ellipse">
                  <a:avLst/>
                </a:prstGeom>
                <a:noFill/>
                <a:ln cap="flat" cmpd="sng" w="38100">
                  <a:solidFill>
                    <a:srgbClr val="FFFF00"/>
                  </a:solidFill>
                  <a:prstDash val="solid"/>
                  <a:round/>
                  <a:headEnd len="med" w="med" type="none"/>
                  <a:tailEnd len="med" w="med" type="none"/>
                </a:ln>
              </p:spPr>
              <p:txBody>
                <a:bodyPr anchorCtr="0" anchor="t" bIns="45700" lIns="54000" rIns="54000"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518" name="Shape 518"/>
                <p:cNvSpPr/>
                <p:nvPr/>
              </p:nvSpPr>
              <p:spPr>
                <a:xfrm>
                  <a:off x="1756222" y="4240914"/>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519" name="Shape 519"/>
                <p:cNvSpPr/>
                <p:nvPr/>
              </p:nvSpPr>
              <p:spPr>
                <a:xfrm>
                  <a:off x="1756222" y="4627691"/>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520" name="Shape 520"/>
                <p:cNvSpPr/>
                <p:nvPr/>
              </p:nvSpPr>
              <p:spPr>
                <a:xfrm>
                  <a:off x="1975260" y="4420489"/>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521" name="Shape 521"/>
                <p:cNvSpPr/>
                <p:nvPr/>
              </p:nvSpPr>
              <p:spPr>
                <a:xfrm>
                  <a:off x="1727959" y="4482650"/>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522" name="Shape 522"/>
                <p:cNvSpPr/>
                <p:nvPr/>
              </p:nvSpPr>
              <p:spPr>
                <a:xfrm>
                  <a:off x="1890471" y="4855612"/>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523" name="Shape 523"/>
                <p:cNvSpPr/>
                <p:nvPr/>
              </p:nvSpPr>
              <p:spPr>
                <a:xfrm>
                  <a:off x="2010590" y="4627692"/>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524" name="Shape 524"/>
                <p:cNvSpPr/>
                <p:nvPr/>
              </p:nvSpPr>
              <p:spPr>
                <a:xfrm>
                  <a:off x="2158971" y="4323796"/>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525" name="Shape 525"/>
                <p:cNvSpPr/>
                <p:nvPr/>
              </p:nvSpPr>
              <p:spPr>
                <a:xfrm>
                  <a:off x="2257891" y="4648410"/>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sp>
              <p:nvSpPr>
                <p:cNvPr id="526" name="Shape 526"/>
                <p:cNvSpPr/>
                <p:nvPr/>
              </p:nvSpPr>
              <p:spPr>
                <a:xfrm>
                  <a:off x="2328549" y="4448116"/>
                  <a:ext cx="91855" cy="90132"/>
                </a:xfrm>
                <a:prstGeom prst="ellipse">
                  <a:avLst/>
                </a:prstGeom>
                <a:solidFill>
                  <a:srgbClr val="002060"/>
                </a:solidFill>
                <a:ln cap="flat" cmpd="sng" w="38100">
                  <a:solidFill>
                    <a:schemeClr val="lt1"/>
                  </a:solidFill>
                  <a:prstDash val="solid"/>
                  <a:round/>
                  <a:headEnd len="med" w="med" type="none"/>
                  <a:tailEnd len="med" w="med" type="none"/>
                </a:ln>
              </p:spPr>
              <p:txBody>
                <a:bodyPr anchorCtr="0" anchor="t" bIns="45700" lIns="54000" rIns="54000" tIns="45700">
                  <a:noAutofit/>
                </a:bodyPr>
                <a:lstStyle/>
                <a:p>
                  <a:pPr indent="0" lvl="0" marL="0" marR="0" rtl="0" algn="l">
                    <a:spcBef>
                      <a:spcPts val="0"/>
                    </a:spcBef>
                    <a:spcAft>
                      <a:spcPts val="0"/>
                    </a:spcAft>
                    <a:buNone/>
                  </a:pPr>
                  <a:r>
                    <a:t/>
                  </a:r>
                  <a:endParaRPr sz="1100">
                    <a:solidFill>
                      <a:schemeClr val="lt1"/>
                    </a:solidFill>
                    <a:latin typeface="Arial"/>
                    <a:ea typeface="Arial"/>
                    <a:cs typeface="Arial"/>
                    <a:sym typeface="Arial"/>
                  </a:endParaRPr>
                </a:p>
              </p:txBody>
            </p:sp>
          </p:grpSp>
        </p:grpSp>
        <p:cxnSp>
          <p:nvCxnSpPr>
            <p:cNvPr id="527" name="Shape 527"/>
            <p:cNvCxnSpPr/>
            <p:nvPr/>
          </p:nvCxnSpPr>
          <p:spPr>
            <a:xfrm>
              <a:off x="5363057" y="5540721"/>
              <a:ext cx="0" cy="238490"/>
            </a:xfrm>
            <a:prstGeom prst="straightConnector1">
              <a:avLst/>
            </a:prstGeom>
            <a:solidFill>
              <a:schemeClr val="accent1"/>
            </a:solidFill>
            <a:ln cap="flat" cmpd="sng" w="12700">
              <a:solidFill>
                <a:schemeClr val="dk1"/>
              </a:solidFill>
              <a:prstDash val="solid"/>
              <a:round/>
              <a:headEnd len="med" w="med" type="none"/>
              <a:tailEnd len="med" w="med" type="none"/>
            </a:ln>
          </p:spPr>
        </p:cxnSp>
        <p:cxnSp>
          <p:nvCxnSpPr>
            <p:cNvPr id="528" name="Shape 528"/>
            <p:cNvCxnSpPr/>
            <p:nvPr/>
          </p:nvCxnSpPr>
          <p:spPr>
            <a:xfrm>
              <a:off x="5678864" y="5540721"/>
              <a:ext cx="0" cy="238490"/>
            </a:xfrm>
            <a:prstGeom prst="straightConnector1">
              <a:avLst/>
            </a:prstGeom>
            <a:solidFill>
              <a:schemeClr val="accent1"/>
            </a:solidFill>
            <a:ln cap="flat" cmpd="sng" w="12700">
              <a:solidFill>
                <a:schemeClr val="dk1"/>
              </a:solidFill>
              <a:prstDash val="solid"/>
              <a:round/>
              <a:headEnd len="med" w="med" type="none"/>
              <a:tailEnd len="med" w="med" type="none"/>
            </a:ln>
          </p:spPr>
        </p:cxnSp>
        <p:cxnSp>
          <p:nvCxnSpPr>
            <p:cNvPr id="529" name="Shape 529"/>
            <p:cNvCxnSpPr/>
            <p:nvPr/>
          </p:nvCxnSpPr>
          <p:spPr>
            <a:xfrm>
              <a:off x="6225755" y="5540721"/>
              <a:ext cx="0" cy="238490"/>
            </a:xfrm>
            <a:prstGeom prst="straightConnector1">
              <a:avLst/>
            </a:prstGeom>
            <a:solidFill>
              <a:schemeClr val="accent1"/>
            </a:solidFill>
            <a:ln cap="flat" cmpd="sng" w="12700">
              <a:solidFill>
                <a:schemeClr val="dk1"/>
              </a:solidFill>
              <a:prstDash val="solid"/>
              <a:round/>
              <a:headEnd len="med" w="med" type="none"/>
              <a:tailEnd len="med" w="med" type="none"/>
            </a:ln>
          </p:spPr>
        </p:cxnSp>
        <p:cxnSp>
          <p:nvCxnSpPr>
            <p:cNvPr id="530" name="Shape 530"/>
            <p:cNvCxnSpPr/>
            <p:nvPr/>
          </p:nvCxnSpPr>
          <p:spPr>
            <a:xfrm>
              <a:off x="6437448" y="5598996"/>
              <a:ext cx="0" cy="238490"/>
            </a:xfrm>
            <a:prstGeom prst="straightConnector1">
              <a:avLst/>
            </a:prstGeom>
            <a:solidFill>
              <a:schemeClr val="accent1"/>
            </a:solidFill>
            <a:ln cap="flat" cmpd="sng" w="12700">
              <a:solidFill>
                <a:schemeClr val="dk1"/>
              </a:solidFill>
              <a:prstDash val="solid"/>
              <a:round/>
              <a:headEnd len="med" w="med" type="none"/>
              <a:tailEnd len="med" w="med" type="none"/>
            </a:ln>
          </p:spPr>
        </p:cxnSp>
        <p:cxnSp>
          <p:nvCxnSpPr>
            <p:cNvPr id="531" name="Shape 531"/>
            <p:cNvCxnSpPr/>
            <p:nvPr/>
          </p:nvCxnSpPr>
          <p:spPr>
            <a:xfrm flipH="1">
              <a:off x="5051895" y="4721771"/>
              <a:ext cx="2219" cy="1161421"/>
            </a:xfrm>
            <a:prstGeom prst="straightConnector1">
              <a:avLst/>
            </a:prstGeom>
            <a:solidFill>
              <a:schemeClr val="accent1"/>
            </a:solidFill>
            <a:ln cap="flat" cmpd="sng" w="12700">
              <a:solidFill>
                <a:schemeClr val="dk1"/>
              </a:solidFill>
              <a:prstDash val="solid"/>
              <a:round/>
              <a:headEnd len="lg" w="lg" type="triangle"/>
              <a:tailEnd len="lg" w="lg" type="triangle"/>
            </a:ln>
          </p:spPr>
        </p:cxnSp>
        <p:sp>
          <p:nvSpPr>
            <p:cNvPr id="532" name="Shape 532"/>
            <p:cNvSpPr/>
            <p:nvPr/>
          </p:nvSpPr>
          <p:spPr>
            <a:xfrm>
              <a:off x="3127556" y="5760551"/>
              <a:ext cx="742051" cy="444173"/>
            </a:xfrm>
            <a:custGeom>
              <a:pathLst>
                <a:path extrusionOk="0" h="120000" w="120000">
                  <a:moveTo>
                    <a:pt x="85486" y="32432"/>
                  </a:moveTo>
                  <a:cubicBezTo>
                    <a:pt x="85486" y="28783"/>
                    <a:pt x="83628" y="25945"/>
                    <a:pt x="81238" y="25945"/>
                  </a:cubicBezTo>
                  <a:cubicBezTo>
                    <a:pt x="79911" y="25945"/>
                    <a:pt x="78584" y="27162"/>
                    <a:pt x="78053" y="28378"/>
                  </a:cubicBezTo>
                  <a:cubicBezTo>
                    <a:pt x="59734" y="21081"/>
                    <a:pt x="59734" y="21081"/>
                    <a:pt x="59734" y="21081"/>
                  </a:cubicBezTo>
                  <a:cubicBezTo>
                    <a:pt x="59469" y="18243"/>
                    <a:pt x="57610" y="15810"/>
                    <a:pt x="55486" y="15810"/>
                  </a:cubicBezTo>
                  <a:cubicBezTo>
                    <a:pt x="53097" y="15810"/>
                    <a:pt x="51238" y="18648"/>
                    <a:pt x="51238" y="22297"/>
                  </a:cubicBezTo>
                  <a:cubicBezTo>
                    <a:pt x="51238" y="22702"/>
                    <a:pt x="51238" y="23513"/>
                    <a:pt x="51504" y="24324"/>
                  </a:cubicBezTo>
                  <a:cubicBezTo>
                    <a:pt x="44601" y="34054"/>
                    <a:pt x="44601" y="34054"/>
                    <a:pt x="44601" y="34054"/>
                  </a:cubicBezTo>
                  <a:cubicBezTo>
                    <a:pt x="44070" y="33648"/>
                    <a:pt x="43539" y="33243"/>
                    <a:pt x="42743" y="33243"/>
                  </a:cubicBezTo>
                  <a:cubicBezTo>
                    <a:pt x="40619" y="33243"/>
                    <a:pt x="38495" y="36486"/>
                    <a:pt x="38495" y="39729"/>
                  </a:cubicBezTo>
                  <a:cubicBezTo>
                    <a:pt x="38495" y="42567"/>
                    <a:pt x="39823" y="45000"/>
                    <a:pt x="41150" y="45810"/>
                  </a:cubicBezTo>
                  <a:cubicBezTo>
                    <a:pt x="41150" y="70135"/>
                    <a:pt x="41150" y="70135"/>
                    <a:pt x="41150" y="70135"/>
                  </a:cubicBezTo>
                  <a:cubicBezTo>
                    <a:pt x="39823" y="71351"/>
                    <a:pt x="38495" y="73378"/>
                    <a:pt x="38495" y="76216"/>
                  </a:cubicBezTo>
                  <a:cubicBezTo>
                    <a:pt x="38495" y="79864"/>
                    <a:pt x="40619" y="82702"/>
                    <a:pt x="42743" y="82702"/>
                  </a:cubicBezTo>
                  <a:cubicBezTo>
                    <a:pt x="44336" y="82702"/>
                    <a:pt x="45398" y="81486"/>
                    <a:pt x="46194" y="79864"/>
                  </a:cubicBezTo>
                  <a:cubicBezTo>
                    <a:pt x="64513" y="87162"/>
                    <a:pt x="64513" y="87162"/>
                    <a:pt x="64513" y="87162"/>
                  </a:cubicBezTo>
                  <a:cubicBezTo>
                    <a:pt x="64778" y="90405"/>
                    <a:pt x="66371" y="92837"/>
                    <a:pt x="68761" y="92837"/>
                  </a:cubicBezTo>
                  <a:cubicBezTo>
                    <a:pt x="70884" y="92837"/>
                    <a:pt x="72743" y="90000"/>
                    <a:pt x="72743" y="86351"/>
                  </a:cubicBezTo>
                  <a:cubicBezTo>
                    <a:pt x="72743" y="85540"/>
                    <a:pt x="72743" y="84729"/>
                    <a:pt x="72477" y="84324"/>
                  </a:cubicBezTo>
                  <a:cubicBezTo>
                    <a:pt x="79380" y="74594"/>
                    <a:pt x="79380" y="74594"/>
                    <a:pt x="79380" y="74594"/>
                  </a:cubicBezTo>
                  <a:cubicBezTo>
                    <a:pt x="80176" y="75000"/>
                    <a:pt x="80707" y="75000"/>
                    <a:pt x="81238" y="75000"/>
                  </a:cubicBezTo>
                  <a:cubicBezTo>
                    <a:pt x="83628" y="75000"/>
                    <a:pt x="85486" y="72162"/>
                    <a:pt x="85486" y="68513"/>
                  </a:cubicBezTo>
                  <a:cubicBezTo>
                    <a:pt x="85486" y="66081"/>
                    <a:pt x="84424" y="63648"/>
                    <a:pt x="82831" y="62837"/>
                  </a:cubicBezTo>
                  <a:cubicBezTo>
                    <a:pt x="82831" y="38513"/>
                    <a:pt x="82831" y="38513"/>
                    <a:pt x="82831" y="38513"/>
                  </a:cubicBezTo>
                  <a:cubicBezTo>
                    <a:pt x="84424" y="37297"/>
                    <a:pt x="85486" y="35270"/>
                    <a:pt x="85486" y="32432"/>
                  </a:cubicBezTo>
                  <a:close/>
                  <a:moveTo>
                    <a:pt x="53628" y="27972"/>
                  </a:moveTo>
                  <a:cubicBezTo>
                    <a:pt x="53893" y="27972"/>
                    <a:pt x="53893" y="27972"/>
                    <a:pt x="53893" y="27972"/>
                  </a:cubicBezTo>
                  <a:cubicBezTo>
                    <a:pt x="53893" y="41756"/>
                    <a:pt x="53893" y="41756"/>
                    <a:pt x="53893" y="41756"/>
                  </a:cubicBezTo>
                  <a:cubicBezTo>
                    <a:pt x="46991" y="38918"/>
                    <a:pt x="46991" y="38918"/>
                    <a:pt x="46991" y="38918"/>
                  </a:cubicBezTo>
                  <a:cubicBezTo>
                    <a:pt x="46991" y="38513"/>
                    <a:pt x="46991" y="38108"/>
                    <a:pt x="46725" y="37702"/>
                  </a:cubicBezTo>
                  <a:lnTo>
                    <a:pt x="53628" y="27972"/>
                  </a:lnTo>
                  <a:close/>
                  <a:moveTo>
                    <a:pt x="44601" y="70135"/>
                  </a:moveTo>
                  <a:cubicBezTo>
                    <a:pt x="44601" y="70135"/>
                    <a:pt x="44601" y="70135"/>
                    <a:pt x="44336" y="70135"/>
                  </a:cubicBezTo>
                  <a:cubicBezTo>
                    <a:pt x="44336" y="45810"/>
                    <a:pt x="44336" y="45810"/>
                    <a:pt x="44336" y="45810"/>
                  </a:cubicBezTo>
                  <a:cubicBezTo>
                    <a:pt x="45132" y="45405"/>
                    <a:pt x="45663" y="44594"/>
                    <a:pt x="46194" y="43783"/>
                  </a:cubicBezTo>
                  <a:cubicBezTo>
                    <a:pt x="53893" y="46621"/>
                    <a:pt x="53893" y="46621"/>
                    <a:pt x="53893" y="46621"/>
                  </a:cubicBezTo>
                  <a:cubicBezTo>
                    <a:pt x="53893" y="52297"/>
                    <a:pt x="53893" y="52297"/>
                    <a:pt x="53893" y="52297"/>
                  </a:cubicBezTo>
                  <a:cubicBezTo>
                    <a:pt x="52300" y="53513"/>
                    <a:pt x="51238" y="55540"/>
                    <a:pt x="51238" y="58378"/>
                  </a:cubicBezTo>
                  <a:cubicBezTo>
                    <a:pt x="51238" y="59189"/>
                    <a:pt x="51238" y="60000"/>
                    <a:pt x="51504" y="60810"/>
                  </a:cubicBezTo>
                  <a:lnTo>
                    <a:pt x="44601" y="70135"/>
                  </a:lnTo>
                  <a:close/>
                  <a:moveTo>
                    <a:pt x="67168" y="80675"/>
                  </a:moveTo>
                  <a:cubicBezTo>
                    <a:pt x="66371" y="81081"/>
                    <a:pt x="65840" y="81486"/>
                    <a:pt x="65309" y="82702"/>
                  </a:cubicBezTo>
                  <a:cubicBezTo>
                    <a:pt x="46991" y="75405"/>
                    <a:pt x="46991" y="75405"/>
                    <a:pt x="46991" y="75405"/>
                  </a:cubicBezTo>
                  <a:cubicBezTo>
                    <a:pt x="46991" y="75000"/>
                    <a:pt x="46991" y="74189"/>
                    <a:pt x="46725" y="73783"/>
                  </a:cubicBezTo>
                  <a:cubicBezTo>
                    <a:pt x="53628" y="64054"/>
                    <a:pt x="53628" y="64054"/>
                    <a:pt x="53628" y="64054"/>
                  </a:cubicBezTo>
                  <a:cubicBezTo>
                    <a:pt x="54159" y="64459"/>
                    <a:pt x="54955" y="64864"/>
                    <a:pt x="55486" y="64864"/>
                  </a:cubicBezTo>
                  <a:cubicBezTo>
                    <a:pt x="56814" y="64864"/>
                    <a:pt x="58141" y="63648"/>
                    <a:pt x="58938" y="62432"/>
                  </a:cubicBezTo>
                  <a:cubicBezTo>
                    <a:pt x="67168" y="65675"/>
                    <a:pt x="67168" y="65675"/>
                    <a:pt x="67168" y="65675"/>
                  </a:cubicBezTo>
                  <a:lnTo>
                    <a:pt x="67168" y="80675"/>
                  </a:lnTo>
                  <a:close/>
                  <a:moveTo>
                    <a:pt x="67168" y="60405"/>
                  </a:moveTo>
                  <a:cubicBezTo>
                    <a:pt x="59734" y="57567"/>
                    <a:pt x="59734" y="57567"/>
                    <a:pt x="59734" y="57567"/>
                  </a:cubicBezTo>
                  <a:cubicBezTo>
                    <a:pt x="59469" y="55135"/>
                    <a:pt x="58407" y="53108"/>
                    <a:pt x="57079" y="52297"/>
                  </a:cubicBezTo>
                  <a:cubicBezTo>
                    <a:pt x="57079" y="48243"/>
                    <a:pt x="57079" y="48243"/>
                    <a:pt x="57079" y="48243"/>
                  </a:cubicBezTo>
                  <a:cubicBezTo>
                    <a:pt x="64513" y="51081"/>
                    <a:pt x="64513" y="51081"/>
                    <a:pt x="64513" y="51081"/>
                  </a:cubicBezTo>
                  <a:cubicBezTo>
                    <a:pt x="64778" y="53513"/>
                    <a:pt x="65575" y="55135"/>
                    <a:pt x="67168" y="56351"/>
                  </a:cubicBezTo>
                  <a:lnTo>
                    <a:pt x="67168" y="60405"/>
                  </a:lnTo>
                  <a:close/>
                  <a:moveTo>
                    <a:pt x="65309" y="46216"/>
                  </a:moveTo>
                  <a:cubicBezTo>
                    <a:pt x="57079" y="42972"/>
                    <a:pt x="57079" y="42972"/>
                    <a:pt x="57079" y="42972"/>
                  </a:cubicBezTo>
                  <a:cubicBezTo>
                    <a:pt x="57079" y="27972"/>
                    <a:pt x="57079" y="27972"/>
                    <a:pt x="57079" y="27972"/>
                  </a:cubicBezTo>
                  <a:cubicBezTo>
                    <a:pt x="57876" y="27567"/>
                    <a:pt x="58407" y="26756"/>
                    <a:pt x="58938" y="25945"/>
                  </a:cubicBezTo>
                  <a:cubicBezTo>
                    <a:pt x="76991" y="33243"/>
                    <a:pt x="76991" y="33243"/>
                    <a:pt x="76991" y="33243"/>
                  </a:cubicBezTo>
                  <a:cubicBezTo>
                    <a:pt x="77256" y="33648"/>
                    <a:pt x="77256" y="34054"/>
                    <a:pt x="77256" y="34459"/>
                  </a:cubicBezTo>
                  <a:cubicBezTo>
                    <a:pt x="70353" y="44189"/>
                    <a:pt x="70353" y="44189"/>
                    <a:pt x="70353" y="44189"/>
                  </a:cubicBezTo>
                  <a:cubicBezTo>
                    <a:pt x="69823" y="43783"/>
                    <a:pt x="69292" y="43783"/>
                    <a:pt x="68761" y="43783"/>
                  </a:cubicBezTo>
                  <a:cubicBezTo>
                    <a:pt x="67168" y="43783"/>
                    <a:pt x="66106" y="44594"/>
                    <a:pt x="65309" y="46216"/>
                  </a:cubicBezTo>
                  <a:close/>
                  <a:moveTo>
                    <a:pt x="70353" y="80675"/>
                  </a:moveTo>
                  <a:cubicBezTo>
                    <a:pt x="70353" y="80675"/>
                    <a:pt x="70353" y="80675"/>
                    <a:pt x="70353" y="80675"/>
                  </a:cubicBezTo>
                  <a:cubicBezTo>
                    <a:pt x="70353" y="66891"/>
                    <a:pt x="70353" y="66891"/>
                    <a:pt x="70353" y="66891"/>
                  </a:cubicBezTo>
                  <a:cubicBezTo>
                    <a:pt x="76991" y="69729"/>
                    <a:pt x="76991" y="69729"/>
                    <a:pt x="76991" y="69729"/>
                  </a:cubicBezTo>
                  <a:cubicBezTo>
                    <a:pt x="77256" y="70135"/>
                    <a:pt x="77256" y="70540"/>
                    <a:pt x="77256" y="70945"/>
                  </a:cubicBezTo>
                  <a:lnTo>
                    <a:pt x="70353" y="80675"/>
                  </a:lnTo>
                  <a:close/>
                  <a:moveTo>
                    <a:pt x="79646" y="62837"/>
                  </a:moveTo>
                  <a:cubicBezTo>
                    <a:pt x="79115" y="63243"/>
                    <a:pt x="78318" y="64054"/>
                    <a:pt x="78053" y="64864"/>
                  </a:cubicBezTo>
                  <a:cubicBezTo>
                    <a:pt x="70353" y="61621"/>
                    <a:pt x="70353" y="61621"/>
                    <a:pt x="70353" y="61621"/>
                  </a:cubicBezTo>
                  <a:cubicBezTo>
                    <a:pt x="70353" y="56351"/>
                    <a:pt x="70353" y="56351"/>
                    <a:pt x="70353" y="56351"/>
                  </a:cubicBezTo>
                  <a:cubicBezTo>
                    <a:pt x="71681" y="55135"/>
                    <a:pt x="72743" y="52702"/>
                    <a:pt x="72743" y="50270"/>
                  </a:cubicBezTo>
                  <a:cubicBezTo>
                    <a:pt x="72743" y="49459"/>
                    <a:pt x="72743" y="48648"/>
                    <a:pt x="72477" y="47837"/>
                  </a:cubicBezTo>
                  <a:cubicBezTo>
                    <a:pt x="79380" y="38108"/>
                    <a:pt x="79380" y="38108"/>
                    <a:pt x="79380" y="38108"/>
                  </a:cubicBezTo>
                  <a:cubicBezTo>
                    <a:pt x="79646" y="38108"/>
                    <a:pt x="79646" y="38513"/>
                    <a:pt x="79646" y="38513"/>
                  </a:cubicBezTo>
                  <a:lnTo>
                    <a:pt x="79646" y="62837"/>
                  </a:lnTo>
                  <a:close/>
                  <a:moveTo>
                    <a:pt x="116283" y="100945"/>
                  </a:moveTo>
                  <a:cubicBezTo>
                    <a:pt x="116283" y="100945"/>
                    <a:pt x="116283" y="100945"/>
                    <a:pt x="116283" y="100945"/>
                  </a:cubicBezTo>
                  <a:cubicBezTo>
                    <a:pt x="111769" y="100945"/>
                    <a:pt x="111769" y="100945"/>
                    <a:pt x="111769" y="100945"/>
                  </a:cubicBezTo>
                  <a:cubicBezTo>
                    <a:pt x="111769" y="100945"/>
                    <a:pt x="111769" y="100540"/>
                    <a:pt x="111769" y="100540"/>
                  </a:cubicBezTo>
                  <a:cubicBezTo>
                    <a:pt x="111769" y="28378"/>
                    <a:pt x="111769" y="28378"/>
                    <a:pt x="111769" y="28378"/>
                  </a:cubicBezTo>
                  <a:cubicBezTo>
                    <a:pt x="111769" y="26351"/>
                    <a:pt x="110973" y="25135"/>
                    <a:pt x="109646" y="25135"/>
                  </a:cubicBezTo>
                  <a:cubicBezTo>
                    <a:pt x="108584" y="25135"/>
                    <a:pt x="107522" y="26351"/>
                    <a:pt x="107522" y="28378"/>
                  </a:cubicBezTo>
                  <a:cubicBezTo>
                    <a:pt x="107522" y="100540"/>
                    <a:pt x="107522" y="100540"/>
                    <a:pt x="107522" y="100540"/>
                  </a:cubicBezTo>
                  <a:cubicBezTo>
                    <a:pt x="107522" y="100540"/>
                    <a:pt x="107787" y="100945"/>
                    <a:pt x="107787" y="100945"/>
                  </a:cubicBezTo>
                  <a:cubicBezTo>
                    <a:pt x="12477" y="100945"/>
                    <a:pt x="12477" y="100945"/>
                    <a:pt x="12477" y="100945"/>
                  </a:cubicBezTo>
                  <a:cubicBezTo>
                    <a:pt x="12477" y="92432"/>
                    <a:pt x="12477" y="92432"/>
                    <a:pt x="12477" y="92432"/>
                  </a:cubicBezTo>
                  <a:cubicBezTo>
                    <a:pt x="12477" y="6486"/>
                    <a:pt x="12477" y="6486"/>
                    <a:pt x="12477" y="6486"/>
                  </a:cubicBezTo>
                  <a:cubicBezTo>
                    <a:pt x="107522" y="6486"/>
                    <a:pt x="107522" y="6486"/>
                    <a:pt x="107522" y="6486"/>
                  </a:cubicBezTo>
                  <a:cubicBezTo>
                    <a:pt x="107522" y="15000"/>
                    <a:pt x="107522" y="15000"/>
                    <a:pt x="107522" y="15000"/>
                  </a:cubicBezTo>
                  <a:cubicBezTo>
                    <a:pt x="107522" y="17027"/>
                    <a:pt x="108584" y="18243"/>
                    <a:pt x="109646" y="18243"/>
                  </a:cubicBezTo>
                  <a:cubicBezTo>
                    <a:pt x="110973" y="18243"/>
                    <a:pt x="111769" y="17027"/>
                    <a:pt x="111769" y="15000"/>
                  </a:cubicBezTo>
                  <a:cubicBezTo>
                    <a:pt x="111769" y="5675"/>
                    <a:pt x="111769" y="5675"/>
                    <a:pt x="111769" y="5675"/>
                  </a:cubicBezTo>
                  <a:cubicBezTo>
                    <a:pt x="111769" y="2432"/>
                    <a:pt x="110176" y="0"/>
                    <a:pt x="108318" y="0"/>
                  </a:cubicBezTo>
                  <a:cubicBezTo>
                    <a:pt x="11946" y="0"/>
                    <a:pt x="11946" y="0"/>
                    <a:pt x="11946" y="0"/>
                  </a:cubicBezTo>
                  <a:cubicBezTo>
                    <a:pt x="9823" y="0"/>
                    <a:pt x="8230" y="2432"/>
                    <a:pt x="8230" y="5675"/>
                  </a:cubicBezTo>
                  <a:cubicBezTo>
                    <a:pt x="8230" y="85540"/>
                    <a:pt x="8230" y="85540"/>
                    <a:pt x="8230" y="85540"/>
                  </a:cubicBezTo>
                  <a:cubicBezTo>
                    <a:pt x="8230" y="92432"/>
                    <a:pt x="8230" y="92432"/>
                    <a:pt x="8230" y="92432"/>
                  </a:cubicBezTo>
                  <a:cubicBezTo>
                    <a:pt x="8230" y="100945"/>
                    <a:pt x="8230" y="100945"/>
                    <a:pt x="8230" y="100945"/>
                  </a:cubicBezTo>
                  <a:cubicBezTo>
                    <a:pt x="3716" y="100945"/>
                    <a:pt x="3716" y="100945"/>
                    <a:pt x="3716" y="100945"/>
                  </a:cubicBezTo>
                  <a:cubicBezTo>
                    <a:pt x="1858" y="100945"/>
                    <a:pt x="0" y="103378"/>
                    <a:pt x="0" y="106621"/>
                  </a:cubicBezTo>
                  <a:cubicBezTo>
                    <a:pt x="0" y="114324"/>
                    <a:pt x="0" y="114324"/>
                    <a:pt x="0" y="114324"/>
                  </a:cubicBezTo>
                  <a:cubicBezTo>
                    <a:pt x="0" y="117162"/>
                    <a:pt x="1858" y="120000"/>
                    <a:pt x="3716" y="120000"/>
                  </a:cubicBezTo>
                  <a:cubicBezTo>
                    <a:pt x="116283" y="120000"/>
                    <a:pt x="116283" y="120000"/>
                    <a:pt x="116283" y="120000"/>
                  </a:cubicBezTo>
                  <a:cubicBezTo>
                    <a:pt x="118407" y="120000"/>
                    <a:pt x="120000" y="117162"/>
                    <a:pt x="120000" y="114324"/>
                  </a:cubicBezTo>
                  <a:cubicBezTo>
                    <a:pt x="120000" y="106621"/>
                    <a:pt x="120000" y="106621"/>
                    <a:pt x="120000" y="106621"/>
                  </a:cubicBezTo>
                  <a:cubicBezTo>
                    <a:pt x="120000" y="103378"/>
                    <a:pt x="118407" y="100945"/>
                    <a:pt x="116283" y="100945"/>
                  </a:cubicBezTo>
                  <a:close/>
                  <a:moveTo>
                    <a:pt x="115752" y="113513"/>
                  </a:moveTo>
                  <a:cubicBezTo>
                    <a:pt x="4247" y="113513"/>
                    <a:pt x="4247" y="113513"/>
                    <a:pt x="4247" y="113513"/>
                  </a:cubicBezTo>
                  <a:cubicBezTo>
                    <a:pt x="4247" y="107432"/>
                    <a:pt x="4247" y="107432"/>
                    <a:pt x="4247" y="107432"/>
                  </a:cubicBezTo>
                  <a:cubicBezTo>
                    <a:pt x="48849" y="107432"/>
                    <a:pt x="48849" y="107432"/>
                    <a:pt x="48849" y="107432"/>
                  </a:cubicBezTo>
                  <a:cubicBezTo>
                    <a:pt x="49115" y="108648"/>
                    <a:pt x="49911" y="109864"/>
                    <a:pt x="50707" y="109864"/>
                  </a:cubicBezTo>
                  <a:cubicBezTo>
                    <a:pt x="69026" y="109864"/>
                    <a:pt x="69026" y="109864"/>
                    <a:pt x="69026" y="109864"/>
                  </a:cubicBezTo>
                  <a:cubicBezTo>
                    <a:pt x="70088" y="109864"/>
                    <a:pt x="70884" y="108648"/>
                    <a:pt x="71150" y="107432"/>
                  </a:cubicBezTo>
                  <a:cubicBezTo>
                    <a:pt x="115752" y="107432"/>
                    <a:pt x="115752" y="107432"/>
                    <a:pt x="115752" y="107432"/>
                  </a:cubicBezTo>
                  <a:lnTo>
                    <a:pt x="115752" y="113513"/>
                  </a:lnTo>
                  <a:close/>
                </a:path>
              </a:pathLst>
            </a:custGeom>
            <a:solidFill>
              <a:srgbClr val="BC0000"/>
            </a:solidFill>
            <a:ln>
              <a:noFill/>
            </a:ln>
          </p:spPr>
          <p:txBody>
            <a:bodyPr anchorCtr="0" anchor="t" bIns="54425" lIns="108875" rIns="108875" tIns="54425">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
          <p:nvSpPr>
            <p:cNvPr id="533" name="Shape 533"/>
            <p:cNvSpPr/>
            <p:nvPr/>
          </p:nvSpPr>
          <p:spPr>
            <a:xfrm>
              <a:off x="9014089" y="5814419"/>
              <a:ext cx="742051" cy="444173"/>
            </a:xfrm>
            <a:custGeom>
              <a:pathLst>
                <a:path extrusionOk="0" h="120000" w="120000">
                  <a:moveTo>
                    <a:pt x="85486" y="32432"/>
                  </a:moveTo>
                  <a:cubicBezTo>
                    <a:pt x="85486" y="28783"/>
                    <a:pt x="83628" y="25945"/>
                    <a:pt x="81238" y="25945"/>
                  </a:cubicBezTo>
                  <a:cubicBezTo>
                    <a:pt x="79911" y="25945"/>
                    <a:pt x="78584" y="27162"/>
                    <a:pt x="78053" y="28378"/>
                  </a:cubicBezTo>
                  <a:cubicBezTo>
                    <a:pt x="59734" y="21081"/>
                    <a:pt x="59734" y="21081"/>
                    <a:pt x="59734" y="21081"/>
                  </a:cubicBezTo>
                  <a:cubicBezTo>
                    <a:pt x="59469" y="18243"/>
                    <a:pt x="57610" y="15810"/>
                    <a:pt x="55486" y="15810"/>
                  </a:cubicBezTo>
                  <a:cubicBezTo>
                    <a:pt x="53097" y="15810"/>
                    <a:pt x="51238" y="18648"/>
                    <a:pt x="51238" y="22297"/>
                  </a:cubicBezTo>
                  <a:cubicBezTo>
                    <a:pt x="51238" y="22702"/>
                    <a:pt x="51238" y="23513"/>
                    <a:pt x="51504" y="24324"/>
                  </a:cubicBezTo>
                  <a:cubicBezTo>
                    <a:pt x="44601" y="34054"/>
                    <a:pt x="44601" y="34054"/>
                    <a:pt x="44601" y="34054"/>
                  </a:cubicBezTo>
                  <a:cubicBezTo>
                    <a:pt x="44070" y="33648"/>
                    <a:pt x="43539" y="33243"/>
                    <a:pt x="42743" y="33243"/>
                  </a:cubicBezTo>
                  <a:cubicBezTo>
                    <a:pt x="40619" y="33243"/>
                    <a:pt x="38495" y="36486"/>
                    <a:pt x="38495" y="39729"/>
                  </a:cubicBezTo>
                  <a:cubicBezTo>
                    <a:pt x="38495" y="42567"/>
                    <a:pt x="39823" y="45000"/>
                    <a:pt x="41150" y="45810"/>
                  </a:cubicBezTo>
                  <a:cubicBezTo>
                    <a:pt x="41150" y="70135"/>
                    <a:pt x="41150" y="70135"/>
                    <a:pt x="41150" y="70135"/>
                  </a:cubicBezTo>
                  <a:cubicBezTo>
                    <a:pt x="39823" y="71351"/>
                    <a:pt x="38495" y="73378"/>
                    <a:pt x="38495" y="76216"/>
                  </a:cubicBezTo>
                  <a:cubicBezTo>
                    <a:pt x="38495" y="79864"/>
                    <a:pt x="40619" y="82702"/>
                    <a:pt x="42743" y="82702"/>
                  </a:cubicBezTo>
                  <a:cubicBezTo>
                    <a:pt x="44336" y="82702"/>
                    <a:pt x="45398" y="81486"/>
                    <a:pt x="46194" y="79864"/>
                  </a:cubicBezTo>
                  <a:cubicBezTo>
                    <a:pt x="64513" y="87162"/>
                    <a:pt x="64513" y="87162"/>
                    <a:pt x="64513" y="87162"/>
                  </a:cubicBezTo>
                  <a:cubicBezTo>
                    <a:pt x="64778" y="90405"/>
                    <a:pt x="66371" y="92837"/>
                    <a:pt x="68761" y="92837"/>
                  </a:cubicBezTo>
                  <a:cubicBezTo>
                    <a:pt x="70884" y="92837"/>
                    <a:pt x="72743" y="90000"/>
                    <a:pt x="72743" y="86351"/>
                  </a:cubicBezTo>
                  <a:cubicBezTo>
                    <a:pt x="72743" y="85540"/>
                    <a:pt x="72743" y="84729"/>
                    <a:pt x="72477" y="84324"/>
                  </a:cubicBezTo>
                  <a:cubicBezTo>
                    <a:pt x="79380" y="74594"/>
                    <a:pt x="79380" y="74594"/>
                    <a:pt x="79380" y="74594"/>
                  </a:cubicBezTo>
                  <a:cubicBezTo>
                    <a:pt x="80176" y="75000"/>
                    <a:pt x="80707" y="75000"/>
                    <a:pt x="81238" y="75000"/>
                  </a:cubicBezTo>
                  <a:cubicBezTo>
                    <a:pt x="83628" y="75000"/>
                    <a:pt x="85486" y="72162"/>
                    <a:pt x="85486" y="68513"/>
                  </a:cubicBezTo>
                  <a:cubicBezTo>
                    <a:pt x="85486" y="66081"/>
                    <a:pt x="84424" y="63648"/>
                    <a:pt x="82831" y="62837"/>
                  </a:cubicBezTo>
                  <a:cubicBezTo>
                    <a:pt x="82831" y="38513"/>
                    <a:pt x="82831" y="38513"/>
                    <a:pt x="82831" y="38513"/>
                  </a:cubicBezTo>
                  <a:cubicBezTo>
                    <a:pt x="84424" y="37297"/>
                    <a:pt x="85486" y="35270"/>
                    <a:pt x="85486" y="32432"/>
                  </a:cubicBezTo>
                  <a:close/>
                  <a:moveTo>
                    <a:pt x="53628" y="27972"/>
                  </a:moveTo>
                  <a:cubicBezTo>
                    <a:pt x="53893" y="27972"/>
                    <a:pt x="53893" y="27972"/>
                    <a:pt x="53893" y="27972"/>
                  </a:cubicBezTo>
                  <a:cubicBezTo>
                    <a:pt x="53893" y="41756"/>
                    <a:pt x="53893" y="41756"/>
                    <a:pt x="53893" y="41756"/>
                  </a:cubicBezTo>
                  <a:cubicBezTo>
                    <a:pt x="46991" y="38918"/>
                    <a:pt x="46991" y="38918"/>
                    <a:pt x="46991" y="38918"/>
                  </a:cubicBezTo>
                  <a:cubicBezTo>
                    <a:pt x="46991" y="38513"/>
                    <a:pt x="46991" y="38108"/>
                    <a:pt x="46725" y="37702"/>
                  </a:cubicBezTo>
                  <a:lnTo>
                    <a:pt x="53628" y="27972"/>
                  </a:lnTo>
                  <a:close/>
                  <a:moveTo>
                    <a:pt x="44601" y="70135"/>
                  </a:moveTo>
                  <a:cubicBezTo>
                    <a:pt x="44601" y="70135"/>
                    <a:pt x="44601" y="70135"/>
                    <a:pt x="44336" y="70135"/>
                  </a:cubicBezTo>
                  <a:cubicBezTo>
                    <a:pt x="44336" y="45810"/>
                    <a:pt x="44336" y="45810"/>
                    <a:pt x="44336" y="45810"/>
                  </a:cubicBezTo>
                  <a:cubicBezTo>
                    <a:pt x="45132" y="45405"/>
                    <a:pt x="45663" y="44594"/>
                    <a:pt x="46194" y="43783"/>
                  </a:cubicBezTo>
                  <a:cubicBezTo>
                    <a:pt x="53893" y="46621"/>
                    <a:pt x="53893" y="46621"/>
                    <a:pt x="53893" y="46621"/>
                  </a:cubicBezTo>
                  <a:cubicBezTo>
                    <a:pt x="53893" y="52297"/>
                    <a:pt x="53893" y="52297"/>
                    <a:pt x="53893" y="52297"/>
                  </a:cubicBezTo>
                  <a:cubicBezTo>
                    <a:pt x="52300" y="53513"/>
                    <a:pt x="51238" y="55540"/>
                    <a:pt x="51238" y="58378"/>
                  </a:cubicBezTo>
                  <a:cubicBezTo>
                    <a:pt x="51238" y="59189"/>
                    <a:pt x="51238" y="60000"/>
                    <a:pt x="51504" y="60810"/>
                  </a:cubicBezTo>
                  <a:lnTo>
                    <a:pt x="44601" y="70135"/>
                  </a:lnTo>
                  <a:close/>
                  <a:moveTo>
                    <a:pt x="67168" y="80675"/>
                  </a:moveTo>
                  <a:cubicBezTo>
                    <a:pt x="66371" y="81081"/>
                    <a:pt x="65840" y="81486"/>
                    <a:pt x="65309" y="82702"/>
                  </a:cubicBezTo>
                  <a:cubicBezTo>
                    <a:pt x="46991" y="75405"/>
                    <a:pt x="46991" y="75405"/>
                    <a:pt x="46991" y="75405"/>
                  </a:cubicBezTo>
                  <a:cubicBezTo>
                    <a:pt x="46991" y="75000"/>
                    <a:pt x="46991" y="74189"/>
                    <a:pt x="46725" y="73783"/>
                  </a:cubicBezTo>
                  <a:cubicBezTo>
                    <a:pt x="53628" y="64054"/>
                    <a:pt x="53628" y="64054"/>
                    <a:pt x="53628" y="64054"/>
                  </a:cubicBezTo>
                  <a:cubicBezTo>
                    <a:pt x="54159" y="64459"/>
                    <a:pt x="54955" y="64864"/>
                    <a:pt x="55486" y="64864"/>
                  </a:cubicBezTo>
                  <a:cubicBezTo>
                    <a:pt x="56814" y="64864"/>
                    <a:pt x="58141" y="63648"/>
                    <a:pt x="58938" y="62432"/>
                  </a:cubicBezTo>
                  <a:cubicBezTo>
                    <a:pt x="67168" y="65675"/>
                    <a:pt x="67168" y="65675"/>
                    <a:pt x="67168" y="65675"/>
                  </a:cubicBezTo>
                  <a:lnTo>
                    <a:pt x="67168" y="80675"/>
                  </a:lnTo>
                  <a:close/>
                  <a:moveTo>
                    <a:pt x="67168" y="60405"/>
                  </a:moveTo>
                  <a:cubicBezTo>
                    <a:pt x="59734" y="57567"/>
                    <a:pt x="59734" y="57567"/>
                    <a:pt x="59734" y="57567"/>
                  </a:cubicBezTo>
                  <a:cubicBezTo>
                    <a:pt x="59469" y="55135"/>
                    <a:pt x="58407" y="53108"/>
                    <a:pt x="57079" y="52297"/>
                  </a:cubicBezTo>
                  <a:cubicBezTo>
                    <a:pt x="57079" y="48243"/>
                    <a:pt x="57079" y="48243"/>
                    <a:pt x="57079" y="48243"/>
                  </a:cubicBezTo>
                  <a:cubicBezTo>
                    <a:pt x="64513" y="51081"/>
                    <a:pt x="64513" y="51081"/>
                    <a:pt x="64513" y="51081"/>
                  </a:cubicBezTo>
                  <a:cubicBezTo>
                    <a:pt x="64778" y="53513"/>
                    <a:pt x="65575" y="55135"/>
                    <a:pt x="67168" y="56351"/>
                  </a:cubicBezTo>
                  <a:lnTo>
                    <a:pt x="67168" y="60405"/>
                  </a:lnTo>
                  <a:close/>
                  <a:moveTo>
                    <a:pt x="65309" y="46216"/>
                  </a:moveTo>
                  <a:cubicBezTo>
                    <a:pt x="57079" y="42972"/>
                    <a:pt x="57079" y="42972"/>
                    <a:pt x="57079" y="42972"/>
                  </a:cubicBezTo>
                  <a:cubicBezTo>
                    <a:pt x="57079" y="27972"/>
                    <a:pt x="57079" y="27972"/>
                    <a:pt x="57079" y="27972"/>
                  </a:cubicBezTo>
                  <a:cubicBezTo>
                    <a:pt x="57876" y="27567"/>
                    <a:pt x="58407" y="26756"/>
                    <a:pt x="58938" y="25945"/>
                  </a:cubicBezTo>
                  <a:cubicBezTo>
                    <a:pt x="76991" y="33243"/>
                    <a:pt x="76991" y="33243"/>
                    <a:pt x="76991" y="33243"/>
                  </a:cubicBezTo>
                  <a:cubicBezTo>
                    <a:pt x="77256" y="33648"/>
                    <a:pt x="77256" y="34054"/>
                    <a:pt x="77256" y="34459"/>
                  </a:cubicBezTo>
                  <a:cubicBezTo>
                    <a:pt x="70353" y="44189"/>
                    <a:pt x="70353" y="44189"/>
                    <a:pt x="70353" y="44189"/>
                  </a:cubicBezTo>
                  <a:cubicBezTo>
                    <a:pt x="69823" y="43783"/>
                    <a:pt x="69292" y="43783"/>
                    <a:pt x="68761" y="43783"/>
                  </a:cubicBezTo>
                  <a:cubicBezTo>
                    <a:pt x="67168" y="43783"/>
                    <a:pt x="66106" y="44594"/>
                    <a:pt x="65309" y="46216"/>
                  </a:cubicBezTo>
                  <a:close/>
                  <a:moveTo>
                    <a:pt x="70353" y="80675"/>
                  </a:moveTo>
                  <a:cubicBezTo>
                    <a:pt x="70353" y="80675"/>
                    <a:pt x="70353" y="80675"/>
                    <a:pt x="70353" y="80675"/>
                  </a:cubicBezTo>
                  <a:cubicBezTo>
                    <a:pt x="70353" y="66891"/>
                    <a:pt x="70353" y="66891"/>
                    <a:pt x="70353" y="66891"/>
                  </a:cubicBezTo>
                  <a:cubicBezTo>
                    <a:pt x="76991" y="69729"/>
                    <a:pt x="76991" y="69729"/>
                    <a:pt x="76991" y="69729"/>
                  </a:cubicBezTo>
                  <a:cubicBezTo>
                    <a:pt x="77256" y="70135"/>
                    <a:pt x="77256" y="70540"/>
                    <a:pt x="77256" y="70945"/>
                  </a:cubicBezTo>
                  <a:lnTo>
                    <a:pt x="70353" y="80675"/>
                  </a:lnTo>
                  <a:close/>
                  <a:moveTo>
                    <a:pt x="79646" y="62837"/>
                  </a:moveTo>
                  <a:cubicBezTo>
                    <a:pt x="79115" y="63243"/>
                    <a:pt x="78318" y="64054"/>
                    <a:pt x="78053" y="64864"/>
                  </a:cubicBezTo>
                  <a:cubicBezTo>
                    <a:pt x="70353" y="61621"/>
                    <a:pt x="70353" y="61621"/>
                    <a:pt x="70353" y="61621"/>
                  </a:cubicBezTo>
                  <a:cubicBezTo>
                    <a:pt x="70353" y="56351"/>
                    <a:pt x="70353" y="56351"/>
                    <a:pt x="70353" y="56351"/>
                  </a:cubicBezTo>
                  <a:cubicBezTo>
                    <a:pt x="71681" y="55135"/>
                    <a:pt x="72743" y="52702"/>
                    <a:pt x="72743" y="50270"/>
                  </a:cubicBezTo>
                  <a:cubicBezTo>
                    <a:pt x="72743" y="49459"/>
                    <a:pt x="72743" y="48648"/>
                    <a:pt x="72477" y="47837"/>
                  </a:cubicBezTo>
                  <a:cubicBezTo>
                    <a:pt x="79380" y="38108"/>
                    <a:pt x="79380" y="38108"/>
                    <a:pt x="79380" y="38108"/>
                  </a:cubicBezTo>
                  <a:cubicBezTo>
                    <a:pt x="79646" y="38108"/>
                    <a:pt x="79646" y="38513"/>
                    <a:pt x="79646" y="38513"/>
                  </a:cubicBezTo>
                  <a:lnTo>
                    <a:pt x="79646" y="62837"/>
                  </a:lnTo>
                  <a:close/>
                  <a:moveTo>
                    <a:pt x="116283" y="100945"/>
                  </a:moveTo>
                  <a:cubicBezTo>
                    <a:pt x="116283" y="100945"/>
                    <a:pt x="116283" y="100945"/>
                    <a:pt x="116283" y="100945"/>
                  </a:cubicBezTo>
                  <a:cubicBezTo>
                    <a:pt x="111769" y="100945"/>
                    <a:pt x="111769" y="100945"/>
                    <a:pt x="111769" y="100945"/>
                  </a:cubicBezTo>
                  <a:cubicBezTo>
                    <a:pt x="111769" y="100945"/>
                    <a:pt x="111769" y="100540"/>
                    <a:pt x="111769" y="100540"/>
                  </a:cubicBezTo>
                  <a:cubicBezTo>
                    <a:pt x="111769" y="28378"/>
                    <a:pt x="111769" y="28378"/>
                    <a:pt x="111769" y="28378"/>
                  </a:cubicBezTo>
                  <a:cubicBezTo>
                    <a:pt x="111769" y="26351"/>
                    <a:pt x="110973" y="25135"/>
                    <a:pt x="109646" y="25135"/>
                  </a:cubicBezTo>
                  <a:cubicBezTo>
                    <a:pt x="108584" y="25135"/>
                    <a:pt x="107522" y="26351"/>
                    <a:pt x="107522" y="28378"/>
                  </a:cubicBezTo>
                  <a:cubicBezTo>
                    <a:pt x="107522" y="100540"/>
                    <a:pt x="107522" y="100540"/>
                    <a:pt x="107522" y="100540"/>
                  </a:cubicBezTo>
                  <a:cubicBezTo>
                    <a:pt x="107522" y="100540"/>
                    <a:pt x="107787" y="100945"/>
                    <a:pt x="107787" y="100945"/>
                  </a:cubicBezTo>
                  <a:cubicBezTo>
                    <a:pt x="12477" y="100945"/>
                    <a:pt x="12477" y="100945"/>
                    <a:pt x="12477" y="100945"/>
                  </a:cubicBezTo>
                  <a:cubicBezTo>
                    <a:pt x="12477" y="92432"/>
                    <a:pt x="12477" y="92432"/>
                    <a:pt x="12477" y="92432"/>
                  </a:cubicBezTo>
                  <a:cubicBezTo>
                    <a:pt x="12477" y="6486"/>
                    <a:pt x="12477" y="6486"/>
                    <a:pt x="12477" y="6486"/>
                  </a:cubicBezTo>
                  <a:cubicBezTo>
                    <a:pt x="107522" y="6486"/>
                    <a:pt x="107522" y="6486"/>
                    <a:pt x="107522" y="6486"/>
                  </a:cubicBezTo>
                  <a:cubicBezTo>
                    <a:pt x="107522" y="15000"/>
                    <a:pt x="107522" y="15000"/>
                    <a:pt x="107522" y="15000"/>
                  </a:cubicBezTo>
                  <a:cubicBezTo>
                    <a:pt x="107522" y="17027"/>
                    <a:pt x="108584" y="18243"/>
                    <a:pt x="109646" y="18243"/>
                  </a:cubicBezTo>
                  <a:cubicBezTo>
                    <a:pt x="110973" y="18243"/>
                    <a:pt x="111769" y="17027"/>
                    <a:pt x="111769" y="15000"/>
                  </a:cubicBezTo>
                  <a:cubicBezTo>
                    <a:pt x="111769" y="5675"/>
                    <a:pt x="111769" y="5675"/>
                    <a:pt x="111769" y="5675"/>
                  </a:cubicBezTo>
                  <a:cubicBezTo>
                    <a:pt x="111769" y="2432"/>
                    <a:pt x="110176" y="0"/>
                    <a:pt x="108318" y="0"/>
                  </a:cubicBezTo>
                  <a:cubicBezTo>
                    <a:pt x="11946" y="0"/>
                    <a:pt x="11946" y="0"/>
                    <a:pt x="11946" y="0"/>
                  </a:cubicBezTo>
                  <a:cubicBezTo>
                    <a:pt x="9823" y="0"/>
                    <a:pt x="8230" y="2432"/>
                    <a:pt x="8230" y="5675"/>
                  </a:cubicBezTo>
                  <a:cubicBezTo>
                    <a:pt x="8230" y="85540"/>
                    <a:pt x="8230" y="85540"/>
                    <a:pt x="8230" y="85540"/>
                  </a:cubicBezTo>
                  <a:cubicBezTo>
                    <a:pt x="8230" y="92432"/>
                    <a:pt x="8230" y="92432"/>
                    <a:pt x="8230" y="92432"/>
                  </a:cubicBezTo>
                  <a:cubicBezTo>
                    <a:pt x="8230" y="100945"/>
                    <a:pt x="8230" y="100945"/>
                    <a:pt x="8230" y="100945"/>
                  </a:cubicBezTo>
                  <a:cubicBezTo>
                    <a:pt x="3716" y="100945"/>
                    <a:pt x="3716" y="100945"/>
                    <a:pt x="3716" y="100945"/>
                  </a:cubicBezTo>
                  <a:cubicBezTo>
                    <a:pt x="1858" y="100945"/>
                    <a:pt x="0" y="103378"/>
                    <a:pt x="0" y="106621"/>
                  </a:cubicBezTo>
                  <a:cubicBezTo>
                    <a:pt x="0" y="114324"/>
                    <a:pt x="0" y="114324"/>
                    <a:pt x="0" y="114324"/>
                  </a:cubicBezTo>
                  <a:cubicBezTo>
                    <a:pt x="0" y="117162"/>
                    <a:pt x="1858" y="120000"/>
                    <a:pt x="3716" y="120000"/>
                  </a:cubicBezTo>
                  <a:cubicBezTo>
                    <a:pt x="116283" y="120000"/>
                    <a:pt x="116283" y="120000"/>
                    <a:pt x="116283" y="120000"/>
                  </a:cubicBezTo>
                  <a:cubicBezTo>
                    <a:pt x="118407" y="120000"/>
                    <a:pt x="120000" y="117162"/>
                    <a:pt x="120000" y="114324"/>
                  </a:cubicBezTo>
                  <a:cubicBezTo>
                    <a:pt x="120000" y="106621"/>
                    <a:pt x="120000" y="106621"/>
                    <a:pt x="120000" y="106621"/>
                  </a:cubicBezTo>
                  <a:cubicBezTo>
                    <a:pt x="120000" y="103378"/>
                    <a:pt x="118407" y="100945"/>
                    <a:pt x="116283" y="100945"/>
                  </a:cubicBezTo>
                  <a:close/>
                  <a:moveTo>
                    <a:pt x="115752" y="113513"/>
                  </a:moveTo>
                  <a:cubicBezTo>
                    <a:pt x="4247" y="113513"/>
                    <a:pt x="4247" y="113513"/>
                    <a:pt x="4247" y="113513"/>
                  </a:cubicBezTo>
                  <a:cubicBezTo>
                    <a:pt x="4247" y="107432"/>
                    <a:pt x="4247" y="107432"/>
                    <a:pt x="4247" y="107432"/>
                  </a:cubicBezTo>
                  <a:cubicBezTo>
                    <a:pt x="48849" y="107432"/>
                    <a:pt x="48849" y="107432"/>
                    <a:pt x="48849" y="107432"/>
                  </a:cubicBezTo>
                  <a:cubicBezTo>
                    <a:pt x="49115" y="108648"/>
                    <a:pt x="49911" y="109864"/>
                    <a:pt x="50707" y="109864"/>
                  </a:cubicBezTo>
                  <a:cubicBezTo>
                    <a:pt x="69026" y="109864"/>
                    <a:pt x="69026" y="109864"/>
                    <a:pt x="69026" y="109864"/>
                  </a:cubicBezTo>
                  <a:cubicBezTo>
                    <a:pt x="70088" y="109864"/>
                    <a:pt x="70884" y="108648"/>
                    <a:pt x="71150" y="107432"/>
                  </a:cubicBezTo>
                  <a:cubicBezTo>
                    <a:pt x="115752" y="107432"/>
                    <a:pt x="115752" y="107432"/>
                    <a:pt x="115752" y="107432"/>
                  </a:cubicBezTo>
                  <a:lnTo>
                    <a:pt x="115752" y="113513"/>
                  </a:lnTo>
                  <a:close/>
                </a:path>
              </a:pathLst>
            </a:custGeom>
            <a:solidFill>
              <a:srgbClr val="BC0000"/>
            </a:solidFill>
            <a:ln>
              <a:noFill/>
            </a:ln>
          </p:spPr>
          <p:txBody>
            <a:bodyPr anchorCtr="0" anchor="t" bIns="54425" lIns="108875" rIns="108875" tIns="54425">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cxnSp>
          <p:nvCxnSpPr>
            <p:cNvPr id="534" name="Shape 534"/>
            <p:cNvCxnSpPr/>
            <p:nvPr/>
          </p:nvCxnSpPr>
          <p:spPr>
            <a:xfrm rot="10800000">
              <a:off x="3127556" y="5592685"/>
              <a:ext cx="129926" cy="167867"/>
            </a:xfrm>
            <a:prstGeom prst="straightConnector1">
              <a:avLst/>
            </a:prstGeom>
            <a:solidFill>
              <a:schemeClr val="accent1"/>
            </a:solidFill>
            <a:ln cap="flat" cmpd="sng" w="28575">
              <a:solidFill>
                <a:schemeClr val="dk1"/>
              </a:solidFill>
              <a:prstDash val="solid"/>
              <a:round/>
              <a:headEnd len="med" w="med" type="none"/>
              <a:tailEnd len="med" w="med" type="none"/>
            </a:ln>
          </p:spPr>
        </p:cxnSp>
        <p:cxnSp>
          <p:nvCxnSpPr>
            <p:cNvPr id="535" name="Shape 535"/>
            <p:cNvCxnSpPr/>
            <p:nvPr/>
          </p:nvCxnSpPr>
          <p:spPr>
            <a:xfrm rot="10800000">
              <a:off x="8988376" y="5447524"/>
              <a:ext cx="319044" cy="346945"/>
            </a:xfrm>
            <a:prstGeom prst="straightConnector1">
              <a:avLst/>
            </a:prstGeom>
            <a:solidFill>
              <a:schemeClr val="accent1"/>
            </a:solidFill>
            <a:ln cap="flat" cmpd="sng" w="28575">
              <a:solidFill>
                <a:schemeClr val="dk1"/>
              </a:solidFill>
              <a:prstDash val="solid"/>
              <a:round/>
              <a:headEnd len="med" w="med" type="none"/>
              <a:tailEnd len="med" w="med" type="none"/>
            </a:ln>
          </p:spPr>
        </p:cxnSp>
        <p:pic>
          <p:nvPicPr>
            <p:cNvPr id="536" name="Shape 536"/>
            <p:cNvPicPr preferRelativeResize="0"/>
            <p:nvPr/>
          </p:nvPicPr>
          <p:blipFill rotWithShape="1">
            <a:blip r:embed="rId3">
              <a:alphaModFix/>
            </a:blip>
            <a:srcRect b="0" l="0" r="0" t="0"/>
            <a:stretch/>
          </p:blipFill>
          <p:spPr>
            <a:xfrm>
              <a:off x="3052764" y="5062150"/>
              <a:ext cx="409440" cy="532962"/>
            </a:xfrm>
            <a:prstGeom prst="rect">
              <a:avLst/>
            </a:prstGeom>
            <a:noFill/>
            <a:ln>
              <a:noFill/>
            </a:ln>
          </p:spPr>
        </p:pic>
        <p:sp>
          <p:nvSpPr>
            <p:cNvPr id="537" name="Shape 537"/>
            <p:cNvSpPr/>
            <p:nvPr/>
          </p:nvSpPr>
          <p:spPr>
            <a:xfrm>
              <a:off x="3052764" y="5064578"/>
              <a:ext cx="402793" cy="528107"/>
            </a:xfrm>
            <a:custGeom>
              <a:pathLst>
                <a:path extrusionOk="0" h="120000" w="120000">
                  <a:moveTo>
                    <a:pt x="117658" y="46655"/>
                  </a:moveTo>
                  <a:cubicBezTo>
                    <a:pt x="116195" y="46655"/>
                    <a:pt x="115317" y="47470"/>
                    <a:pt x="115317" y="48285"/>
                  </a:cubicBezTo>
                  <a:cubicBezTo>
                    <a:pt x="115317" y="111850"/>
                    <a:pt x="115317" y="111850"/>
                    <a:pt x="115317" y="111850"/>
                  </a:cubicBezTo>
                  <a:cubicBezTo>
                    <a:pt x="115317" y="114499"/>
                    <a:pt x="112097" y="116740"/>
                    <a:pt x="108292" y="116740"/>
                  </a:cubicBezTo>
                  <a:cubicBezTo>
                    <a:pt x="12000" y="116740"/>
                    <a:pt x="12000" y="116740"/>
                    <a:pt x="12000" y="116740"/>
                  </a:cubicBezTo>
                  <a:cubicBezTo>
                    <a:pt x="7902" y="116740"/>
                    <a:pt x="4975" y="114499"/>
                    <a:pt x="4682" y="111850"/>
                  </a:cubicBezTo>
                  <a:cubicBezTo>
                    <a:pt x="4682" y="41765"/>
                    <a:pt x="4682" y="41765"/>
                    <a:pt x="4682" y="41765"/>
                  </a:cubicBezTo>
                  <a:cubicBezTo>
                    <a:pt x="4975" y="20577"/>
                    <a:pt x="29560" y="3259"/>
                    <a:pt x="60000" y="3259"/>
                  </a:cubicBezTo>
                  <a:cubicBezTo>
                    <a:pt x="90439" y="3259"/>
                    <a:pt x="115317" y="20577"/>
                    <a:pt x="115317" y="41765"/>
                  </a:cubicBezTo>
                  <a:cubicBezTo>
                    <a:pt x="115317" y="42580"/>
                    <a:pt x="116195" y="43395"/>
                    <a:pt x="117658" y="43395"/>
                  </a:cubicBezTo>
                  <a:cubicBezTo>
                    <a:pt x="118829" y="43395"/>
                    <a:pt x="120000" y="42580"/>
                    <a:pt x="120000" y="41765"/>
                  </a:cubicBezTo>
                  <a:cubicBezTo>
                    <a:pt x="120000" y="41765"/>
                    <a:pt x="120000" y="41765"/>
                    <a:pt x="120000" y="41765"/>
                  </a:cubicBezTo>
                  <a:cubicBezTo>
                    <a:pt x="120000" y="18743"/>
                    <a:pt x="93073" y="0"/>
                    <a:pt x="60000" y="0"/>
                  </a:cubicBezTo>
                  <a:cubicBezTo>
                    <a:pt x="26926" y="0"/>
                    <a:pt x="0" y="18743"/>
                    <a:pt x="0" y="41765"/>
                  </a:cubicBezTo>
                  <a:cubicBezTo>
                    <a:pt x="0" y="41765"/>
                    <a:pt x="0" y="41765"/>
                    <a:pt x="0" y="41765"/>
                  </a:cubicBezTo>
                  <a:cubicBezTo>
                    <a:pt x="292" y="111850"/>
                    <a:pt x="292" y="111850"/>
                    <a:pt x="292" y="111850"/>
                  </a:cubicBezTo>
                  <a:cubicBezTo>
                    <a:pt x="292" y="116332"/>
                    <a:pt x="5268" y="120000"/>
                    <a:pt x="12000" y="120000"/>
                  </a:cubicBezTo>
                  <a:cubicBezTo>
                    <a:pt x="108292" y="120000"/>
                    <a:pt x="108292" y="120000"/>
                    <a:pt x="108292" y="120000"/>
                  </a:cubicBezTo>
                  <a:cubicBezTo>
                    <a:pt x="114731" y="120000"/>
                    <a:pt x="120000" y="116332"/>
                    <a:pt x="120000" y="111850"/>
                  </a:cubicBezTo>
                  <a:cubicBezTo>
                    <a:pt x="120000" y="48285"/>
                    <a:pt x="120000" y="48285"/>
                    <a:pt x="120000" y="48285"/>
                  </a:cubicBezTo>
                  <a:cubicBezTo>
                    <a:pt x="120000" y="47470"/>
                    <a:pt x="118829" y="46655"/>
                    <a:pt x="117658" y="46655"/>
                  </a:cubicBezTo>
                  <a:moveTo>
                    <a:pt x="99512" y="45432"/>
                  </a:moveTo>
                  <a:cubicBezTo>
                    <a:pt x="101560" y="45432"/>
                    <a:pt x="103024" y="44414"/>
                    <a:pt x="103024" y="43191"/>
                  </a:cubicBezTo>
                  <a:cubicBezTo>
                    <a:pt x="103024" y="40135"/>
                    <a:pt x="103024" y="40135"/>
                    <a:pt x="103024" y="40135"/>
                  </a:cubicBezTo>
                  <a:cubicBezTo>
                    <a:pt x="103024" y="38913"/>
                    <a:pt x="101560" y="37894"/>
                    <a:pt x="99512" y="37894"/>
                  </a:cubicBezTo>
                  <a:cubicBezTo>
                    <a:pt x="93658" y="37894"/>
                    <a:pt x="93658" y="37894"/>
                    <a:pt x="93658" y="37894"/>
                  </a:cubicBezTo>
                  <a:cubicBezTo>
                    <a:pt x="91609" y="37894"/>
                    <a:pt x="90146" y="38913"/>
                    <a:pt x="90146" y="40135"/>
                  </a:cubicBezTo>
                  <a:cubicBezTo>
                    <a:pt x="90146" y="43191"/>
                    <a:pt x="90146" y="43191"/>
                    <a:pt x="90146" y="43191"/>
                  </a:cubicBezTo>
                  <a:cubicBezTo>
                    <a:pt x="90146" y="44414"/>
                    <a:pt x="91609" y="45432"/>
                    <a:pt x="93658" y="45432"/>
                  </a:cubicBezTo>
                  <a:cubicBezTo>
                    <a:pt x="94243" y="45432"/>
                    <a:pt x="94243" y="45432"/>
                    <a:pt x="94243" y="45432"/>
                  </a:cubicBezTo>
                  <a:cubicBezTo>
                    <a:pt x="94243" y="47877"/>
                    <a:pt x="94243" y="47877"/>
                    <a:pt x="94243" y="47877"/>
                  </a:cubicBezTo>
                  <a:cubicBezTo>
                    <a:pt x="74634" y="47877"/>
                    <a:pt x="74634" y="47877"/>
                    <a:pt x="74634" y="47877"/>
                  </a:cubicBezTo>
                  <a:cubicBezTo>
                    <a:pt x="74634" y="45432"/>
                    <a:pt x="74634" y="45432"/>
                    <a:pt x="74634" y="45432"/>
                  </a:cubicBezTo>
                  <a:cubicBezTo>
                    <a:pt x="75219" y="45432"/>
                    <a:pt x="75219" y="45432"/>
                    <a:pt x="75219" y="45432"/>
                  </a:cubicBezTo>
                  <a:cubicBezTo>
                    <a:pt x="76975" y="45432"/>
                    <a:pt x="78439" y="44414"/>
                    <a:pt x="78439" y="43191"/>
                  </a:cubicBezTo>
                  <a:cubicBezTo>
                    <a:pt x="78439" y="40135"/>
                    <a:pt x="78439" y="40135"/>
                    <a:pt x="78439" y="40135"/>
                  </a:cubicBezTo>
                  <a:cubicBezTo>
                    <a:pt x="78439" y="38913"/>
                    <a:pt x="76975" y="37894"/>
                    <a:pt x="75219" y="37894"/>
                  </a:cubicBezTo>
                  <a:cubicBezTo>
                    <a:pt x="69073" y="37894"/>
                    <a:pt x="69073" y="37894"/>
                    <a:pt x="69073" y="37894"/>
                  </a:cubicBezTo>
                  <a:cubicBezTo>
                    <a:pt x="67317" y="37894"/>
                    <a:pt x="65853" y="38913"/>
                    <a:pt x="65853" y="40135"/>
                  </a:cubicBezTo>
                  <a:cubicBezTo>
                    <a:pt x="65853" y="43191"/>
                    <a:pt x="65853" y="43191"/>
                    <a:pt x="65853" y="43191"/>
                  </a:cubicBezTo>
                  <a:cubicBezTo>
                    <a:pt x="65853" y="44414"/>
                    <a:pt x="67317" y="45432"/>
                    <a:pt x="69073" y="45432"/>
                  </a:cubicBezTo>
                  <a:cubicBezTo>
                    <a:pt x="69951" y="45432"/>
                    <a:pt x="69951" y="45432"/>
                    <a:pt x="69951" y="45432"/>
                  </a:cubicBezTo>
                  <a:cubicBezTo>
                    <a:pt x="69951" y="47877"/>
                    <a:pt x="69951" y="47877"/>
                    <a:pt x="69951" y="47877"/>
                  </a:cubicBezTo>
                  <a:cubicBezTo>
                    <a:pt x="50341" y="47877"/>
                    <a:pt x="50341" y="47877"/>
                    <a:pt x="50341" y="47877"/>
                  </a:cubicBezTo>
                  <a:cubicBezTo>
                    <a:pt x="50341" y="45432"/>
                    <a:pt x="50341" y="45432"/>
                    <a:pt x="50341" y="45432"/>
                  </a:cubicBezTo>
                  <a:cubicBezTo>
                    <a:pt x="50926" y="45432"/>
                    <a:pt x="50926" y="45432"/>
                    <a:pt x="50926" y="45432"/>
                  </a:cubicBezTo>
                  <a:cubicBezTo>
                    <a:pt x="52682" y="45432"/>
                    <a:pt x="54146" y="44414"/>
                    <a:pt x="54146" y="43191"/>
                  </a:cubicBezTo>
                  <a:cubicBezTo>
                    <a:pt x="54146" y="40135"/>
                    <a:pt x="54146" y="40135"/>
                    <a:pt x="54146" y="40135"/>
                  </a:cubicBezTo>
                  <a:cubicBezTo>
                    <a:pt x="54146" y="38913"/>
                    <a:pt x="52682" y="37894"/>
                    <a:pt x="50926" y="37894"/>
                  </a:cubicBezTo>
                  <a:cubicBezTo>
                    <a:pt x="44780" y="37894"/>
                    <a:pt x="44780" y="37894"/>
                    <a:pt x="44780" y="37894"/>
                  </a:cubicBezTo>
                  <a:cubicBezTo>
                    <a:pt x="43024" y="37894"/>
                    <a:pt x="41560" y="38913"/>
                    <a:pt x="41560" y="40135"/>
                  </a:cubicBezTo>
                  <a:cubicBezTo>
                    <a:pt x="41560" y="43191"/>
                    <a:pt x="41560" y="43191"/>
                    <a:pt x="41560" y="43191"/>
                  </a:cubicBezTo>
                  <a:cubicBezTo>
                    <a:pt x="41560" y="44414"/>
                    <a:pt x="43024" y="45432"/>
                    <a:pt x="44780" y="45432"/>
                  </a:cubicBezTo>
                  <a:cubicBezTo>
                    <a:pt x="45658" y="45432"/>
                    <a:pt x="45658" y="45432"/>
                    <a:pt x="45658" y="45432"/>
                  </a:cubicBezTo>
                  <a:cubicBezTo>
                    <a:pt x="45658" y="47877"/>
                    <a:pt x="45658" y="47877"/>
                    <a:pt x="45658" y="47877"/>
                  </a:cubicBezTo>
                  <a:cubicBezTo>
                    <a:pt x="25756" y="47877"/>
                    <a:pt x="25756" y="47877"/>
                    <a:pt x="25756" y="47877"/>
                  </a:cubicBezTo>
                  <a:cubicBezTo>
                    <a:pt x="25756" y="45432"/>
                    <a:pt x="25756" y="45432"/>
                    <a:pt x="25756" y="45432"/>
                  </a:cubicBezTo>
                  <a:cubicBezTo>
                    <a:pt x="26634" y="45432"/>
                    <a:pt x="26634" y="45432"/>
                    <a:pt x="26634" y="45432"/>
                  </a:cubicBezTo>
                  <a:cubicBezTo>
                    <a:pt x="28390" y="45432"/>
                    <a:pt x="29853" y="44414"/>
                    <a:pt x="29853" y="43191"/>
                  </a:cubicBezTo>
                  <a:cubicBezTo>
                    <a:pt x="29853" y="40135"/>
                    <a:pt x="29853" y="40135"/>
                    <a:pt x="29853" y="40135"/>
                  </a:cubicBezTo>
                  <a:cubicBezTo>
                    <a:pt x="29853" y="38913"/>
                    <a:pt x="28390" y="37894"/>
                    <a:pt x="26634" y="37894"/>
                  </a:cubicBezTo>
                  <a:cubicBezTo>
                    <a:pt x="20487" y="37894"/>
                    <a:pt x="20487" y="37894"/>
                    <a:pt x="20487" y="37894"/>
                  </a:cubicBezTo>
                  <a:cubicBezTo>
                    <a:pt x="18731" y="37894"/>
                    <a:pt x="17268" y="38913"/>
                    <a:pt x="17268" y="40135"/>
                  </a:cubicBezTo>
                  <a:cubicBezTo>
                    <a:pt x="17268" y="43191"/>
                    <a:pt x="17268" y="43191"/>
                    <a:pt x="17268" y="43191"/>
                  </a:cubicBezTo>
                  <a:cubicBezTo>
                    <a:pt x="17268" y="44414"/>
                    <a:pt x="18731" y="45432"/>
                    <a:pt x="20487" y="45432"/>
                  </a:cubicBezTo>
                  <a:cubicBezTo>
                    <a:pt x="21073" y="45432"/>
                    <a:pt x="21073" y="45432"/>
                    <a:pt x="21073" y="45432"/>
                  </a:cubicBezTo>
                  <a:cubicBezTo>
                    <a:pt x="21073" y="53582"/>
                    <a:pt x="21073" y="53582"/>
                    <a:pt x="21073" y="53582"/>
                  </a:cubicBezTo>
                  <a:cubicBezTo>
                    <a:pt x="20487" y="53582"/>
                    <a:pt x="20487" y="53582"/>
                    <a:pt x="20487" y="53582"/>
                  </a:cubicBezTo>
                  <a:cubicBezTo>
                    <a:pt x="18731" y="53582"/>
                    <a:pt x="17268" y="54601"/>
                    <a:pt x="17268" y="56027"/>
                  </a:cubicBezTo>
                  <a:cubicBezTo>
                    <a:pt x="17268" y="58879"/>
                    <a:pt x="17268" y="58879"/>
                    <a:pt x="17268" y="58879"/>
                  </a:cubicBezTo>
                  <a:cubicBezTo>
                    <a:pt x="17268" y="60305"/>
                    <a:pt x="18731" y="61324"/>
                    <a:pt x="20487" y="61324"/>
                  </a:cubicBezTo>
                  <a:cubicBezTo>
                    <a:pt x="26634" y="61324"/>
                    <a:pt x="26634" y="61324"/>
                    <a:pt x="26634" y="61324"/>
                  </a:cubicBezTo>
                  <a:cubicBezTo>
                    <a:pt x="28390" y="61324"/>
                    <a:pt x="29853" y="60305"/>
                    <a:pt x="29853" y="58879"/>
                  </a:cubicBezTo>
                  <a:cubicBezTo>
                    <a:pt x="29853" y="56027"/>
                    <a:pt x="29853" y="56027"/>
                    <a:pt x="29853" y="56027"/>
                  </a:cubicBezTo>
                  <a:cubicBezTo>
                    <a:pt x="29853" y="54601"/>
                    <a:pt x="28390" y="53582"/>
                    <a:pt x="26634" y="53582"/>
                  </a:cubicBezTo>
                  <a:cubicBezTo>
                    <a:pt x="25756" y="53582"/>
                    <a:pt x="25756" y="53582"/>
                    <a:pt x="25756" y="53582"/>
                  </a:cubicBezTo>
                  <a:cubicBezTo>
                    <a:pt x="25756" y="51137"/>
                    <a:pt x="25756" y="51137"/>
                    <a:pt x="25756" y="51137"/>
                  </a:cubicBezTo>
                  <a:cubicBezTo>
                    <a:pt x="45658" y="51137"/>
                    <a:pt x="45658" y="51137"/>
                    <a:pt x="45658" y="51137"/>
                  </a:cubicBezTo>
                  <a:cubicBezTo>
                    <a:pt x="45658" y="53582"/>
                    <a:pt x="45658" y="53582"/>
                    <a:pt x="45658" y="53582"/>
                  </a:cubicBezTo>
                  <a:cubicBezTo>
                    <a:pt x="44780" y="53582"/>
                    <a:pt x="44780" y="53582"/>
                    <a:pt x="44780" y="53582"/>
                  </a:cubicBezTo>
                  <a:cubicBezTo>
                    <a:pt x="43024" y="53582"/>
                    <a:pt x="41560" y="54601"/>
                    <a:pt x="41560" y="56027"/>
                  </a:cubicBezTo>
                  <a:cubicBezTo>
                    <a:pt x="41560" y="58879"/>
                    <a:pt x="41560" y="58879"/>
                    <a:pt x="41560" y="58879"/>
                  </a:cubicBezTo>
                  <a:cubicBezTo>
                    <a:pt x="41560" y="60305"/>
                    <a:pt x="43024" y="61324"/>
                    <a:pt x="44780" y="61324"/>
                  </a:cubicBezTo>
                  <a:cubicBezTo>
                    <a:pt x="50926" y="61324"/>
                    <a:pt x="50926" y="61324"/>
                    <a:pt x="50926" y="61324"/>
                  </a:cubicBezTo>
                  <a:cubicBezTo>
                    <a:pt x="52682" y="61324"/>
                    <a:pt x="54146" y="60305"/>
                    <a:pt x="54146" y="58879"/>
                  </a:cubicBezTo>
                  <a:cubicBezTo>
                    <a:pt x="54146" y="56027"/>
                    <a:pt x="54146" y="56027"/>
                    <a:pt x="54146" y="56027"/>
                  </a:cubicBezTo>
                  <a:cubicBezTo>
                    <a:pt x="54146" y="54601"/>
                    <a:pt x="52682" y="53582"/>
                    <a:pt x="50926" y="53582"/>
                  </a:cubicBezTo>
                  <a:cubicBezTo>
                    <a:pt x="50341" y="53582"/>
                    <a:pt x="50341" y="53582"/>
                    <a:pt x="50341" y="53582"/>
                  </a:cubicBezTo>
                  <a:cubicBezTo>
                    <a:pt x="50341" y="51137"/>
                    <a:pt x="50341" y="51137"/>
                    <a:pt x="50341" y="51137"/>
                  </a:cubicBezTo>
                  <a:cubicBezTo>
                    <a:pt x="69951" y="51137"/>
                    <a:pt x="69951" y="51137"/>
                    <a:pt x="69951" y="51137"/>
                  </a:cubicBezTo>
                  <a:cubicBezTo>
                    <a:pt x="69951" y="53582"/>
                    <a:pt x="69951" y="53582"/>
                    <a:pt x="69951" y="53582"/>
                  </a:cubicBezTo>
                  <a:cubicBezTo>
                    <a:pt x="69073" y="53582"/>
                    <a:pt x="69073" y="53582"/>
                    <a:pt x="69073" y="53582"/>
                  </a:cubicBezTo>
                  <a:cubicBezTo>
                    <a:pt x="67317" y="53582"/>
                    <a:pt x="65853" y="54601"/>
                    <a:pt x="65853" y="56027"/>
                  </a:cubicBezTo>
                  <a:cubicBezTo>
                    <a:pt x="65853" y="58879"/>
                    <a:pt x="65853" y="58879"/>
                    <a:pt x="65853" y="58879"/>
                  </a:cubicBezTo>
                  <a:cubicBezTo>
                    <a:pt x="65853" y="60305"/>
                    <a:pt x="67317" y="61324"/>
                    <a:pt x="69073" y="61324"/>
                  </a:cubicBezTo>
                  <a:cubicBezTo>
                    <a:pt x="75219" y="61324"/>
                    <a:pt x="75219" y="61324"/>
                    <a:pt x="75219" y="61324"/>
                  </a:cubicBezTo>
                  <a:cubicBezTo>
                    <a:pt x="76975" y="61324"/>
                    <a:pt x="78439" y="60305"/>
                    <a:pt x="78439" y="58879"/>
                  </a:cubicBezTo>
                  <a:cubicBezTo>
                    <a:pt x="78439" y="56027"/>
                    <a:pt x="78439" y="56027"/>
                    <a:pt x="78439" y="56027"/>
                  </a:cubicBezTo>
                  <a:cubicBezTo>
                    <a:pt x="78439" y="54601"/>
                    <a:pt x="76975" y="53582"/>
                    <a:pt x="75219" y="53582"/>
                  </a:cubicBezTo>
                  <a:cubicBezTo>
                    <a:pt x="74634" y="53582"/>
                    <a:pt x="74634" y="53582"/>
                    <a:pt x="74634" y="53582"/>
                  </a:cubicBezTo>
                  <a:cubicBezTo>
                    <a:pt x="74634" y="51137"/>
                    <a:pt x="74634" y="51137"/>
                    <a:pt x="74634" y="51137"/>
                  </a:cubicBezTo>
                  <a:cubicBezTo>
                    <a:pt x="94243" y="51137"/>
                    <a:pt x="94243" y="51137"/>
                    <a:pt x="94243" y="51137"/>
                  </a:cubicBezTo>
                  <a:cubicBezTo>
                    <a:pt x="94243" y="53582"/>
                    <a:pt x="94243" y="53582"/>
                    <a:pt x="94243" y="53582"/>
                  </a:cubicBezTo>
                  <a:cubicBezTo>
                    <a:pt x="93658" y="53582"/>
                    <a:pt x="93658" y="53582"/>
                    <a:pt x="93658" y="53582"/>
                  </a:cubicBezTo>
                  <a:cubicBezTo>
                    <a:pt x="91609" y="53582"/>
                    <a:pt x="90146" y="54601"/>
                    <a:pt x="90146" y="56027"/>
                  </a:cubicBezTo>
                  <a:cubicBezTo>
                    <a:pt x="90146" y="58879"/>
                    <a:pt x="90146" y="58879"/>
                    <a:pt x="90146" y="58879"/>
                  </a:cubicBezTo>
                  <a:cubicBezTo>
                    <a:pt x="90146" y="60305"/>
                    <a:pt x="91609" y="61324"/>
                    <a:pt x="93658" y="61324"/>
                  </a:cubicBezTo>
                  <a:cubicBezTo>
                    <a:pt x="99512" y="61324"/>
                    <a:pt x="99512" y="61324"/>
                    <a:pt x="99512" y="61324"/>
                  </a:cubicBezTo>
                  <a:cubicBezTo>
                    <a:pt x="101560" y="61324"/>
                    <a:pt x="103024" y="60305"/>
                    <a:pt x="103024" y="58879"/>
                  </a:cubicBezTo>
                  <a:cubicBezTo>
                    <a:pt x="103024" y="56027"/>
                    <a:pt x="103024" y="56027"/>
                    <a:pt x="103024" y="56027"/>
                  </a:cubicBezTo>
                  <a:cubicBezTo>
                    <a:pt x="103024" y="54601"/>
                    <a:pt x="101560" y="53582"/>
                    <a:pt x="99512" y="53582"/>
                  </a:cubicBezTo>
                  <a:cubicBezTo>
                    <a:pt x="98926" y="53582"/>
                    <a:pt x="98926" y="53582"/>
                    <a:pt x="98926" y="53582"/>
                  </a:cubicBezTo>
                  <a:cubicBezTo>
                    <a:pt x="98926" y="45432"/>
                    <a:pt x="98926" y="45432"/>
                    <a:pt x="98926" y="45432"/>
                  </a:cubicBezTo>
                  <a:lnTo>
                    <a:pt x="99512" y="45432"/>
                  </a:lnTo>
                  <a:close/>
                  <a:moveTo>
                    <a:pt x="29853" y="17928"/>
                  </a:moveTo>
                  <a:cubicBezTo>
                    <a:pt x="38926" y="11612"/>
                    <a:pt x="38926" y="11612"/>
                    <a:pt x="38926" y="11612"/>
                  </a:cubicBezTo>
                  <a:cubicBezTo>
                    <a:pt x="39804" y="11001"/>
                    <a:pt x="41268" y="11001"/>
                    <a:pt x="42146" y="11612"/>
                  </a:cubicBezTo>
                  <a:cubicBezTo>
                    <a:pt x="43024" y="12427"/>
                    <a:pt x="43024" y="13446"/>
                    <a:pt x="42146" y="14057"/>
                  </a:cubicBezTo>
                  <a:cubicBezTo>
                    <a:pt x="37170" y="17521"/>
                    <a:pt x="37170" y="17521"/>
                    <a:pt x="37170" y="17521"/>
                  </a:cubicBezTo>
                  <a:cubicBezTo>
                    <a:pt x="70829" y="17521"/>
                    <a:pt x="70829" y="17521"/>
                    <a:pt x="70829" y="17521"/>
                  </a:cubicBezTo>
                  <a:cubicBezTo>
                    <a:pt x="72292" y="17521"/>
                    <a:pt x="73170" y="18336"/>
                    <a:pt x="73170" y="19151"/>
                  </a:cubicBezTo>
                  <a:cubicBezTo>
                    <a:pt x="73170" y="19966"/>
                    <a:pt x="72292" y="20780"/>
                    <a:pt x="70829" y="20780"/>
                  </a:cubicBezTo>
                  <a:cubicBezTo>
                    <a:pt x="37170" y="20780"/>
                    <a:pt x="37170" y="20780"/>
                    <a:pt x="37170" y="20780"/>
                  </a:cubicBezTo>
                  <a:cubicBezTo>
                    <a:pt x="42146" y="24244"/>
                    <a:pt x="42146" y="24244"/>
                    <a:pt x="42146" y="24244"/>
                  </a:cubicBezTo>
                  <a:cubicBezTo>
                    <a:pt x="43024" y="24855"/>
                    <a:pt x="43024" y="25874"/>
                    <a:pt x="42146" y="26485"/>
                  </a:cubicBezTo>
                  <a:cubicBezTo>
                    <a:pt x="41853" y="26893"/>
                    <a:pt x="41268" y="26893"/>
                    <a:pt x="40682" y="26893"/>
                  </a:cubicBezTo>
                  <a:cubicBezTo>
                    <a:pt x="40097" y="26893"/>
                    <a:pt x="39512" y="26893"/>
                    <a:pt x="38926" y="26485"/>
                  </a:cubicBezTo>
                  <a:cubicBezTo>
                    <a:pt x="29853" y="20169"/>
                    <a:pt x="29853" y="20169"/>
                    <a:pt x="29853" y="20169"/>
                  </a:cubicBezTo>
                  <a:cubicBezTo>
                    <a:pt x="28975" y="19558"/>
                    <a:pt x="28975" y="18539"/>
                    <a:pt x="29853" y="17928"/>
                  </a:cubicBezTo>
                  <a:moveTo>
                    <a:pt x="90146" y="28319"/>
                  </a:moveTo>
                  <a:cubicBezTo>
                    <a:pt x="81073" y="34634"/>
                    <a:pt x="81073" y="34634"/>
                    <a:pt x="81073" y="34634"/>
                  </a:cubicBezTo>
                  <a:cubicBezTo>
                    <a:pt x="80195" y="35246"/>
                    <a:pt x="78731" y="35246"/>
                    <a:pt x="77853" y="34634"/>
                  </a:cubicBezTo>
                  <a:cubicBezTo>
                    <a:pt x="76975" y="34023"/>
                    <a:pt x="76975" y="33005"/>
                    <a:pt x="77853" y="32393"/>
                  </a:cubicBezTo>
                  <a:cubicBezTo>
                    <a:pt x="82829" y="28726"/>
                    <a:pt x="82829" y="28726"/>
                    <a:pt x="82829" y="28726"/>
                  </a:cubicBezTo>
                  <a:cubicBezTo>
                    <a:pt x="49170" y="28726"/>
                    <a:pt x="49170" y="28726"/>
                    <a:pt x="49170" y="28726"/>
                  </a:cubicBezTo>
                  <a:cubicBezTo>
                    <a:pt x="48000" y="28726"/>
                    <a:pt x="46829" y="28115"/>
                    <a:pt x="46829" y="27096"/>
                  </a:cubicBezTo>
                  <a:cubicBezTo>
                    <a:pt x="46829" y="26281"/>
                    <a:pt x="48000" y="25466"/>
                    <a:pt x="49170" y="25466"/>
                  </a:cubicBezTo>
                  <a:cubicBezTo>
                    <a:pt x="82829" y="25466"/>
                    <a:pt x="82829" y="25466"/>
                    <a:pt x="82829" y="25466"/>
                  </a:cubicBezTo>
                  <a:cubicBezTo>
                    <a:pt x="77853" y="22207"/>
                    <a:pt x="77853" y="22207"/>
                    <a:pt x="77853" y="22207"/>
                  </a:cubicBezTo>
                  <a:cubicBezTo>
                    <a:pt x="76975" y="21392"/>
                    <a:pt x="76975" y="20373"/>
                    <a:pt x="77853" y="19762"/>
                  </a:cubicBezTo>
                  <a:cubicBezTo>
                    <a:pt x="78439" y="19558"/>
                    <a:pt x="79024" y="19354"/>
                    <a:pt x="79609" y="19354"/>
                  </a:cubicBezTo>
                  <a:cubicBezTo>
                    <a:pt x="80195" y="19354"/>
                    <a:pt x="80780" y="19558"/>
                    <a:pt x="81073" y="19762"/>
                  </a:cubicBezTo>
                  <a:cubicBezTo>
                    <a:pt x="90146" y="26078"/>
                    <a:pt x="90146" y="26078"/>
                    <a:pt x="90146" y="26078"/>
                  </a:cubicBezTo>
                  <a:cubicBezTo>
                    <a:pt x="91024" y="26689"/>
                    <a:pt x="91024" y="27707"/>
                    <a:pt x="90146" y="28319"/>
                  </a:cubicBezTo>
                </a:path>
              </a:pathLst>
            </a:custGeom>
            <a:solidFill>
              <a:srgbClr val="505256"/>
            </a:solidFill>
            <a:ln>
              <a:noFill/>
            </a:ln>
          </p:spPr>
          <p:txBody>
            <a:bodyPr anchorCtr="0" anchor="ctr" bIns="54425" lIns="108875" rIns="108875" tIns="128595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
          <p:nvSpPr>
            <p:cNvPr id="538" name="Shape 538"/>
            <p:cNvSpPr txBox="1"/>
            <p:nvPr/>
          </p:nvSpPr>
          <p:spPr>
            <a:xfrm>
              <a:off x="3075363" y="5363232"/>
              <a:ext cx="360253" cy="168751"/>
            </a:xfrm>
            <a:prstGeom prst="rect">
              <a:avLst/>
            </a:prstGeom>
            <a:noFill/>
            <a:ln>
              <a:noFill/>
            </a:ln>
          </p:spPr>
          <p:txBody>
            <a:bodyPr anchorCtr="0" anchor="ctr" bIns="0" lIns="0" rIns="0" tIns="0">
              <a:noAutofit/>
            </a:bodyPr>
            <a:lstStyle/>
            <a:p>
              <a:pPr indent="0" lvl="0" marL="0" marR="0" rtl="0" algn="l">
                <a:spcBef>
                  <a:spcPts val="0"/>
                </a:spcBef>
                <a:spcAft>
                  <a:spcPts val="0"/>
                </a:spcAft>
                <a:buNone/>
              </a:pPr>
              <a:r>
                <a:t/>
              </a:r>
              <a:endParaRPr b="0" sz="1100" u="none">
                <a:solidFill>
                  <a:schemeClr val="dk1"/>
                </a:solidFill>
                <a:latin typeface="Arial"/>
                <a:ea typeface="Arial"/>
                <a:cs typeface="Arial"/>
                <a:sym typeface="Arial"/>
              </a:endParaRPr>
            </a:p>
          </p:txBody>
        </p:sp>
        <p:pic>
          <p:nvPicPr>
            <p:cNvPr id="539" name="Shape 539"/>
            <p:cNvPicPr preferRelativeResize="0"/>
            <p:nvPr/>
          </p:nvPicPr>
          <p:blipFill rotWithShape="1">
            <a:blip r:embed="rId4">
              <a:alphaModFix/>
            </a:blip>
            <a:srcRect b="0" l="0" r="0" t="0"/>
            <a:stretch/>
          </p:blipFill>
          <p:spPr>
            <a:xfrm>
              <a:off x="3068717" y="5218760"/>
              <a:ext cx="354936" cy="151755"/>
            </a:xfrm>
            <a:prstGeom prst="rect">
              <a:avLst/>
            </a:prstGeom>
            <a:noFill/>
            <a:ln>
              <a:noFill/>
            </a:ln>
          </p:spPr>
        </p:pic>
        <p:pic>
          <p:nvPicPr>
            <p:cNvPr id="540" name="Shape 540"/>
            <p:cNvPicPr preferRelativeResize="0"/>
            <p:nvPr/>
          </p:nvPicPr>
          <p:blipFill rotWithShape="1">
            <a:blip r:embed="rId3">
              <a:alphaModFix/>
            </a:blip>
            <a:srcRect b="0" l="0" r="0" t="0"/>
            <a:stretch/>
          </p:blipFill>
          <p:spPr>
            <a:xfrm>
              <a:off x="8579242" y="5010187"/>
              <a:ext cx="409440" cy="532962"/>
            </a:xfrm>
            <a:prstGeom prst="rect">
              <a:avLst/>
            </a:prstGeom>
            <a:noFill/>
            <a:ln>
              <a:noFill/>
            </a:ln>
          </p:spPr>
        </p:pic>
        <p:sp>
          <p:nvSpPr>
            <p:cNvPr id="541" name="Shape 541"/>
            <p:cNvSpPr/>
            <p:nvPr/>
          </p:nvSpPr>
          <p:spPr>
            <a:xfrm>
              <a:off x="8579242" y="5012616"/>
              <a:ext cx="402793" cy="528107"/>
            </a:xfrm>
            <a:custGeom>
              <a:pathLst>
                <a:path extrusionOk="0" h="120000" w="120000">
                  <a:moveTo>
                    <a:pt x="117658" y="46655"/>
                  </a:moveTo>
                  <a:cubicBezTo>
                    <a:pt x="116195" y="46655"/>
                    <a:pt x="115317" y="47470"/>
                    <a:pt x="115317" y="48285"/>
                  </a:cubicBezTo>
                  <a:cubicBezTo>
                    <a:pt x="115317" y="111850"/>
                    <a:pt x="115317" y="111850"/>
                    <a:pt x="115317" y="111850"/>
                  </a:cubicBezTo>
                  <a:cubicBezTo>
                    <a:pt x="115317" y="114499"/>
                    <a:pt x="112097" y="116740"/>
                    <a:pt x="108292" y="116740"/>
                  </a:cubicBezTo>
                  <a:cubicBezTo>
                    <a:pt x="12000" y="116740"/>
                    <a:pt x="12000" y="116740"/>
                    <a:pt x="12000" y="116740"/>
                  </a:cubicBezTo>
                  <a:cubicBezTo>
                    <a:pt x="7902" y="116740"/>
                    <a:pt x="4975" y="114499"/>
                    <a:pt x="4682" y="111850"/>
                  </a:cubicBezTo>
                  <a:cubicBezTo>
                    <a:pt x="4682" y="41765"/>
                    <a:pt x="4682" y="41765"/>
                    <a:pt x="4682" y="41765"/>
                  </a:cubicBezTo>
                  <a:cubicBezTo>
                    <a:pt x="4975" y="20577"/>
                    <a:pt x="29560" y="3259"/>
                    <a:pt x="60000" y="3259"/>
                  </a:cubicBezTo>
                  <a:cubicBezTo>
                    <a:pt x="90439" y="3259"/>
                    <a:pt x="115317" y="20577"/>
                    <a:pt x="115317" y="41765"/>
                  </a:cubicBezTo>
                  <a:cubicBezTo>
                    <a:pt x="115317" y="42580"/>
                    <a:pt x="116195" y="43395"/>
                    <a:pt x="117658" y="43395"/>
                  </a:cubicBezTo>
                  <a:cubicBezTo>
                    <a:pt x="118829" y="43395"/>
                    <a:pt x="120000" y="42580"/>
                    <a:pt x="120000" y="41765"/>
                  </a:cubicBezTo>
                  <a:cubicBezTo>
                    <a:pt x="120000" y="41765"/>
                    <a:pt x="120000" y="41765"/>
                    <a:pt x="120000" y="41765"/>
                  </a:cubicBezTo>
                  <a:cubicBezTo>
                    <a:pt x="120000" y="18743"/>
                    <a:pt x="93073" y="0"/>
                    <a:pt x="60000" y="0"/>
                  </a:cubicBezTo>
                  <a:cubicBezTo>
                    <a:pt x="26926" y="0"/>
                    <a:pt x="0" y="18743"/>
                    <a:pt x="0" y="41765"/>
                  </a:cubicBezTo>
                  <a:cubicBezTo>
                    <a:pt x="0" y="41765"/>
                    <a:pt x="0" y="41765"/>
                    <a:pt x="0" y="41765"/>
                  </a:cubicBezTo>
                  <a:cubicBezTo>
                    <a:pt x="292" y="111850"/>
                    <a:pt x="292" y="111850"/>
                    <a:pt x="292" y="111850"/>
                  </a:cubicBezTo>
                  <a:cubicBezTo>
                    <a:pt x="292" y="116332"/>
                    <a:pt x="5268" y="120000"/>
                    <a:pt x="12000" y="120000"/>
                  </a:cubicBezTo>
                  <a:cubicBezTo>
                    <a:pt x="108292" y="120000"/>
                    <a:pt x="108292" y="120000"/>
                    <a:pt x="108292" y="120000"/>
                  </a:cubicBezTo>
                  <a:cubicBezTo>
                    <a:pt x="114731" y="120000"/>
                    <a:pt x="120000" y="116332"/>
                    <a:pt x="120000" y="111850"/>
                  </a:cubicBezTo>
                  <a:cubicBezTo>
                    <a:pt x="120000" y="48285"/>
                    <a:pt x="120000" y="48285"/>
                    <a:pt x="120000" y="48285"/>
                  </a:cubicBezTo>
                  <a:cubicBezTo>
                    <a:pt x="120000" y="47470"/>
                    <a:pt x="118829" y="46655"/>
                    <a:pt x="117658" y="46655"/>
                  </a:cubicBezTo>
                  <a:moveTo>
                    <a:pt x="99512" y="45432"/>
                  </a:moveTo>
                  <a:cubicBezTo>
                    <a:pt x="101560" y="45432"/>
                    <a:pt x="103024" y="44414"/>
                    <a:pt x="103024" y="43191"/>
                  </a:cubicBezTo>
                  <a:cubicBezTo>
                    <a:pt x="103024" y="40135"/>
                    <a:pt x="103024" y="40135"/>
                    <a:pt x="103024" y="40135"/>
                  </a:cubicBezTo>
                  <a:cubicBezTo>
                    <a:pt x="103024" y="38913"/>
                    <a:pt x="101560" y="37894"/>
                    <a:pt x="99512" y="37894"/>
                  </a:cubicBezTo>
                  <a:cubicBezTo>
                    <a:pt x="93658" y="37894"/>
                    <a:pt x="93658" y="37894"/>
                    <a:pt x="93658" y="37894"/>
                  </a:cubicBezTo>
                  <a:cubicBezTo>
                    <a:pt x="91609" y="37894"/>
                    <a:pt x="90146" y="38913"/>
                    <a:pt x="90146" y="40135"/>
                  </a:cubicBezTo>
                  <a:cubicBezTo>
                    <a:pt x="90146" y="43191"/>
                    <a:pt x="90146" y="43191"/>
                    <a:pt x="90146" y="43191"/>
                  </a:cubicBezTo>
                  <a:cubicBezTo>
                    <a:pt x="90146" y="44414"/>
                    <a:pt x="91609" y="45432"/>
                    <a:pt x="93658" y="45432"/>
                  </a:cubicBezTo>
                  <a:cubicBezTo>
                    <a:pt x="94243" y="45432"/>
                    <a:pt x="94243" y="45432"/>
                    <a:pt x="94243" y="45432"/>
                  </a:cubicBezTo>
                  <a:cubicBezTo>
                    <a:pt x="94243" y="47877"/>
                    <a:pt x="94243" y="47877"/>
                    <a:pt x="94243" y="47877"/>
                  </a:cubicBezTo>
                  <a:cubicBezTo>
                    <a:pt x="74634" y="47877"/>
                    <a:pt x="74634" y="47877"/>
                    <a:pt x="74634" y="47877"/>
                  </a:cubicBezTo>
                  <a:cubicBezTo>
                    <a:pt x="74634" y="45432"/>
                    <a:pt x="74634" y="45432"/>
                    <a:pt x="74634" y="45432"/>
                  </a:cubicBezTo>
                  <a:cubicBezTo>
                    <a:pt x="75219" y="45432"/>
                    <a:pt x="75219" y="45432"/>
                    <a:pt x="75219" y="45432"/>
                  </a:cubicBezTo>
                  <a:cubicBezTo>
                    <a:pt x="76975" y="45432"/>
                    <a:pt x="78439" y="44414"/>
                    <a:pt x="78439" y="43191"/>
                  </a:cubicBezTo>
                  <a:cubicBezTo>
                    <a:pt x="78439" y="40135"/>
                    <a:pt x="78439" y="40135"/>
                    <a:pt x="78439" y="40135"/>
                  </a:cubicBezTo>
                  <a:cubicBezTo>
                    <a:pt x="78439" y="38913"/>
                    <a:pt x="76975" y="37894"/>
                    <a:pt x="75219" y="37894"/>
                  </a:cubicBezTo>
                  <a:cubicBezTo>
                    <a:pt x="69073" y="37894"/>
                    <a:pt x="69073" y="37894"/>
                    <a:pt x="69073" y="37894"/>
                  </a:cubicBezTo>
                  <a:cubicBezTo>
                    <a:pt x="67317" y="37894"/>
                    <a:pt x="65853" y="38913"/>
                    <a:pt x="65853" y="40135"/>
                  </a:cubicBezTo>
                  <a:cubicBezTo>
                    <a:pt x="65853" y="43191"/>
                    <a:pt x="65853" y="43191"/>
                    <a:pt x="65853" y="43191"/>
                  </a:cubicBezTo>
                  <a:cubicBezTo>
                    <a:pt x="65853" y="44414"/>
                    <a:pt x="67317" y="45432"/>
                    <a:pt x="69073" y="45432"/>
                  </a:cubicBezTo>
                  <a:cubicBezTo>
                    <a:pt x="69951" y="45432"/>
                    <a:pt x="69951" y="45432"/>
                    <a:pt x="69951" y="45432"/>
                  </a:cubicBezTo>
                  <a:cubicBezTo>
                    <a:pt x="69951" y="47877"/>
                    <a:pt x="69951" y="47877"/>
                    <a:pt x="69951" y="47877"/>
                  </a:cubicBezTo>
                  <a:cubicBezTo>
                    <a:pt x="50341" y="47877"/>
                    <a:pt x="50341" y="47877"/>
                    <a:pt x="50341" y="47877"/>
                  </a:cubicBezTo>
                  <a:cubicBezTo>
                    <a:pt x="50341" y="45432"/>
                    <a:pt x="50341" y="45432"/>
                    <a:pt x="50341" y="45432"/>
                  </a:cubicBezTo>
                  <a:cubicBezTo>
                    <a:pt x="50926" y="45432"/>
                    <a:pt x="50926" y="45432"/>
                    <a:pt x="50926" y="45432"/>
                  </a:cubicBezTo>
                  <a:cubicBezTo>
                    <a:pt x="52682" y="45432"/>
                    <a:pt x="54146" y="44414"/>
                    <a:pt x="54146" y="43191"/>
                  </a:cubicBezTo>
                  <a:cubicBezTo>
                    <a:pt x="54146" y="40135"/>
                    <a:pt x="54146" y="40135"/>
                    <a:pt x="54146" y="40135"/>
                  </a:cubicBezTo>
                  <a:cubicBezTo>
                    <a:pt x="54146" y="38913"/>
                    <a:pt x="52682" y="37894"/>
                    <a:pt x="50926" y="37894"/>
                  </a:cubicBezTo>
                  <a:cubicBezTo>
                    <a:pt x="44780" y="37894"/>
                    <a:pt x="44780" y="37894"/>
                    <a:pt x="44780" y="37894"/>
                  </a:cubicBezTo>
                  <a:cubicBezTo>
                    <a:pt x="43024" y="37894"/>
                    <a:pt x="41560" y="38913"/>
                    <a:pt x="41560" y="40135"/>
                  </a:cubicBezTo>
                  <a:cubicBezTo>
                    <a:pt x="41560" y="43191"/>
                    <a:pt x="41560" y="43191"/>
                    <a:pt x="41560" y="43191"/>
                  </a:cubicBezTo>
                  <a:cubicBezTo>
                    <a:pt x="41560" y="44414"/>
                    <a:pt x="43024" y="45432"/>
                    <a:pt x="44780" y="45432"/>
                  </a:cubicBezTo>
                  <a:cubicBezTo>
                    <a:pt x="45658" y="45432"/>
                    <a:pt x="45658" y="45432"/>
                    <a:pt x="45658" y="45432"/>
                  </a:cubicBezTo>
                  <a:cubicBezTo>
                    <a:pt x="45658" y="47877"/>
                    <a:pt x="45658" y="47877"/>
                    <a:pt x="45658" y="47877"/>
                  </a:cubicBezTo>
                  <a:cubicBezTo>
                    <a:pt x="25756" y="47877"/>
                    <a:pt x="25756" y="47877"/>
                    <a:pt x="25756" y="47877"/>
                  </a:cubicBezTo>
                  <a:cubicBezTo>
                    <a:pt x="25756" y="45432"/>
                    <a:pt x="25756" y="45432"/>
                    <a:pt x="25756" y="45432"/>
                  </a:cubicBezTo>
                  <a:cubicBezTo>
                    <a:pt x="26634" y="45432"/>
                    <a:pt x="26634" y="45432"/>
                    <a:pt x="26634" y="45432"/>
                  </a:cubicBezTo>
                  <a:cubicBezTo>
                    <a:pt x="28390" y="45432"/>
                    <a:pt x="29853" y="44414"/>
                    <a:pt x="29853" y="43191"/>
                  </a:cubicBezTo>
                  <a:cubicBezTo>
                    <a:pt x="29853" y="40135"/>
                    <a:pt x="29853" y="40135"/>
                    <a:pt x="29853" y="40135"/>
                  </a:cubicBezTo>
                  <a:cubicBezTo>
                    <a:pt x="29853" y="38913"/>
                    <a:pt x="28390" y="37894"/>
                    <a:pt x="26634" y="37894"/>
                  </a:cubicBezTo>
                  <a:cubicBezTo>
                    <a:pt x="20487" y="37894"/>
                    <a:pt x="20487" y="37894"/>
                    <a:pt x="20487" y="37894"/>
                  </a:cubicBezTo>
                  <a:cubicBezTo>
                    <a:pt x="18731" y="37894"/>
                    <a:pt x="17268" y="38913"/>
                    <a:pt x="17268" y="40135"/>
                  </a:cubicBezTo>
                  <a:cubicBezTo>
                    <a:pt x="17268" y="43191"/>
                    <a:pt x="17268" y="43191"/>
                    <a:pt x="17268" y="43191"/>
                  </a:cubicBezTo>
                  <a:cubicBezTo>
                    <a:pt x="17268" y="44414"/>
                    <a:pt x="18731" y="45432"/>
                    <a:pt x="20487" y="45432"/>
                  </a:cubicBezTo>
                  <a:cubicBezTo>
                    <a:pt x="21073" y="45432"/>
                    <a:pt x="21073" y="45432"/>
                    <a:pt x="21073" y="45432"/>
                  </a:cubicBezTo>
                  <a:cubicBezTo>
                    <a:pt x="21073" y="53582"/>
                    <a:pt x="21073" y="53582"/>
                    <a:pt x="21073" y="53582"/>
                  </a:cubicBezTo>
                  <a:cubicBezTo>
                    <a:pt x="20487" y="53582"/>
                    <a:pt x="20487" y="53582"/>
                    <a:pt x="20487" y="53582"/>
                  </a:cubicBezTo>
                  <a:cubicBezTo>
                    <a:pt x="18731" y="53582"/>
                    <a:pt x="17268" y="54601"/>
                    <a:pt x="17268" y="56027"/>
                  </a:cubicBezTo>
                  <a:cubicBezTo>
                    <a:pt x="17268" y="58879"/>
                    <a:pt x="17268" y="58879"/>
                    <a:pt x="17268" y="58879"/>
                  </a:cubicBezTo>
                  <a:cubicBezTo>
                    <a:pt x="17268" y="60305"/>
                    <a:pt x="18731" y="61324"/>
                    <a:pt x="20487" y="61324"/>
                  </a:cubicBezTo>
                  <a:cubicBezTo>
                    <a:pt x="26634" y="61324"/>
                    <a:pt x="26634" y="61324"/>
                    <a:pt x="26634" y="61324"/>
                  </a:cubicBezTo>
                  <a:cubicBezTo>
                    <a:pt x="28390" y="61324"/>
                    <a:pt x="29853" y="60305"/>
                    <a:pt x="29853" y="58879"/>
                  </a:cubicBezTo>
                  <a:cubicBezTo>
                    <a:pt x="29853" y="56027"/>
                    <a:pt x="29853" y="56027"/>
                    <a:pt x="29853" y="56027"/>
                  </a:cubicBezTo>
                  <a:cubicBezTo>
                    <a:pt x="29853" y="54601"/>
                    <a:pt x="28390" y="53582"/>
                    <a:pt x="26634" y="53582"/>
                  </a:cubicBezTo>
                  <a:cubicBezTo>
                    <a:pt x="25756" y="53582"/>
                    <a:pt x="25756" y="53582"/>
                    <a:pt x="25756" y="53582"/>
                  </a:cubicBezTo>
                  <a:cubicBezTo>
                    <a:pt x="25756" y="51137"/>
                    <a:pt x="25756" y="51137"/>
                    <a:pt x="25756" y="51137"/>
                  </a:cubicBezTo>
                  <a:cubicBezTo>
                    <a:pt x="45658" y="51137"/>
                    <a:pt x="45658" y="51137"/>
                    <a:pt x="45658" y="51137"/>
                  </a:cubicBezTo>
                  <a:cubicBezTo>
                    <a:pt x="45658" y="53582"/>
                    <a:pt x="45658" y="53582"/>
                    <a:pt x="45658" y="53582"/>
                  </a:cubicBezTo>
                  <a:cubicBezTo>
                    <a:pt x="44780" y="53582"/>
                    <a:pt x="44780" y="53582"/>
                    <a:pt x="44780" y="53582"/>
                  </a:cubicBezTo>
                  <a:cubicBezTo>
                    <a:pt x="43024" y="53582"/>
                    <a:pt x="41560" y="54601"/>
                    <a:pt x="41560" y="56027"/>
                  </a:cubicBezTo>
                  <a:cubicBezTo>
                    <a:pt x="41560" y="58879"/>
                    <a:pt x="41560" y="58879"/>
                    <a:pt x="41560" y="58879"/>
                  </a:cubicBezTo>
                  <a:cubicBezTo>
                    <a:pt x="41560" y="60305"/>
                    <a:pt x="43024" y="61324"/>
                    <a:pt x="44780" y="61324"/>
                  </a:cubicBezTo>
                  <a:cubicBezTo>
                    <a:pt x="50926" y="61324"/>
                    <a:pt x="50926" y="61324"/>
                    <a:pt x="50926" y="61324"/>
                  </a:cubicBezTo>
                  <a:cubicBezTo>
                    <a:pt x="52682" y="61324"/>
                    <a:pt x="54146" y="60305"/>
                    <a:pt x="54146" y="58879"/>
                  </a:cubicBezTo>
                  <a:cubicBezTo>
                    <a:pt x="54146" y="56027"/>
                    <a:pt x="54146" y="56027"/>
                    <a:pt x="54146" y="56027"/>
                  </a:cubicBezTo>
                  <a:cubicBezTo>
                    <a:pt x="54146" y="54601"/>
                    <a:pt x="52682" y="53582"/>
                    <a:pt x="50926" y="53582"/>
                  </a:cubicBezTo>
                  <a:cubicBezTo>
                    <a:pt x="50341" y="53582"/>
                    <a:pt x="50341" y="53582"/>
                    <a:pt x="50341" y="53582"/>
                  </a:cubicBezTo>
                  <a:cubicBezTo>
                    <a:pt x="50341" y="51137"/>
                    <a:pt x="50341" y="51137"/>
                    <a:pt x="50341" y="51137"/>
                  </a:cubicBezTo>
                  <a:cubicBezTo>
                    <a:pt x="69951" y="51137"/>
                    <a:pt x="69951" y="51137"/>
                    <a:pt x="69951" y="51137"/>
                  </a:cubicBezTo>
                  <a:cubicBezTo>
                    <a:pt x="69951" y="53582"/>
                    <a:pt x="69951" y="53582"/>
                    <a:pt x="69951" y="53582"/>
                  </a:cubicBezTo>
                  <a:cubicBezTo>
                    <a:pt x="69073" y="53582"/>
                    <a:pt x="69073" y="53582"/>
                    <a:pt x="69073" y="53582"/>
                  </a:cubicBezTo>
                  <a:cubicBezTo>
                    <a:pt x="67317" y="53582"/>
                    <a:pt x="65853" y="54601"/>
                    <a:pt x="65853" y="56027"/>
                  </a:cubicBezTo>
                  <a:cubicBezTo>
                    <a:pt x="65853" y="58879"/>
                    <a:pt x="65853" y="58879"/>
                    <a:pt x="65853" y="58879"/>
                  </a:cubicBezTo>
                  <a:cubicBezTo>
                    <a:pt x="65853" y="60305"/>
                    <a:pt x="67317" y="61324"/>
                    <a:pt x="69073" y="61324"/>
                  </a:cubicBezTo>
                  <a:cubicBezTo>
                    <a:pt x="75219" y="61324"/>
                    <a:pt x="75219" y="61324"/>
                    <a:pt x="75219" y="61324"/>
                  </a:cubicBezTo>
                  <a:cubicBezTo>
                    <a:pt x="76975" y="61324"/>
                    <a:pt x="78439" y="60305"/>
                    <a:pt x="78439" y="58879"/>
                  </a:cubicBezTo>
                  <a:cubicBezTo>
                    <a:pt x="78439" y="56027"/>
                    <a:pt x="78439" y="56027"/>
                    <a:pt x="78439" y="56027"/>
                  </a:cubicBezTo>
                  <a:cubicBezTo>
                    <a:pt x="78439" y="54601"/>
                    <a:pt x="76975" y="53582"/>
                    <a:pt x="75219" y="53582"/>
                  </a:cubicBezTo>
                  <a:cubicBezTo>
                    <a:pt x="74634" y="53582"/>
                    <a:pt x="74634" y="53582"/>
                    <a:pt x="74634" y="53582"/>
                  </a:cubicBezTo>
                  <a:cubicBezTo>
                    <a:pt x="74634" y="51137"/>
                    <a:pt x="74634" y="51137"/>
                    <a:pt x="74634" y="51137"/>
                  </a:cubicBezTo>
                  <a:cubicBezTo>
                    <a:pt x="94243" y="51137"/>
                    <a:pt x="94243" y="51137"/>
                    <a:pt x="94243" y="51137"/>
                  </a:cubicBezTo>
                  <a:cubicBezTo>
                    <a:pt x="94243" y="53582"/>
                    <a:pt x="94243" y="53582"/>
                    <a:pt x="94243" y="53582"/>
                  </a:cubicBezTo>
                  <a:cubicBezTo>
                    <a:pt x="93658" y="53582"/>
                    <a:pt x="93658" y="53582"/>
                    <a:pt x="93658" y="53582"/>
                  </a:cubicBezTo>
                  <a:cubicBezTo>
                    <a:pt x="91609" y="53582"/>
                    <a:pt x="90146" y="54601"/>
                    <a:pt x="90146" y="56027"/>
                  </a:cubicBezTo>
                  <a:cubicBezTo>
                    <a:pt x="90146" y="58879"/>
                    <a:pt x="90146" y="58879"/>
                    <a:pt x="90146" y="58879"/>
                  </a:cubicBezTo>
                  <a:cubicBezTo>
                    <a:pt x="90146" y="60305"/>
                    <a:pt x="91609" y="61324"/>
                    <a:pt x="93658" y="61324"/>
                  </a:cubicBezTo>
                  <a:cubicBezTo>
                    <a:pt x="99512" y="61324"/>
                    <a:pt x="99512" y="61324"/>
                    <a:pt x="99512" y="61324"/>
                  </a:cubicBezTo>
                  <a:cubicBezTo>
                    <a:pt x="101560" y="61324"/>
                    <a:pt x="103024" y="60305"/>
                    <a:pt x="103024" y="58879"/>
                  </a:cubicBezTo>
                  <a:cubicBezTo>
                    <a:pt x="103024" y="56027"/>
                    <a:pt x="103024" y="56027"/>
                    <a:pt x="103024" y="56027"/>
                  </a:cubicBezTo>
                  <a:cubicBezTo>
                    <a:pt x="103024" y="54601"/>
                    <a:pt x="101560" y="53582"/>
                    <a:pt x="99512" y="53582"/>
                  </a:cubicBezTo>
                  <a:cubicBezTo>
                    <a:pt x="98926" y="53582"/>
                    <a:pt x="98926" y="53582"/>
                    <a:pt x="98926" y="53582"/>
                  </a:cubicBezTo>
                  <a:cubicBezTo>
                    <a:pt x="98926" y="45432"/>
                    <a:pt x="98926" y="45432"/>
                    <a:pt x="98926" y="45432"/>
                  </a:cubicBezTo>
                  <a:lnTo>
                    <a:pt x="99512" y="45432"/>
                  </a:lnTo>
                  <a:close/>
                  <a:moveTo>
                    <a:pt x="29853" y="17928"/>
                  </a:moveTo>
                  <a:cubicBezTo>
                    <a:pt x="38926" y="11612"/>
                    <a:pt x="38926" y="11612"/>
                    <a:pt x="38926" y="11612"/>
                  </a:cubicBezTo>
                  <a:cubicBezTo>
                    <a:pt x="39804" y="11001"/>
                    <a:pt x="41268" y="11001"/>
                    <a:pt x="42146" y="11612"/>
                  </a:cubicBezTo>
                  <a:cubicBezTo>
                    <a:pt x="43024" y="12427"/>
                    <a:pt x="43024" y="13446"/>
                    <a:pt x="42146" y="14057"/>
                  </a:cubicBezTo>
                  <a:cubicBezTo>
                    <a:pt x="37170" y="17521"/>
                    <a:pt x="37170" y="17521"/>
                    <a:pt x="37170" y="17521"/>
                  </a:cubicBezTo>
                  <a:cubicBezTo>
                    <a:pt x="70829" y="17521"/>
                    <a:pt x="70829" y="17521"/>
                    <a:pt x="70829" y="17521"/>
                  </a:cubicBezTo>
                  <a:cubicBezTo>
                    <a:pt x="72292" y="17521"/>
                    <a:pt x="73170" y="18336"/>
                    <a:pt x="73170" y="19151"/>
                  </a:cubicBezTo>
                  <a:cubicBezTo>
                    <a:pt x="73170" y="19966"/>
                    <a:pt x="72292" y="20780"/>
                    <a:pt x="70829" y="20780"/>
                  </a:cubicBezTo>
                  <a:cubicBezTo>
                    <a:pt x="37170" y="20780"/>
                    <a:pt x="37170" y="20780"/>
                    <a:pt x="37170" y="20780"/>
                  </a:cubicBezTo>
                  <a:cubicBezTo>
                    <a:pt x="42146" y="24244"/>
                    <a:pt x="42146" y="24244"/>
                    <a:pt x="42146" y="24244"/>
                  </a:cubicBezTo>
                  <a:cubicBezTo>
                    <a:pt x="43024" y="24855"/>
                    <a:pt x="43024" y="25874"/>
                    <a:pt x="42146" y="26485"/>
                  </a:cubicBezTo>
                  <a:cubicBezTo>
                    <a:pt x="41853" y="26893"/>
                    <a:pt x="41268" y="26893"/>
                    <a:pt x="40682" y="26893"/>
                  </a:cubicBezTo>
                  <a:cubicBezTo>
                    <a:pt x="40097" y="26893"/>
                    <a:pt x="39512" y="26893"/>
                    <a:pt x="38926" y="26485"/>
                  </a:cubicBezTo>
                  <a:cubicBezTo>
                    <a:pt x="29853" y="20169"/>
                    <a:pt x="29853" y="20169"/>
                    <a:pt x="29853" y="20169"/>
                  </a:cubicBezTo>
                  <a:cubicBezTo>
                    <a:pt x="28975" y="19558"/>
                    <a:pt x="28975" y="18539"/>
                    <a:pt x="29853" y="17928"/>
                  </a:cubicBezTo>
                  <a:moveTo>
                    <a:pt x="90146" y="28319"/>
                  </a:moveTo>
                  <a:cubicBezTo>
                    <a:pt x="81073" y="34634"/>
                    <a:pt x="81073" y="34634"/>
                    <a:pt x="81073" y="34634"/>
                  </a:cubicBezTo>
                  <a:cubicBezTo>
                    <a:pt x="80195" y="35246"/>
                    <a:pt x="78731" y="35246"/>
                    <a:pt x="77853" y="34634"/>
                  </a:cubicBezTo>
                  <a:cubicBezTo>
                    <a:pt x="76975" y="34023"/>
                    <a:pt x="76975" y="33005"/>
                    <a:pt x="77853" y="32393"/>
                  </a:cubicBezTo>
                  <a:cubicBezTo>
                    <a:pt x="82829" y="28726"/>
                    <a:pt x="82829" y="28726"/>
                    <a:pt x="82829" y="28726"/>
                  </a:cubicBezTo>
                  <a:cubicBezTo>
                    <a:pt x="49170" y="28726"/>
                    <a:pt x="49170" y="28726"/>
                    <a:pt x="49170" y="28726"/>
                  </a:cubicBezTo>
                  <a:cubicBezTo>
                    <a:pt x="48000" y="28726"/>
                    <a:pt x="46829" y="28115"/>
                    <a:pt x="46829" y="27096"/>
                  </a:cubicBezTo>
                  <a:cubicBezTo>
                    <a:pt x="46829" y="26281"/>
                    <a:pt x="48000" y="25466"/>
                    <a:pt x="49170" y="25466"/>
                  </a:cubicBezTo>
                  <a:cubicBezTo>
                    <a:pt x="82829" y="25466"/>
                    <a:pt x="82829" y="25466"/>
                    <a:pt x="82829" y="25466"/>
                  </a:cubicBezTo>
                  <a:cubicBezTo>
                    <a:pt x="77853" y="22207"/>
                    <a:pt x="77853" y="22207"/>
                    <a:pt x="77853" y="22207"/>
                  </a:cubicBezTo>
                  <a:cubicBezTo>
                    <a:pt x="76975" y="21392"/>
                    <a:pt x="76975" y="20373"/>
                    <a:pt x="77853" y="19762"/>
                  </a:cubicBezTo>
                  <a:cubicBezTo>
                    <a:pt x="78439" y="19558"/>
                    <a:pt x="79024" y="19354"/>
                    <a:pt x="79609" y="19354"/>
                  </a:cubicBezTo>
                  <a:cubicBezTo>
                    <a:pt x="80195" y="19354"/>
                    <a:pt x="80780" y="19558"/>
                    <a:pt x="81073" y="19762"/>
                  </a:cubicBezTo>
                  <a:cubicBezTo>
                    <a:pt x="90146" y="26078"/>
                    <a:pt x="90146" y="26078"/>
                    <a:pt x="90146" y="26078"/>
                  </a:cubicBezTo>
                  <a:cubicBezTo>
                    <a:pt x="91024" y="26689"/>
                    <a:pt x="91024" y="27707"/>
                    <a:pt x="90146" y="28319"/>
                  </a:cubicBezTo>
                </a:path>
              </a:pathLst>
            </a:custGeom>
            <a:solidFill>
              <a:srgbClr val="505256"/>
            </a:solidFill>
            <a:ln>
              <a:noFill/>
            </a:ln>
          </p:spPr>
          <p:txBody>
            <a:bodyPr anchorCtr="0" anchor="ctr" bIns="54425" lIns="108875" rIns="108875" tIns="128595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
          <p:nvSpPr>
            <p:cNvPr id="542" name="Shape 542"/>
            <p:cNvSpPr txBox="1"/>
            <p:nvPr/>
          </p:nvSpPr>
          <p:spPr>
            <a:xfrm>
              <a:off x="8601845" y="5311269"/>
              <a:ext cx="360253" cy="168751"/>
            </a:xfrm>
            <a:prstGeom prst="rect">
              <a:avLst/>
            </a:prstGeom>
            <a:noFill/>
            <a:ln>
              <a:noFill/>
            </a:ln>
          </p:spPr>
          <p:txBody>
            <a:bodyPr anchorCtr="0" anchor="ctr" bIns="0" lIns="0" rIns="0" tIns="0">
              <a:noAutofit/>
            </a:bodyPr>
            <a:lstStyle/>
            <a:p>
              <a:pPr indent="0" lvl="0" marL="0" marR="0" rtl="0" algn="l">
                <a:spcBef>
                  <a:spcPts val="0"/>
                </a:spcBef>
                <a:spcAft>
                  <a:spcPts val="0"/>
                </a:spcAft>
                <a:buNone/>
              </a:pPr>
              <a:r>
                <a:t/>
              </a:r>
              <a:endParaRPr b="0" sz="1100" u="none">
                <a:solidFill>
                  <a:schemeClr val="dk1"/>
                </a:solidFill>
                <a:latin typeface="Arial"/>
                <a:ea typeface="Arial"/>
                <a:cs typeface="Arial"/>
                <a:sym typeface="Arial"/>
              </a:endParaRPr>
            </a:p>
          </p:txBody>
        </p:sp>
        <p:pic>
          <p:nvPicPr>
            <p:cNvPr id="543" name="Shape 543"/>
            <p:cNvPicPr preferRelativeResize="0"/>
            <p:nvPr/>
          </p:nvPicPr>
          <p:blipFill rotWithShape="1">
            <a:blip r:embed="rId4">
              <a:alphaModFix/>
            </a:blip>
            <a:srcRect b="0" l="0" r="0" t="0"/>
            <a:stretch/>
          </p:blipFill>
          <p:spPr>
            <a:xfrm>
              <a:off x="8595196" y="5166796"/>
              <a:ext cx="354936" cy="151755"/>
            </a:xfrm>
            <a:prstGeom prst="rect">
              <a:avLst/>
            </a:prstGeom>
            <a:noFill/>
            <a:ln>
              <a:noFill/>
            </a:ln>
          </p:spPr>
        </p:pic>
        <p:sp>
          <p:nvSpPr>
            <p:cNvPr id="544" name="Shape 544"/>
            <p:cNvSpPr/>
            <p:nvPr/>
          </p:nvSpPr>
          <p:spPr>
            <a:xfrm>
              <a:off x="3439873" y="5107758"/>
              <a:ext cx="5165649" cy="960214"/>
            </a:xfrm>
            <a:custGeom>
              <a:pathLst>
                <a:path extrusionOk="0" h="120000" w="120000">
                  <a:moveTo>
                    <a:pt x="0" y="39130"/>
                  </a:moveTo>
                  <a:lnTo>
                    <a:pt x="7699" y="28695"/>
                  </a:lnTo>
                  <a:lnTo>
                    <a:pt x="12743" y="15652"/>
                  </a:lnTo>
                  <a:lnTo>
                    <a:pt x="15398" y="37826"/>
                  </a:lnTo>
                  <a:lnTo>
                    <a:pt x="18318" y="16956"/>
                  </a:lnTo>
                  <a:lnTo>
                    <a:pt x="22831" y="30000"/>
                  </a:lnTo>
                  <a:lnTo>
                    <a:pt x="45132" y="35217"/>
                  </a:lnTo>
                  <a:lnTo>
                    <a:pt x="46991" y="18260"/>
                  </a:lnTo>
                  <a:lnTo>
                    <a:pt x="60000" y="23478"/>
                  </a:lnTo>
                  <a:lnTo>
                    <a:pt x="63982" y="0"/>
                  </a:lnTo>
                  <a:lnTo>
                    <a:pt x="71150" y="30000"/>
                  </a:lnTo>
                  <a:lnTo>
                    <a:pt x="95309" y="32608"/>
                  </a:lnTo>
                  <a:lnTo>
                    <a:pt x="95840" y="96521"/>
                  </a:lnTo>
                  <a:lnTo>
                    <a:pt x="104336" y="116086"/>
                  </a:lnTo>
                  <a:lnTo>
                    <a:pt x="110442" y="109565"/>
                  </a:lnTo>
                  <a:lnTo>
                    <a:pt x="113628" y="106956"/>
                  </a:lnTo>
                  <a:lnTo>
                    <a:pt x="118672" y="120000"/>
                  </a:lnTo>
                  <a:lnTo>
                    <a:pt x="118938" y="49565"/>
                  </a:lnTo>
                  <a:lnTo>
                    <a:pt x="120000" y="36521"/>
                  </a:lnTo>
                </a:path>
              </a:pathLst>
            </a:custGeom>
            <a:noFill/>
            <a:ln cap="flat" cmpd="sng" w="57150">
              <a:solidFill>
                <a:srgbClr val="00B050"/>
              </a:solidFill>
              <a:prstDash val="solid"/>
              <a:round/>
              <a:headEnd len="med" w="med" type="none"/>
              <a:tailEnd len="med" w="med" type="none"/>
            </a:ln>
          </p:spPr>
          <p:txBody>
            <a:bodyPr anchorCtr="0" anchor="t" bIns="54425" lIns="85725" rIns="85725" tIns="54425">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cxnSp>
          <p:nvCxnSpPr>
            <p:cNvPr id="545" name="Shape 545"/>
            <p:cNvCxnSpPr>
              <a:stCxn id="542" idx="1"/>
            </p:cNvCxnSpPr>
            <p:nvPr/>
          </p:nvCxnSpPr>
          <p:spPr>
            <a:xfrm>
              <a:off x="8601845" y="5395645"/>
              <a:ext cx="360300" cy="52200"/>
            </a:xfrm>
            <a:prstGeom prst="straightConnector1">
              <a:avLst/>
            </a:prstGeom>
            <a:solidFill>
              <a:schemeClr val="accent1"/>
            </a:solidFill>
            <a:ln cap="flat" cmpd="sng" w="57150">
              <a:solidFill>
                <a:srgbClr val="FF0000"/>
              </a:solidFill>
              <a:prstDash val="solid"/>
              <a:round/>
              <a:headEnd len="med" w="med" type="none"/>
              <a:tailEnd len="med" w="med" type="none"/>
            </a:ln>
          </p:spPr>
        </p:cxnSp>
        <p:cxnSp>
          <p:nvCxnSpPr>
            <p:cNvPr id="546" name="Shape 546"/>
            <p:cNvCxnSpPr>
              <a:endCxn id="538" idx="3"/>
            </p:cNvCxnSpPr>
            <p:nvPr/>
          </p:nvCxnSpPr>
          <p:spPr>
            <a:xfrm flipH="1" rot="10800000">
              <a:off x="3127517" y="5447607"/>
              <a:ext cx="308100" cy="105000"/>
            </a:xfrm>
            <a:prstGeom prst="straightConnector1">
              <a:avLst/>
            </a:prstGeom>
            <a:solidFill>
              <a:schemeClr val="accent1"/>
            </a:solidFill>
            <a:ln cap="flat" cmpd="sng" w="57150">
              <a:solidFill>
                <a:srgbClr val="FF0000"/>
              </a:solidFill>
              <a:prstDash val="solid"/>
              <a:round/>
              <a:headEnd len="med" w="med" type="none"/>
              <a:tailEnd len="med" w="med" type="none"/>
            </a:ln>
          </p:spPr>
        </p:cxnSp>
        <p:cxnSp>
          <p:nvCxnSpPr>
            <p:cNvPr id="547" name="Shape 547"/>
            <p:cNvCxnSpPr/>
            <p:nvPr/>
          </p:nvCxnSpPr>
          <p:spPr>
            <a:xfrm flipH="1">
              <a:off x="5059115" y="3376153"/>
              <a:ext cx="936044" cy="400809"/>
            </a:xfrm>
            <a:prstGeom prst="straightConnector1">
              <a:avLst/>
            </a:prstGeom>
            <a:solidFill>
              <a:schemeClr val="accent1"/>
            </a:solidFill>
            <a:ln cap="flat" cmpd="sng" w="12700">
              <a:solidFill>
                <a:schemeClr val="dk1"/>
              </a:solidFill>
              <a:prstDash val="solid"/>
              <a:round/>
              <a:headEnd len="lg" w="lg" type="triangle"/>
              <a:tailEnd len="lg" w="lg" type="triangle"/>
            </a:ln>
          </p:spPr>
        </p:cxnSp>
        <p:cxnSp>
          <p:nvCxnSpPr>
            <p:cNvPr id="548" name="Shape 548"/>
            <p:cNvCxnSpPr/>
            <p:nvPr/>
          </p:nvCxnSpPr>
          <p:spPr>
            <a:xfrm flipH="1">
              <a:off x="6115089" y="3345369"/>
              <a:ext cx="44572" cy="431592"/>
            </a:xfrm>
            <a:prstGeom prst="straightConnector1">
              <a:avLst/>
            </a:prstGeom>
            <a:solidFill>
              <a:schemeClr val="accent1"/>
            </a:solidFill>
            <a:ln cap="flat" cmpd="sng" w="12700">
              <a:solidFill>
                <a:schemeClr val="dk1"/>
              </a:solidFill>
              <a:prstDash val="solid"/>
              <a:round/>
              <a:headEnd len="lg" w="lg" type="triangle"/>
              <a:tailEnd len="lg" w="lg" type="triangle"/>
            </a:ln>
          </p:spPr>
        </p:cxnSp>
        <p:cxnSp>
          <p:nvCxnSpPr>
            <p:cNvPr id="549" name="Shape 549"/>
            <p:cNvCxnSpPr/>
            <p:nvPr/>
          </p:nvCxnSpPr>
          <p:spPr>
            <a:xfrm>
              <a:off x="6342767" y="3389492"/>
              <a:ext cx="828296" cy="387469"/>
            </a:xfrm>
            <a:prstGeom prst="straightConnector1">
              <a:avLst/>
            </a:prstGeom>
            <a:solidFill>
              <a:schemeClr val="accent1"/>
            </a:solidFill>
            <a:ln cap="flat" cmpd="sng" w="12700">
              <a:solidFill>
                <a:schemeClr val="dk1"/>
              </a:solidFill>
              <a:prstDash val="solid"/>
              <a:round/>
              <a:headEnd len="lg" w="lg" type="triangle"/>
              <a:tailEnd len="lg" w="lg" type="triangle"/>
            </a:ln>
          </p:spPr>
        </p:cxnSp>
        <p:cxnSp>
          <p:nvCxnSpPr>
            <p:cNvPr id="550" name="Shape 550"/>
            <p:cNvCxnSpPr/>
            <p:nvPr/>
          </p:nvCxnSpPr>
          <p:spPr>
            <a:xfrm flipH="1">
              <a:off x="6326282" y="2364372"/>
              <a:ext cx="739181" cy="337691"/>
            </a:xfrm>
            <a:prstGeom prst="straightConnector1">
              <a:avLst/>
            </a:prstGeom>
            <a:solidFill>
              <a:schemeClr val="accent1"/>
            </a:solidFill>
            <a:ln cap="flat" cmpd="sng" w="12700">
              <a:solidFill>
                <a:schemeClr val="dk1"/>
              </a:solidFill>
              <a:prstDash val="solid"/>
              <a:round/>
              <a:headEnd len="lg" w="lg" type="triangle"/>
              <a:tailEnd len="lg" w="lg" type="triangle"/>
            </a:ln>
          </p:spPr>
        </p:cxnSp>
        <p:cxnSp>
          <p:nvCxnSpPr>
            <p:cNvPr id="551" name="Shape 551"/>
            <p:cNvCxnSpPr/>
            <p:nvPr/>
          </p:nvCxnSpPr>
          <p:spPr>
            <a:xfrm>
              <a:off x="4953517" y="2364372"/>
              <a:ext cx="844778" cy="337691"/>
            </a:xfrm>
            <a:prstGeom prst="straightConnector1">
              <a:avLst/>
            </a:prstGeom>
            <a:solidFill>
              <a:schemeClr val="accent1"/>
            </a:solidFill>
            <a:ln cap="flat" cmpd="sng" w="12700">
              <a:solidFill>
                <a:schemeClr val="dk1"/>
              </a:solidFill>
              <a:prstDash val="solid"/>
              <a:round/>
              <a:headEnd len="lg" w="lg" type="triangle"/>
              <a:tailEnd len="lg" w="lg" type="triangle"/>
            </a:ln>
          </p:spPr>
        </p:cxnSp>
        <p:sp>
          <p:nvSpPr>
            <p:cNvPr id="552" name="Shape 552"/>
            <p:cNvSpPr/>
            <p:nvPr/>
          </p:nvSpPr>
          <p:spPr>
            <a:xfrm>
              <a:off x="8307972" y="2286528"/>
              <a:ext cx="304879" cy="533524"/>
            </a:xfrm>
            <a:prstGeom prst="rightBrace">
              <a:avLst>
                <a:gd fmla="val 8333" name="adj1"/>
                <a:gd fmla="val 50000" name="adj2"/>
              </a:avLst>
            </a:prstGeom>
            <a:noFill/>
            <a:ln cap="flat" cmpd="sng" w="28575">
              <a:solidFill>
                <a:schemeClr val="dk1"/>
              </a:solidFill>
              <a:prstDash val="solid"/>
              <a:round/>
              <a:headEnd len="med" w="med" type="none"/>
              <a:tailEnd len="med" w="med" type="none"/>
            </a:ln>
          </p:spPr>
          <p:txBody>
            <a:bodyPr anchorCtr="0" anchor="ctr" bIns="54425" lIns="108875" rIns="108875" tIns="54425">
              <a:noAutofit/>
            </a:bodyPr>
            <a:lstStyle/>
            <a:p>
              <a:pPr indent="0" lvl="0" marL="0" marR="0" rtl="0" algn="ctr">
                <a:spcBef>
                  <a:spcPts val="0"/>
                </a:spcBef>
                <a:spcAft>
                  <a:spcPts val="0"/>
                </a:spcAft>
                <a:buNone/>
              </a:pPr>
              <a:r>
                <a:t/>
              </a:r>
              <a:endParaRPr sz="1050">
                <a:solidFill>
                  <a:schemeClr val="dk1"/>
                </a:solidFill>
                <a:latin typeface="Arial"/>
                <a:ea typeface="Arial"/>
                <a:cs typeface="Arial"/>
                <a:sym typeface="Arial"/>
              </a:endParaRPr>
            </a:p>
          </p:txBody>
        </p:sp>
        <p:sp>
          <p:nvSpPr>
            <p:cNvPr id="553" name="Shape 553"/>
            <p:cNvSpPr/>
            <p:nvPr/>
          </p:nvSpPr>
          <p:spPr>
            <a:xfrm>
              <a:off x="8275896" y="3277357"/>
              <a:ext cx="304879" cy="533524"/>
            </a:xfrm>
            <a:prstGeom prst="rightBrace">
              <a:avLst>
                <a:gd fmla="val 8333" name="adj1"/>
                <a:gd fmla="val 50000" name="adj2"/>
              </a:avLst>
            </a:prstGeom>
            <a:noFill/>
            <a:ln cap="flat" cmpd="sng" w="28575">
              <a:solidFill>
                <a:schemeClr val="dk1"/>
              </a:solidFill>
              <a:prstDash val="solid"/>
              <a:round/>
              <a:headEnd len="med" w="med" type="none"/>
              <a:tailEnd len="med" w="med" type="none"/>
            </a:ln>
          </p:spPr>
          <p:txBody>
            <a:bodyPr anchorCtr="0" anchor="ctr" bIns="54425" lIns="108875" rIns="108875" tIns="54425">
              <a:noAutofit/>
            </a:bodyPr>
            <a:lstStyle/>
            <a:p>
              <a:pPr indent="0" lvl="0" marL="0" marR="0" rtl="0" algn="ctr">
                <a:spcBef>
                  <a:spcPts val="0"/>
                </a:spcBef>
                <a:spcAft>
                  <a:spcPts val="0"/>
                </a:spcAft>
                <a:buNone/>
              </a:pPr>
              <a:r>
                <a:t/>
              </a:r>
              <a:endParaRPr sz="1050">
                <a:solidFill>
                  <a:schemeClr val="dk1"/>
                </a:solidFill>
                <a:latin typeface="Arial"/>
                <a:ea typeface="Arial"/>
                <a:cs typeface="Arial"/>
                <a:sym typeface="Arial"/>
              </a:endParaRPr>
            </a:p>
          </p:txBody>
        </p:sp>
        <p:sp>
          <p:nvSpPr>
            <p:cNvPr id="554" name="Shape 554"/>
            <p:cNvSpPr/>
            <p:nvPr/>
          </p:nvSpPr>
          <p:spPr>
            <a:xfrm>
              <a:off x="8950132" y="4531053"/>
              <a:ext cx="304879" cy="533524"/>
            </a:xfrm>
            <a:prstGeom prst="rightBrace">
              <a:avLst>
                <a:gd fmla="val 8333" name="adj1"/>
                <a:gd fmla="val 50000" name="adj2"/>
              </a:avLst>
            </a:prstGeom>
            <a:noFill/>
            <a:ln cap="flat" cmpd="sng" w="28575">
              <a:solidFill>
                <a:schemeClr val="dk1"/>
              </a:solidFill>
              <a:prstDash val="solid"/>
              <a:round/>
              <a:headEnd len="med" w="med" type="none"/>
              <a:tailEnd len="med" w="med" type="none"/>
            </a:ln>
          </p:spPr>
          <p:txBody>
            <a:bodyPr anchorCtr="0" anchor="ctr" bIns="54425" lIns="108875" rIns="108875" tIns="54425">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555" name="Shape 555"/>
            <p:cNvSpPr txBox="1"/>
            <p:nvPr/>
          </p:nvSpPr>
          <p:spPr>
            <a:xfrm>
              <a:off x="8641197" y="2364367"/>
              <a:ext cx="844800" cy="341400"/>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200">
                  <a:solidFill>
                    <a:schemeClr val="dk1"/>
                  </a:solidFill>
                  <a:latin typeface="Arial"/>
                  <a:ea typeface="Arial"/>
                  <a:cs typeface="Arial"/>
                  <a:sym typeface="Arial"/>
                </a:rPr>
                <a:t>CMI</a:t>
              </a:r>
            </a:p>
          </p:txBody>
        </p:sp>
        <p:sp>
          <p:nvSpPr>
            <p:cNvPr id="556" name="Shape 556"/>
            <p:cNvSpPr txBox="1"/>
            <p:nvPr/>
          </p:nvSpPr>
          <p:spPr>
            <a:xfrm>
              <a:off x="8622517" y="3091925"/>
              <a:ext cx="1273534" cy="806843"/>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200">
                  <a:solidFill>
                    <a:schemeClr val="dk1"/>
                  </a:solidFill>
                  <a:latin typeface="Arial"/>
                  <a:ea typeface="Arial"/>
                  <a:cs typeface="Arial"/>
                  <a:sym typeface="Arial"/>
                </a:rPr>
                <a:t>MPI: RestConf/YANG</a:t>
              </a:r>
            </a:p>
          </p:txBody>
        </p:sp>
        <p:sp>
          <p:nvSpPr>
            <p:cNvPr id="557" name="Shape 557"/>
            <p:cNvSpPr txBox="1"/>
            <p:nvPr/>
          </p:nvSpPr>
          <p:spPr>
            <a:xfrm>
              <a:off x="9149497" y="4610509"/>
              <a:ext cx="1468500" cy="1031400"/>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200">
                  <a:solidFill>
                    <a:schemeClr val="dk1"/>
                  </a:solidFill>
                  <a:latin typeface="Arial"/>
                  <a:ea typeface="Arial"/>
                  <a:cs typeface="Arial"/>
                  <a:sym typeface="Arial"/>
                </a:rPr>
                <a:t>SBI: OpenFlow, PCEP, BGP, Proprietary</a:t>
              </a:r>
            </a:p>
          </p:txBody>
        </p:sp>
        <p:sp>
          <p:nvSpPr>
            <p:cNvPr id="558" name="Shape 558"/>
            <p:cNvSpPr txBox="1"/>
            <p:nvPr/>
          </p:nvSpPr>
          <p:spPr>
            <a:xfrm>
              <a:off x="2791290" y="1566550"/>
              <a:ext cx="1930902" cy="769695"/>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200">
                  <a:solidFill>
                    <a:schemeClr val="dk1"/>
                  </a:solidFill>
                  <a:latin typeface="Arial"/>
                  <a:ea typeface="Arial"/>
                  <a:cs typeface="Arial"/>
                  <a:sym typeface="Arial"/>
                </a:rPr>
                <a:t>Customer Network Controller</a:t>
              </a:r>
            </a:p>
          </p:txBody>
        </p:sp>
        <p:sp>
          <p:nvSpPr>
            <p:cNvPr id="559" name="Shape 559"/>
            <p:cNvSpPr txBox="1"/>
            <p:nvPr/>
          </p:nvSpPr>
          <p:spPr>
            <a:xfrm>
              <a:off x="2759833" y="3091925"/>
              <a:ext cx="1327639" cy="806843"/>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200">
                  <a:solidFill>
                    <a:schemeClr val="dk1"/>
                  </a:solidFill>
                  <a:latin typeface="Arial"/>
                  <a:ea typeface="Arial"/>
                  <a:cs typeface="Arial"/>
                  <a:sym typeface="Arial"/>
                </a:rPr>
                <a:t>Physical Network Controller</a:t>
              </a:r>
            </a:p>
          </p:txBody>
        </p:sp>
        <p:sp>
          <p:nvSpPr>
            <p:cNvPr id="560" name="Shape 560"/>
            <p:cNvSpPr txBox="1"/>
            <p:nvPr/>
          </p:nvSpPr>
          <p:spPr>
            <a:xfrm>
              <a:off x="4009026" y="2632216"/>
              <a:ext cx="1930902" cy="769695"/>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200">
                  <a:solidFill>
                    <a:schemeClr val="dk1"/>
                  </a:solidFill>
                  <a:latin typeface="Arial"/>
                  <a:ea typeface="Arial"/>
                  <a:cs typeface="Arial"/>
                  <a:sym typeface="Arial"/>
                </a:rPr>
                <a:t>Multi-domain Service </a:t>
              </a:r>
            </a:p>
            <a:p>
              <a:pPr indent="0" lvl="0" marL="0" marR="0" rtl="0" algn="l">
                <a:spcBef>
                  <a:spcPts val="0"/>
                </a:spcBef>
                <a:spcAft>
                  <a:spcPts val="0"/>
                </a:spcAft>
                <a:buSzPct val="25000"/>
                <a:buNone/>
              </a:pPr>
              <a:r>
                <a:rPr lang="en" sz="1200">
                  <a:solidFill>
                    <a:schemeClr val="dk1"/>
                  </a:solidFill>
                  <a:latin typeface="Arial"/>
                  <a:ea typeface="Arial"/>
                  <a:cs typeface="Arial"/>
                  <a:sym typeface="Arial"/>
                </a:rPr>
                <a:t>Coordinator</a:t>
              </a:r>
            </a:p>
          </p:txBody>
        </p:sp>
        <p:sp>
          <p:nvSpPr>
            <p:cNvPr id="561" name="Shape 561"/>
            <p:cNvSpPr/>
            <p:nvPr/>
          </p:nvSpPr>
          <p:spPr>
            <a:xfrm>
              <a:off x="3963432" y="1600570"/>
              <a:ext cx="1147559" cy="685958"/>
            </a:xfrm>
            <a:custGeom>
              <a:pathLst>
                <a:path extrusionOk="0" h="120000" w="120000">
                  <a:moveTo>
                    <a:pt x="117652" y="13650"/>
                  </a:moveTo>
                  <a:cubicBezTo>
                    <a:pt x="118826" y="13650"/>
                    <a:pt x="120000" y="13039"/>
                    <a:pt x="120000" y="12020"/>
                  </a:cubicBezTo>
                  <a:cubicBezTo>
                    <a:pt x="120000" y="8149"/>
                    <a:pt x="120000" y="8149"/>
                    <a:pt x="120000" y="8149"/>
                  </a:cubicBezTo>
                  <a:cubicBezTo>
                    <a:pt x="120000" y="3667"/>
                    <a:pt x="114718" y="0"/>
                    <a:pt x="108264" y="0"/>
                  </a:cubicBezTo>
                  <a:cubicBezTo>
                    <a:pt x="11735" y="0"/>
                    <a:pt x="11735" y="0"/>
                    <a:pt x="11735" y="0"/>
                  </a:cubicBezTo>
                  <a:cubicBezTo>
                    <a:pt x="5281" y="0"/>
                    <a:pt x="0" y="3667"/>
                    <a:pt x="0" y="8149"/>
                  </a:cubicBezTo>
                  <a:cubicBezTo>
                    <a:pt x="0" y="111850"/>
                    <a:pt x="0" y="111850"/>
                    <a:pt x="0" y="111850"/>
                  </a:cubicBezTo>
                  <a:cubicBezTo>
                    <a:pt x="0" y="116332"/>
                    <a:pt x="5281" y="120000"/>
                    <a:pt x="11735" y="120000"/>
                  </a:cubicBezTo>
                  <a:cubicBezTo>
                    <a:pt x="108264" y="120000"/>
                    <a:pt x="108264" y="120000"/>
                    <a:pt x="108264" y="120000"/>
                  </a:cubicBezTo>
                  <a:cubicBezTo>
                    <a:pt x="114718" y="120000"/>
                    <a:pt x="120000" y="116332"/>
                    <a:pt x="120000" y="111850"/>
                  </a:cubicBezTo>
                  <a:cubicBezTo>
                    <a:pt x="120000" y="18539"/>
                    <a:pt x="120000" y="18539"/>
                    <a:pt x="120000" y="18539"/>
                  </a:cubicBezTo>
                  <a:cubicBezTo>
                    <a:pt x="120000" y="17724"/>
                    <a:pt x="118826" y="16910"/>
                    <a:pt x="117652" y="16910"/>
                  </a:cubicBezTo>
                  <a:cubicBezTo>
                    <a:pt x="116479" y="16910"/>
                    <a:pt x="115305" y="17724"/>
                    <a:pt x="115305" y="18539"/>
                  </a:cubicBezTo>
                  <a:cubicBezTo>
                    <a:pt x="115305" y="111850"/>
                    <a:pt x="115305" y="111850"/>
                    <a:pt x="115305" y="111850"/>
                  </a:cubicBezTo>
                  <a:cubicBezTo>
                    <a:pt x="115305" y="114499"/>
                    <a:pt x="112078" y="116740"/>
                    <a:pt x="108264" y="116740"/>
                  </a:cubicBezTo>
                  <a:cubicBezTo>
                    <a:pt x="11735" y="116740"/>
                    <a:pt x="11735" y="116740"/>
                    <a:pt x="11735" y="116740"/>
                  </a:cubicBezTo>
                  <a:cubicBezTo>
                    <a:pt x="7628" y="116740"/>
                    <a:pt x="4694" y="114499"/>
                    <a:pt x="4694" y="111850"/>
                  </a:cubicBezTo>
                  <a:cubicBezTo>
                    <a:pt x="4694" y="8149"/>
                    <a:pt x="4694" y="8149"/>
                    <a:pt x="4694" y="8149"/>
                  </a:cubicBezTo>
                  <a:cubicBezTo>
                    <a:pt x="4694" y="5500"/>
                    <a:pt x="7628" y="3259"/>
                    <a:pt x="11735" y="3259"/>
                  </a:cubicBezTo>
                  <a:cubicBezTo>
                    <a:pt x="108264" y="3259"/>
                    <a:pt x="108264" y="3259"/>
                    <a:pt x="108264" y="3259"/>
                  </a:cubicBezTo>
                  <a:cubicBezTo>
                    <a:pt x="112078" y="3259"/>
                    <a:pt x="115305" y="5500"/>
                    <a:pt x="115305" y="8149"/>
                  </a:cubicBezTo>
                  <a:cubicBezTo>
                    <a:pt x="115305" y="12020"/>
                    <a:pt x="115305" y="12020"/>
                    <a:pt x="115305" y="12020"/>
                  </a:cubicBezTo>
                  <a:cubicBezTo>
                    <a:pt x="115305" y="13039"/>
                    <a:pt x="116479" y="13650"/>
                    <a:pt x="117652" y="13650"/>
                  </a:cubicBezTo>
                  <a:close/>
                  <a:moveTo>
                    <a:pt x="59853" y="15483"/>
                  </a:moveTo>
                  <a:cubicBezTo>
                    <a:pt x="58973" y="15483"/>
                    <a:pt x="58386" y="15891"/>
                    <a:pt x="57799" y="16298"/>
                  </a:cubicBezTo>
                  <a:cubicBezTo>
                    <a:pt x="22004" y="66010"/>
                    <a:pt x="22004" y="66010"/>
                    <a:pt x="22004" y="66010"/>
                  </a:cubicBezTo>
                  <a:cubicBezTo>
                    <a:pt x="21711" y="66417"/>
                    <a:pt x="21711" y="67028"/>
                    <a:pt x="22298" y="67640"/>
                  </a:cubicBezTo>
                  <a:cubicBezTo>
                    <a:pt x="22591" y="68047"/>
                    <a:pt x="23471" y="68251"/>
                    <a:pt x="24352" y="68251"/>
                  </a:cubicBezTo>
                  <a:cubicBezTo>
                    <a:pt x="95647" y="68251"/>
                    <a:pt x="95647" y="68251"/>
                    <a:pt x="95647" y="68251"/>
                  </a:cubicBezTo>
                  <a:cubicBezTo>
                    <a:pt x="96528" y="68251"/>
                    <a:pt x="97408" y="68047"/>
                    <a:pt x="97701" y="67640"/>
                  </a:cubicBezTo>
                  <a:cubicBezTo>
                    <a:pt x="97995" y="67028"/>
                    <a:pt x="98288" y="66417"/>
                    <a:pt x="97701" y="66010"/>
                  </a:cubicBezTo>
                  <a:cubicBezTo>
                    <a:pt x="62200" y="16298"/>
                    <a:pt x="62200" y="16298"/>
                    <a:pt x="62200" y="16298"/>
                  </a:cubicBezTo>
                  <a:cubicBezTo>
                    <a:pt x="61613" y="15891"/>
                    <a:pt x="60733" y="15483"/>
                    <a:pt x="59853" y="15483"/>
                  </a:cubicBezTo>
                  <a:close/>
                  <a:moveTo>
                    <a:pt x="28166" y="64991"/>
                  </a:moveTo>
                  <a:cubicBezTo>
                    <a:pt x="59853" y="20780"/>
                    <a:pt x="59853" y="20780"/>
                    <a:pt x="59853" y="20780"/>
                  </a:cubicBezTo>
                  <a:cubicBezTo>
                    <a:pt x="91833" y="64991"/>
                    <a:pt x="91833" y="64991"/>
                    <a:pt x="91833" y="64991"/>
                  </a:cubicBezTo>
                  <a:lnTo>
                    <a:pt x="28166" y="64991"/>
                  </a:lnTo>
                  <a:close/>
                </a:path>
              </a:pathLst>
            </a:custGeom>
            <a:solidFill>
              <a:schemeClr val="accent1"/>
            </a:solidFill>
            <a:ln cap="flat" cmpd="sng" w="25400">
              <a:solidFill>
                <a:srgbClr val="BA944A"/>
              </a:solidFill>
              <a:prstDash val="solid"/>
              <a:round/>
              <a:headEnd len="med" w="med" type="none"/>
              <a:tailEnd len="med" w="med" type="none"/>
            </a:ln>
          </p:spPr>
          <p:txBody>
            <a:bodyPr anchorCtr="0" anchor="ctr" bIns="54425" lIns="108875" rIns="108875" tIns="5442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sp>
          <p:nvSpPr>
            <p:cNvPr id="562" name="Shape 562"/>
            <p:cNvSpPr txBox="1"/>
            <p:nvPr/>
          </p:nvSpPr>
          <p:spPr>
            <a:xfrm>
              <a:off x="4166692" y="1993332"/>
              <a:ext cx="739200" cy="341400"/>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000">
                  <a:solidFill>
                    <a:schemeClr val="dk1"/>
                  </a:solidFill>
                  <a:latin typeface="Arial"/>
                  <a:ea typeface="Arial"/>
                  <a:cs typeface="Arial"/>
                  <a:sym typeface="Arial"/>
                </a:rPr>
                <a:t>C</a:t>
              </a:r>
              <a:r>
                <a:rPr lang="en" sz="1000">
                  <a:solidFill>
                    <a:schemeClr val="dk1"/>
                  </a:solidFill>
                </a:rPr>
                <a:t>N</a:t>
              </a:r>
              <a:r>
                <a:rPr lang="en" sz="1000">
                  <a:solidFill>
                    <a:schemeClr val="dk1"/>
                  </a:solidFill>
                  <a:latin typeface="Arial"/>
                  <a:ea typeface="Arial"/>
                  <a:cs typeface="Arial"/>
                  <a:sym typeface="Arial"/>
                </a:rPr>
                <a:t>C</a:t>
              </a:r>
            </a:p>
          </p:txBody>
        </p:sp>
        <p:sp>
          <p:nvSpPr>
            <p:cNvPr id="563" name="Shape 563"/>
            <p:cNvSpPr/>
            <p:nvPr/>
          </p:nvSpPr>
          <p:spPr>
            <a:xfrm>
              <a:off x="5559785" y="2679288"/>
              <a:ext cx="1147559" cy="685958"/>
            </a:xfrm>
            <a:custGeom>
              <a:pathLst>
                <a:path extrusionOk="0" h="120000" w="120000">
                  <a:moveTo>
                    <a:pt x="117652" y="13650"/>
                  </a:moveTo>
                  <a:cubicBezTo>
                    <a:pt x="118826" y="13650"/>
                    <a:pt x="120000" y="13039"/>
                    <a:pt x="120000" y="12020"/>
                  </a:cubicBezTo>
                  <a:cubicBezTo>
                    <a:pt x="120000" y="8149"/>
                    <a:pt x="120000" y="8149"/>
                    <a:pt x="120000" y="8149"/>
                  </a:cubicBezTo>
                  <a:cubicBezTo>
                    <a:pt x="120000" y="3667"/>
                    <a:pt x="114718" y="0"/>
                    <a:pt x="108264" y="0"/>
                  </a:cubicBezTo>
                  <a:cubicBezTo>
                    <a:pt x="11735" y="0"/>
                    <a:pt x="11735" y="0"/>
                    <a:pt x="11735" y="0"/>
                  </a:cubicBezTo>
                  <a:cubicBezTo>
                    <a:pt x="5281" y="0"/>
                    <a:pt x="0" y="3667"/>
                    <a:pt x="0" y="8149"/>
                  </a:cubicBezTo>
                  <a:cubicBezTo>
                    <a:pt x="0" y="111850"/>
                    <a:pt x="0" y="111850"/>
                    <a:pt x="0" y="111850"/>
                  </a:cubicBezTo>
                  <a:cubicBezTo>
                    <a:pt x="0" y="116332"/>
                    <a:pt x="5281" y="120000"/>
                    <a:pt x="11735" y="120000"/>
                  </a:cubicBezTo>
                  <a:cubicBezTo>
                    <a:pt x="108264" y="120000"/>
                    <a:pt x="108264" y="120000"/>
                    <a:pt x="108264" y="120000"/>
                  </a:cubicBezTo>
                  <a:cubicBezTo>
                    <a:pt x="114718" y="120000"/>
                    <a:pt x="120000" y="116332"/>
                    <a:pt x="120000" y="111850"/>
                  </a:cubicBezTo>
                  <a:cubicBezTo>
                    <a:pt x="120000" y="18539"/>
                    <a:pt x="120000" y="18539"/>
                    <a:pt x="120000" y="18539"/>
                  </a:cubicBezTo>
                  <a:cubicBezTo>
                    <a:pt x="120000" y="17724"/>
                    <a:pt x="118826" y="16910"/>
                    <a:pt x="117652" y="16910"/>
                  </a:cubicBezTo>
                  <a:cubicBezTo>
                    <a:pt x="116479" y="16910"/>
                    <a:pt x="115305" y="17724"/>
                    <a:pt x="115305" y="18539"/>
                  </a:cubicBezTo>
                  <a:cubicBezTo>
                    <a:pt x="115305" y="111850"/>
                    <a:pt x="115305" y="111850"/>
                    <a:pt x="115305" y="111850"/>
                  </a:cubicBezTo>
                  <a:cubicBezTo>
                    <a:pt x="115305" y="114499"/>
                    <a:pt x="112078" y="116740"/>
                    <a:pt x="108264" y="116740"/>
                  </a:cubicBezTo>
                  <a:cubicBezTo>
                    <a:pt x="11735" y="116740"/>
                    <a:pt x="11735" y="116740"/>
                    <a:pt x="11735" y="116740"/>
                  </a:cubicBezTo>
                  <a:cubicBezTo>
                    <a:pt x="7628" y="116740"/>
                    <a:pt x="4694" y="114499"/>
                    <a:pt x="4694" y="111850"/>
                  </a:cubicBezTo>
                  <a:cubicBezTo>
                    <a:pt x="4694" y="8149"/>
                    <a:pt x="4694" y="8149"/>
                    <a:pt x="4694" y="8149"/>
                  </a:cubicBezTo>
                  <a:cubicBezTo>
                    <a:pt x="4694" y="5500"/>
                    <a:pt x="7628" y="3259"/>
                    <a:pt x="11735" y="3259"/>
                  </a:cubicBezTo>
                  <a:cubicBezTo>
                    <a:pt x="108264" y="3259"/>
                    <a:pt x="108264" y="3259"/>
                    <a:pt x="108264" y="3259"/>
                  </a:cubicBezTo>
                  <a:cubicBezTo>
                    <a:pt x="112078" y="3259"/>
                    <a:pt x="115305" y="5500"/>
                    <a:pt x="115305" y="8149"/>
                  </a:cubicBezTo>
                  <a:cubicBezTo>
                    <a:pt x="115305" y="12020"/>
                    <a:pt x="115305" y="12020"/>
                    <a:pt x="115305" y="12020"/>
                  </a:cubicBezTo>
                  <a:cubicBezTo>
                    <a:pt x="115305" y="13039"/>
                    <a:pt x="116479" y="13650"/>
                    <a:pt x="117652" y="13650"/>
                  </a:cubicBezTo>
                  <a:close/>
                  <a:moveTo>
                    <a:pt x="59853" y="15483"/>
                  </a:moveTo>
                  <a:cubicBezTo>
                    <a:pt x="58973" y="15483"/>
                    <a:pt x="58386" y="15891"/>
                    <a:pt x="57799" y="16298"/>
                  </a:cubicBezTo>
                  <a:cubicBezTo>
                    <a:pt x="22004" y="66010"/>
                    <a:pt x="22004" y="66010"/>
                    <a:pt x="22004" y="66010"/>
                  </a:cubicBezTo>
                  <a:cubicBezTo>
                    <a:pt x="21711" y="66417"/>
                    <a:pt x="21711" y="67028"/>
                    <a:pt x="22298" y="67640"/>
                  </a:cubicBezTo>
                  <a:cubicBezTo>
                    <a:pt x="22591" y="68047"/>
                    <a:pt x="23471" y="68251"/>
                    <a:pt x="24352" y="68251"/>
                  </a:cubicBezTo>
                  <a:cubicBezTo>
                    <a:pt x="95647" y="68251"/>
                    <a:pt x="95647" y="68251"/>
                    <a:pt x="95647" y="68251"/>
                  </a:cubicBezTo>
                  <a:cubicBezTo>
                    <a:pt x="96528" y="68251"/>
                    <a:pt x="97408" y="68047"/>
                    <a:pt x="97701" y="67640"/>
                  </a:cubicBezTo>
                  <a:cubicBezTo>
                    <a:pt x="97995" y="67028"/>
                    <a:pt x="98288" y="66417"/>
                    <a:pt x="97701" y="66010"/>
                  </a:cubicBezTo>
                  <a:cubicBezTo>
                    <a:pt x="62200" y="16298"/>
                    <a:pt x="62200" y="16298"/>
                    <a:pt x="62200" y="16298"/>
                  </a:cubicBezTo>
                  <a:cubicBezTo>
                    <a:pt x="61613" y="15891"/>
                    <a:pt x="60733" y="15483"/>
                    <a:pt x="59853" y="15483"/>
                  </a:cubicBezTo>
                  <a:close/>
                  <a:moveTo>
                    <a:pt x="28166" y="64991"/>
                  </a:moveTo>
                  <a:cubicBezTo>
                    <a:pt x="59853" y="20780"/>
                    <a:pt x="59853" y="20780"/>
                    <a:pt x="59853" y="20780"/>
                  </a:cubicBezTo>
                  <a:cubicBezTo>
                    <a:pt x="91833" y="64991"/>
                    <a:pt x="91833" y="64991"/>
                    <a:pt x="91833" y="64991"/>
                  </a:cubicBezTo>
                  <a:lnTo>
                    <a:pt x="28166" y="64991"/>
                  </a:lnTo>
                  <a:close/>
                </a:path>
              </a:pathLst>
            </a:custGeom>
            <a:gradFill>
              <a:gsLst>
                <a:gs pos="0">
                  <a:srgbClr val="BABABA"/>
                </a:gs>
                <a:gs pos="35000">
                  <a:srgbClr val="CFCFCF"/>
                </a:gs>
                <a:gs pos="100000">
                  <a:srgbClr val="EDEDED"/>
                </a:gs>
              </a:gsLst>
              <a:lin ang="16200000" scaled="0"/>
            </a:gradFill>
            <a:ln cap="flat" cmpd="sng" w="9525">
              <a:solidFill>
                <a:schemeClr val="accent4"/>
              </a:solidFill>
              <a:prstDash val="solid"/>
              <a:round/>
              <a:headEnd len="med" w="med" type="none"/>
              <a:tailEnd len="med" w="med" type="none"/>
            </a:ln>
            <a:effectLst>
              <a:outerShdw blurRad="39999" rotWithShape="0" dir="5400000" dist="20000">
                <a:srgbClr val="000000">
                  <a:alpha val="37647"/>
                </a:srgbClr>
              </a:outerShdw>
            </a:effectLst>
          </p:spPr>
          <p:txBody>
            <a:bodyPr anchorCtr="0" anchor="ctr" bIns="54425" lIns="108875" rIns="108875" tIns="5442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p:txBody>
        </p:sp>
        <p:sp>
          <p:nvSpPr>
            <p:cNvPr id="564" name="Shape 564"/>
            <p:cNvSpPr txBox="1"/>
            <p:nvPr/>
          </p:nvSpPr>
          <p:spPr>
            <a:xfrm>
              <a:off x="5661426" y="3060381"/>
              <a:ext cx="910800" cy="341399"/>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000">
                  <a:solidFill>
                    <a:schemeClr val="dk1"/>
                  </a:solidFill>
                  <a:latin typeface="Arial"/>
                  <a:ea typeface="Arial"/>
                  <a:cs typeface="Arial"/>
                  <a:sym typeface="Arial"/>
                </a:rPr>
                <a:t>MDSC</a:t>
              </a:r>
            </a:p>
          </p:txBody>
        </p:sp>
        <p:sp>
          <p:nvSpPr>
            <p:cNvPr id="565" name="Shape 565"/>
            <p:cNvSpPr/>
            <p:nvPr/>
          </p:nvSpPr>
          <p:spPr>
            <a:xfrm>
              <a:off x="2845541" y="3898769"/>
              <a:ext cx="1147559" cy="685958"/>
            </a:xfrm>
            <a:custGeom>
              <a:pathLst>
                <a:path extrusionOk="0" h="120000" w="120000">
                  <a:moveTo>
                    <a:pt x="117652" y="13650"/>
                  </a:moveTo>
                  <a:cubicBezTo>
                    <a:pt x="118826" y="13650"/>
                    <a:pt x="120000" y="13039"/>
                    <a:pt x="120000" y="12020"/>
                  </a:cubicBezTo>
                  <a:cubicBezTo>
                    <a:pt x="120000" y="8149"/>
                    <a:pt x="120000" y="8149"/>
                    <a:pt x="120000" y="8149"/>
                  </a:cubicBezTo>
                  <a:cubicBezTo>
                    <a:pt x="120000" y="3667"/>
                    <a:pt x="114718" y="0"/>
                    <a:pt x="108264" y="0"/>
                  </a:cubicBezTo>
                  <a:cubicBezTo>
                    <a:pt x="11735" y="0"/>
                    <a:pt x="11735" y="0"/>
                    <a:pt x="11735" y="0"/>
                  </a:cubicBezTo>
                  <a:cubicBezTo>
                    <a:pt x="5281" y="0"/>
                    <a:pt x="0" y="3667"/>
                    <a:pt x="0" y="8149"/>
                  </a:cubicBezTo>
                  <a:cubicBezTo>
                    <a:pt x="0" y="111850"/>
                    <a:pt x="0" y="111850"/>
                    <a:pt x="0" y="111850"/>
                  </a:cubicBezTo>
                  <a:cubicBezTo>
                    <a:pt x="0" y="116332"/>
                    <a:pt x="5281" y="120000"/>
                    <a:pt x="11735" y="120000"/>
                  </a:cubicBezTo>
                  <a:cubicBezTo>
                    <a:pt x="108264" y="120000"/>
                    <a:pt x="108264" y="120000"/>
                    <a:pt x="108264" y="120000"/>
                  </a:cubicBezTo>
                  <a:cubicBezTo>
                    <a:pt x="114718" y="120000"/>
                    <a:pt x="120000" y="116332"/>
                    <a:pt x="120000" y="111850"/>
                  </a:cubicBezTo>
                  <a:cubicBezTo>
                    <a:pt x="120000" y="18539"/>
                    <a:pt x="120000" y="18539"/>
                    <a:pt x="120000" y="18539"/>
                  </a:cubicBezTo>
                  <a:cubicBezTo>
                    <a:pt x="120000" y="17724"/>
                    <a:pt x="118826" y="16910"/>
                    <a:pt x="117652" y="16910"/>
                  </a:cubicBezTo>
                  <a:cubicBezTo>
                    <a:pt x="116479" y="16910"/>
                    <a:pt x="115305" y="17724"/>
                    <a:pt x="115305" y="18539"/>
                  </a:cubicBezTo>
                  <a:cubicBezTo>
                    <a:pt x="115305" y="111850"/>
                    <a:pt x="115305" y="111850"/>
                    <a:pt x="115305" y="111850"/>
                  </a:cubicBezTo>
                  <a:cubicBezTo>
                    <a:pt x="115305" y="114499"/>
                    <a:pt x="112078" y="116740"/>
                    <a:pt x="108264" y="116740"/>
                  </a:cubicBezTo>
                  <a:cubicBezTo>
                    <a:pt x="11735" y="116740"/>
                    <a:pt x="11735" y="116740"/>
                    <a:pt x="11735" y="116740"/>
                  </a:cubicBezTo>
                  <a:cubicBezTo>
                    <a:pt x="7628" y="116740"/>
                    <a:pt x="4694" y="114499"/>
                    <a:pt x="4694" y="111850"/>
                  </a:cubicBezTo>
                  <a:cubicBezTo>
                    <a:pt x="4694" y="8149"/>
                    <a:pt x="4694" y="8149"/>
                    <a:pt x="4694" y="8149"/>
                  </a:cubicBezTo>
                  <a:cubicBezTo>
                    <a:pt x="4694" y="5500"/>
                    <a:pt x="7628" y="3259"/>
                    <a:pt x="11735" y="3259"/>
                  </a:cubicBezTo>
                  <a:cubicBezTo>
                    <a:pt x="108264" y="3259"/>
                    <a:pt x="108264" y="3259"/>
                    <a:pt x="108264" y="3259"/>
                  </a:cubicBezTo>
                  <a:cubicBezTo>
                    <a:pt x="112078" y="3259"/>
                    <a:pt x="115305" y="5500"/>
                    <a:pt x="115305" y="8149"/>
                  </a:cubicBezTo>
                  <a:cubicBezTo>
                    <a:pt x="115305" y="12020"/>
                    <a:pt x="115305" y="12020"/>
                    <a:pt x="115305" y="12020"/>
                  </a:cubicBezTo>
                  <a:cubicBezTo>
                    <a:pt x="115305" y="13039"/>
                    <a:pt x="116479" y="13650"/>
                    <a:pt x="117652" y="13650"/>
                  </a:cubicBezTo>
                  <a:close/>
                  <a:moveTo>
                    <a:pt x="59853" y="15483"/>
                  </a:moveTo>
                  <a:cubicBezTo>
                    <a:pt x="58973" y="15483"/>
                    <a:pt x="58386" y="15891"/>
                    <a:pt x="57799" y="16298"/>
                  </a:cubicBezTo>
                  <a:cubicBezTo>
                    <a:pt x="22004" y="66010"/>
                    <a:pt x="22004" y="66010"/>
                    <a:pt x="22004" y="66010"/>
                  </a:cubicBezTo>
                  <a:cubicBezTo>
                    <a:pt x="21711" y="66417"/>
                    <a:pt x="21711" y="67028"/>
                    <a:pt x="22298" y="67640"/>
                  </a:cubicBezTo>
                  <a:cubicBezTo>
                    <a:pt x="22591" y="68047"/>
                    <a:pt x="23471" y="68251"/>
                    <a:pt x="24352" y="68251"/>
                  </a:cubicBezTo>
                  <a:cubicBezTo>
                    <a:pt x="95647" y="68251"/>
                    <a:pt x="95647" y="68251"/>
                    <a:pt x="95647" y="68251"/>
                  </a:cubicBezTo>
                  <a:cubicBezTo>
                    <a:pt x="96528" y="68251"/>
                    <a:pt x="97408" y="68047"/>
                    <a:pt x="97701" y="67640"/>
                  </a:cubicBezTo>
                  <a:cubicBezTo>
                    <a:pt x="97995" y="67028"/>
                    <a:pt x="98288" y="66417"/>
                    <a:pt x="97701" y="66010"/>
                  </a:cubicBezTo>
                  <a:cubicBezTo>
                    <a:pt x="62200" y="16298"/>
                    <a:pt x="62200" y="16298"/>
                    <a:pt x="62200" y="16298"/>
                  </a:cubicBezTo>
                  <a:cubicBezTo>
                    <a:pt x="61613" y="15891"/>
                    <a:pt x="60733" y="15483"/>
                    <a:pt x="59853" y="15483"/>
                  </a:cubicBezTo>
                  <a:close/>
                  <a:moveTo>
                    <a:pt x="28166" y="64991"/>
                  </a:moveTo>
                  <a:cubicBezTo>
                    <a:pt x="59853" y="20780"/>
                    <a:pt x="59853" y="20780"/>
                    <a:pt x="59853" y="20780"/>
                  </a:cubicBezTo>
                  <a:cubicBezTo>
                    <a:pt x="91833" y="64991"/>
                    <a:pt x="91833" y="64991"/>
                    <a:pt x="91833" y="64991"/>
                  </a:cubicBezTo>
                  <a:lnTo>
                    <a:pt x="28166" y="64991"/>
                  </a:lnTo>
                  <a:close/>
                </a:path>
              </a:pathLst>
            </a:custGeom>
            <a:solidFill>
              <a:srgbClr val="0070C0"/>
            </a:solidFill>
            <a:ln cap="flat" cmpd="sng" w="9525">
              <a:solidFill>
                <a:srgbClr val="FCC85F"/>
              </a:solidFill>
              <a:prstDash val="solid"/>
              <a:round/>
              <a:headEnd len="med" w="med" type="none"/>
              <a:tailEnd len="med" w="med" type="none"/>
            </a:ln>
            <a:effectLst>
              <a:outerShdw blurRad="39999" rotWithShape="0" dir="5400000" dist="20000">
                <a:srgbClr val="000000">
                  <a:alpha val="37647"/>
                </a:srgbClr>
              </a:outerShdw>
            </a:effectLst>
          </p:spPr>
          <p:txBody>
            <a:bodyPr anchorCtr="0" anchor="ctr" bIns="54425" lIns="108875" rIns="108875" tIns="5442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p:txBody>
        </p:sp>
        <p:sp>
          <p:nvSpPr>
            <p:cNvPr id="566" name="Shape 566"/>
            <p:cNvSpPr txBox="1"/>
            <p:nvPr/>
          </p:nvSpPr>
          <p:spPr>
            <a:xfrm>
              <a:off x="3048808" y="4279849"/>
              <a:ext cx="702000" cy="341400"/>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000">
                  <a:solidFill>
                    <a:schemeClr val="dk1"/>
                  </a:solidFill>
                  <a:latin typeface="Arial"/>
                  <a:ea typeface="Arial"/>
                  <a:cs typeface="Arial"/>
                  <a:sym typeface="Arial"/>
                </a:rPr>
                <a:t>PNC</a:t>
              </a:r>
            </a:p>
          </p:txBody>
        </p:sp>
        <p:sp>
          <p:nvSpPr>
            <p:cNvPr id="567" name="Shape 567"/>
            <p:cNvSpPr/>
            <p:nvPr/>
          </p:nvSpPr>
          <p:spPr>
            <a:xfrm>
              <a:off x="7084182" y="1600570"/>
              <a:ext cx="1147559" cy="685958"/>
            </a:xfrm>
            <a:custGeom>
              <a:pathLst>
                <a:path extrusionOk="0" h="120000" w="120000">
                  <a:moveTo>
                    <a:pt x="117652" y="13650"/>
                  </a:moveTo>
                  <a:cubicBezTo>
                    <a:pt x="118826" y="13650"/>
                    <a:pt x="120000" y="13039"/>
                    <a:pt x="120000" y="12020"/>
                  </a:cubicBezTo>
                  <a:cubicBezTo>
                    <a:pt x="120000" y="8149"/>
                    <a:pt x="120000" y="8149"/>
                    <a:pt x="120000" y="8149"/>
                  </a:cubicBezTo>
                  <a:cubicBezTo>
                    <a:pt x="120000" y="3667"/>
                    <a:pt x="114718" y="0"/>
                    <a:pt x="108264" y="0"/>
                  </a:cubicBezTo>
                  <a:cubicBezTo>
                    <a:pt x="11735" y="0"/>
                    <a:pt x="11735" y="0"/>
                    <a:pt x="11735" y="0"/>
                  </a:cubicBezTo>
                  <a:cubicBezTo>
                    <a:pt x="5281" y="0"/>
                    <a:pt x="0" y="3667"/>
                    <a:pt x="0" y="8149"/>
                  </a:cubicBezTo>
                  <a:cubicBezTo>
                    <a:pt x="0" y="111850"/>
                    <a:pt x="0" y="111850"/>
                    <a:pt x="0" y="111850"/>
                  </a:cubicBezTo>
                  <a:cubicBezTo>
                    <a:pt x="0" y="116332"/>
                    <a:pt x="5281" y="120000"/>
                    <a:pt x="11735" y="120000"/>
                  </a:cubicBezTo>
                  <a:cubicBezTo>
                    <a:pt x="108264" y="120000"/>
                    <a:pt x="108264" y="120000"/>
                    <a:pt x="108264" y="120000"/>
                  </a:cubicBezTo>
                  <a:cubicBezTo>
                    <a:pt x="114718" y="120000"/>
                    <a:pt x="120000" y="116332"/>
                    <a:pt x="120000" y="111850"/>
                  </a:cubicBezTo>
                  <a:cubicBezTo>
                    <a:pt x="120000" y="18539"/>
                    <a:pt x="120000" y="18539"/>
                    <a:pt x="120000" y="18539"/>
                  </a:cubicBezTo>
                  <a:cubicBezTo>
                    <a:pt x="120000" y="17724"/>
                    <a:pt x="118826" y="16910"/>
                    <a:pt x="117652" y="16910"/>
                  </a:cubicBezTo>
                  <a:cubicBezTo>
                    <a:pt x="116479" y="16910"/>
                    <a:pt x="115305" y="17724"/>
                    <a:pt x="115305" y="18539"/>
                  </a:cubicBezTo>
                  <a:cubicBezTo>
                    <a:pt x="115305" y="111850"/>
                    <a:pt x="115305" y="111850"/>
                    <a:pt x="115305" y="111850"/>
                  </a:cubicBezTo>
                  <a:cubicBezTo>
                    <a:pt x="115305" y="114499"/>
                    <a:pt x="112078" y="116740"/>
                    <a:pt x="108264" y="116740"/>
                  </a:cubicBezTo>
                  <a:cubicBezTo>
                    <a:pt x="11735" y="116740"/>
                    <a:pt x="11735" y="116740"/>
                    <a:pt x="11735" y="116740"/>
                  </a:cubicBezTo>
                  <a:cubicBezTo>
                    <a:pt x="7628" y="116740"/>
                    <a:pt x="4694" y="114499"/>
                    <a:pt x="4694" y="111850"/>
                  </a:cubicBezTo>
                  <a:cubicBezTo>
                    <a:pt x="4694" y="8149"/>
                    <a:pt x="4694" y="8149"/>
                    <a:pt x="4694" y="8149"/>
                  </a:cubicBezTo>
                  <a:cubicBezTo>
                    <a:pt x="4694" y="5500"/>
                    <a:pt x="7628" y="3259"/>
                    <a:pt x="11735" y="3259"/>
                  </a:cubicBezTo>
                  <a:cubicBezTo>
                    <a:pt x="108264" y="3259"/>
                    <a:pt x="108264" y="3259"/>
                    <a:pt x="108264" y="3259"/>
                  </a:cubicBezTo>
                  <a:cubicBezTo>
                    <a:pt x="112078" y="3259"/>
                    <a:pt x="115305" y="5500"/>
                    <a:pt x="115305" y="8149"/>
                  </a:cubicBezTo>
                  <a:cubicBezTo>
                    <a:pt x="115305" y="12020"/>
                    <a:pt x="115305" y="12020"/>
                    <a:pt x="115305" y="12020"/>
                  </a:cubicBezTo>
                  <a:cubicBezTo>
                    <a:pt x="115305" y="13039"/>
                    <a:pt x="116479" y="13650"/>
                    <a:pt x="117652" y="13650"/>
                  </a:cubicBezTo>
                  <a:close/>
                  <a:moveTo>
                    <a:pt x="59853" y="15483"/>
                  </a:moveTo>
                  <a:cubicBezTo>
                    <a:pt x="58973" y="15483"/>
                    <a:pt x="58386" y="15891"/>
                    <a:pt x="57799" y="16298"/>
                  </a:cubicBezTo>
                  <a:cubicBezTo>
                    <a:pt x="22004" y="66010"/>
                    <a:pt x="22004" y="66010"/>
                    <a:pt x="22004" y="66010"/>
                  </a:cubicBezTo>
                  <a:cubicBezTo>
                    <a:pt x="21711" y="66417"/>
                    <a:pt x="21711" y="67028"/>
                    <a:pt x="22298" y="67640"/>
                  </a:cubicBezTo>
                  <a:cubicBezTo>
                    <a:pt x="22591" y="68047"/>
                    <a:pt x="23471" y="68251"/>
                    <a:pt x="24352" y="68251"/>
                  </a:cubicBezTo>
                  <a:cubicBezTo>
                    <a:pt x="95647" y="68251"/>
                    <a:pt x="95647" y="68251"/>
                    <a:pt x="95647" y="68251"/>
                  </a:cubicBezTo>
                  <a:cubicBezTo>
                    <a:pt x="96528" y="68251"/>
                    <a:pt x="97408" y="68047"/>
                    <a:pt x="97701" y="67640"/>
                  </a:cubicBezTo>
                  <a:cubicBezTo>
                    <a:pt x="97995" y="67028"/>
                    <a:pt x="98288" y="66417"/>
                    <a:pt x="97701" y="66010"/>
                  </a:cubicBezTo>
                  <a:cubicBezTo>
                    <a:pt x="62200" y="16298"/>
                    <a:pt x="62200" y="16298"/>
                    <a:pt x="62200" y="16298"/>
                  </a:cubicBezTo>
                  <a:cubicBezTo>
                    <a:pt x="61613" y="15891"/>
                    <a:pt x="60733" y="15483"/>
                    <a:pt x="59853" y="15483"/>
                  </a:cubicBezTo>
                  <a:close/>
                  <a:moveTo>
                    <a:pt x="28166" y="64991"/>
                  </a:moveTo>
                  <a:cubicBezTo>
                    <a:pt x="59853" y="20780"/>
                    <a:pt x="59853" y="20780"/>
                    <a:pt x="59853" y="20780"/>
                  </a:cubicBezTo>
                  <a:cubicBezTo>
                    <a:pt x="91833" y="64991"/>
                    <a:pt x="91833" y="64991"/>
                    <a:pt x="91833" y="64991"/>
                  </a:cubicBezTo>
                  <a:lnTo>
                    <a:pt x="28166" y="64991"/>
                  </a:lnTo>
                  <a:close/>
                </a:path>
              </a:pathLst>
            </a:custGeom>
            <a:solidFill>
              <a:schemeClr val="accent1"/>
            </a:solidFill>
            <a:ln cap="flat" cmpd="sng" w="25400">
              <a:solidFill>
                <a:srgbClr val="BA944A"/>
              </a:solidFill>
              <a:prstDash val="solid"/>
              <a:round/>
              <a:headEnd len="med" w="med" type="none"/>
              <a:tailEnd len="med" w="med" type="none"/>
            </a:ln>
          </p:spPr>
          <p:txBody>
            <a:bodyPr anchorCtr="0" anchor="ctr" bIns="54425" lIns="108875" rIns="108875" tIns="5442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sp>
          <p:nvSpPr>
            <p:cNvPr id="568" name="Shape 568"/>
            <p:cNvSpPr txBox="1"/>
            <p:nvPr/>
          </p:nvSpPr>
          <p:spPr>
            <a:xfrm>
              <a:off x="7287437" y="1993332"/>
              <a:ext cx="739200" cy="341400"/>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000">
                  <a:solidFill>
                    <a:schemeClr val="dk1"/>
                  </a:solidFill>
                  <a:latin typeface="Arial"/>
                  <a:ea typeface="Arial"/>
                  <a:cs typeface="Arial"/>
                  <a:sym typeface="Arial"/>
                </a:rPr>
                <a:t>CNC</a:t>
              </a:r>
            </a:p>
          </p:txBody>
        </p:sp>
        <p:sp>
          <p:nvSpPr>
            <p:cNvPr id="569" name="Shape 569"/>
            <p:cNvSpPr/>
            <p:nvPr/>
          </p:nvSpPr>
          <p:spPr>
            <a:xfrm>
              <a:off x="5589455" y="1600570"/>
              <a:ext cx="1147559" cy="685958"/>
            </a:xfrm>
            <a:custGeom>
              <a:pathLst>
                <a:path extrusionOk="0" h="120000" w="120000">
                  <a:moveTo>
                    <a:pt x="117652" y="13650"/>
                  </a:moveTo>
                  <a:cubicBezTo>
                    <a:pt x="118826" y="13650"/>
                    <a:pt x="120000" y="13039"/>
                    <a:pt x="120000" y="12020"/>
                  </a:cubicBezTo>
                  <a:cubicBezTo>
                    <a:pt x="120000" y="8149"/>
                    <a:pt x="120000" y="8149"/>
                    <a:pt x="120000" y="8149"/>
                  </a:cubicBezTo>
                  <a:cubicBezTo>
                    <a:pt x="120000" y="3667"/>
                    <a:pt x="114718" y="0"/>
                    <a:pt x="108264" y="0"/>
                  </a:cubicBezTo>
                  <a:cubicBezTo>
                    <a:pt x="11735" y="0"/>
                    <a:pt x="11735" y="0"/>
                    <a:pt x="11735" y="0"/>
                  </a:cubicBezTo>
                  <a:cubicBezTo>
                    <a:pt x="5281" y="0"/>
                    <a:pt x="0" y="3667"/>
                    <a:pt x="0" y="8149"/>
                  </a:cubicBezTo>
                  <a:cubicBezTo>
                    <a:pt x="0" y="111850"/>
                    <a:pt x="0" y="111850"/>
                    <a:pt x="0" y="111850"/>
                  </a:cubicBezTo>
                  <a:cubicBezTo>
                    <a:pt x="0" y="116332"/>
                    <a:pt x="5281" y="120000"/>
                    <a:pt x="11735" y="120000"/>
                  </a:cubicBezTo>
                  <a:cubicBezTo>
                    <a:pt x="108264" y="120000"/>
                    <a:pt x="108264" y="120000"/>
                    <a:pt x="108264" y="120000"/>
                  </a:cubicBezTo>
                  <a:cubicBezTo>
                    <a:pt x="114718" y="120000"/>
                    <a:pt x="120000" y="116332"/>
                    <a:pt x="120000" y="111850"/>
                  </a:cubicBezTo>
                  <a:cubicBezTo>
                    <a:pt x="120000" y="18539"/>
                    <a:pt x="120000" y="18539"/>
                    <a:pt x="120000" y="18539"/>
                  </a:cubicBezTo>
                  <a:cubicBezTo>
                    <a:pt x="120000" y="17724"/>
                    <a:pt x="118826" y="16910"/>
                    <a:pt x="117652" y="16910"/>
                  </a:cubicBezTo>
                  <a:cubicBezTo>
                    <a:pt x="116479" y="16910"/>
                    <a:pt x="115305" y="17724"/>
                    <a:pt x="115305" y="18539"/>
                  </a:cubicBezTo>
                  <a:cubicBezTo>
                    <a:pt x="115305" y="111850"/>
                    <a:pt x="115305" y="111850"/>
                    <a:pt x="115305" y="111850"/>
                  </a:cubicBezTo>
                  <a:cubicBezTo>
                    <a:pt x="115305" y="114499"/>
                    <a:pt x="112078" y="116740"/>
                    <a:pt x="108264" y="116740"/>
                  </a:cubicBezTo>
                  <a:cubicBezTo>
                    <a:pt x="11735" y="116740"/>
                    <a:pt x="11735" y="116740"/>
                    <a:pt x="11735" y="116740"/>
                  </a:cubicBezTo>
                  <a:cubicBezTo>
                    <a:pt x="7628" y="116740"/>
                    <a:pt x="4694" y="114499"/>
                    <a:pt x="4694" y="111850"/>
                  </a:cubicBezTo>
                  <a:cubicBezTo>
                    <a:pt x="4694" y="8149"/>
                    <a:pt x="4694" y="8149"/>
                    <a:pt x="4694" y="8149"/>
                  </a:cubicBezTo>
                  <a:cubicBezTo>
                    <a:pt x="4694" y="5500"/>
                    <a:pt x="7628" y="3259"/>
                    <a:pt x="11735" y="3259"/>
                  </a:cubicBezTo>
                  <a:cubicBezTo>
                    <a:pt x="108264" y="3259"/>
                    <a:pt x="108264" y="3259"/>
                    <a:pt x="108264" y="3259"/>
                  </a:cubicBezTo>
                  <a:cubicBezTo>
                    <a:pt x="112078" y="3259"/>
                    <a:pt x="115305" y="5500"/>
                    <a:pt x="115305" y="8149"/>
                  </a:cubicBezTo>
                  <a:cubicBezTo>
                    <a:pt x="115305" y="12020"/>
                    <a:pt x="115305" y="12020"/>
                    <a:pt x="115305" y="12020"/>
                  </a:cubicBezTo>
                  <a:cubicBezTo>
                    <a:pt x="115305" y="13039"/>
                    <a:pt x="116479" y="13650"/>
                    <a:pt x="117652" y="13650"/>
                  </a:cubicBezTo>
                  <a:close/>
                  <a:moveTo>
                    <a:pt x="59853" y="15483"/>
                  </a:moveTo>
                  <a:cubicBezTo>
                    <a:pt x="58973" y="15483"/>
                    <a:pt x="58386" y="15891"/>
                    <a:pt x="57799" y="16298"/>
                  </a:cubicBezTo>
                  <a:cubicBezTo>
                    <a:pt x="22004" y="66010"/>
                    <a:pt x="22004" y="66010"/>
                    <a:pt x="22004" y="66010"/>
                  </a:cubicBezTo>
                  <a:cubicBezTo>
                    <a:pt x="21711" y="66417"/>
                    <a:pt x="21711" y="67028"/>
                    <a:pt x="22298" y="67640"/>
                  </a:cubicBezTo>
                  <a:cubicBezTo>
                    <a:pt x="22591" y="68047"/>
                    <a:pt x="23471" y="68251"/>
                    <a:pt x="24352" y="68251"/>
                  </a:cubicBezTo>
                  <a:cubicBezTo>
                    <a:pt x="95647" y="68251"/>
                    <a:pt x="95647" y="68251"/>
                    <a:pt x="95647" y="68251"/>
                  </a:cubicBezTo>
                  <a:cubicBezTo>
                    <a:pt x="96528" y="68251"/>
                    <a:pt x="97408" y="68047"/>
                    <a:pt x="97701" y="67640"/>
                  </a:cubicBezTo>
                  <a:cubicBezTo>
                    <a:pt x="97995" y="67028"/>
                    <a:pt x="98288" y="66417"/>
                    <a:pt x="97701" y="66010"/>
                  </a:cubicBezTo>
                  <a:cubicBezTo>
                    <a:pt x="62200" y="16298"/>
                    <a:pt x="62200" y="16298"/>
                    <a:pt x="62200" y="16298"/>
                  </a:cubicBezTo>
                  <a:cubicBezTo>
                    <a:pt x="61613" y="15891"/>
                    <a:pt x="60733" y="15483"/>
                    <a:pt x="59853" y="15483"/>
                  </a:cubicBezTo>
                  <a:close/>
                  <a:moveTo>
                    <a:pt x="28166" y="64991"/>
                  </a:moveTo>
                  <a:cubicBezTo>
                    <a:pt x="59853" y="20780"/>
                    <a:pt x="59853" y="20780"/>
                    <a:pt x="59853" y="20780"/>
                  </a:cubicBezTo>
                  <a:cubicBezTo>
                    <a:pt x="91833" y="64991"/>
                    <a:pt x="91833" y="64991"/>
                    <a:pt x="91833" y="64991"/>
                  </a:cubicBezTo>
                  <a:lnTo>
                    <a:pt x="28166" y="64991"/>
                  </a:lnTo>
                  <a:close/>
                </a:path>
              </a:pathLst>
            </a:custGeom>
            <a:solidFill>
              <a:schemeClr val="accent1"/>
            </a:solidFill>
            <a:ln cap="flat" cmpd="sng" w="25400">
              <a:solidFill>
                <a:srgbClr val="BA944A"/>
              </a:solidFill>
              <a:prstDash val="solid"/>
              <a:round/>
              <a:headEnd len="med" w="med" type="none"/>
              <a:tailEnd len="med" w="med" type="none"/>
            </a:ln>
          </p:spPr>
          <p:txBody>
            <a:bodyPr anchorCtr="0" anchor="ctr" bIns="54425" lIns="108875" rIns="108875" tIns="54425">
              <a:noAutofit/>
            </a:bodyPr>
            <a:lstStyle/>
            <a:p>
              <a:pPr indent="0" lvl="0" marL="0" marR="0" rtl="0" algn="ctr">
                <a:spcBef>
                  <a:spcPts val="0"/>
                </a:spcBef>
                <a:spcAft>
                  <a:spcPts val="0"/>
                </a:spcAft>
                <a:buNone/>
              </a:pPr>
              <a:r>
                <a:t/>
              </a:r>
              <a:endParaRPr sz="900">
                <a:solidFill>
                  <a:schemeClr val="lt1"/>
                </a:solidFill>
                <a:latin typeface="Arial"/>
                <a:ea typeface="Arial"/>
                <a:cs typeface="Arial"/>
                <a:sym typeface="Arial"/>
              </a:endParaRPr>
            </a:p>
          </p:txBody>
        </p:sp>
        <p:sp>
          <p:nvSpPr>
            <p:cNvPr id="570" name="Shape 570"/>
            <p:cNvSpPr txBox="1"/>
            <p:nvPr/>
          </p:nvSpPr>
          <p:spPr>
            <a:xfrm>
              <a:off x="5792703" y="1993332"/>
              <a:ext cx="739200" cy="341400"/>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000">
                  <a:solidFill>
                    <a:schemeClr val="dk1"/>
                  </a:solidFill>
                  <a:latin typeface="Arial"/>
                  <a:ea typeface="Arial"/>
                  <a:cs typeface="Arial"/>
                  <a:sym typeface="Arial"/>
                </a:rPr>
                <a:t>CNC</a:t>
              </a:r>
            </a:p>
          </p:txBody>
        </p:sp>
        <p:sp>
          <p:nvSpPr>
            <p:cNvPr id="571" name="Shape 571"/>
            <p:cNvSpPr/>
            <p:nvPr/>
          </p:nvSpPr>
          <p:spPr>
            <a:xfrm>
              <a:off x="7693942" y="3887100"/>
              <a:ext cx="1147559" cy="685958"/>
            </a:xfrm>
            <a:custGeom>
              <a:pathLst>
                <a:path extrusionOk="0" h="120000" w="120000">
                  <a:moveTo>
                    <a:pt x="117652" y="13650"/>
                  </a:moveTo>
                  <a:cubicBezTo>
                    <a:pt x="118826" y="13650"/>
                    <a:pt x="120000" y="13039"/>
                    <a:pt x="120000" y="12020"/>
                  </a:cubicBezTo>
                  <a:cubicBezTo>
                    <a:pt x="120000" y="8149"/>
                    <a:pt x="120000" y="8149"/>
                    <a:pt x="120000" y="8149"/>
                  </a:cubicBezTo>
                  <a:cubicBezTo>
                    <a:pt x="120000" y="3667"/>
                    <a:pt x="114718" y="0"/>
                    <a:pt x="108264" y="0"/>
                  </a:cubicBezTo>
                  <a:cubicBezTo>
                    <a:pt x="11735" y="0"/>
                    <a:pt x="11735" y="0"/>
                    <a:pt x="11735" y="0"/>
                  </a:cubicBezTo>
                  <a:cubicBezTo>
                    <a:pt x="5281" y="0"/>
                    <a:pt x="0" y="3667"/>
                    <a:pt x="0" y="8149"/>
                  </a:cubicBezTo>
                  <a:cubicBezTo>
                    <a:pt x="0" y="111850"/>
                    <a:pt x="0" y="111850"/>
                    <a:pt x="0" y="111850"/>
                  </a:cubicBezTo>
                  <a:cubicBezTo>
                    <a:pt x="0" y="116332"/>
                    <a:pt x="5281" y="120000"/>
                    <a:pt x="11735" y="120000"/>
                  </a:cubicBezTo>
                  <a:cubicBezTo>
                    <a:pt x="108264" y="120000"/>
                    <a:pt x="108264" y="120000"/>
                    <a:pt x="108264" y="120000"/>
                  </a:cubicBezTo>
                  <a:cubicBezTo>
                    <a:pt x="114718" y="120000"/>
                    <a:pt x="120000" y="116332"/>
                    <a:pt x="120000" y="111850"/>
                  </a:cubicBezTo>
                  <a:cubicBezTo>
                    <a:pt x="120000" y="18539"/>
                    <a:pt x="120000" y="18539"/>
                    <a:pt x="120000" y="18539"/>
                  </a:cubicBezTo>
                  <a:cubicBezTo>
                    <a:pt x="120000" y="17724"/>
                    <a:pt x="118826" y="16910"/>
                    <a:pt x="117652" y="16910"/>
                  </a:cubicBezTo>
                  <a:cubicBezTo>
                    <a:pt x="116479" y="16910"/>
                    <a:pt x="115305" y="17724"/>
                    <a:pt x="115305" y="18539"/>
                  </a:cubicBezTo>
                  <a:cubicBezTo>
                    <a:pt x="115305" y="111850"/>
                    <a:pt x="115305" y="111850"/>
                    <a:pt x="115305" y="111850"/>
                  </a:cubicBezTo>
                  <a:cubicBezTo>
                    <a:pt x="115305" y="114499"/>
                    <a:pt x="112078" y="116740"/>
                    <a:pt x="108264" y="116740"/>
                  </a:cubicBezTo>
                  <a:cubicBezTo>
                    <a:pt x="11735" y="116740"/>
                    <a:pt x="11735" y="116740"/>
                    <a:pt x="11735" y="116740"/>
                  </a:cubicBezTo>
                  <a:cubicBezTo>
                    <a:pt x="7628" y="116740"/>
                    <a:pt x="4694" y="114499"/>
                    <a:pt x="4694" y="111850"/>
                  </a:cubicBezTo>
                  <a:cubicBezTo>
                    <a:pt x="4694" y="8149"/>
                    <a:pt x="4694" y="8149"/>
                    <a:pt x="4694" y="8149"/>
                  </a:cubicBezTo>
                  <a:cubicBezTo>
                    <a:pt x="4694" y="5500"/>
                    <a:pt x="7628" y="3259"/>
                    <a:pt x="11735" y="3259"/>
                  </a:cubicBezTo>
                  <a:cubicBezTo>
                    <a:pt x="108264" y="3259"/>
                    <a:pt x="108264" y="3259"/>
                    <a:pt x="108264" y="3259"/>
                  </a:cubicBezTo>
                  <a:cubicBezTo>
                    <a:pt x="112078" y="3259"/>
                    <a:pt x="115305" y="5500"/>
                    <a:pt x="115305" y="8149"/>
                  </a:cubicBezTo>
                  <a:cubicBezTo>
                    <a:pt x="115305" y="12020"/>
                    <a:pt x="115305" y="12020"/>
                    <a:pt x="115305" y="12020"/>
                  </a:cubicBezTo>
                  <a:cubicBezTo>
                    <a:pt x="115305" y="13039"/>
                    <a:pt x="116479" y="13650"/>
                    <a:pt x="117652" y="13650"/>
                  </a:cubicBezTo>
                  <a:close/>
                  <a:moveTo>
                    <a:pt x="59853" y="15483"/>
                  </a:moveTo>
                  <a:cubicBezTo>
                    <a:pt x="58973" y="15483"/>
                    <a:pt x="58386" y="15891"/>
                    <a:pt x="57799" y="16298"/>
                  </a:cubicBezTo>
                  <a:cubicBezTo>
                    <a:pt x="22004" y="66010"/>
                    <a:pt x="22004" y="66010"/>
                    <a:pt x="22004" y="66010"/>
                  </a:cubicBezTo>
                  <a:cubicBezTo>
                    <a:pt x="21711" y="66417"/>
                    <a:pt x="21711" y="67028"/>
                    <a:pt x="22298" y="67640"/>
                  </a:cubicBezTo>
                  <a:cubicBezTo>
                    <a:pt x="22591" y="68047"/>
                    <a:pt x="23471" y="68251"/>
                    <a:pt x="24352" y="68251"/>
                  </a:cubicBezTo>
                  <a:cubicBezTo>
                    <a:pt x="95647" y="68251"/>
                    <a:pt x="95647" y="68251"/>
                    <a:pt x="95647" y="68251"/>
                  </a:cubicBezTo>
                  <a:cubicBezTo>
                    <a:pt x="96528" y="68251"/>
                    <a:pt x="97408" y="68047"/>
                    <a:pt x="97701" y="67640"/>
                  </a:cubicBezTo>
                  <a:cubicBezTo>
                    <a:pt x="97995" y="67028"/>
                    <a:pt x="98288" y="66417"/>
                    <a:pt x="97701" y="66010"/>
                  </a:cubicBezTo>
                  <a:cubicBezTo>
                    <a:pt x="62200" y="16298"/>
                    <a:pt x="62200" y="16298"/>
                    <a:pt x="62200" y="16298"/>
                  </a:cubicBezTo>
                  <a:cubicBezTo>
                    <a:pt x="61613" y="15891"/>
                    <a:pt x="60733" y="15483"/>
                    <a:pt x="59853" y="15483"/>
                  </a:cubicBezTo>
                  <a:close/>
                  <a:moveTo>
                    <a:pt x="28166" y="64991"/>
                  </a:moveTo>
                  <a:cubicBezTo>
                    <a:pt x="59853" y="20780"/>
                    <a:pt x="59853" y="20780"/>
                    <a:pt x="59853" y="20780"/>
                  </a:cubicBezTo>
                  <a:cubicBezTo>
                    <a:pt x="91833" y="64991"/>
                    <a:pt x="91833" y="64991"/>
                    <a:pt x="91833" y="64991"/>
                  </a:cubicBezTo>
                  <a:lnTo>
                    <a:pt x="28166" y="64991"/>
                  </a:lnTo>
                  <a:close/>
                </a:path>
              </a:pathLst>
            </a:custGeom>
            <a:solidFill>
              <a:srgbClr val="0070C0"/>
            </a:solidFill>
            <a:ln cap="flat" cmpd="sng" w="9525">
              <a:solidFill>
                <a:srgbClr val="FCC85F"/>
              </a:solidFill>
              <a:prstDash val="solid"/>
              <a:round/>
              <a:headEnd len="med" w="med" type="none"/>
              <a:tailEnd len="med" w="med" type="none"/>
            </a:ln>
            <a:effectLst>
              <a:outerShdw blurRad="39999" rotWithShape="0" dir="5400000" dist="20000">
                <a:srgbClr val="000000">
                  <a:alpha val="37647"/>
                </a:srgbClr>
              </a:outerShdw>
            </a:effectLst>
          </p:spPr>
          <p:txBody>
            <a:bodyPr anchorCtr="0" anchor="ctr" bIns="54425" lIns="108875" rIns="108875" tIns="5442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p:txBody>
        </p:sp>
        <p:sp>
          <p:nvSpPr>
            <p:cNvPr id="572" name="Shape 572"/>
            <p:cNvSpPr txBox="1"/>
            <p:nvPr/>
          </p:nvSpPr>
          <p:spPr>
            <a:xfrm>
              <a:off x="7897195" y="4268183"/>
              <a:ext cx="744000" cy="341400"/>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000">
                  <a:solidFill>
                    <a:schemeClr val="dk1"/>
                  </a:solidFill>
                  <a:latin typeface="Arial"/>
                  <a:ea typeface="Arial"/>
                  <a:cs typeface="Arial"/>
                  <a:sym typeface="Arial"/>
                </a:rPr>
                <a:t>PNC</a:t>
              </a:r>
            </a:p>
          </p:txBody>
        </p:sp>
        <p:sp>
          <p:nvSpPr>
            <p:cNvPr id="573" name="Shape 573"/>
            <p:cNvSpPr/>
            <p:nvPr/>
          </p:nvSpPr>
          <p:spPr>
            <a:xfrm>
              <a:off x="4166685" y="3887100"/>
              <a:ext cx="1147559" cy="685958"/>
            </a:xfrm>
            <a:custGeom>
              <a:pathLst>
                <a:path extrusionOk="0" h="120000" w="120000">
                  <a:moveTo>
                    <a:pt x="117652" y="13650"/>
                  </a:moveTo>
                  <a:cubicBezTo>
                    <a:pt x="118826" y="13650"/>
                    <a:pt x="120000" y="13039"/>
                    <a:pt x="120000" y="12020"/>
                  </a:cubicBezTo>
                  <a:cubicBezTo>
                    <a:pt x="120000" y="8149"/>
                    <a:pt x="120000" y="8149"/>
                    <a:pt x="120000" y="8149"/>
                  </a:cubicBezTo>
                  <a:cubicBezTo>
                    <a:pt x="120000" y="3667"/>
                    <a:pt x="114718" y="0"/>
                    <a:pt x="108264" y="0"/>
                  </a:cubicBezTo>
                  <a:cubicBezTo>
                    <a:pt x="11735" y="0"/>
                    <a:pt x="11735" y="0"/>
                    <a:pt x="11735" y="0"/>
                  </a:cubicBezTo>
                  <a:cubicBezTo>
                    <a:pt x="5281" y="0"/>
                    <a:pt x="0" y="3667"/>
                    <a:pt x="0" y="8149"/>
                  </a:cubicBezTo>
                  <a:cubicBezTo>
                    <a:pt x="0" y="111850"/>
                    <a:pt x="0" y="111850"/>
                    <a:pt x="0" y="111850"/>
                  </a:cubicBezTo>
                  <a:cubicBezTo>
                    <a:pt x="0" y="116332"/>
                    <a:pt x="5281" y="120000"/>
                    <a:pt x="11735" y="120000"/>
                  </a:cubicBezTo>
                  <a:cubicBezTo>
                    <a:pt x="108264" y="120000"/>
                    <a:pt x="108264" y="120000"/>
                    <a:pt x="108264" y="120000"/>
                  </a:cubicBezTo>
                  <a:cubicBezTo>
                    <a:pt x="114718" y="120000"/>
                    <a:pt x="120000" y="116332"/>
                    <a:pt x="120000" y="111850"/>
                  </a:cubicBezTo>
                  <a:cubicBezTo>
                    <a:pt x="120000" y="18539"/>
                    <a:pt x="120000" y="18539"/>
                    <a:pt x="120000" y="18539"/>
                  </a:cubicBezTo>
                  <a:cubicBezTo>
                    <a:pt x="120000" y="17724"/>
                    <a:pt x="118826" y="16910"/>
                    <a:pt x="117652" y="16910"/>
                  </a:cubicBezTo>
                  <a:cubicBezTo>
                    <a:pt x="116479" y="16910"/>
                    <a:pt x="115305" y="17724"/>
                    <a:pt x="115305" y="18539"/>
                  </a:cubicBezTo>
                  <a:cubicBezTo>
                    <a:pt x="115305" y="111850"/>
                    <a:pt x="115305" y="111850"/>
                    <a:pt x="115305" y="111850"/>
                  </a:cubicBezTo>
                  <a:cubicBezTo>
                    <a:pt x="115305" y="114499"/>
                    <a:pt x="112078" y="116740"/>
                    <a:pt x="108264" y="116740"/>
                  </a:cubicBezTo>
                  <a:cubicBezTo>
                    <a:pt x="11735" y="116740"/>
                    <a:pt x="11735" y="116740"/>
                    <a:pt x="11735" y="116740"/>
                  </a:cubicBezTo>
                  <a:cubicBezTo>
                    <a:pt x="7628" y="116740"/>
                    <a:pt x="4694" y="114499"/>
                    <a:pt x="4694" y="111850"/>
                  </a:cubicBezTo>
                  <a:cubicBezTo>
                    <a:pt x="4694" y="8149"/>
                    <a:pt x="4694" y="8149"/>
                    <a:pt x="4694" y="8149"/>
                  </a:cubicBezTo>
                  <a:cubicBezTo>
                    <a:pt x="4694" y="5500"/>
                    <a:pt x="7628" y="3259"/>
                    <a:pt x="11735" y="3259"/>
                  </a:cubicBezTo>
                  <a:cubicBezTo>
                    <a:pt x="108264" y="3259"/>
                    <a:pt x="108264" y="3259"/>
                    <a:pt x="108264" y="3259"/>
                  </a:cubicBezTo>
                  <a:cubicBezTo>
                    <a:pt x="112078" y="3259"/>
                    <a:pt x="115305" y="5500"/>
                    <a:pt x="115305" y="8149"/>
                  </a:cubicBezTo>
                  <a:cubicBezTo>
                    <a:pt x="115305" y="12020"/>
                    <a:pt x="115305" y="12020"/>
                    <a:pt x="115305" y="12020"/>
                  </a:cubicBezTo>
                  <a:cubicBezTo>
                    <a:pt x="115305" y="13039"/>
                    <a:pt x="116479" y="13650"/>
                    <a:pt x="117652" y="13650"/>
                  </a:cubicBezTo>
                  <a:close/>
                  <a:moveTo>
                    <a:pt x="59853" y="15483"/>
                  </a:moveTo>
                  <a:cubicBezTo>
                    <a:pt x="58973" y="15483"/>
                    <a:pt x="58386" y="15891"/>
                    <a:pt x="57799" y="16298"/>
                  </a:cubicBezTo>
                  <a:cubicBezTo>
                    <a:pt x="22004" y="66010"/>
                    <a:pt x="22004" y="66010"/>
                    <a:pt x="22004" y="66010"/>
                  </a:cubicBezTo>
                  <a:cubicBezTo>
                    <a:pt x="21711" y="66417"/>
                    <a:pt x="21711" y="67028"/>
                    <a:pt x="22298" y="67640"/>
                  </a:cubicBezTo>
                  <a:cubicBezTo>
                    <a:pt x="22591" y="68047"/>
                    <a:pt x="23471" y="68251"/>
                    <a:pt x="24352" y="68251"/>
                  </a:cubicBezTo>
                  <a:cubicBezTo>
                    <a:pt x="95647" y="68251"/>
                    <a:pt x="95647" y="68251"/>
                    <a:pt x="95647" y="68251"/>
                  </a:cubicBezTo>
                  <a:cubicBezTo>
                    <a:pt x="96528" y="68251"/>
                    <a:pt x="97408" y="68047"/>
                    <a:pt x="97701" y="67640"/>
                  </a:cubicBezTo>
                  <a:cubicBezTo>
                    <a:pt x="97995" y="67028"/>
                    <a:pt x="98288" y="66417"/>
                    <a:pt x="97701" y="66010"/>
                  </a:cubicBezTo>
                  <a:cubicBezTo>
                    <a:pt x="62200" y="16298"/>
                    <a:pt x="62200" y="16298"/>
                    <a:pt x="62200" y="16298"/>
                  </a:cubicBezTo>
                  <a:cubicBezTo>
                    <a:pt x="61613" y="15891"/>
                    <a:pt x="60733" y="15483"/>
                    <a:pt x="59853" y="15483"/>
                  </a:cubicBezTo>
                  <a:close/>
                  <a:moveTo>
                    <a:pt x="28166" y="64991"/>
                  </a:moveTo>
                  <a:cubicBezTo>
                    <a:pt x="59853" y="20780"/>
                    <a:pt x="59853" y="20780"/>
                    <a:pt x="59853" y="20780"/>
                  </a:cubicBezTo>
                  <a:cubicBezTo>
                    <a:pt x="91833" y="64991"/>
                    <a:pt x="91833" y="64991"/>
                    <a:pt x="91833" y="64991"/>
                  </a:cubicBezTo>
                  <a:lnTo>
                    <a:pt x="28166" y="64991"/>
                  </a:lnTo>
                  <a:close/>
                </a:path>
              </a:pathLst>
            </a:custGeom>
            <a:solidFill>
              <a:srgbClr val="0070C0"/>
            </a:solidFill>
            <a:ln cap="flat" cmpd="sng" w="9525">
              <a:solidFill>
                <a:srgbClr val="FCC85F"/>
              </a:solidFill>
              <a:prstDash val="solid"/>
              <a:round/>
              <a:headEnd len="med" w="med" type="none"/>
              <a:tailEnd len="med" w="med" type="none"/>
            </a:ln>
            <a:effectLst>
              <a:outerShdw blurRad="39999" rotWithShape="0" dir="5400000" dist="20000">
                <a:srgbClr val="000000">
                  <a:alpha val="37647"/>
                </a:srgbClr>
              </a:outerShdw>
            </a:effectLst>
          </p:spPr>
          <p:txBody>
            <a:bodyPr anchorCtr="0" anchor="ctr" bIns="54425" lIns="108875" rIns="108875" tIns="5442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p:txBody>
        </p:sp>
        <p:sp>
          <p:nvSpPr>
            <p:cNvPr id="574" name="Shape 574"/>
            <p:cNvSpPr txBox="1"/>
            <p:nvPr/>
          </p:nvSpPr>
          <p:spPr>
            <a:xfrm>
              <a:off x="4369919" y="4268183"/>
              <a:ext cx="741900" cy="341400"/>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000">
                  <a:solidFill>
                    <a:schemeClr val="dk1"/>
                  </a:solidFill>
                  <a:latin typeface="Arial"/>
                  <a:ea typeface="Arial"/>
                  <a:cs typeface="Arial"/>
                  <a:sym typeface="Arial"/>
                </a:rPr>
                <a:t>PNC</a:t>
              </a:r>
            </a:p>
          </p:txBody>
        </p:sp>
        <p:sp>
          <p:nvSpPr>
            <p:cNvPr id="575" name="Shape 575"/>
            <p:cNvSpPr/>
            <p:nvPr/>
          </p:nvSpPr>
          <p:spPr>
            <a:xfrm>
              <a:off x="5386201" y="3887100"/>
              <a:ext cx="1147559" cy="685958"/>
            </a:xfrm>
            <a:custGeom>
              <a:pathLst>
                <a:path extrusionOk="0" h="120000" w="120000">
                  <a:moveTo>
                    <a:pt x="117652" y="13650"/>
                  </a:moveTo>
                  <a:cubicBezTo>
                    <a:pt x="118826" y="13650"/>
                    <a:pt x="120000" y="13039"/>
                    <a:pt x="120000" y="12020"/>
                  </a:cubicBezTo>
                  <a:cubicBezTo>
                    <a:pt x="120000" y="8149"/>
                    <a:pt x="120000" y="8149"/>
                    <a:pt x="120000" y="8149"/>
                  </a:cubicBezTo>
                  <a:cubicBezTo>
                    <a:pt x="120000" y="3667"/>
                    <a:pt x="114718" y="0"/>
                    <a:pt x="108264" y="0"/>
                  </a:cubicBezTo>
                  <a:cubicBezTo>
                    <a:pt x="11735" y="0"/>
                    <a:pt x="11735" y="0"/>
                    <a:pt x="11735" y="0"/>
                  </a:cubicBezTo>
                  <a:cubicBezTo>
                    <a:pt x="5281" y="0"/>
                    <a:pt x="0" y="3667"/>
                    <a:pt x="0" y="8149"/>
                  </a:cubicBezTo>
                  <a:cubicBezTo>
                    <a:pt x="0" y="111850"/>
                    <a:pt x="0" y="111850"/>
                    <a:pt x="0" y="111850"/>
                  </a:cubicBezTo>
                  <a:cubicBezTo>
                    <a:pt x="0" y="116332"/>
                    <a:pt x="5281" y="120000"/>
                    <a:pt x="11735" y="120000"/>
                  </a:cubicBezTo>
                  <a:cubicBezTo>
                    <a:pt x="108264" y="120000"/>
                    <a:pt x="108264" y="120000"/>
                    <a:pt x="108264" y="120000"/>
                  </a:cubicBezTo>
                  <a:cubicBezTo>
                    <a:pt x="114718" y="120000"/>
                    <a:pt x="120000" y="116332"/>
                    <a:pt x="120000" y="111850"/>
                  </a:cubicBezTo>
                  <a:cubicBezTo>
                    <a:pt x="120000" y="18539"/>
                    <a:pt x="120000" y="18539"/>
                    <a:pt x="120000" y="18539"/>
                  </a:cubicBezTo>
                  <a:cubicBezTo>
                    <a:pt x="120000" y="17724"/>
                    <a:pt x="118826" y="16910"/>
                    <a:pt x="117652" y="16910"/>
                  </a:cubicBezTo>
                  <a:cubicBezTo>
                    <a:pt x="116479" y="16910"/>
                    <a:pt x="115305" y="17724"/>
                    <a:pt x="115305" y="18539"/>
                  </a:cubicBezTo>
                  <a:cubicBezTo>
                    <a:pt x="115305" y="111850"/>
                    <a:pt x="115305" y="111850"/>
                    <a:pt x="115305" y="111850"/>
                  </a:cubicBezTo>
                  <a:cubicBezTo>
                    <a:pt x="115305" y="114499"/>
                    <a:pt x="112078" y="116740"/>
                    <a:pt x="108264" y="116740"/>
                  </a:cubicBezTo>
                  <a:cubicBezTo>
                    <a:pt x="11735" y="116740"/>
                    <a:pt x="11735" y="116740"/>
                    <a:pt x="11735" y="116740"/>
                  </a:cubicBezTo>
                  <a:cubicBezTo>
                    <a:pt x="7628" y="116740"/>
                    <a:pt x="4694" y="114499"/>
                    <a:pt x="4694" y="111850"/>
                  </a:cubicBezTo>
                  <a:cubicBezTo>
                    <a:pt x="4694" y="8149"/>
                    <a:pt x="4694" y="8149"/>
                    <a:pt x="4694" y="8149"/>
                  </a:cubicBezTo>
                  <a:cubicBezTo>
                    <a:pt x="4694" y="5500"/>
                    <a:pt x="7628" y="3259"/>
                    <a:pt x="11735" y="3259"/>
                  </a:cubicBezTo>
                  <a:cubicBezTo>
                    <a:pt x="108264" y="3259"/>
                    <a:pt x="108264" y="3259"/>
                    <a:pt x="108264" y="3259"/>
                  </a:cubicBezTo>
                  <a:cubicBezTo>
                    <a:pt x="112078" y="3259"/>
                    <a:pt x="115305" y="5500"/>
                    <a:pt x="115305" y="8149"/>
                  </a:cubicBezTo>
                  <a:cubicBezTo>
                    <a:pt x="115305" y="12020"/>
                    <a:pt x="115305" y="12020"/>
                    <a:pt x="115305" y="12020"/>
                  </a:cubicBezTo>
                  <a:cubicBezTo>
                    <a:pt x="115305" y="13039"/>
                    <a:pt x="116479" y="13650"/>
                    <a:pt x="117652" y="13650"/>
                  </a:cubicBezTo>
                  <a:close/>
                  <a:moveTo>
                    <a:pt x="59853" y="15483"/>
                  </a:moveTo>
                  <a:cubicBezTo>
                    <a:pt x="58973" y="15483"/>
                    <a:pt x="58386" y="15891"/>
                    <a:pt x="57799" y="16298"/>
                  </a:cubicBezTo>
                  <a:cubicBezTo>
                    <a:pt x="22004" y="66010"/>
                    <a:pt x="22004" y="66010"/>
                    <a:pt x="22004" y="66010"/>
                  </a:cubicBezTo>
                  <a:cubicBezTo>
                    <a:pt x="21711" y="66417"/>
                    <a:pt x="21711" y="67028"/>
                    <a:pt x="22298" y="67640"/>
                  </a:cubicBezTo>
                  <a:cubicBezTo>
                    <a:pt x="22591" y="68047"/>
                    <a:pt x="23471" y="68251"/>
                    <a:pt x="24352" y="68251"/>
                  </a:cubicBezTo>
                  <a:cubicBezTo>
                    <a:pt x="95647" y="68251"/>
                    <a:pt x="95647" y="68251"/>
                    <a:pt x="95647" y="68251"/>
                  </a:cubicBezTo>
                  <a:cubicBezTo>
                    <a:pt x="96528" y="68251"/>
                    <a:pt x="97408" y="68047"/>
                    <a:pt x="97701" y="67640"/>
                  </a:cubicBezTo>
                  <a:cubicBezTo>
                    <a:pt x="97995" y="67028"/>
                    <a:pt x="98288" y="66417"/>
                    <a:pt x="97701" y="66010"/>
                  </a:cubicBezTo>
                  <a:cubicBezTo>
                    <a:pt x="62200" y="16298"/>
                    <a:pt x="62200" y="16298"/>
                    <a:pt x="62200" y="16298"/>
                  </a:cubicBezTo>
                  <a:cubicBezTo>
                    <a:pt x="61613" y="15891"/>
                    <a:pt x="60733" y="15483"/>
                    <a:pt x="59853" y="15483"/>
                  </a:cubicBezTo>
                  <a:close/>
                  <a:moveTo>
                    <a:pt x="28166" y="64991"/>
                  </a:moveTo>
                  <a:cubicBezTo>
                    <a:pt x="59853" y="20780"/>
                    <a:pt x="59853" y="20780"/>
                    <a:pt x="59853" y="20780"/>
                  </a:cubicBezTo>
                  <a:cubicBezTo>
                    <a:pt x="91833" y="64991"/>
                    <a:pt x="91833" y="64991"/>
                    <a:pt x="91833" y="64991"/>
                  </a:cubicBezTo>
                  <a:lnTo>
                    <a:pt x="28166" y="64991"/>
                  </a:lnTo>
                  <a:close/>
                </a:path>
              </a:pathLst>
            </a:custGeom>
            <a:solidFill>
              <a:srgbClr val="0070C0"/>
            </a:solidFill>
            <a:ln cap="flat" cmpd="sng" w="9525">
              <a:solidFill>
                <a:srgbClr val="FCC85F"/>
              </a:solidFill>
              <a:prstDash val="solid"/>
              <a:round/>
              <a:headEnd len="med" w="med" type="none"/>
              <a:tailEnd len="med" w="med" type="none"/>
            </a:ln>
            <a:effectLst>
              <a:outerShdw blurRad="39999" rotWithShape="0" dir="5400000" dist="20000">
                <a:srgbClr val="000000">
                  <a:alpha val="37647"/>
                </a:srgbClr>
              </a:outerShdw>
            </a:effectLst>
          </p:spPr>
          <p:txBody>
            <a:bodyPr anchorCtr="0" anchor="ctr" bIns="54425" lIns="108875" rIns="108875" tIns="5442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p:txBody>
        </p:sp>
        <p:sp>
          <p:nvSpPr>
            <p:cNvPr id="576" name="Shape 576"/>
            <p:cNvSpPr txBox="1"/>
            <p:nvPr/>
          </p:nvSpPr>
          <p:spPr>
            <a:xfrm>
              <a:off x="5589437" y="4268183"/>
              <a:ext cx="739200" cy="341400"/>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000">
                  <a:solidFill>
                    <a:schemeClr val="dk1"/>
                  </a:solidFill>
                  <a:latin typeface="Arial"/>
                  <a:ea typeface="Arial"/>
                  <a:cs typeface="Arial"/>
                  <a:sym typeface="Arial"/>
                </a:rPr>
                <a:t>PNC</a:t>
              </a:r>
            </a:p>
          </p:txBody>
        </p:sp>
        <p:sp>
          <p:nvSpPr>
            <p:cNvPr id="577" name="Shape 577"/>
            <p:cNvSpPr/>
            <p:nvPr/>
          </p:nvSpPr>
          <p:spPr>
            <a:xfrm>
              <a:off x="6576050" y="3887100"/>
              <a:ext cx="1147559" cy="685958"/>
            </a:xfrm>
            <a:custGeom>
              <a:pathLst>
                <a:path extrusionOk="0" h="120000" w="120000">
                  <a:moveTo>
                    <a:pt x="117652" y="13650"/>
                  </a:moveTo>
                  <a:cubicBezTo>
                    <a:pt x="118826" y="13650"/>
                    <a:pt x="120000" y="13039"/>
                    <a:pt x="120000" y="12020"/>
                  </a:cubicBezTo>
                  <a:cubicBezTo>
                    <a:pt x="120000" y="8149"/>
                    <a:pt x="120000" y="8149"/>
                    <a:pt x="120000" y="8149"/>
                  </a:cubicBezTo>
                  <a:cubicBezTo>
                    <a:pt x="120000" y="3667"/>
                    <a:pt x="114718" y="0"/>
                    <a:pt x="108264" y="0"/>
                  </a:cubicBezTo>
                  <a:cubicBezTo>
                    <a:pt x="11735" y="0"/>
                    <a:pt x="11735" y="0"/>
                    <a:pt x="11735" y="0"/>
                  </a:cubicBezTo>
                  <a:cubicBezTo>
                    <a:pt x="5281" y="0"/>
                    <a:pt x="0" y="3667"/>
                    <a:pt x="0" y="8149"/>
                  </a:cubicBezTo>
                  <a:cubicBezTo>
                    <a:pt x="0" y="111850"/>
                    <a:pt x="0" y="111850"/>
                    <a:pt x="0" y="111850"/>
                  </a:cubicBezTo>
                  <a:cubicBezTo>
                    <a:pt x="0" y="116332"/>
                    <a:pt x="5281" y="120000"/>
                    <a:pt x="11735" y="120000"/>
                  </a:cubicBezTo>
                  <a:cubicBezTo>
                    <a:pt x="108264" y="120000"/>
                    <a:pt x="108264" y="120000"/>
                    <a:pt x="108264" y="120000"/>
                  </a:cubicBezTo>
                  <a:cubicBezTo>
                    <a:pt x="114718" y="120000"/>
                    <a:pt x="120000" y="116332"/>
                    <a:pt x="120000" y="111850"/>
                  </a:cubicBezTo>
                  <a:cubicBezTo>
                    <a:pt x="120000" y="18539"/>
                    <a:pt x="120000" y="18539"/>
                    <a:pt x="120000" y="18539"/>
                  </a:cubicBezTo>
                  <a:cubicBezTo>
                    <a:pt x="120000" y="17724"/>
                    <a:pt x="118826" y="16910"/>
                    <a:pt x="117652" y="16910"/>
                  </a:cubicBezTo>
                  <a:cubicBezTo>
                    <a:pt x="116479" y="16910"/>
                    <a:pt x="115305" y="17724"/>
                    <a:pt x="115305" y="18539"/>
                  </a:cubicBezTo>
                  <a:cubicBezTo>
                    <a:pt x="115305" y="111850"/>
                    <a:pt x="115305" y="111850"/>
                    <a:pt x="115305" y="111850"/>
                  </a:cubicBezTo>
                  <a:cubicBezTo>
                    <a:pt x="115305" y="114499"/>
                    <a:pt x="112078" y="116740"/>
                    <a:pt x="108264" y="116740"/>
                  </a:cubicBezTo>
                  <a:cubicBezTo>
                    <a:pt x="11735" y="116740"/>
                    <a:pt x="11735" y="116740"/>
                    <a:pt x="11735" y="116740"/>
                  </a:cubicBezTo>
                  <a:cubicBezTo>
                    <a:pt x="7628" y="116740"/>
                    <a:pt x="4694" y="114499"/>
                    <a:pt x="4694" y="111850"/>
                  </a:cubicBezTo>
                  <a:cubicBezTo>
                    <a:pt x="4694" y="8149"/>
                    <a:pt x="4694" y="8149"/>
                    <a:pt x="4694" y="8149"/>
                  </a:cubicBezTo>
                  <a:cubicBezTo>
                    <a:pt x="4694" y="5500"/>
                    <a:pt x="7628" y="3259"/>
                    <a:pt x="11735" y="3259"/>
                  </a:cubicBezTo>
                  <a:cubicBezTo>
                    <a:pt x="108264" y="3259"/>
                    <a:pt x="108264" y="3259"/>
                    <a:pt x="108264" y="3259"/>
                  </a:cubicBezTo>
                  <a:cubicBezTo>
                    <a:pt x="112078" y="3259"/>
                    <a:pt x="115305" y="5500"/>
                    <a:pt x="115305" y="8149"/>
                  </a:cubicBezTo>
                  <a:cubicBezTo>
                    <a:pt x="115305" y="12020"/>
                    <a:pt x="115305" y="12020"/>
                    <a:pt x="115305" y="12020"/>
                  </a:cubicBezTo>
                  <a:cubicBezTo>
                    <a:pt x="115305" y="13039"/>
                    <a:pt x="116479" y="13650"/>
                    <a:pt x="117652" y="13650"/>
                  </a:cubicBezTo>
                  <a:close/>
                  <a:moveTo>
                    <a:pt x="59853" y="15483"/>
                  </a:moveTo>
                  <a:cubicBezTo>
                    <a:pt x="58973" y="15483"/>
                    <a:pt x="58386" y="15891"/>
                    <a:pt x="57799" y="16298"/>
                  </a:cubicBezTo>
                  <a:cubicBezTo>
                    <a:pt x="22004" y="66010"/>
                    <a:pt x="22004" y="66010"/>
                    <a:pt x="22004" y="66010"/>
                  </a:cubicBezTo>
                  <a:cubicBezTo>
                    <a:pt x="21711" y="66417"/>
                    <a:pt x="21711" y="67028"/>
                    <a:pt x="22298" y="67640"/>
                  </a:cubicBezTo>
                  <a:cubicBezTo>
                    <a:pt x="22591" y="68047"/>
                    <a:pt x="23471" y="68251"/>
                    <a:pt x="24352" y="68251"/>
                  </a:cubicBezTo>
                  <a:cubicBezTo>
                    <a:pt x="95647" y="68251"/>
                    <a:pt x="95647" y="68251"/>
                    <a:pt x="95647" y="68251"/>
                  </a:cubicBezTo>
                  <a:cubicBezTo>
                    <a:pt x="96528" y="68251"/>
                    <a:pt x="97408" y="68047"/>
                    <a:pt x="97701" y="67640"/>
                  </a:cubicBezTo>
                  <a:cubicBezTo>
                    <a:pt x="97995" y="67028"/>
                    <a:pt x="98288" y="66417"/>
                    <a:pt x="97701" y="66010"/>
                  </a:cubicBezTo>
                  <a:cubicBezTo>
                    <a:pt x="62200" y="16298"/>
                    <a:pt x="62200" y="16298"/>
                    <a:pt x="62200" y="16298"/>
                  </a:cubicBezTo>
                  <a:cubicBezTo>
                    <a:pt x="61613" y="15891"/>
                    <a:pt x="60733" y="15483"/>
                    <a:pt x="59853" y="15483"/>
                  </a:cubicBezTo>
                  <a:close/>
                  <a:moveTo>
                    <a:pt x="28166" y="64991"/>
                  </a:moveTo>
                  <a:cubicBezTo>
                    <a:pt x="59853" y="20780"/>
                    <a:pt x="59853" y="20780"/>
                    <a:pt x="59853" y="20780"/>
                  </a:cubicBezTo>
                  <a:cubicBezTo>
                    <a:pt x="91833" y="64991"/>
                    <a:pt x="91833" y="64991"/>
                    <a:pt x="91833" y="64991"/>
                  </a:cubicBezTo>
                  <a:lnTo>
                    <a:pt x="28166" y="64991"/>
                  </a:lnTo>
                  <a:close/>
                </a:path>
              </a:pathLst>
            </a:custGeom>
            <a:solidFill>
              <a:srgbClr val="0070C0"/>
            </a:solidFill>
            <a:ln cap="flat" cmpd="sng" w="9525">
              <a:solidFill>
                <a:srgbClr val="FCC85F"/>
              </a:solidFill>
              <a:prstDash val="solid"/>
              <a:round/>
              <a:headEnd len="med" w="med" type="none"/>
              <a:tailEnd len="med" w="med" type="none"/>
            </a:ln>
            <a:effectLst>
              <a:outerShdw blurRad="39999" rotWithShape="0" dir="5400000" dist="20000">
                <a:srgbClr val="000000">
                  <a:alpha val="37647"/>
                </a:srgbClr>
              </a:outerShdw>
            </a:effectLst>
          </p:spPr>
          <p:txBody>
            <a:bodyPr anchorCtr="0" anchor="ctr" bIns="54425" lIns="108875" rIns="108875" tIns="5442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p:txBody>
        </p:sp>
        <p:sp>
          <p:nvSpPr>
            <p:cNvPr id="578" name="Shape 578"/>
            <p:cNvSpPr txBox="1"/>
            <p:nvPr/>
          </p:nvSpPr>
          <p:spPr>
            <a:xfrm>
              <a:off x="6779311" y="4268183"/>
              <a:ext cx="739200" cy="341400"/>
            </a:xfrm>
            <a:prstGeom prst="rect">
              <a:avLst/>
            </a:prstGeom>
            <a:noFill/>
            <a:ln>
              <a:noFill/>
            </a:ln>
          </p:spPr>
          <p:txBody>
            <a:bodyPr anchorCtr="0" anchor="t" bIns="54425" lIns="108875" rIns="108875" tIns="54425">
              <a:noAutofit/>
            </a:bodyPr>
            <a:lstStyle/>
            <a:p>
              <a:pPr indent="0" lvl="0" marL="0" marR="0" rtl="0" algn="l">
                <a:spcBef>
                  <a:spcPts val="0"/>
                </a:spcBef>
                <a:spcAft>
                  <a:spcPts val="0"/>
                </a:spcAft>
                <a:buSzPct val="25000"/>
                <a:buNone/>
              </a:pPr>
              <a:r>
                <a:rPr lang="en" sz="1000">
                  <a:solidFill>
                    <a:schemeClr val="dk1"/>
                  </a:solidFill>
                  <a:latin typeface="Arial"/>
                  <a:ea typeface="Arial"/>
                  <a:cs typeface="Arial"/>
                  <a:sym typeface="Arial"/>
                </a:rPr>
                <a:t>PNC</a:t>
              </a:r>
            </a:p>
          </p:txBody>
        </p:sp>
      </p:grpSp>
      <p:sp>
        <p:nvSpPr>
          <p:cNvPr id="579" name="Shape 579"/>
          <p:cNvSpPr/>
          <p:nvPr/>
        </p:nvSpPr>
        <p:spPr>
          <a:xfrm>
            <a:off x="6044910" y="708660"/>
            <a:ext cx="3184154" cy="3570207"/>
          </a:xfrm>
          <a:prstGeom prst="rect">
            <a:avLst/>
          </a:prstGeom>
          <a:noFill/>
          <a:ln>
            <a:noFill/>
          </a:ln>
        </p:spPr>
        <p:txBody>
          <a:bodyPr anchorCtr="0" anchor="t" bIns="45700" lIns="91425" rIns="91425" tIns="45700">
            <a:noAutofit/>
          </a:bodyPr>
          <a:lstStyle/>
          <a:p>
            <a:pPr indent="0" lvl="0" marL="0" marR="0" rtl="0" algn="l">
              <a:spcBef>
                <a:spcPts val="0"/>
              </a:spcBef>
              <a:spcAft>
                <a:spcPts val="0"/>
              </a:spcAft>
              <a:buSzPct val="25000"/>
              <a:buNone/>
            </a:pPr>
            <a:r>
              <a:rPr b="1" lang="en" sz="1800">
                <a:solidFill>
                  <a:srgbClr val="890000"/>
                </a:solidFill>
                <a:latin typeface="Calibri"/>
                <a:ea typeface="Calibri"/>
                <a:cs typeface="Calibri"/>
                <a:sym typeface="Calibri"/>
              </a:rPr>
              <a:t>Multi-vendor multi-domain IP/Transport Network TE SDN Control</a:t>
            </a:r>
          </a:p>
          <a:p>
            <a:pPr indent="0" lvl="0" marL="0" marR="0" rtl="0" algn="l">
              <a:spcBef>
                <a:spcPts val="0"/>
              </a:spcBef>
              <a:spcAft>
                <a:spcPts val="0"/>
              </a:spcAft>
              <a:buNone/>
            </a:pPr>
            <a:r>
              <a:t/>
            </a:r>
            <a:endParaRPr b="1" sz="1400">
              <a:solidFill>
                <a:srgbClr val="890000"/>
              </a:solidFill>
              <a:latin typeface="Calibri"/>
              <a:ea typeface="Calibri"/>
              <a:cs typeface="Calibri"/>
              <a:sym typeface="Calibri"/>
            </a:endParaRPr>
          </a:p>
          <a:p>
            <a:pPr indent="0" lvl="0" marL="0" marR="0" rtl="0" algn="l">
              <a:spcBef>
                <a:spcPts val="0"/>
              </a:spcBef>
              <a:spcAft>
                <a:spcPts val="0"/>
              </a:spcAft>
              <a:buSzPct val="25000"/>
              <a:buNone/>
            </a:pPr>
            <a:r>
              <a:rPr b="1" lang="en" sz="1800">
                <a:solidFill>
                  <a:srgbClr val="890000"/>
                </a:solidFill>
                <a:latin typeface="Calibri"/>
                <a:ea typeface="Calibri"/>
                <a:cs typeface="Calibri"/>
                <a:sym typeface="Calibri"/>
              </a:rPr>
              <a:t>Hierarchical network resource abstraction and control</a:t>
            </a:r>
          </a:p>
          <a:p>
            <a:pPr indent="0" lvl="0" marL="0" marR="0" rtl="0" algn="l">
              <a:spcBef>
                <a:spcPts val="0"/>
              </a:spcBef>
              <a:spcAft>
                <a:spcPts val="0"/>
              </a:spcAft>
              <a:buNone/>
            </a:pPr>
            <a:r>
              <a:t/>
            </a:r>
            <a:endParaRPr b="1" sz="1800">
              <a:solidFill>
                <a:srgbClr val="890000"/>
              </a:solidFill>
              <a:latin typeface="Calibri"/>
              <a:ea typeface="Calibri"/>
              <a:cs typeface="Calibri"/>
              <a:sym typeface="Calibri"/>
            </a:endParaRPr>
          </a:p>
          <a:p>
            <a:pPr indent="0" lvl="0" marL="0" marR="0" rtl="0" algn="l">
              <a:spcBef>
                <a:spcPts val="0"/>
              </a:spcBef>
              <a:spcAft>
                <a:spcPts val="0"/>
              </a:spcAft>
              <a:buSzPct val="25000"/>
              <a:buNone/>
            </a:pPr>
            <a:r>
              <a:rPr b="1" lang="en" sz="1800">
                <a:solidFill>
                  <a:srgbClr val="890000"/>
                </a:solidFill>
                <a:latin typeface="Calibri"/>
                <a:ea typeface="Calibri"/>
                <a:cs typeface="Calibri"/>
                <a:sym typeface="Calibri"/>
              </a:rPr>
              <a:t>Standard IETF Model-based Northbound Interface</a:t>
            </a:r>
          </a:p>
          <a:p>
            <a:pPr indent="0" lvl="0" marL="0" marR="0" rtl="0" algn="l">
              <a:spcBef>
                <a:spcPts val="0"/>
              </a:spcBef>
              <a:spcAft>
                <a:spcPts val="0"/>
              </a:spcAft>
              <a:buNone/>
            </a:pPr>
            <a:r>
              <a:t/>
            </a:r>
            <a:endParaRPr b="1" sz="1800">
              <a:solidFill>
                <a:srgbClr val="890000"/>
              </a:solidFill>
              <a:latin typeface="Calibri"/>
              <a:ea typeface="Calibri"/>
              <a:cs typeface="Calibri"/>
              <a:sym typeface="Calibri"/>
            </a:endParaRPr>
          </a:p>
          <a:p>
            <a:pPr indent="0" lvl="0" marL="0" marR="0" rtl="0" algn="l">
              <a:spcBef>
                <a:spcPts val="0"/>
              </a:spcBef>
              <a:spcAft>
                <a:spcPts val="0"/>
              </a:spcAft>
              <a:buSzPct val="25000"/>
              <a:buNone/>
            </a:pPr>
            <a:r>
              <a:rPr b="1" lang="en" sz="1800">
                <a:solidFill>
                  <a:srgbClr val="890000"/>
                </a:solidFill>
                <a:latin typeface="Calibri"/>
                <a:ea typeface="Calibri"/>
                <a:cs typeface="Calibri"/>
                <a:sym typeface="Calibri"/>
              </a:rPr>
              <a:t>Hybrid legacy and green-field network deployment</a:t>
            </a:r>
          </a:p>
          <a:p>
            <a:pPr indent="0" lvl="0" marL="0" marR="0" rtl="0" algn="l">
              <a:spcBef>
                <a:spcPts val="0"/>
              </a:spcBef>
              <a:spcAft>
                <a:spcPts val="0"/>
              </a:spcAft>
              <a:buNone/>
            </a:pPr>
            <a:r>
              <a:t/>
            </a:r>
            <a:endParaRPr b="1" sz="1400">
              <a:solidFill>
                <a:srgbClr val="890000"/>
              </a:solidFill>
              <a:latin typeface="Calibri"/>
              <a:ea typeface="Calibri"/>
              <a:cs typeface="Calibri"/>
              <a:sym typeface="Calibri"/>
            </a:endParaRPr>
          </a:p>
        </p:txBody>
      </p:sp>
      <p:sp>
        <p:nvSpPr>
          <p:cNvPr id="580" name="Shape 580"/>
          <p:cNvSpPr txBox="1"/>
          <p:nvPr/>
        </p:nvSpPr>
        <p:spPr>
          <a:xfrm>
            <a:off x="5389425" y="4583825"/>
            <a:ext cx="3840000" cy="947400"/>
          </a:xfrm>
          <a:prstGeom prst="rect">
            <a:avLst/>
          </a:prstGeom>
          <a:noFill/>
          <a:ln>
            <a:noFill/>
          </a:ln>
        </p:spPr>
        <p:txBody>
          <a:bodyPr anchorCtr="0" anchor="t" bIns="91425" lIns="91425" rIns="91425" tIns="91425">
            <a:noAutofit/>
          </a:bodyPr>
          <a:lstStyle/>
          <a:p>
            <a:pPr lvl="0" rtl="0">
              <a:lnSpc>
                <a:spcPct val="115000"/>
              </a:lnSpc>
              <a:spcBef>
                <a:spcPts val="0"/>
              </a:spcBef>
              <a:buClr>
                <a:schemeClr val="dk1"/>
              </a:buClr>
              <a:buSzPct val="137500"/>
              <a:buFont typeface="Arial"/>
              <a:buNone/>
            </a:pPr>
            <a:r>
              <a:rPr lang="en" sz="800" u="sng">
                <a:solidFill>
                  <a:srgbClr val="1155CC"/>
                </a:solidFill>
                <a:highlight>
                  <a:srgbClr val="FFFFFF"/>
                </a:highlight>
                <a:latin typeface="Calibri"/>
                <a:ea typeface="Calibri"/>
                <a:cs typeface="Calibri"/>
                <a:sym typeface="Calibri"/>
                <a:hlinkClick r:id="rId5"/>
              </a:rPr>
              <a:t>https://datatracker.ietf.org/doc/draft-ietf-teas-actn-framework/</a:t>
            </a:r>
            <a:r>
              <a:rPr lang="en" sz="800">
                <a:solidFill>
                  <a:srgbClr val="1F497D"/>
                </a:solidFill>
                <a:highlight>
                  <a:srgbClr val="FFFFFF"/>
                </a:highlight>
                <a:latin typeface="Calibri"/>
                <a:ea typeface="Calibri"/>
                <a:cs typeface="Calibri"/>
                <a:sym typeface="Calibri"/>
              </a:rPr>
              <a:t> (ACTN architecture)</a:t>
            </a:r>
          </a:p>
          <a:p>
            <a:pPr lvl="0" rtl="0">
              <a:lnSpc>
                <a:spcPct val="115000"/>
              </a:lnSpc>
              <a:spcBef>
                <a:spcPts val="0"/>
              </a:spcBef>
              <a:buClr>
                <a:schemeClr val="dk1"/>
              </a:buClr>
              <a:buSzPct val="137500"/>
              <a:buFont typeface="Arial"/>
              <a:buNone/>
            </a:pPr>
            <a:r>
              <a:rPr lang="en" sz="800" u="sng">
                <a:solidFill>
                  <a:srgbClr val="1155CC"/>
                </a:solidFill>
                <a:highlight>
                  <a:srgbClr val="FFFFFF"/>
                </a:highlight>
                <a:latin typeface="Calibri"/>
                <a:ea typeface="Calibri"/>
                <a:cs typeface="Calibri"/>
                <a:sym typeface="Calibri"/>
                <a:hlinkClick r:id="rId6"/>
              </a:rPr>
              <a:t>https://datatracker.ietf.org/doc/draft-ietf-teas-yang-te-topo/</a:t>
            </a:r>
            <a:r>
              <a:rPr lang="en" sz="800">
                <a:solidFill>
                  <a:srgbClr val="1F497D"/>
                </a:solidFill>
                <a:highlight>
                  <a:srgbClr val="FFFFFF"/>
                </a:highlight>
                <a:latin typeface="Calibri"/>
                <a:ea typeface="Calibri"/>
                <a:cs typeface="Calibri"/>
                <a:sym typeface="Calibri"/>
              </a:rPr>
              <a:t> (TE topology YANG model)</a:t>
            </a:r>
          </a:p>
          <a:p>
            <a:pPr lvl="0" rtl="0">
              <a:lnSpc>
                <a:spcPct val="115000"/>
              </a:lnSpc>
              <a:spcBef>
                <a:spcPts val="0"/>
              </a:spcBef>
              <a:buClr>
                <a:schemeClr val="dk1"/>
              </a:buClr>
              <a:buSzPct val="137500"/>
              <a:buFont typeface="Arial"/>
              <a:buNone/>
            </a:pPr>
            <a:r>
              <a:rPr lang="en" sz="800" u="sng">
                <a:solidFill>
                  <a:srgbClr val="1155CC"/>
                </a:solidFill>
                <a:highlight>
                  <a:srgbClr val="FFFFFF"/>
                </a:highlight>
                <a:latin typeface="Calibri"/>
                <a:ea typeface="Calibri"/>
                <a:cs typeface="Calibri"/>
                <a:sym typeface="Calibri"/>
                <a:hlinkClick r:id="rId7"/>
              </a:rPr>
              <a:t>https://datatracker.ietf.org/doc/draft-ietf-teas-yang-te/</a:t>
            </a:r>
            <a:r>
              <a:rPr lang="en" sz="800">
                <a:solidFill>
                  <a:srgbClr val="1F497D"/>
                </a:solidFill>
                <a:highlight>
                  <a:srgbClr val="FFFFFF"/>
                </a:highlight>
                <a:latin typeface="Calibri"/>
                <a:ea typeface="Calibri"/>
                <a:cs typeface="Calibri"/>
                <a:sym typeface="Calibri"/>
              </a:rPr>
              <a:t> (TE tunnel YANG models)</a:t>
            </a:r>
          </a:p>
          <a:p>
            <a:pPr lvl="0">
              <a:spcBef>
                <a:spcPts val="0"/>
              </a:spcBef>
              <a:buNone/>
            </a:pPr>
            <a:r>
              <a:t/>
            </a:r>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84" name="Shape 584"/>
        <p:cNvGrpSpPr/>
        <p:nvPr/>
      </p:nvGrpSpPr>
      <p:grpSpPr>
        <a:xfrm>
          <a:off x="0" y="0"/>
          <a:ext cx="0" cy="0"/>
          <a:chOff x="0" y="0"/>
          <a:chExt cx="0" cy="0"/>
        </a:xfrm>
      </p:grpSpPr>
      <p:sp>
        <p:nvSpPr>
          <p:cNvPr id="585" name="Shape 585"/>
          <p:cNvSpPr txBox="1"/>
          <p:nvPr>
            <p:ph type="title"/>
          </p:nvPr>
        </p:nvSpPr>
        <p:spPr>
          <a:xfrm>
            <a:off x="377775" y="3"/>
            <a:ext cx="8229600" cy="857400"/>
          </a:xfrm>
          <a:prstGeom prst="rect">
            <a:avLst/>
          </a:prstGeom>
          <a:noFill/>
          <a:ln>
            <a:noFill/>
          </a:ln>
        </p:spPr>
        <p:txBody>
          <a:bodyPr anchorCtr="0" anchor="b" bIns="91425" lIns="91425" rIns="91425" tIns="91425">
            <a:noAutofit/>
          </a:bodyPr>
          <a:lstStyle/>
          <a:p>
            <a:pPr indent="0" lvl="0" marL="0" marR="0" rtl="0" algn="l">
              <a:lnSpc>
                <a:spcPct val="100000"/>
              </a:lnSpc>
              <a:spcBef>
                <a:spcPts val="0"/>
              </a:spcBef>
              <a:spcAft>
                <a:spcPts val="0"/>
              </a:spcAft>
              <a:buClr>
                <a:srgbClr val="85200C"/>
              </a:buClr>
              <a:buSzPct val="25000"/>
              <a:buFont typeface="Arial"/>
              <a:buNone/>
            </a:pPr>
            <a:r>
              <a:rPr lang="en"/>
              <a:t>YANG Subsystem</a:t>
            </a:r>
          </a:p>
        </p:txBody>
      </p:sp>
      <p:pic>
        <p:nvPicPr>
          <p:cNvPr descr="yang.png" id="586" name="Shape 586"/>
          <p:cNvPicPr preferRelativeResize="0"/>
          <p:nvPr/>
        </p:nvPicPr>
        <p:blipFill>
          <a:blip r:embed="rId3">
            <a:alphaModFix/>
          </a:blip>
          <a:stretch>
            <a:fillRect/>
          </a:stretch>
        </p:blipFill>
        <p:spPr>
          <a:xfrm>
            <a:off x="2760125" y="1880725"/>
            <a:ext cx="6383875" cy="3240150"/>
          </a:xfrm>
          <a:prstGeom prst="rect">
            <a:avLst/>
          </a:prstGeom>
          <a:noFill/>
          <a:ln>
            <a:noFill/>
          </a:ln>
        </p:spPr>
      </p:pic>
      <p:sp>
        <p:nvSpPr>
          <p:cNvPr id="587" name="Shape 587"/>
          <p:cNvSpPr txBox="1"/>
          <p:nvPr/>
        </p:nvSpPr>
        <p:spPr>
          <a:xfrm>
            <a:off x="-3850" y="2382975"/>
            <a:ext cx="2754900" cy="2493600"/>
          </a:xfrm>
          <a:prstGeom prst="rect">
            <a:avLst/>
          </a:prstGeom>
          <a:solidFill>
            <a:srgbClr val="EFEFEF"/>
          </a:solidFill>
          <a:ln>
            <a:noFill/>
          </a:ln>
        </p:spPr>
        <p:txBody>
          <a:bodyPr anchorCtr="0" anchor="t" bIns="91425" lIns="91425" rIns="91425" tIns="91425">
            <a:noAutofit/>
          </a:bodyPr>
          <a:lstStyle/>
          <a:p>
            <a:pPr indent="-292100" lvl="0" marL="457200" rtl="0">
              <a:lnSpc>
                <a:spcPct val="150000"/>
              </a:lnSpc>
              <a:spcBef>
                <a:spcPts val="800"/>
              </a:spcBef>
              <a:buClr>
                <a:srgbClr val="333333"/>
              </a:buClr>
              <a:buSzPct val="100000"/>
            </a:pPr>
            <a:r>
              <a:rPr b="1" lang="en" sz="1000">
                <a:solidFill>
                  <a:srgbClr val="333333"/>
                </a:solidFill>
                <a:highlight>
                  <a:srgbClr val="EFEFEF"/>
                </a:highlight>
              </a:rPr>
              <a:t>Yang Management System: </a:t>
            </a:r>
            <a:r>
              <a:rPr lang="en" sz="1000">
                <a:solidFill>
                  <a:srgbClr val="333333"/>
                </a:solidFill>
                <a:highlight>
                  <a:srgbClr val="EFEFEF"/>
                </a:highlight>
              </a:rPr>
              <a:t>Automated code generation for YANG model.</a:t>
            </a:r>
          </a:p>
          <a:p>
            <a:pPr indent="-292100" lvl="1" marL="914400" rtl="0">
              <a:lnSpc>
                <a:spcPct val="115000"/>
              </a:lnSpc>
              <a:spcBef>
                <a:spcPts val="800"/>
              </a:spcBef>
              <a:buClr>
                <a:schemeClr val="dk1"/>
              </a:buClr>
              <a:buSzPct val="100000"/>
              <a:buChar char="○"/>
            </a:pPr>
            <a:r>
              <a:rPr lang="en" sz="1000">
                <a:solidFill>
                  <a:srgbClr val="333333"/>
                </a:solidFill>
                <a:highlight>
                  <a:srgbClr val="EFEFEF"/>
                </a:highlight>
              </a:rPr>
              <a:t>Automated CODEC based on YANG model.</a:t>
            </a:r>
          </a:p>
          <a:p>
            <a:pPr indent="-292100" lvl="1" marL="914400" rtl="0">
              <a:lnSpc>
                <a:spcPct val="115000"/>
              </a:lnSpc>
              <a:spcBef>
                <a:spcPts val="800"/>
              </a:spcBef>
              <a:buClr>
                <a:schemeClr val="dk1"/>
              </a:buClr>
              <a:buSzPct val="100000"/>
              <a:buChar char="○"/>
            </a:pPr>
            <a:r>
              <a:rPr lang="en" sz="1000">
                <a:solidFill>
                  <a:srgbClr val="333333"/>
                </a:solidFill>
                <a:highlight>
                  <a:srgbClr val="EFEFEF"/>
                </a:highlight>
              </a:rPr>
              <a:t>Automated validation of data constraints.</a:t>
            </a:r>
          </a:p>
          <a:p>
            <a:pPr indent="-292100" lvl="1" marL="914400" rtl="0">
              <a:lnSpc>
                <a:spcPct val="115000"/>
              </a:lnSpc>
              <a:spcBef>
                <a:spcPts val="800"/>
              </a:spcBef>
              <a:buClr>
                <a:schemeClr val="dk1"/>
              </a:buClr>
              <a:buSzPct val="100000"/>
              <a:buChar char="○"/>
            </a:pPr>
            <a:r>
              <a:rPr lang="en" sz="1000">
                <a:solidFill>
                  <a:srgbClr val="333333"/>
                </a:solidFill>
                <a:highlight>
                  <a:srgbClr val="EFEFEF"/>
                </a:highlight>
              </a:rPr>
              <a:t>Application development is abstract of protocol nuances.</a:t>
            </a:r>
          </a:p>
          <a:p>
            <a:pPr indent="-292100" lvl="1" marL="914400" rtl="0">
              <a:lnSpc>
                <a:spcPct val="115000"/>
              </a:lnSpc>
              <a:spcBef>
                <a:spcPts val="800"/>
              </a:spcBef>
              <a:buClr>
                <a:schemeClr val="dk1"/>
              </a:buClr>
              <a:buSzPct val="100000"/>
              <a:buChar char="○"/>
            </a:pPr>
            <a:r>
              <a:rPr lang="en" sz="1000">
                <a:solidFill>
                  <a:srgbClr val="333333"/>
                </a:solidFill>
                <a:highlight>
                  <a:srgbClr val="EFEFEF"/>
                </a:highlight>
              </a:rPr>
              <a:t>Enhance ONOS NBI capability to support Notification.</a:t>
            </a:r>
          </a:p>
        </p:txBody>
      </p:sp>
      <p:cxnSp>
        <p:nvCxnSpPr>
          <p:cNvPr id="588" name="Shape 588"/>
          <p:cNvCxnSpPr/>
          <p:nvPr/>
        </p:nvCxnSpPr>
        <p:spPr>
          <a:xfrm>
            <a:off x="2570800" y="2904825"/>
            <a:ext cx="942000" cy="480300"/>
          </a:xfrm>
          <a:prstGeom prst="straightConnector1">
            <a:avLst/>
          </a:prstGeom>
          <a:noFill/>
          <a:ln cap="flat" cmpd="sng" w="9525">
            <a:solidFill>
              <a:schemeClr val="dk2"/>
            </a:solidFill>
            <a:prstDash val="solid"/>
            <a:round/>
            <a:headEnd len="lg" w="lg" type="none"/>
            <a:tailEnd len="lg" w="lg" type="triangle"/>
          </a:ln>
        </p:spPr>
      </p:cxnSp>
      <p:sp>
        <p:nvSpPr>
          <p:cNvPr id="589" name="Shape 589"/>
          <p:cNvSpPr txBox="1"/>
          <p:nvPr/>
        </p:nvSpPr>
        <p:spPr>
          <a:xfrm>
            <a:off x="4678975" y="595750"/>
            <a:ext cx="2754900" cy="1173000"/>
          </a:xfrm>
          <a:prstGeom prst="rect">
            <a:avLst/>
          </a:prstGeom>
          <a:solidFill>
            <a:srgbClr val="EFEFEF"/>
          </a:solidFill>
          <a:ln>
            <a:noFill/>
          </a:ln>
        </p:spPr>
        <p:txBody>
          <a:bodyPr anchorCtr="0" anchor="t" bIns="91425" lIns="91425" rIns="91425" tIns="91425">
            <a:noAutofit/>
          </a:bodyPr>
          <a:lstStyle/>
          <a:p>
            <a:pPr indent="-292100" lvl="0" marL="457200" rtl="0">
              <a:lnSpc>
                <a:spcPct val="150000"/>
              </a:lnSpc>
              <a:spcBef>
                <a:spcPts val="800"/>
              </a:spcBef>
              <a:buClr>
                <a:srgbClr val="333333"/>
              </a:buClr>
              <a:buSzPct val="100000"/>
            </a:pPr>
            <a:r>
              <a:rPr b="1" lang="en" sz="1000">
                <a:solidFill>
                  <a:srgbClr val="333333"/>
                </a:solidFill>
                <a:highlight>
                  <a:srgbClr val="EFEFEF"/>
                </a:highlight>
              </a:rPr>
              <a:t>Yang Utils: </a:t>
            </a:r>
            <a:r>
              <a:rPr lang="en" sz="1000">
                <a:solidFill>
                  <a:srgbClr val="333333"/>
                </a:solidFill>
                <a:highlight>
                  <a:srgbClr val="EFEFEF"/>
                </a:highlight>
              </a:rPr>
              <a:t>Automated creation of NB and SB interfaces - App only has to worry about implementing business logic</a:t>
            </a:r>
          </a:p>
        </p:txBody>
      </p:sp>
      <p:cxnSp>
        <p:nvCxnSpPr>
          <p:cNvPr id="590" name="Shape 590"/>
          <p:cNvCxnSpPr/>
          <p:nvPr/>
        </p:nvCxnSpPr>
        <p:spPr>
          <a:xfrm>
            <a:off x="7433875" y="1209950"/>
            <a:ext cx="1071300" cy="1925700"/>
          </a:xfrm>
          <a:prstGeom prst="straightConnector1">
            <a:avLst/>
          </a:prstGeom>
          <a:noFill/>
          <a:ln cap="flat" cmpd="sng" w="9525">
            <a:solidFill>
              <a:schemeClr val="dk2"/>
            </a:solidFill>
            <a:prstDash val="solid"/>
            <a:round/>
            <a:headEnd len="lg" w="lg" type="none"/>
            <a:tailEnd len="lg" w="lg"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94" name="Shape 594"/>
        <p:cNvGrpSpPr/>
        <p:nvPr/>
      </p:nvGrpSpPr>
      <p:grpSpPr>
        <a:xfrm>
          <a:off x="0" y="0"/>
          <a:ext cx="0" cy="0"/>
          <a:chOff x="0" y="0"/>
          <a:chExt cx="0" cy="0"/>
        </a:xfrm>
      </p:grpSpPr>
      <p:sp>
        <p:nvSpPr>
          <p:cNvPr id="595" name="Shape 595"/>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sz="3000"/>
              <a:t>Why are these examples so important?</a:t>
            </a:r>
          </a:p>
        </p:txBody>
      </p:sp>
      <p:sp>
        <p:nvSpPr>
          <p:cNvPr id="596" name="Shape 596"/>
          <p:cNvSpPr txBox="1"/>
          <p:nvPr>
            <p:ph idx="1" type="body"/>
          </p:nvPr>
        </p:nvSpPr>
        <p:spPr>
          <a:xfrm>
            <a:off x="457200" y="1056298"/>
            <a:ext cx="8229600" cy="3989400"/>
          </a:xfrm>
          <a:prstGeom prst="rect">
            <a:avLst/>
          </a:prstGeom>
        </p:spPr>
        <p:txBody>
          <a:bodyPr anchorCtr="0" anchor="t" bIns="91425" lIns="91425" rIns="91425" tIns="91425">
            <a:noAutofit/>
          </a:bodyPr>
          <a:lstStyle/>
          <a:p>
            <a:pPr lvl="0">
              <a:spcBef>
                <a:spcPts val="0"/>
              </a:spcBef>
              <a:buClr>
                <a:schemeClr val="dk1"/>
              </a:buClr>
              <a:buSzPct val="78571"/>
              <a:buFont typeface="Arial"/>
              <a:buNone/>
            </a:pPr>
            <a:r>
              <a:rPr b="1" lang="en" sz="1400">
                <a:latin typeface="Droid Sans"/>
                <a:ea typeface="Droid Sans"/>
                <a:cs typeface="Droid Sans"/>
                <a:sym typeface="Droid Sans"/>
              </a:rPr>
              <a:t>RabbitMQ</a:t>
            </a:r>
            <a:r>
              <a:rPr lang="en" sz="1400">
                <a:latin typeface="Droid Sans"/>
                <a:ea typeface="Droid Sans"/>
                <a:cs typeface="Droid Sans"/>
                <a:sym typeface="Droid Sans"/>
              </a:rPr>
              <a:t> and </a:t>
            </a:r>
            <a:r>
              <a:rPr b="1" lang="en" sz="1400">
                <a:latin typeface="Droid Sans"/>
                <a:ea typeface="Droid Sans"/>
                <a:cs typeface="Droid Sans"/>
                <a:sym typeface="Droid Sans"/>
              </a:rPr>
              <a:t>Kafka</a:t>
            </a:r>
            <a:r>
              <a:rPr lang="en" sz="1400">
                <a:latin typeface="Droid Sans"/>
                <a:ea typeface="Droid Sans"/>
                <a:cs typeface="Droid Sans"/>
                <a:sym typeface="Droid Sans"/>
              </a:rPr>
              <a:t> make it easy to extend ONOS events to off-ONOS apps - no matter what language those apps are written in - in a performant and scaleable way.</a:t>
            </a:r>
          </a:p>
          <a:p>
            <a:pPr lvl="0">
              <a:spcBef>
                <a:spcPts val="0"/>
              </a:spcBef>
              <a:buClr>
                <a:schemeClr val="dk1"/>
              </a:buClr>
              <a:buSzPct val="78571"/>
              <a:buFont typeface="Arial"/>
              <a:buNone/>
            </a:pPr>
            <a:r>
              <a:t/>
            </a:r>
            <a:endParaRPr sz="1400">
              <a:latin typeface="Droid Sans"/>
              <a:ea typeface="Droid Sans"/>
              <a:cs typeface="Droid Sans"/>
              <a:sym typeface="Droid Sans"/>
            </a:endParaRPr>
          </a:p>
          <a:p>
            <a:pPr lvl="0">
              <a:spcBef>
                <a:spcPts val="0"/>
              </a:spcBef>
              <a:buClr>
                <a:schemeClr val="dk1"/>
              </a:buClr>
              <a:buSzPct val="78571"/>
              <a:buFont typeface="Arial"/>
              <a:buNone/>
            </a:pPr>
            <a:r>
              <a:rPr b="1" lang="en" sz="1400">
                <a:latin typeface="Droid Sans"/>
                <a:ea typeface="Droid Sans"/>
                <a:cs typeface="Droid Sans"/>
                <a:sym typeface="Droid Sans"/>
              </a:rPr>
              <a:t>ACTN</a:t>
            </a:r>
            <a:r>
              <a:rPr lang="en" sz="1400">
                <a:latin typeface="Droid Sans"/>
                <a:ea typeface="Droid Sans"/>
                <a:cs typeface="Droid Sans"/>
                <a:sym typeface="Droid Sans"/>
              </a:rPr>
              <a:t> brings a standard, model-based way to scale the configuration and control of traffic engineered networks and take advantage of ONOS’ extensive IP and Optical capabilities.</a:t>
            </a:r>
          </a:p>
          <a:p>
            <a:pPr lvl="0">
              <a:spcBef>
                <a:spcPts val="0"/>
              </a:spcBef>
              <a:buClr>
                <a:schemeClr val="dk1"/>
              </a:buClr>
              <a:buSzPct val="78571"/>
              <a:buFont typeface="Arial"/>
              <a:buNone/>
            </a:pPr>
            <a:r>
              <a:t/>
            </a:r>
            <a:endParaRPr sz="1400">
              <a:latin typeface="Droid Sans"/>
              <a:ea typeface="Droid Sans"/>
              <a:cs typeface="Droid Sans"/>
              <a:sym typeface="Droid Sans"/>
            </a:endParaRPr>
          </a:p>
          <a:p>
            <a:pPr lvl="0">
              <a:spcBef>
                <a:spcPts val="0"/>
              </a:spcBef>
              <a:buClr>
                <a:schemeClr val="dk1"/>
              </a:buClr>
              <a:buSzPct val="78571"/>
              <a:buFont typeface="Arial"/>
              <a:buNone/>
            </a:pPr>
            <a:r>
              <a:rPr b="1" lang="en" sz="1400">
                <a:latin typeface="Droid Sans"/>
                <a:ea typeface="Droid Sans"/>
                <a:cs typeface="Droid Sans"/>
                <a:sym typeface="Droid Sans"/>
              </a:rPr>
              <a:t>Yang </a:t>
            </a:r>
          </a:p>
          <a:p>
            <a:pPr lvl="0">
              <a:spcBef>
                <a:spcPts val="0"/>
              </a:spcBef>
              <a:buClr>
                <a:schemeClr val="dk1"/>
              </a:buClr>
              <a:buSzPct val="78571"/>
              <a:buFont typeface="Arial"/>
              <a:buNone/>
            </a:pPr>
            <a:r>
              <a:rPr lang="en" sz="1400">
                <a:latin typeface="Droid Sans"/>
                <a:ea typeface="Droid Sans"/>
                <a:cs typeface="Droid Sans"/>
                <a:sym typeface="Droid Sans"/>
              </a:rPr>
              <a:t>Different vendors can easily bring their devices+Yang models and quickly connect to ONOS to configure devices -- with minimal work by the provider or vendor. </a:t>
            </a:r>
          </a:p>
          <a:p>
            <a:pPr lvl="0">
              <a:spcBef>
                <a:spcPts val="0"/>
              </a:spcBef>
              <a:buClr>
                <a:schemeClr val="dk1"/>
              </a:buClr>
              <a:buSzPct val="78571"/>
              <a:buFont typeface="Arial"/>
              <a:buNone/>
            </a:pPr>
            <a:r>
              <a:t/>
            </a:r>
            <a:endParaRPr sz="1400">
              <a:latin typeface="Droid Sans"/>
              <a:ea typeface="Droid Sans"/>
              <a:cs typeface="Droid Sans"/>
              <a:sym typeface="Droid Sans"/>
            </a:endParaRPr>
          </a:p>
          <a:p>
            <a:pPr lvl="0">
              <a:spcBef>
                <a:spcPts val="0"/>
              </a:spcBef>
              <a:buClr>
                <a:schemeClr val="dk1"/>
              </a:buClr>
              <a:buSzPct val="78571"/>
              <a:buFont typeface="Arial"/>
              <a:buNone/>
            </a:pPr>
            <a:r>
              <a:rPr lang="en" sz="1400">
                <a:latin typeface="Droid Sans"/>
                <a:ea typeface="Droid Sans"/>
                <a:cs typeface="Droid Sans"/>
                <a:sym typeface="Droid Sans"/>
              </a:rPr>
              <a:t>Allows dynamic config and provisioning apps to work easily on top of ONOS to config and provision legacy and OF devices (OSS/BSS interface) </a:t>
            </a:r>
          </a:p>
          <a:p>
            <a:pPr lvl="0">
              <a:spcBef>
                <a:spcPts val="0"/>
              </a:spcBef>
              <a:buClr>
                <a:schemeClr val="dk1"/>
              </a:buClr>
              <a:buSzPct val="78571"/>
              <a:buFont typeface="Arial"/>
              <a:buNone/>
            </a:pPr>
            <a:r>
              <a:t/>
            </a:r>
            <a:endParaRPr sz="1400">
              <a:latin typeface="Droid Sans"/>
              <a:ea typeface="Droid Sans"/>
              <a:cs typeface="Droid Sans"/>
              <a:sym typeface="Droid Sans"/>
            </a:endParaRPr>
          </a:p>
          <a:p>
            <a:pPr lvl="0">
              <a:spcBef>
                <a:spcPts val="0"/>
              </a:spcBef>
              <a:buNone/>
            </a:pPr>
            <a:r>
              <a:rPr lang="en" sz="1400">
                <a:latin typeface="Droid Sans"/>
                <a:ea typeface="Droid Sans"/>
                <a:cs typeface="Droid Sans"/>
                <a:sym typeface="Droid Sans"/>
              </a:rPr>
              <a:t>The config database will be built on ONOS distributed data store primitives for scalability and performance. </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00" name="Shape 600"/>
        <p:cNvGrpSpPr/>
        <p:nvPr/>
      </p:nvGrpSpPr>
      <p:grpSpPr>
        <a:xfrm>
          <a:off x="0" y="0"/>
          <a:ext cx="0" cy="0"/>
          <a:chOff x="0" y="0"/>
          <a:chExt cx="0" cy="0"/>
        </a:xfrm>
      </p:grpSpPr>
      <p:sp>
        <p:nvSpPr>
          <p:cNvPr id="601" name="Shape 601"/>
          <p:cNvSpPr txBox="1"/>
          <p:nvPr>
            <p:ph type="title"/>
          </p:nvPr>
        </p:nvSpPr>
        <p:spPr>
          <a:xfrm>
            <a:off x="377775" y="1"/>
            <a:ext cx="8229600" cy="577200"/>
          </a:xfrm>
          <a:prstGeom prst="rect">
            <a:avLst/>
          </a:prstGeom>
        </p:spPr>
        <p:txBody>
          <a:bodyPr anchorCtr="0" anchor="b" bIns="91425" lIns="91425" rIns="91425" tIns="91425">
            <a:noAutofit/>
          </a:bodyPr>
          <a:lstStyle/>
          <a:p>
            <a:pPr lvl="0">
              <a:spcBef>
                <a:spcPts val="0"/>
              </a:spcBef>
              <a:buNone/>
            </a:pPr>
            <a:r>
              <a:rPr lang="en" sz="2400"/>
              <a:t>Disruptive + Incremental SDN -- Why it matters? </a:t>
            </a:r>
          </a:p>
        </p:txBody>
      </p:sp>
      <p:sp>
        <p:nvSpPr>
          <p:cNvPr id="602" name="Shape 602"/>
          <p:cNvSpPr txBox="1"/>
          <p:nvPr>
            <p:ph idx="1" type="body"/>
          </p:nvPr>
        </p:nvSpPr>
        <p:spPr>
          <a:xfrm>
            <a:off x="457200" y="751498"/>
            <a:ext cx="8229600" cy="3989400"/>
          </a:xfrm>
          <a:prstGeom prst="rect">
            <a:avLst/>
          </a:prstGeom>
        </p:spPr>
        <p:txBody>
          <a:bodyPr anchorCtr="0" anchor="t" bIns="91425" lIns="91425" rIns="91425" tIns="91425">
            <a:noAutofit/>
          </a:bodyPr>
          <a:lstStyle/>
          <a:p>
            <a:pPr indent="-381000" lvl="0" marL="457200">
              <a:spcBef>
                <a:spcPts val="0"/>
              </a:spcBef>
              <a:buSzPct val="100000"/>
              <a:buFont typeface="Droid Sans"/>
              <a:buChar char="●"/>
            </a:pPr>
            <a:r>
              <a:rPr lang="en">
                <a:latin typeface="Droid Sans"/>
                <a:ea typeface="Droid Sans"/>
                <a:cs typeface="Droid Sans"/>
                <a:sym typeface="Droid Sans"/>
              </a:rPr>
              <a:t>Disruptive SDN support in ONOS ensures a service provider can achieve the real infrastructure transformation it seeks </a:t>
            </a:r>
          </a:p>
          <a:p>
            <a:pPr lvl="0">
              <a:spcBef>
                <a:spcPts val="0"/>
              </a:spcBef>
              <a:buClr>
                <a:schemeClr val="dk1"/>
              </a:buClr>
              <a:buSzPct val="45833"/>
              <a:buFont typeface="Arial"/>
              <a:buNone/>
            </a:pPr>
            <a:r>
              <a:t/>
            </a:r>
            <a:endParaRPr>
              <a:latin typeface="Droid Sans"/>
              <a:ea typeface="Droid Sans"/>
              <a:cs typeface="Droid Sans"/>
              <a:sym typeface="Droid Sans"/>
            </a:endParaRPr>
          </a:p>
          <a:p>
            <a:pPr indent="-381000" lvl="0" marL="457200">
              <a:spcBef>
                <a:spcPts val="0"/>
              </a:spcBef>
              <a:buSzPct val="100000"/>
              <a:buFont typeface="Droid Sans"/>
              <a:buChar char="●"/>
            </a:pPr>
            <a:r>
              <a:rPr lang="en">
                <a:latin typeface="Droid Sans"/>
                <a:ea typeface="Droid Sans"/>
                <a:cs typeface="Droid Sans"/>
                <a:sym typeface="Droid Sans"/>
              </a:rPr>
              <a:t>Incremental SDN support in ONOS ensures a service provider has a smooth transition to the final destination… </a:t>
            </a:r>
          </a:p>
          <a:p>
            <a:pPr lvl="0">
              <a:spcBef>
                <a:spcPts val="0"/>
              </a:spcBef>
              <a:buClr>
                <a:schemeClr val="dk1"/>
              </a:buClr>
              <a:buSzPct val="45833"/>
              <a:buFont typeface="Arial"/>
              <a:buNone/>
            </a:pPr>
            <a:r>
              <a:t/>
            </a:r>
            <a:endParaRPr>
              <a:latin typeface="Droid Sans"/>
              <a:ea typeface="Droid Sans"/>
              <a:cs typeface="Droid Sans"/>
              <a:sym typeface="Droid Sans"/>
            </a:endParaRPr>
          </a:p>
          <a:p>
            <a:pPr indent="-381000" lvl="0" marL="457200" rtl="0">
              <a:spcBef>
                <a:spcPts val="0"/>
              </a:spcBef>
              <a:buSzPct val="100000"/>
              <a:buFont typeface="Droid Sans"/>
              <a:buChar char="●"/>
            </a:pPr>
            <a:r>
              <a:rPr b="1" i="1" lang="en">
                <a:latin typeface="Droid Sans"/>
                <a:ea typeface="Droid Sans"/>
                <a:cs typeface="Droid Sans"/>
                <a:sym typeface="Droid Sans"/>
              </a:rPr>
              <a:t>Most important, a platform that is only focused on incremental SDN cannot deliver disruptive SDN </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06" name="Shape 606"/>
        <p:cNvGrpSpPr/>
        <p:nvPr/>
      </p:nvGrpSpPr>
      <p:grpSpPr>
        <a:xfrm>
          <a:off x="0" y="0"/>
          <a:ext cx="0" cy="0"/>
          <a:chOff x="0" y="0"/>
          <a:chExt cx="0" cy="0"/>
        </a:xfrm>
      </p:grpSpPr>
      <p:sp>
        <p:nvSpPr>
          <p:cNvPr id="607" name="Shape 607"/>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Hummingbird Release - Takeaways</a:t>
            </a:r>
          </a:p>
        </p:txBody>
      </p:sp>
      <p:sp>
        <p:nvSpPr>
          <p:cNvPr id="608" name="Shape 608"/>
          <p:cNvSpPr txBox="1"/>
          <p:nvPr>
            <p:ph idx="1" type="body"/>
          </p:nvPr>
        </p:nvSpPr>
        <p:spPr>
          <a:xfrm>
            <a:off x="457200" y="1154724"/>
            <a:ext cx="8229600" cy="3768600"/>
          </a:xfrm>
          <a:prstGeom prst="rect">
            <a:avLst/>
          </a:prstGeom>
        </p:spPr>
        <p:txBody>
          <a:bodyPr anchorCtr="0" anchor="t" bIns="91425" lIns="91425" rIns="91425" tIns="91425">
            <a:noAutofit/>
          </a:bodyPr>
          <a:lstStyle/>
          <a:p>
            <a:pPr indent="-355600" lvl="0" marL="457200" marR="0" rtl="0" algn="l">
              <a:lnSpc>
                <a:spcPct val="115000"/>
              </a:lnSpc>
              <a:spcBef>
                <a:spcPts val="0"/>
              </a:spcBef>
              <a:spcAft>
                <a:spcPts val="0"/>
              </a:spcAft>
              <a:buClr>
                <a:srgbClr val="D9D9D9"/>
              </a:buClr>
              <a:buSzPct val="100000"/>
            </a:pPr>
            <a:r>
              <a:rPr b="1" lang="en" sz="2000">
                <a:solidFill>
                  <a:srgbClr val="D9D9D9"/>
                </a:solidFill>
              </a:rPr>
              <a:t>ONOS Community is Diverse and Growing Rapidly</a:t>
            </a:r>
          </a:p>
          <a:p>
            <a:pPr lvl="0" marR="0" rtl="0" algn="l">
              <a:lnSpc>
                <a:spcPct val="115000"/>
              </a:lnSpc>
              <a:spcBef>
                <a:spcPts val="0"/>
              </a:spcBef>
              <a:spcAft>
                <a:spcPts val="0"/>
              </a:spcAft>
              <a:buNone/>
            </a:pPr>
            <a:r>
              <a:t/>
            </a:r>
            <a:endParaRPr b="1" sz="2000">
              <a:solidFill>
                <a:srgbClr val="D9D9D9"/>
              </a:solidFill>
            </a:endParaRPr>
          </a:p>
          <a:p>
            <a:pPr indent="-355600" lvl="0" marL="457200" marR="0" rtl="0" algn="l">
              <a:lnSpc>
                <a:spcPct val="115000"/>
              </a:lnSpc>
              <a:spcBef>
                <a:spcPts val="0"/>
              </a:spcBef>
              <a:spcAft>
                <a:spcPts val="0"/>
              </a:spcAft>
              <a:buClr>
                <a:srgbClr val="D9D9D9"/>
              </a:buClr>
              <a:buSzPct val="100000"/>
            </a:pPr>
            <a:r>
              <a:rPr b="1" lang="en" sz="2000">
                <a:solidFill>
                  <a:srgbClr val="D9D9D9"/>
                </a:solidFill>
              </a:rPr>
              <a:t>ONOS is the only platform supporting both incremental and true SDN</a:t>
            </a:r>
          </a:p>
          <a:p>
            <a:pPr lvl="0" marR="0" rtl="0" algn="l">
              <a:lnSpc>
                <a:spcPct val="115000"/>
              </a:lnSpc>
              <a:spcBef>
                <a:spcPts val="0"/>
              </a:spcBef>
              <a:spcAft>
                <a:spcPts val="0"/>
              </a:spcAft>
              <a:buNone/>
            </a:pPr>
            <a:r>
              <a:t/>
            </a:r>
            <a:endParaRPr b="1" sz="2000"/>
          </a:p>
          <a:p>
            <a:pPr indent="-355600" lvl="0" marL="457200" marR="0" rtl="0" algn="l">
              <a:lnSpc>
                <a:spcPct val="115000"/>
              </a:lnSpc>
              <a:spcBef>
                <a:spcPts val="0"/>
              </a:spcBef>
              <a:spcAft>
                <a:spcPts val="0"/>
              </a:spcAft>
              <a:buSzPct val="100000"/>
            </a:pPr>
            <a:r>
              <a:rPr b="1" lang="en" sz="2000"/>
              <a:t>ONOS is critical to operator PoCs, Field Trials, Deployments</a:t>
            </a:r>
          </a:p>
          <a:p>
            <a:pPr lvl="0" marR="0" rtl="0" algn="l">
              <a:lnSpc>
                <a:spcPct val="115000"/>
              </a:lnSpc>
              <a:spcBef>
                <a:spcPts val="0"/>
              </a:spcBef>
              <a:spcAft>
                <a:spcPts val="0"/>
              </a:spcAft>
              <a:buNone/>
            </a:pPr>
            <a:r>
              <a:t/>
            </a:r>
            <a:endParaRPr b="1" sz="2000"/>
          </a:p>
          <a:p>
            <a:pPr indent="-355600" lvl="0" marL="457200" marR="0" rtl="0" algn="l">
              <a:lnSpc>
                <a:spcPct val="115000"/>
              </a:lnSpc>
              <a:spcBef>
                <a:spcPts val="0"/>
              </a:spcBef>
              <a:spcAft>
                <a:spcPts val="0"/>
              </a:spcAft>
              <a:buClr>
                <a:srgbClr val="D9D9D9"/>
              </a:buClr>
              <a:buSzPct val="100000"/>
            </a:pPr>
            <a:r>
              <a:rPr b="1" lang="en" sz="2000">
                <a:solidFill>
                  <a:srgbClr val="D9D9D9"/>
                </a:solidFill>
              </a:rPr>
              <a:t>Hummingbird</a:t>
            </a:r>
          </a:p>
          <a:p>
            <a:pPr indent="-355600" lvl="1" marL="914400" marR="0" rtl="0" algn="l">
              <a:lnSpc>
                <a:spcPct val="115000"/>
              </a:lnSpc>
              <a:spcBef>
                <a:spcPts val="0"/>
              </a:spcBef>
              <a:spcAft>
                <a:spcPts val="0"/>
              </a:spcAft>
              <a:buClr>
                <a:srgbClr val="D9D9D9"/>
              </a:buClr>
              <a:buSzPct val="100000"/>
            </a:pPr>
            <a:r>
              <a:rPr b="1" lang="en" sz="2000">
                <a:solidFill>
                  <a:srgbClr val="D9D9D9"/>
                </a:solidFill>
              </a:rPr>
              <a:t>Automation, Integration and Legacy Enablement</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12" name="Shape 612"/>
        <p:cNvGrpSpPr/>
        <p:nvPr/>
      </p:nvGrpSpPr>
      <p:grpSpPr>
        <a:xfrm>
          <a:off x="0" y="0"/>
          <a:ext cx="0" cy="0"/>
          <a:chOff x="0" y="0"/>
          <a:chExt cx="0" cy="0"/>
        </a:xfrm>
      </p:grpSpPr>
      <p:pic>
        <p:nvPicPr>
          <p:cNvPr id="613" name="Shape 613"/>
          <p:cNvPicPr preferRelativeResize="0"/>
          <p:nvPr/>
        </p:nvPicPr>
        <p:blipFill rotWithShape="1">
          <a:blip r:embed="rId3">
            <a:alphaModFix/>
          </a:blip>
          <a:srcRect b="0" l="0" r="0" t="0"/>
          <a:stretch/>
        </p:blipFill>
        <p:spPr>
          <a:xfrm>
            <a:off x="825025" y="940441"/>
            <a:ext cx="7445996" cy="4154320"/>
          </a:xfrm>
          <a:prstGeom prst="rect">
            <a:avLst/>
          </a:prstGeom>
          <a:noFill/>
          <a:ln>
            <a:noFill/>
          </a:ln>
        </p:spPr>
      </p:pic>
      <p:sp>
        <p:nvSpPr>
          <p:cNvPr id="614" name="Shape 614"/>
          <p:cNvSpPr txBox="1"/>
          <p:nvPr>
            <p:ph type="title"/>
          </p:nvPr>
        </p:nvSpPr>
        <p:spPr>
          <a:xfrm>
            <a:off x="54113" y="11895"/>
            <a:ext cx="9034669" cy="857250"/>
          </a:xfrm>
          <a:prstGeom prst="rect">
            <a:avLst/>
          </a:prstGeom>
          <a:noFill/>
          <a:ln>
            <a:noFill/>
          </a:ln>
        </p:spPr>
        <p:txBody>
          <a:bodyPr anchorCtr="0" anchor="ctr" bIns="45700" lIns="91425" rIns="91425" tIns="45700">
            <a:noAutofit/>
          </a:bodyPr>
          <a:lstStyle/>
          <a:p>
            <a:pPr indent="0" lvl="0" marL="0" marR="0" rtl="0" algn="ctr">
              <a:spcBef>
                <a:spcPts val="0"/>
              </a:spcBef>
              <a:buClr>
                <a:srgbClr val="FFFFFF"/>
              </a:buClr>
              <a:buSzPct val="25000"/>
              <a:buFont typeface="Calibri"/>
              <a:buNone/>
            </a:pPr>
            <a:r>
              <a:rPr b="1" i="0" lang="en" sz="3000" u="none" cap="none" strike="noStrike">
                <a:solidFill>
                  <a:schemeClr val="accent6"/>
                </a:solidFill>
                <a:latin typeface="Arial"/>
                <a:ea typeface="Arial"/>
                <a:cs typeface="Arial"/>
                <a:sym typeface="Arial"/>
              </a:rPr>
              <a:t>ONOS Use Cases in Service Provider Networks</a:t>
            </a:r>
          </a:p>
        </p:txBody>
      </p:sp>
      <p:sp>
        <p:nvSpPr>
          <p:cNvPr id="615" name="Shape 615"/>
          <p:cNvSpPr/>
          <p:nvPr/>
        </p:nvSpPr>
        <p:spPr>
          <a:xfrm>
            <a:off x="7628214" y="3113308"/>
            <a:ext cx="1515900" cy="1222500"/>
          </a:xfrm>
          <a:prstGeom prst="wedgeEllipseCallout">
            <a:avLst>
              <a:gd fmla="val -125689" name="adj1"/>
              <a:gd fmla="val 5433" name="adj2"/>
            </a:avLst>
          </a:prstGeom>
          <a:solidFill>
            <a:srgbClr val="8064A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Packet- Optical Use Case</a:t>
            </a:r>
          </a:p>
        </p:txBody>
      </p:sp>
      <p:sp>
        <p:nvSpPr>
          <p:cNvPr id="616" name="Shape 616"/>
          <p:cNvSpPr/>
          <p:nvPr/>
        </p:nvSpPr>
        <p:spPr>
          <a:xfrm>
            <a:off x="341184" y="1815086"/>
            <a:ext cx="1999200" cy="1222500"/>
          </a:xfrm>
          <a:prstGeom prst="wedgeEllipseCallout">
            <a:avLst>
              <a:gd fmla="val 139689" name="adj1"/>
              <a:gd fmla="val 114819" name="adj2"/>
            </a:avLst>
          </a:prstGeom>
          <a:solidFill>
            <a:srgbClr val="8064A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Traffic Engineering/PCE</a:t>
            </a:r>
          </a:p>
        </p:txBody>
      </p:sp>
      <p:sp>
        <p:nvSpPr>
          <p:cNvPr id="617" name="Shape 617"/>
          <p:cNvSpPr/>
          <p:nvPr/>
        </p:nvSpPr>
        <p:spPr>
          <a:xfrm>
            <a:off x="2483389" y="989712"/>
            <a:ext cx="1999200" cy="877499"/>
          </a:xfrm>
          <a:prstGeom prst="wedgeEllipseCallout">
            <a:avLst>
              <a:gd fmla="val 55954" name="adj1"/>
              <a:gd fmla="val 257375" name="adj2"/>
            </a:avLst>
          </a:prstGeom>
          <a:solidFill>
            <a:srgbClr val="8064A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SDN/IP Peering</a:t>
            </a:r>
          </a:p>
        </p:txBody>
      </p:sp>
      <p:sp>
        <p:nvSpPr>
          <p:cNvPr id="618" name="Shape 618"/>
          <p:cNvSpPr/>
          <p:nvPr/>
        </p:nvSpPr>
        <p:spPr>
          <a:xfrm>
            <a:off x="7507800" y="1188775"/>
            <a:ext cx="1837800" cy="1222500"/>
          </a:xfrm>
          <a:prstGeom prst="wedgeEllipseCallout">
            <a:avLst>
              <a:gd fmla="val -153317" name="adj1"/>
              <a:gd fmla="val 144950" name="adj2"/>
            </a:avLst>
          </a:prstGeom>
          <a:solidFill>
            <a:srgbClr val="8064A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Dis aggrega</a:t>
            </a:r>
            <a:r>
              <a:rPr lang="en" sz="1800">
                <a:solidFill>
                  <a:srgbClr val="FFFFFF"/>
                </a:solidFill>
                <a:latin typeface="Calibri"/>
                <a:ea typeface="Calibri"/>
                <a:cs typeface="Calibri"/>
                <a:sym typeface="Calibri"/>
              </a:rPr>
              <a:t>t</a:t>
            </a:r>
            <a:r>
              <a:rPr b="0" i="0" lang="en" sz="1800" u="none" cap="none" strike="noStrike">
                <a:solidFill>
                  <a:srgbClr val="FFFFFF"/>
                </a:solidFill>
                <a:latin typeface="Calibri"/>
                <a:ea typeface="Calibri"/>
                <a:cs typeface="Calibri"/>
                <a:sym typeface="Calibri"/>
              </a:rPr>
              <a:t>ed ROADM</a:t>
            </a:r>
          </a:p>
        </p:txBody>
      </p:sp>
      <p:sp>
        <p:nvSpPr>
          <p:cNvPr id="619" name="Shape 619"/>
          <p:cNvSpPr/>
          <p:nvPr/>
        </p:nvSpPr>
        <p:spPr>
          <a:xfrm>
            <a:off x="4941172" y="1016821"/>
            <a:ext cx="1880400" cy="1222500"/>
          </a:xfrm>
          <a:prstGeom prst="wedgeEllipseCallout">
            <a:avLst>
              <a:gd fmla="val -35979" name="adj1"/>
              <a:gd fmla="val 158118" name="adj2"/>
            </a:avLst>
          </a:prstGeom>
          <a:solidFill>
            <a:srgbClr val="8064A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Global deployment in R&amp;E Networks</a:t>
            </a:r>
          </a:p>
        </p:txBody>
      </p:sp>
      <p:sp>
        <p:nvSpPr>
          <p:cNvPr id="620" name="Shape 620"/>
          <p:cNvSpPr/>
          <p:nvPr/>
        </p:nvSpPr>
        <p:spPr>
          <a:xfrm>
            <a:off x="135934" y="3144411"/>
            <a:ext cx="1999200" cy="1222500"/>
          </a:xfrm>
          <a:prstGeom prst="wedgeEllipseCallout">
            <a:avLst>
              <a:gd fmla="val 126211" name="adj1"/>
              <a:gd fmla="val 35866" name="adj2"/>
            </a:avLst>
          </a:prstGeom>
          <a:solidFill>
            <a:srgbClr val="8064A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lang="en" sz="1800">
                <a:solidFill>
                  <a:srgbClr val="FFFFFF"/>
                </a:solidFill>
                <a:latin typeface="Calibri"/>
                <a:ea typeface="Calibri"/>
                <a:cs typeface="Calibri"/>
                <a:sym typeface="Calibri"/>
              </a:rPr>
              <a:t>CORD</a:t>
            </a:r>
          </a:p>
        </p:txBody>
      </p:sp>
      <p:sp>
        <p:nvSpPr>
          <p:cNvPr id="621" name="Shape 621"/>
          <p:cNvSpPr/>
          <p:nvPr/>
        </p:nvSpPr>
        <p:spPr>
          <a:xfrm>
            <a:off x="5106684" y="3921011"/>
            <a:ext cx="1999200" cy="1222500"/>
          </a:xfrm>
          <a:prstGeom prst="wedgeEllipseCallout">
            <a:avLst>
              <a:gd fmla="val -128606" name="adj1"/>
              <a:gd fmla="val -12234" name="adj2"/>
            </a:avLst>
          </a:prstGeom>
          <a:solidFill>
            <a:srgbClr val="8064A2"/>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lang="en" sz="1800">
                <a:solidFill>
                  <a:srgbClr val="FFFFFF"/>
                </a:solidFill>
                <a:latin typeface="Calibri"/>
                <a:ea typeface="Calibri"/>
                <a:cs typeface="Calibri"/>
                <a:sym typeface="Calibri"/>
              </a:rPr>
              <a:t>Trellis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1000"/>
                                        <p:tgtEl>
                                          <p:spTgt spid="620"/>
                                        </p:tgtEl>
                                      </p:cBhvr>
                                    </p:animEffect>
                                  </p:childTnLst>
                                </p:cTn>
                              </p:par>
                              <p:par>
                                <p:cTn fill="hold" nodeType="with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1000"/>
                                        <p:tgtEl>
                                          <p:spTgt spid="6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25" name="Shape 625"/>
        <p:cNvGrpSpPr/>
        <p:nvPr/>
      </p:nvGrpSpPr>
      <p:grpSpPr>
        <a:xfrm>
          <a:off x="0" y="0"/>
          <a:ext cx="0" cy="0"/>
          <a:chOff x="0" y="0"/>
          <a:chExt cx="0" cy="0"/>
        </a:xfrm>
      </p:grpSpPr>
      <p:pic>
        <p:nvPicPr>
          <p:cNvPr descr="worldmap.png" id="626" name="Shape 626"/>
          <p:cNvPicPr preferRelativeResize="0"/>
          <p:nvPr/>
        </p:nvPicPr>
        <p:blipFill rotWithShape="1">
          <a:blip r:embed="rId3">
            <a:alphaModFix/>
          </a:blip>
          <a:srcRect b="0" l="0" r="0" t="0"/>
          <a:stretch/>
        </p:blipFill>
        <p:spPr>
          <a:xfrm>
            <a:off x="355990" y="816555"/>
            <a:ext cx="8428478" cy="4320480"/>
          </a:xfrm>
          <a:prstGeom prst="rect">
            <a:avLst/>
          </a:prstGeom>
          <a:noFill/>
          <a:ln>
            <a:noFill/>
          </a:ln>
        </p:spPr>
      </p:pic>
      <p:pic>
        <p:nvPicPr>
          <p:cNvPr descr="map-eu-green.png" id="627" name="Shape 627"/>
          <p:cNvPicPr preferRelativeResize="0"/>
          <p:nvPr/>
        </p:nvPicPr>
        <p:blipFill rotWithShape="1">
          <a:blip r:embed="rId4">
            <a:alphaModFix/>
          </a:blip>
          <a:srcRect b="0" l="0" r="0" t="0"/>
          <a:stretch/>
        </p:blipFill>
        <p:spPr>
          <a:xfrm>
            <a:off x="3829788" y="1086585"/>
            <a:ext cx="1404155" cy="837092"/>
          </a:xfrm>
          <a:prstGeom prst="rect">
            <a:avLst/>
          </a:prstGeom>
          <a:noFill/>
          <a:ln>
            <a:noFill/>
          </a:ln>
        </p:spPr>
      </p:pic>
      <p:pic>
        <p:nvPicPr>
          <p:cNvPr descr="map-south-america-green.png" id="628" name="Shape 628"/>
          <p:cNvPicPr preferRelativeResize="0"/>
          <p:nvPr/>
        </p:nvPicPr>
        <p:blipFill rotWithShape="1">
          <a:blip r:embed="rId5">
            <a:alphaModFix/>
          </a:blip>
          <a:srcRect b="0" l="0" r="0" t="0"/>
          <a:stretch/>
        </p:blipFill>
        <p:spPr>
          <a:xfrm>
            <a:off x="2182605" y="2290721"/>
            <a:ext cx="1161128" cy="2079230"/>
          </a:xfrm>
          <a:prstGeom prst="rect">
            <a:avLst/>
          </a:prstGeom>
          <a:noFill/>
          <a:ln>
            <a:noFill/>
          </a:ln>
        </p:spPr>
      </p:pic>
      <p:pic>
        <p:nvPicPr>
          <p:cNvPr descr="map-us-green.png" id="629" name="Shape 629"/>
          <p:cNvPicPr preferRelativeResize="0"/>
          <p:nvPr/>
        </p:nvPicPr>
        <p:blipFill rotWithShape="1">
          <a:blip r:embed="rId6">
            <a:alphaModFix/>
          </a:blip>
          <a:srcRect b="0" l="0" r="0" t="0"/>
          <a:stretch/>
        </p:blipFill>
        <p:spPr>
          <a:xfrm>
            <a:off x="1385645" y="1599642"/>
            <a:ext cx="1350149" cy="621068"/>
          </a:xfrm>
          <a:prstGeom prst="rect">
            <a:avLst/>
          </a:prstGeom>
          <a:noFill/>
          <a:ln>
            <a:noFill/>
          </a:ln>
        </p:spPr>
      </p:pic>
      <p:pic>
        <p:nvPicPr>
          <p:cNvPr descr="internet2.jpg" id="630" name="Shape 630"/>
          <p:cNvPicPr preferRelativeResize="0"/>
          <p:nvPr/>
        </p:nvPicPr>
        <p:blipFill rotWithShape="1">
          <a:blip r:embed="rId7">
            <a:alphaModFix/>
          </a:blip>
          <a:srcRect b="0" l="0" r="0" t="0"/>
          <a:stretch/>
        </p:blipFill>
        <p:spPr>
          <a:xfrm>
            <a:off x="643434" y="2425736"/>
            <a:ext cx="889816" cy="660525"/>
          </a:xfrm>
          <a:prstGeom prst="rect">
            <a:avLst/>
          </a:prstGeom>
          <a:noFill/>
          <a:ln>
            <a:noFill/>
          </a:ln>
        </p:spPr>
      </p:pic>
      <p:cxnSp>
        <p:nvCxnSpPr>
          <p:cNvPr id="631" name="Shape 631"/>
          <p:cNvCxnSpPr/>
          <p:nvPr/>
        </p:nvCxnSpPr>
        <p:spPr>
          <a:xfrm flipH="1">
            <a:off x="1210497" y="2020691"/>
            <a:ext cx="540060" cy="486053"/>
          </a:xfrm>
          <a:prstGeom prst="straightConnector1">
            <a:avLst/>
          </a:prstGeom>
          <a:noFill/>
          <a:ln cap="flat" cmpd="sng" w="25400">
            <a:solidFill>
              <a:schemeClr val="dk2"/>
            </a:solidFill>
            <a:prstDash val="solid"/>
            <a:bevel/>
            <a:headEnd len="med" w="med" type="none"/>
            <a:tailEnd len="med" w="med" type="none"/>
          </a:ln>
        </p:spPr>
      </p:cxnSp>
      <p:pic>
        <p:nvPicPr>
          <p:cNvPr descr="fiu_logo.jpg" id="632" name="Shape 632"/>
          <p:cNvPicPr preferRelativeResize="0"/>
          <p:nvPr/>
        </p:nvPicPr>
        <p:blipFill rotWithShape="1">
          <a:blip r:embed="rId8">
            <a:alphaModFix/>
          </a:blip>
          <a:srcRect b="0" l="0" r="0" t="0"/>
          <a:stretch/>
        </p:blipFill>
        <p:spPr>
          <a:xfrm>
            <a:off x="3856792" y="4080576"/>
            <a:ext cx="405000" cy="302100"/>
          </a:xfrm>
          <a:prstGeom prst="rect">
            <a:avLst/>
          </a:prstGeom>
          <a:noFill/>
          <a:ln>
            <a:noFill/>
          </a:ln>
        </p:spPr>
      </p:pic>
      <p:pic>
        <p:nvPicPr>
          <p:cNvPr descr="geant_logo.jpg" id="633" name="Shape 633"/>
          <p:cNvPicPr preferRelativeResize="0"/>
          <p:nvPr/>
        </p:nvPicPr>
        <p:blipFill rotWithShape="1">
          <a:blip r:embed="rId9">
            <a:alphaModFix/>
          </a:blip>
          <a:srcRect b="0" l="0" r="0" t="0"/>
          <a:stretch/>
        </p:blipFill>
        <p:spPr>
          <a:xfrm>
            <a:off x="5658229" y="697544"/>
            <a:ext cx="999643" cy="459050"/>
          </a:xfrm>
          <a:prstGeom prst="rect">
            <a:avLst/>
          </a:prstGeom>
          <a:noFill/>
          <a:ln>
            <a:noFill/>
          </a:ln>
        </p:spPr>
      </p:pic>
      <p:pic>
        <p:nvPicPr>
          <p:cNvPr descr="garr_logo.jpg" id="634" name="Shape 634"/>
          <p:cNvPicPr preferRelativeResize="0"/>
          <p:nvPr/>
        </p:nvPicPr>
        <p:blipFill rotWithShape="1">
          <a:blip r:embed="rId10">
            <a:alphaModFix/>
          </a:blip>
          <a:srcRect b="0" l="0" r="0" t="0"/>
          <a:stretch/>
        </p:blipFill>
        <p:spPr>
          <a:xfrm>
            <a:off x="5631227" y="1183598"/>
            <a:ext cx="1033876" cy="374191"/>
          </a:xfrm>
          <a:prstGeom prst="rect">
            <a:avLst/>
          </a:prstGeom>
          <a:noFill/>
          <a:ln>
            <a:noFill/>
          </a:ln>
        </p:spPr>
      </p:pic>
      <p:cxnSp>
        <p:nvCxnSpPr>
          <p:cNvPr id="635" name="Shape 635"/>
          <p:cNvCxnSpPr/>
          <p:nvPr/>
        </p:nvCxnSpPr>
        <p:spPr>
          <a:xfrm flipH="1">
            <a:off x="4936911" y="1183598"/>
            <a:ext cx="702077" cy="378042"/>
          </a:xfrm>
          <a:prstGeom prst="straightConnector1">
            <a:avLst/>
          </a:prstGeom>
          <a:noFill/>
          <a:ln cap="flat" cmpd="sng" w="25400">
            <a:solidFill>
              <a:schemeClr val="dk2"/>
            </a:solidFill>
            <a:prstDash val="solid"/>
            <a:bevel/>
            <a:headEnd len="med" w="med" type="none"/>
            <a:tailEnd len="med" w="med" type="none"/>
          </a:ln>
        </p:spPr>
      </p:cxnSp>
      <p:sp>
        <p:nvSpPr>
          <p:cNvPr id="636" name="Shape 636"/>
          <p:cNvSpPr txBox="1"/>
          <p:nvPr/>
        </p:nvSpPr>
        <p:spPr>
          <a:xfrm>
            <a:off x="2404593" y="3159077"/>
            <a:ext cx="796491" cy="238766"/>
          </a:xfrm>
          <a:prstGeom prst="rect">
            <a:avLst/>
          </a:prstGeom>
          <a:noFill/>
          <a:ln>
            <a:noFill/>
          </a:ln>
        </p:spPr>
        <p:txBody>
          <a:bodyPr anchorCtr="0" anchor="ctr" bIns="26775" lIns="26775" rIns="26775" tIns="26775">
            <a:noAutofit/>
          </a:bodyPr>
          <a:lstStyle/>
          <a:p>
            <a:pPr indent="0" lvl="0" marL="0" marR="0" rtl="0" algn="ctr">
              <a:lnSpc>
                <a:spcPct val="100000"/>
              </a:lnSpc>
              <a:spcBef>
                <a:spcPts val="0"/>
              </a:spcBef>
              <a:spcAft>
                <a:spcPts val="0"/>
              </a:spcAft>
              <a:buClr>
                <a:srgbClr val="B2B2B2"/>
              </a:buClr>
              <a:buSzPct val="25000"/>
              <a:buFont typeface="Helvetica Neue"/>
              <a:buNone/>
            </a:pPr>
            <a:r>
              <a:rPr b="1" i="0" lang="en" sz="1200" u="none" cap="none" strike="noStrike">
                <a:solidFill>
                  <a:srgbClr val="B2B2B2"/>
                </a:solidFill>
                <a:latin typeface="Helvetica Neue"/>
                <a:ea typeface="Helvetica Neue"/>
                <a:cs typeface="Helvetica Neue"/>
                <a:sym typeface="Helvetica Neue"/>
              </a:rPr>
              <a:t>OpenFlow</a:t>
            </a:r>
          </a:p>
        </p:txBody>
      </p:sp>
      <p:sp>
        <p:nvSpPr>
          <p:cNvPr id="637" name="Shape 637"/>
          <p:cNvSpPr/>
          <p:nvPr/>
        </p:nvSpPr>
        <p:spPr>
          <a:xfrm>
            <a:off x="4450857" y="1642649"/>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38" name="Shape 638"/>
          <p:cNvSpPr/>
          <p:nvPr/>
        </p:nvSpPr>
        <p:spPr>
          <a:xfrm>
            <a:off x="4477860" y="1750661"/>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39" name="Shape 639"/>
          <p:cNvSpPr/>
          <p:nvPr/>
        </p:nvSpPr>
        <p:spPr>
          <a:xfrm>
            <a:off x="4315842" y="1480631"/>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40" name="Shape 640"/>
          <p:cNvSpPr/>
          <p:nvPr/>
        </p:nvSpPr>
        <p:spPr>
          <a:xfrm>
            <a:off x="3059832" y="3532859"/>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41" name="Shape 641"/>
          <p:cNvSpPr/>
          <p:nvPr/>
        </p:nvSpPr>
        <p:spPr>
          <a:xfrm>
            <a:off x="2533644" y="3829892"/>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42" name="Shape 642"/>
          <p:cNvSpPr/>
          <p:nvPr/>
        </p:nvSpPr>
        <p:spPr>
          <a:xfrm>
            <a:off x="2276744" y="2182709"/>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43" name="Shape 643"/>
          <p:cNvSpPr/>
          <p:nvPr/>
        </p:nvSpPr>
        <p:spPr>
          <a:xfrm>
            <a:off x="2533644" y="3802889"/>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44" name="Shape 644"/>
          <p:cNvSpPr/>
          <p:nvPr/>
        </p:nvSpPr>
        <p:spPr>
          <a:xfrm>
            <a:off x="1561536" y="1858673"/>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45" name="Shape 645"/>
          <p:cNvSpPr/>
          <p:nvPr/>
        </p:nvSpPr>
        <p:spPr>
          <a:xfrm>
            <a:off x="2290617" y="1777664"/>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46" name="Shape 646"/>
          <p:cNvSpPr/>
          <p:nvPr/>
        </p:nvSpPr>
        <p:spPr>
          <a:xfrm>
            <a:off x="2398629" y="1912679"/>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47" name="Shape 647"/>
          <p:cNvSpPr txBox="1"/>
          <p:nvPr/>
        </p:nvSpPr>
        <p:spPr>
          <a:xfrm>
            <a:off x="1561262" y="1781925"/>
            <a:ext cx="796491" cy="238766"/>
          </a:xfrm>
          <a:prstGeom prst="rect">
            <a:avLst/>
          </a:prstGeom>
          <a:noFill/>
          <a:ln>
            <a:noFill/>
          </a:ln>
        </p:spPr>
        <p:txBody>
          <a:bodyPr anchorCtr="0" anchor="ctr" bIns="26775" lIns="26775" rIns="26775" tIns="26775">
            <a:noAutofit/>
          </a:bodyPr>
          <a:lstStyle/>
          <a:p>
            <a:pPr indent="0" lvl="0" marL="0" marR="0" rtl="0" algn="ctr">
              <a:lnSpc>
                <a:spcPct val="100000"/>
              </a:lnSpc>
              <a:spcBef>
                <a:spcPts val="0"/>
              </a:spcBef>
              <a:spcAft>
                <a:spcPts val="0"/>
              </a:spcAft>
              <a:buClr>
                <a:srgbClr val="B2B2B2"/>
              </a:buClr>
              <a:buSzPct val="25000"/>
              <a:buFont typeface="Helvetica Neue"/>
              <a:buNone/>
            </a:pPr>
            <a:r>
              <a:rPr b="1" i="0" lang="en" sz="1200" u="none" cap="none" strike="noStrike">
                <a:solidFill>
                  <a:srgbClr val="B2B2B2"/>
                </a:solidFill>
                <a:latin typeface="Helvetica Neue"/>
                <a:ea typeface="Helvetica Neue"/>
                <a:cs typeface="Helvetica Neue"/>
                <a:sym typeface="Helvetica Neue"/>
              </a:rPr>
              <a:t>OpenFlow</a:t>
            </a:r>
          </a:p>
        </p:txBody>
      </p:sp>
      <p:sp>
        <p:nvSpPr>
          <p:cNvPr id="648" name="Shape 648"/>
          <p:cNvSpPr/>
          <p:nvPr/>
        </p:nvSpPr>
        <p:spPr>
          <a:xfrm>
            <a:off x="2506641" y="1804667"/>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49" name="Shape 649"/>
          <p:cNvSpPr txBox="1"/>
          <p:nvPr/>
        </p:nvSpPr>
        <p:spPr>
          <a:xfrm>
            <a:off x="4572000" y="1437624"/>
            <a:ext cx="267500" cy="238766"/>
          </a:xfrm>
          <a:prstGeom prst="rect">
            <a:avLst/>
          </a:prstGeom>
          <a:noFill/>
          <a:ln>
            <a:noFill/>
          </a:ln>
        </p:spPr>
        <p:txBody>
          <a:bodyPr anchorCtr="0" anchor="ctr" bIns="26775" lIns="26775" rIns="26775" tIns="26775">
            <a:noAutofit/>
          </a:bodyPr>
          <a:lstStyle/>
          <a:p>
            <a:pPr indent="0" lvl="0" marL="0" marR="0" rtl="0" algn="ctr">
              <a:lnSpc>
                <a:spcPct val="100000"/>
              </a:lnSpc>
              <a:spcBef>
                <a:spcPts val="0"/>
              </a:spcBef>
              <a:spcAft>
                <a:spcPts val="0"/>
              </a:spcAft>
              <a:buClr>
                <a:srgbClr val="B2B2B2"/>
              </a:buClr>
              <a:buSzPct val="25000"/>
              <a:buFont typeface="Helvetica Neue"/>
              <a:buNone/>
            </a:pPr>
            <a:r>
              <a:rPr b="1" i="0" lang="en" sz="1200" u="none" cap="none" strike="noStrike">
                <a:solidFill>
                  <a:srgbClr val="B2B2B2"/>
                </a:solidFill>
                <a:latin typeface="Helvetica Neue"/>
                <a:ea typeface="Helvetica Neue"/>
                <a:cs typeface="Helvetica Neue"/>
                <a:sym typeface="Helvetica Neue"/>
              </a:rPr>
              <a:t>OF</a:t>
            </a:r>
          </a:p>
        </p:txBody>
      </p:sp>
      <p:sp>
        <p:nvSpPr>
          <p:cNvPr id="650" name="Shape 650"/>
          <p:cNvSpPr/>
          <p:nvPr/>
        </p:nvSpPr>
        <p:spPr>
          <a:xfrm>
            <a:off x="2276744" y="2195703"/>
            <a:ext cx="1191220" cy="1353740"/>
          </a:xfrm>
          <a:custGeom>
            <a:pathLst>
              <a:path extrusionOk="0" h="120000" w="120000">
                <a:moveTo>
                  <a:pt x="0" y="0"/>
                </a:moveTo>
                <a:cubicBezTo>
                  <a:pt x="41109" y="12453"/>
                  <a:pt x="82218" y="24907"/>
                  <a:pt x="101109" y="41794"/>
                </a:cubicBezTo>
                <a:cubicBezTo>
                  <a:pt x="120000" y="58680"/>
                  <a:pt x="117061" y="88284"/>
                  <a:pt x="113343" y="101319"/>
                </a:cubicBezTo>
                <a:cubicBezTo>
                  <a:pt x="109625" y="114353"/>
                  <a:pt x="94212" y="117176"/>
                  <a:pt x="78800" y="120000"/>
                </a:cubicBezTo>
              </a:path>
            </a:pathLst>
          </a:custGeom>
          <a:noFill/>
          <a:ln cap="flat" cmpd="sng" w="9525">
            <a:solidFill>
              <a:srgbClr val="FF0000"/>
            </a:solidFill>
            <a:prstDash val="solid"/>
            <a:bevel/>
            <a:headEnd len="med" w="med" type="none"/>
            <a:tailEnd len="med" w="med" type="none"/>
          </a:ln>
        </p:spPr>
        <p:txBody>
          <a:bodyPr anchorCtr="0" anchor="t" bIns="17150" lIns="34275" rIns="34275" tIns="17150">
            <a:noAutofit/>
          </a:bodyPr>
          <a:lstStyle/>
          <a:p>
            <a:pPr indent="0" lvl="0" marL="0" marR="0" rtl="0" algn="l">
              <a:lnSpc>
                <a:spcPct val="100000"/>
              </a:lnSpc>
              <a:spcBef>
                <a:spcPts val="0"/>
              </a:spcBef>
              <a:spcAft>
                <a:spcPts val="0"/>
              </a:spcAft>
              <a:buFont typeface="Helvetica Neue"/>
              <a:buNone/>
            </a:pPr>
            <a:r>
              <a:t/>
            </a:r>
            <a:endParaRPr b="0" i="0" sz="700" u="none" cap="none" strike="noStrike">
              <a:solidFill>
                <a:srgbClr val="000000"/>
              </a:solidFill>
              <a:latin typeface="Helvetica Neue"/>
              <a:ea typeface="Helvetica Neue"/>
              <a:cs typeface="Helvetica Neue"/>
              <a:sym typeface="Helvetica Neue"/>
            </a:endParaRPr>
          </a:p>
        </p:txBody>
      </p:sp>
      <p:pic>
        <p:nvPicPr>
          <p:cNvPr descr="AMLightLogo_s.jpg" id="651" name="Shape 651"/>
          <p:cNvPicPr preferRelativeResize="0"/>
          <p:nvPr/>
        </p:nvPicPr>
        <p:blipFill rotWithShape="1">
          <a:blip r:embed="rId11">
            <a:alphaModFix/>
          </a:blip>
          <a:srcRect b="0" l="0" r="0" t="0"/>
          <a:stretch/>
        </p:blipFill>
        <p:spPr>
          <a:xfrm>
            <a:off x="3829788" y="3321395"/>
            <a:ext cx="459000" cy="721500"/>
          </a:xfrm>
          <a:prstGeom prst="rect">
            <a:avLst/>
          </a:prstGeom>
          <a:noFill/>
          <a:ln>
            <a:noFill/>
          </a:ln>
        </p:spPr>
      </p:pic>
      <p:pic>
        <p:nvPicPr>
          <p:cNvPr descr="aarnet-logo.png" id="652" name="Shape 652"/>
          <p:cNvPicPr preferRelativeResize="0"/>
          <p:nvPr/>
        </p:nvPicPr>
        <p:blipFill rotWithShape="1">
          <a:blip r:embed="rId12">
            <a:alphaModFix/>
          </a:blip>
          <a:srcRect b="28690" l="7364" r="18993" t="11949"/>
          <a:stretch/>
        </p:blipFill>
        <p:spPr>
          <a:xfrm>
            <a:off x="5809982" y="3975905"/>
            <a:ext cx="868250" cy="297032"/>
          </a:xfrm>
          <a:prstGeom prst="rect">
            <a:avLst/>
          </a:prstGeom>
          <a:noFill/>
          <a:ln>
            <a:noFill/>
          </a:ln>
        </p:spPr>
      </p:pic>
      <p:pic>
        <p:nvPicPr>
          <p:cNvPr descr="kreonet-logo.png" id="653" name="Shape 653"/>
          <p:cNvPicPr preferRelativeResize="0"/>
          <p:nvPr/>
        </p:nvPicPr>
        <p:blipFill rotWithShape="1">
          <a:blip r:embed="rId13">
            <a:alphaModFix/>
          </a:blip>
          <a:srcRect b="27059" l="0" r="0" t="25986"/>
          <a:stretch/>
        </p:blipFill>
        <p:spPr>
          <a:xfrm>
            <a:off x="7569332" y="1838628"/>
            <a:ext cx="868959" cy="301073"/>
          </a:xfrm>
          <a:prstGeom prst="rect">
            <a:avLst/>
          </a:prstGeom>
          <a:noFill/>
          <a:ln>
            <a:noFill/>
          </a:ln>
        </p:spPr>
      </p:pic>
      <p:pic>
        <p:nvPicPr>
          <p:cNvPr descr="bird.png" id="654" name="Shape 654"/>
          <p:cNvPicPr preferRelativeResize="0"/>
          <p:nvPr/>
        </p:nvPicPr>
        <p:blipFill rotWithShape="1">
          <a:blip r:embed="rId14">
            <a:alphaModFix/>
          </a:blip>
          <a:srcRect b="0" l="0" r="0" t="0"/>
          <a:stretch/>
        </p:blipFill>
        <p:spPr>
          <a:xfrm>
            <a:off x="2384756" y="2679762"/>
            <a:ext cx="553259" cy="507535"/>
          </a:xfrm>
          <a:prstGeom prst="rect">
            <a:avLst/>
          </a:prstGeom>
          <a:noFill/>
          <a:ln>
            <a:noFill/>
          </a:ln>
        </p:spPr>
      </p:pic>
      <p:pic>
        <p:nvPicPr>
          <p:cNvPr descr="bird.png" id="655" name="Shape 655"/>
          <p:cNvPicPr preferRelativeResize="0"/>
          <p:nvPr/>
        </p:nvPicPr>
        <p:blipFill rotWithShape="1">
          <a:blip r:embed="rId14">
            <a:alphaModFix/>
          </a:blip>
          <a:srcRect b="0" l="0" r="0" t="0"/>
          <a:stretch/>
        </p:blipFill>
        <p:spPr>
          <a:xfrm>
            <a:off x="4166954" y="924566"/>
            <a:ext cx="553259" cy="507535"/>
          </a:xfrm>
          <a:prstGeom prst="rect">
            <a:avLst/>
          </a:prstGeom>
          <a:noFill/>
          <a:ln>
            <a:noFill/>
          </a:ln>
        </p:spPr>
      </p:pic>
      <p:pic>
        <p:nvPicPr>
          <p:cNvPr descr="map-au-green.png" id="656" name="Shape 656"/>
          <p:cNvPicPr preferRelativeResize="0"/>
          <p:nvPr/>
        </p:nvPicPr>
        <p:blipFill rotWithShape="1">
          <a:blip r:embed="rId15">
            <a:alphaModFix/>
          </a:blip>
          <a:srcRect b="0" l="0" r="0" t="0"/>
          <a:stretch/>
        </p:blipFill>
        <p:spPr>
          <a:xfrm>
            <a:off x="6867254" y="3219822"/>
            <a:ext cx="995818" cy="756084"/>
          </a:xfrm>
          <a:prstGeom prst="rect">
            <a:avLst/>
          </a:prstGeom>
          <a:noFill/>
          <a:ln>
            <a:noFill/>
          </a:ln>
        </p:spPr>
      </p:pic>
      <p:cxnSp>
        <p:nvCxnSpPr>
          <p:cNvPr id="657" name="Shape 657"/>
          <p:cNvCxnSpPr/>
          <p:nvPr/>
        </p:nvCxnSpPr>
        <p:spPr>
          <a:xfrm>
            <a:off x="7174921" y="1938497"/>
            <a:ext cx="367408" cy="39186"/>
          </a:xfrm>
          <a:prstGeom prst="straightConnector1">
            <a:avLst/>
          </a:prstGeom>
          <a:noFill/>
          <a:ln cap="flat" cmpd="sng" w="25400">
            <a:solidFill>
              <a:schemeClr val="dk2"/>
            </a:solidFill>
            <a:prstDash val="solid"/>
            <a:bevel/>
            <a:headEnd len="med" w="med" type="none"/>
            <a:tailEnd len="med" w="med" type="none"/>
          </a:ln>
        </p:spPr>
      </p:cxnSp>
      <p:sp>
        <p:nvSpPr>
          <p:cNvPr id="658" name="Shape 658"/>
          <p:cNvSpPr txBox="1"/>
          <p:nvPr/>
        </p:nvSpPr>
        <p:spPr>
          <a:xfrm>
            <a:off x="6956562" y="4056914"/>
            <a:ext cx="1660054" cy="311623"/>
          </a:xfrm>
          <a:prstGeom prst="rect">
            <a:avLst/>
          </a:prstGeom>
          <a:noFill/>
          <a:ln>
            <a:noFill/>
          </a:ln>
        </p:spPr>
        <p:txBody>
          <a:bodyPr anchorCtr="0" anchor="t" bIns="17150" lIns="34275" rIns="34275" tIns="17150">
            <a:noAutofit/>
          </a:bodyPr>
          <a:lstStyle/>
          <a:p>
            <a:pPr indent="0" lvl="0" marL="0" marR="0" rtl="0" algn="ctr">
              <a:spcBef>
                <a:spcPts val="0"/>
              </a:spcBef>
              <a:buSzPct val="25000"/>
              <a:buNone/>
            </a:pPr>
            <a:r>
              <a:rPr b="1" lang="en" sz="900">
                <a:latin typeface="Arial"/>
                <a:ea typeface="Arial"/>
                <a:cs typeface="Arial"/>
                <a:sym typeface="Arial"/>
              </a:rPr>
              <a:t>Q3 2015</a:t>
            </a:r>
          </a:p>
          <a:p>
            <a:pPr indent="0" lvl="0" marL="0" marR="0" rtl="0" algn="ctr">
              <a:spcBef>
                <a:spcPts val="0"/>
              </a:spcBef>
              <a:buSzPct val="25000"/>
              <a:buNone/>
            </a:pPr>
            <a:r>
              <a:rPr lang="en" sz="900">
                <a:latin typeface="Arial"/>
                <a:ea typeface="Arial"/>
                <a:cs typeface="Arial"/>
                <a:sym typeface="Arial"/>
              </a:rPr>
              <a:t>ONOS Deployment in Australia</a:t>
            </a:r>
          </a:p>
        </p:txBody>
      </p:sp>
      <p:sp>
        <p:nvSpPr>
          <p:cNvPr id="659" name="Shape 659"/>
          <p:cNvSpPr txBox="1"/>
          <p:nvPr/>
        </p:nvSpPr>
        <p:spPr>
          <a:xfrm>
            <a:off x="7015869" y="3494112"/>
            <a:ext cx="796491" cy="238766"/>
          </a:xfrm>
          <a:prstGeom prst="rect">
            <a:avLst/>
          </a:prstGeom>
          <a:noFill/>
          <a:ln>
            <a:noFill/>
          </a:ln>
        </p:spPr>
        <p:txBody>
          <a:bodyPr anchorCtr="0" anchor="ctr" bIns="26775" lIns="26775" rIns="26775" tIns="26775">
            <a:noAutofit/>
          </a:bodyPr>
          <a:lstStyle/>
          <a:p>
            <a:pPr indent="0" lvl="0" marL="0" marR="0" rtl="0" algn="ctr">
              <a:lnSpc>
                <a:spcPct val="100000"/>
              </a:lnSpc>
              <a:spcBef>
                <a:spcPts val="0"/>
              </a:spcBef>
              <a:spcAft>
                <a:spcPts val="0"/>
              </a:spcAft>
              <a:buClr>
                <a:srgbClr val="B2B2B2"/>
              </a:buClr>
              <a:buSzPct val="25000"/>
              <a:buFont typeface="Helvetica Neue"/>
              <a:buNone/>
            </a:pPr>
            <a:r>
              <a:rPr b="1" i="0" lang="en" sz="1200" u="none" cap="none" strike="noStrike">
                <a:solidFill>
                  <a:srgbClr val="B2B2B2"/>
                </a:solidFill>
                <a:latin typeface="Helvetica Neue"/>
                <a:ea typeface="Helvetica Neue"/>
                <a:cs typeface="Helvetica Neue"/>
                <a:sym typeface="Helvetica Neue"/>
              </a:rPr>
              <a:t>OpenFlow</a:t>
            </a:r>
          </a:p>
        </p:txBody>
      </p:sp>
      <p:pic>
        <p:nvPicPr>
          <p:cNvPr descr="bird.png" id="660" name="Shape 660"/>
          <p:cNvPicPr preferRelativeResize="0"/>
          <p:nvPr/>
        </p:nvPicPr>
        <p:blipFill rotWithShape="1">
          <a:blip r:embed="rId14">
            <a:alphaModFix/>
          </a:blip>
          <a:srcRect b="0" l="0" r="0" t="0"/>
          <a:stretch/>
        </p:blipFill>
        <p:spPr>
          <a:xfrm>
            <a:off x="7137683" y="3084807"/>
            <a:ext cx="553259" cy="507535"/>
          </a:xfrm>
          <a:prstGeom prst="rect">
            <a:avLst/>
          </a:prstGeom>
          <a:noFill/>
          <a:ln>
            <a:noFill/>
          </a:ln>
        </p:spPr>
      </p:pic>
      <p:sp>
        <p:nvSpPr>
          <p:cNvPr id="661" name="Shape 661"/>
          <p:cNvSpPr txBox="1"/>
          <p:nvPr/>
        </p:nvSpPr>
        <p:spPr>
          <a:xfrm>
            <a:off x="7272300" y="1410620"/>
            <a:ext cx="1386917" cy="450122"/>
          </a:xfrm>
          <a:prstGeom prst="rect">
            <a:avLst/>
          </a:prstGeom>
          <a:noFill/>
          <a:ln>
            <a:noFill/>
          </a:ln>
        </p:spPr>
        <p:txBody>
          <a:bodyPr anchorCtr="0" anchor="t" bIns="17150" lIns="34275" rIns="34275" tIns="17150">
            <a:noAutofit/>
          </a:bodyPr>
          <a:lstStyle/>
          <a:p>
            <a:pPr indent="0" lvl="0" marL="0" marR="0" rtl="0" algn="l">
              <a:spcBef>
                <a:spcPts val="0"/>
              </a:spcBef>
              <a:buSzPct val="25000"/>
              <a:buNone/>
            </a:pPr>
            <a:r>
              <a:rPr b="1" lang="en" sz="900">
                <a:latin typeface="Arial"/>
                <a:ea typeface="Arial"/>
                <a:cs typeface="Arial"/>
                <a:sym typeface="Arial"/>
              </a:rPr>
              <a:t>Q3 2015</a:t>
            </a:r>
          </a:p>
          <a:p>
            <a:pPr indent="0" lvl="0" marL="0" marR="0" rtl="0" algn="l">
              <a:spcBef>
                <a:spcPts val="0"/>
              </a:spcBef>
              <a:buSzPct val="25000"/>
              <a:buNone/>
            </a:pPr>
            <a:r>
              <a:rPr lang="en" sz="900">
                <a:latin typeface="Arial"/>
                <a:ea typeface="Arial"/>
                <a:cs typeface="Arial"/>
                <a:sym typeface="Arial"/>
              </a:rPr>
              <a:t>Korea announces the first</a:t>
            </a:r>
          </a:p>
          <a:p>
            <a:pPr indent="0" lvl="0" marL="0" marR="0" rtl="0" algn="l">
              <a:spcBef>
                <a:spcPts val="0"/>
              </a:spcBef>
              <a:buSzPct val="25000"/>
              <a:buNone/>
            </a:pPr>
            <a:r>
              <a:rPr lang="en" sz="900">
                <a:latin typeface="Arial"/>
                <a:ea typeface="Arial"/>
                <a:cs typeface="Arial"/>
                <a:sym typeface="Arial"/>
              </a:rPr>
              <a:t>ONOS deployment </a:t>
            </a:r>
          </a:p>
        </p:txBody>
      </p:sp>
      <p:sp>
        <p:nvSpPr>
          <p:cNvPr id="662" name="Shape 662"/>
          <p:cNvSpPr txBox="1"/>
          <p:nvPr/>
        </p:nvSpPr>
        <p:spPr>
          <a:xfrm>
            <a:off x="7600641" y="1923677"/>
            <a:ext cx="1372848" cy="311623"/>
          </a:xfrm>
          <a:prstGeom prst="rect">
            <a:avLst/>
          </a:prstGeom>
          <a:noFill/>
          <a:ln>
            <a:noFill/>
          </a:ln>
        </p:spPr>
        <p:txBody>
          <a:bodyPr anchorCtr="0" anchor="t" bIns="17150" lIns="34275" rIns="34275" tIns="17150">
            <a:noAutofit/>
          </a:bodyPr>
          <a:lstStyle/>
          <a:p>
            <a:pPr indent="0" lvl="0" marL="0" marR="0" rtl="0" algn="r">
              <a:spcBef>
                <a:spcPts val="0"/>
              </a:spcBef>
              <a:buSzPct val="25000"/>
              <a:buNone/>
            </a:pPr>
            <a:r>
              <a:rPr b="1" lang="en" sz="900">
                <a:latin typeface="Arial"/>
                <a:ea typeface="Arial"/>
                <a:cs typeface="Arial"/>
                <a:sym typeface="Arial"/>
              </a:rPr>
              <a:t>Q4 2015</a:t>
            </a:r>
          </a:p>
          <a:p>
            <a:pPr indent="0" lvl="0" marL="0" marR="0" rtl="0" algn="r">
              <a:spcBef>
                <a:spcPts val="0"/>
              </a:spcBef>
              <a:buSzPct val="25000"/>
              <a:buNone/>
            </a:pPr>
            <a:r>
              <a:rPr lang="en" sz="900">
                <a:latin typeface="Arial"/>
                <a:ea typeface="Arial"/>
                <a:cs typeface="Arial"/>
                <a:sym typeface="Arial"/>
              </a:rPr>
              <a:t>ONOS deployed in Korea</a:t>
            </a:r>
          </a:p>
        </p:txBody>
      </p:sp>
      <p:sp>
        <p:nvSpPr>
          <p:cNvPr id="663" name="Shape 663"/>
          <p:cNvSpPr txBox="1"/>
          <p:nvPr/>
        </p:nvSpPr>
        <p:spPr>
          <a:xfrm>
            <a:off x="1197298" y="3414286"/>
            <a:ext cx="1241464" cy="588622"/>
          </a:xfrm>
          <a:prstGeom prst="rect">
            <a:avLst/>
          </a:prstGeom>
          <a:noFill/>
          <a:ln>
            <a:noFill/>
          </a:ln>
        </p:spPr>
        <p:txBody>
          <a:bodyPr anchorCtr="0" anchor="t" bIns="17150" lIns="34275" rIns="34275" tIns="17150">
            <a:noAutofit/>
          </a:bodyPr>
          <a:lstStyle/>
          <a:p>
            <a:pPr indent="0" lvl="0" marL="0" marR="0" rtl="0" algn="r">
              <a:spcBef>
                <a:spcPts val="0"/>
              </a:spcBef>
              <a:buSzPct val="25000"/>
              <a:buNone/>
            </a:pPr>
            <a:r>
              <a:rPr b="1" lang="en" sz="900">
                <a:latin typeface="Arial"/>
                <a:ea typeface="Arial"/>
                <a:cs typeface="Arial"/>
                <a:sym typeface="Arial"/>
              </a:rPr>
              <a:t>Q4 2015</a:t>
            </a:r>
          </a:p>
          <a:p>
            <a:pPr indent="0" lvl="0" marL="0" marR="0" rtl="0" algn="r">
              <a:spcBef>
                <a:spcPts val="0"/>
              </a:spcBef>
              <a:buSzPct val="25000"/>
              <a:buNone/>
            </a:pPr>
            <a:r>
              <a:rPr lang="en" sz="900">
                <a:latin typeface="Arial"/>
                <a:ea typeface="Arial"/>
                <a:cs typeface="Arial"/>
                <a:sym typeface="Arial"/>
              </a:rPr>
              <a:t>First ONOS</a:t>
            </a:r>
          </a:p>
          <a:p>
            <a:pPr indent="0" lvl="0" marL="0" marR="0" rtl="0" algn="r">
              <a:spcBef>
                <a:spcPts val="0"/>
              </a:spcBef>
              <a:buSzPct val="25000"/>
              <a:buNone/>
            </a:pPr>
            <a:r>
              <a:rPr lang="en" sz="900" u="sng">
                <a:latin typeface="Arial"/>
                <a:ea typeface="Arial"/>
                <a:cs typeface="Arial"/>
                <a:sym typeface="Arial"/>
              </a:rPr>
              <a:t>production</a:t>
            </a:r>
            <a:r>
              <a:rPr lang="en" sz="900">
                <a:latin typeface="Arial"/>
                <a:ea typeface="Arial"/>
                <a:cs typeface="Arial"/>
                <a:sym typeface="Arial"/>
              </a:rPr>
              <a:t> deployment</a:t>
            </a:r>
          </a:p>
          <a:p>
            <a:pPr indent="0" lvl="0" marL="0" marR="0" rtl="0" algn="r">
              <a:spcBef>
                <a:spcPts val="0"/>
              </a:spcBef>
              <a:buSzPct val="25000"/>
              <a:buNone/>
            </a:pPr>
            <a:r>
              <a:rPr lang="en" sz="900">
                <a:latin typeface="Arial"/>
                <a:ea typeface="Arial"/>
                <a:cs typeface="Arial"/>
                <a:sym typeface="Arial"/>
              </a:rPr>
              <a:t>in South America</a:t>
            </a:r>
          </a:p>
        </p:txBody>
      </p:sp>
      <p:sp>
        <p:nvSpPr>
          <p:cNvPr id="664" name="Shape 664"/>
          <p:cNvSpPr txBox="1"/>
          <p:nvPr/>
        </p:nvSpPr>
        <p:spPr>
          <a:xfrm>
            <a:off x="2703310" y="1815666"/>
            <a:ext cx="1371176" cy="450122"/>
          </a:xfrm>
          <a:prstGeom prst="rect">
            <a:avLst/>
          </a:prstGeom>
          <a:noFill/>
          <a:ln>
            <a:noFill/>
          </a:ln>
        </p:spPr>
        <p:txBody>
          <a:bodyPr anchorCtr="0" anchor="t" bIns="17150" lIns="34275" rIns="34275" tIns="17150">
            <a:noAutofit/>
          </a:bodyPr>
          <a:lstStyle/>
          <a:p>
            <a:pPr indent="0" lvl="0" marL="0" marR="0" rtl="0" algn="ctr">
              <a:spcBef>
                <a:spcPts val="0"/>
              </a:spcBef>
              <a:buSzPct val="25000"/>
              <a:buNone/>
            </a:pPr>
            <a:r>
              <a:rPr b="1" lang="en" sz="900">
                <a:latin typeface="Arial"/>
                <a:ea typeface="Arial"/>
                <a:cs typeface="Arial"/>
                <a:sym typeface="Arial"/>
              </a:rPr>
              <a:t>Q1-Q2 2015</a:t>
            </a:r>
          </a:p>
          <a:p>
            <a:pPr indent="0" lvl="0" marL="0" marR="0" rtl="0" algn="ctr">
              <a:spcBef>
                <a:spcPts val="0"/>
              </a:spcBef>
              <a:buSzPct val="25000"/>
              <a:buNone/>
            </a:pPr>
            <a:r>
              <a:rPr lang="en" sz="900">
                <a:latin typeface="Arial"/>
                <a:ea typeface="Arial"/>
                <a:cs typeface="Arial"/>
                <a:sym typeface="Arial"/>
              </a:rPr>
              <a:t>First ONOS Deployments</a:t>
            </a:r>
          </a:p>
          <a:p>
            <a:pPr indent="0" lvl="0" marL="0" marR="0" rtl="0" algn="ctr">
              <a:spcBef>
                <a:spcPts val="0"/>
              </a:spcBef>
              <a:buSzPct val="25000"/>
              <a:buNone/>
            </a:pPr>
            <a:r>
              <a:rPr lang="en" sz="900">
                <a:latin typeface="Arial"/>
                <a:ea typeface="Arial"/>
                <a:cs typeface="Arial"/>
                <a:sym typeface="Arial"/>
              </a:rPr>
              <a:t>South America, US, EU</a:t>
            </a:r>
          </a:p>
        </p:txBody>
      </p:sp>
      <p:cxnSp>
        <p:nvCxnSpPr>
          <p:cNvPr id="665" name="Shape 665"/>
          <p:cNvCxnSpPr/>
          <p:nvPr/>
        </p:nvCxnSpPr>
        <p:spPr>
          <a:xfrm flipH="1">
            <a:off x="6543219" y="3732878"/>
            <a:ext cx="486054" cy="297032"/>
          </a:xfrm>
          <a:prstGeom prst="straightConnector1">
            <a:avLst/>
          </a:prstGeom>
          <a:noFill/>
          <a:ln cap="flat" cmpd="sng" w="25400">
            <a:solidFill>
              <a:schemeClr val="dk2"/>
            </a:solidFill>
            <a:prstDash val="solid"/>
            <a:bevel/>
            <a:headEnd len="med" w="med" type="none"/>
            <a:tailEnd len="med" w="med" type="none"/>
          </a:ln>
        </p:spPr>
      </p:cxnSp>
      <p:sp>
        <p:nvSpPr>
          <p:cNvPr id="666" name="Shape 666"/>
          <p:cNvSpPr/>
          <p:nvPr/>
        </p:nvSpPr>
        <p:spPr>
          <a:xfrm>
            <a:off x="7758353" y="3786885"/>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67" name="Shape 667"/>
          <p:cNvSpPr/>
          <p:nvPr/>
        </p:nvSpPr>
        <p:spPr>
          <a:xfrm>
            <a:off x="1439651" y="1734656"/>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68" name="Shape 668"/>
          <p:cNvSpPr txBox="1"/>
          <p:nvPr/>
        </p:nvSpPr>
        <p:spPr>
          <a:xfrm>
            <a:off x="4170634" y="2517744"/>
            <a:ext cx="1589497" cy="450122"/>
          </a:xfrm>
          <a:prstGeom prst="rect">
            <a:avLst/>
          </a:prstGeom>
          <a:noFill/>
          <a:ln>
            <a:noFill/>
          </a:ln>
        </p:spPr>
        <p:txBody>
          <a:bodyPr anchorCtr="0" anchor="t" bIns="17150" lIns="34275" rIns="34275" tIns="17150">
            <a:noAutofit/>
          </a:bodyPr>
          <a:lstStyle/>
          <a:p>
            <a:pPr indent="0" lvl="0" marL="0" marR="0" rtl="0" algn="ctr">
              <a:spcBef>
                <a:spcPts val="0"/>
              </a:spcBef>
              <a:buSzPct val="25000"/>
              <a:buNone/>
            </a:pPr>
            <a:r>
              <a:rPr b="1" lang="en" sz="900">
                <a:latin typeface="Arial"/>
                <a:ea typeface="Arial"/>
                <a:cs typeface="Arial"/>
                <a:sym typeface="Arial"/>
              </a:rPr>
              <a:t>Q4 2015 – New connections</a:t>
            </a:r>
          </a:p>
          <a:p>
            <a:pPr indent="0" lvl="0" marL="0" marR="0" rtl="0" algn="ctr">
              <a:spcBef>
                <a:spcPts val="0"/>
              </a:spcBef>
              <a:buSzPct val="25000"/>
              <a:buNone/>
            </a:pPr>
            <a:r>
              <a:rPr lang="en" sz="900">
                <a:latin typeface="Arial"/>
                <a:ea typeface="Arial"/>
                <a:cs typeface="Arial"/>
                <a:sym typeface="Arial"/>
              </a:rPr>
              <a:t>Sidney – Seattle - Miami</a:t>
            </a:r>
          </a:p>
          <a:p>
            <a:pPr indent="0" lvl="0" marL="0" marR="0" rtl="0" algn="ctr">
              <a:spcBef>
                <a:spcPts val="0"/>
              </a:spcBef>
              <a:buSzPct val="25000"/>
              <a:buNone/>
            </a:pPr>
            <a:r>
              <a:rPr lang="en" sz="900">
                <a:latin typeface="Arial"/>
                <a:ea typeface="Arial"/>
                <a:cs typeface="Arial"/>
                <a:sym typeface="Arial"/>
              </a:rPr>
              <a:t>Sao Paolo – Amsterdam</a:t>
            </a:r>
          </a:p>
        </p:txBody>
      </p:sp>
      <p:cxnSp>
        <p:nvCxnSpPr>
          <p:cNvPr id="669" name="Shape 669"/>
          <p:cNvCxnSpPr/>
          <p:nvPr/>
        </p:nvCxnSpPr>
        <p:spPr>
          <a:xfrm rot="10800000">
            <a:off x="3127710" y="3397844"/>
            <a:ext cx="837093" cy="405045"/>
          </a:xfrm>
          <a:prstGeom prst="straightConnector1">
            <a:avLst/>
          </a:prstGeom>
          <a:noFill/>
          <a:ln cap="flat" cmpd="sng" w="25400">
            <a:solidFill>
              <a:schemeClr val="dk2"/>
            </a:solidFill>
            <a:prstDash val="solid"/>
            <a:bevel/>
            <a:headEnd len="med" w="med" type="none"/>
            <a:tailEnd len="med" w="med" type="none"/>
          </a:ln>
        </p:spPr>
      </p:cxnSp>
      <p:pic>
        <p:nvPicPr>
          <p:cNvPr descr="NCTU_seal_3.gif" id="670" name="Shape 670"/>
          <p:cNvPicPr preferRelativeResize="0"/>
          <p:nvPr/>
        </p:nvPicPr>
        <p:blipFill rotWithShape="1">
          <a:blip r:embed="rId16">
            <a:alphaModFix/>
          </a:blip>
          <a:srcRect b="0" l="0" r="0" t="0"/>
          <a:stretch/>
        </p:blipFill>
        <p:spPr>
          <a:xfrm>
            <a:off x="7304356" y="2301719"/>
            <a:ext cx="397564" cy="318994"/>
          </a:xfrm>
          <a:prstGeom prst="rect">
            <a:avLst/>
          </a:prstGeom>
          <a:noFill/>
          <a:ln>
            <a:noFill/>
          </a:ln>
        </p:spPr>
      </p:pic>
      <p:sp>
        <p:nvSpPr>
          <p:cNvPr id="671" name="Shape 671"/>
          <p:cNvSpPr txBox="1"/>
          <p:nvPr/>
        </p:nvSpPr>
        <p:spPr>
          <a:xfrm>
            <a:off x="7655395" y="2274717"/>
            <a:ext cx="877332" cy="450122"/>
          </a:xfrm>
          <a:prstGeom prst="rect">
            <a:avLst/>
          </a:prstGeom>
          <a:noFill/>
          <a:ln>
            <a:noFill/>
          </a:ln>
        </p:spPr>
        <p:txBody>
          <a:bodyPr anchorCtr="0" anchor="t" bIns="17150" lIns="34275" rIns="34275" tIns="17150">
            <a:noAutofit/>
          </a:bodyPr>
          <a:lstStyle/>
          <a:p>
            <a:pPr indent="0" lvl="0" marL="0" marR="0" rtl="0" algn="l">
              <a:spcBef>
                <a:spcPts val="0"/>
              </a:spcBef>
              <a:buSzPct val="25000"/>
              <a:buNone/>
            </a:pPr>
            <a:r>
              <a:rPr b="1" lang="en" sz="900">
                <a:latin typeface="Arial"/>
                <a:ea typeface="Arial"/>
                <a:cs typeface="Arial"/>
                <a:sym typeface="Arial"/>
              </a:rPr>
              <a:t>Q1 2016</a:t>
            </a:r>
          </a:p>
          <a:p>
            <a:pPr indent="0" lvl="0" marL="0" marR="0" rtl="0" algn="l">
              <a:spcBef>
                <a:spcPts val="0"/>
              </a:spcBef>
              <a:buSzPct val="25000"/>
              <a:buNone/>
            </a:pPr>
            <a:r>
              <a:rPr lang="en" sz="900">
                <a:latin typeface="Arial"/>
                <a:ea typeface="Arial"/>
                <a:cs typeface="Arial"/>
                <a:sym typeface="Arial"/>
              </a:rPr>
              <a:t>NCTU / Taiwan</a:t>
            </a:r>
          </a:p>
          <a:p>
            <a:pPr indent="0" lvl="0" marL="0" marR="0" rtl="0" algn="l">
              <a:spcBef>
                <a:spcPts val="0"/>
              </a:spcBef>
              <a:buSzPct val="25000"/>
              <a:buNone/>
            </a:pPr>
            <a:r>
              <a:rPr lang="en" sz="900">
                <a:latin typeface="Arial"/>
                <a:ea typeface="Arial"/>
                <a:cs typeface="Arial"/>
                <a:sym typeface="Arial"/>
              </a:rPr>
              <a:t>deploys ONOS</a:t>
            </a:r>
          </a:p>
        </p:txBody>
      </p:sp>
      <p:cxnSp>
        <p:nvCxnSpPr>
          <p:cNvPr id="672" name="Shape 672"/>
          <p:cNvCxnSpPr/>
          <p:nvPr/>
        </p:nvCxnSpPr>
        <p:spPr>
          <a:xfrm>
            <a:off x="7110281" y="2247713"/>
            <a:ext cx="270030" cy="108012"/>
          </a:xfrm>
          <a:prstGeom prst="straightConnector1">
            <a:avLst/>
          </a:prstGeom>
          <a:noFill/>
          <a:ln cap="flat" cmpd="sng" w="25400">
            <a:solidFill>
              <a:schemeClr val="dk2"/>
            </a:solidFill>
            <a:prstDash val="solid"/>
            <a:bevel/>
            <a:headEnd len="med" w="med" type="none"/>
            <a:tailEnd len="med" w="med" type="none"/>
          </a:ln>
        </p:spPr>
      </p:cxnSp>
      <p:sp>
        <p:nvSpPr>
          <p:cNvPr id="673" name="Shape 673"/>
          <p:cNvSpPr/>
          <p:nvPr/>
        </p:nvSpPr>
        <p:spPr>
          <a:xfrm rot="-354639">
            <a:off x="7091981" y="1905075"/>
            <a:ext cx="181023" cy="346084"/>
          </a:xfrm>
          <a:custGeom>
            <a:pathLst>
              <a:path extrusionOk="0" h="120000" w="120000">
                <a:moveTo>
                  <a:pt x="63880" y="0"/>
                </a:moveTo>
                <a:cubicBezTo>
                  <a:pt x="96229" y="29428"/>
                  <a:pt x="128579" y="58857"/>
                  <a:pt x="117932" y="78857"/>
                </a:cubicBezTo>
                <a:cubicBezTo>
                  <a:pt x="107285" y="98857"/>
                  <a:pt x="20474" y="111714"/>
                  <a:pt x="0" y="12000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pic>
        <p:nvPicPr>
          <p:cNvPr descr="map-korea-green.png" id="674" name="Shape 674"/>
          <p:cNvPicPr preferRelativeResize="0"/>
          <p:nvPr/>
        </p:nvPicPr>
        <p:blipFill rotWithShape="1">
          <a:blip r:embed="rId17">
            <a:alphaModFix/>
          </a:blip>
          <a:srcRect b="0" l="0" r="0" t="0"/>
          <a:stretch/>
        </p:blipFill>
        <p:spPr>
          <a:xfrm>
            <a:off x="7119853" y="1879243"/>
            <a:ext cx="71437" cy="71437"/>
          </a:xfrm>
          <a:prstGeom prst="rect">
            <a:avLst/>
          </a:prstGeom>
          <a:noFill/>
          <a:ln>
            <a:noFill/>
          </a:ln>
        </p:spPr>
      </p:pic>
      <p:sp>
        <p:nvSpPr>
          <p:cNvPr id="675" name="Shape 675"/>
          <p:cNvSpPr/>
          <p:nvPr/>
        </p:nvSpPr>
        <p:spPr>
          <a:xfrm>
            <a:off x="2418019" y="1494234"/>
            <a:ext cx="1910953" cy="434578"/>
          </a:xfrm>
          <a:custGeom>
            <a:pathLst>
              <a:path extrusionOk="0" h="120000" w="120000">
                <a:moveTo>
                  <a:pt x="120000" y="0"/>
                </a:moveTo>
                <a:cubicBezTo>
                  <a:pt x="95794" y="9726"/>
                  <a:pt x="71588" y="19452"/>
                  <a:pt x="51588" y="39452"/>
                </a:cubicBezTo>
                <a:cubicBezTo>
                  <a:pt x="31588" y="59452"/>
                  <a:pt x="0" y="120000"/>
                  <a:pt x="0" y="12000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76" name="Shape 676"/>
          <p:cNvSpPr/>
          <p:nvPr/>
        </p:nvSpPr>
        <p:spPr>
          <a:xfrm>
            <a:off x="2286000" y="1923677"/>
            <a:ext cx="4851285" cy="1229134"/>
          </a:xfrm>
          <a:custGeom>
            <a:pathLst>
              <a:path extrusionOk="0" h="120000" w="120000">
                <a:moveTo>
                  <a:pt x="119999" y="0"/>
                </a:moveTo>
                <a:cubicBezTo>
                  <a:pt x="113349" y="15743"/>
                  <a:pt x="106699" y="31487"/>
                  <a:pt x="101809" y="50952"/>
                </a:cubicBezTo>
                <a:cubicBezTo>
                  <a:pt x="96919" y="70417"/>
                  <a:pt x="100317" y="108107"/>
                  <a:pt x="90660" y="116790"/>
                </a:cubicBezTo>
                <a:cubicBezTo>
                  <a:pt x="81002" y="125473"/>
                  <a:pt x="56479" y="115072"/>
                  <a:pt x="43863" y="103050"/>
                </a:cubicBezTo>
                <a:cubicBezTo>
                  <a:pt x="31246" y="91027"/>
                  <a:pt x="22273" y="57154"/>
                  <a:pt x="14963" y="44655"/>
                </a:cubicBezTo>
                <a:cubicBezTo>
                  <a:pt x="7652" y="32155"/>
                  <a:pt x="2493" y="30724"/>
                  <a:pt x="0" y="28052"/>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77" name="Shape 677"/>
          <p:cNvSpPr/>
          <p:nvPr/>
        </p:nvSpPr>
        <p:spPr>
          <a:xfrm>
            <a:off x="2208541" y="2190750"/>
            <a:ext cx="376324" cy="1619249"/>
          </a:xfrm>
          <a:custGeom>
            <a:pathLst>
              <a:path extrusionOk="0" h="120000" w="120000">
                <a:moveTo>
                  <a:pt x="24699" y="0"/>
                </a:moveTo>
                <a:cubicBezTo>
                  <a:pt x="7773" y="19816"/>
                  <a:pt x="-9153" y="39632"/>
                  <a:pt x="5716" y="57794"/>
                </a:cubicBezTo>
                <a:cubicBezTo>
                  <a:pt x="20586" y="75955"/>
                  <a:pt x="97151" y="98602"/>
                  <a:pt x="113919" y="108970"/>
                </a:cubicBezTo>
                <a:cubicBezTo>
                  <a:pt x="130687" y="119338"/>
                  <a:pt x="107591" y="118088"/>
                  <a:pt x="106326" y="120000"/>
                </a:cubicBezTo>
              </a:path>
            </a:pathLst>
          </a:custGeom>
          <a:noFill/>
          <a:ln cap="flat" cmpd="sng" w="1905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78" name="Shape 678"/>
          <p:cNvSpPr/>
          <p:nvPr/>
        </p:nvSpPr>
        <p:spPr>
          <a:xfrm>
            <a:off x="2280046" y="2190750"/>
            <a:ext cx="5494734" cy="1607343"/>
          </a:xfrm>
          <a:custGeom>
            <a:pathLst>
              <a:path extrusionOk="0" h="120000" w="120000">
                <a:moveTo>
                  <a:pt x="120000" y="120000"/>
                </a:moveTo>
                <a:cubicBezTo>
                  <a:pt x="107042" y="118407"/>
                  <a:pt x="94084" y="116814"/>
                  <a:pt x="83986" y="110666"/>
                </a:cubicBezTo>
                <a:cubicBezTo>
                  <a:pt x="73889" y="104518"/>
                  <a:pt x="69620" y="97777"/>
                  <a:pt x="59414" y="83111"/>
                </a:cubicBezTo>
                <a:cubicBezTo>
                  <a:pt x="49209" y="68444"/>
                  <a:pt x="32654" y="36518"/>
                  <a:pt x="22751" y="22666"/>
                </a:cubicBezTo>
                <a:cubicBezTo>
                  <a:pt x="12849" y="8814"/>
                  <a:pt x="3791" y="3703"/>
                  <a:pt x="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79" name="Shape 679"/>
          <p:cNvSpPr/>
          <p:nvPr/>
        </p:nvSpPr>
        <p:spPr>
          <a:xfrm>
            <a:off x="2280046" y="2193121"/>
            <a:ext cx="4816077" cy="1053703"/>
          </a:xfrm>
          <a:custGeom>
            <a:pathLst>
              <a:path extrusionOk="0" h="120000" w="120000">
                <a:moveTo>
                  <a:pt x="119999" y="8135"/>
                </a:moveTo>
                <a:cubicBezTo>
                  <a:pt x="114919" y="12372"/>
                  <a:pt x="109839" y="16610"/>
                  <a:pt x="106946" y="24406"/>
                </a:cubicBezTo>
                <a:cubicBezTo>
                  <a:pt x="104054" y="32203"/>
                  <a:pt x="103757" y="43841"/>
                  <a:pt x="102645" y="54915"/>
                </a:cubicBezTo>
                <a:cubicBezTo>
                  <a:pt x="101532" y="65988"/>
                  <a:pt x="101606" y="81016"/>
                  <a:pt x="100271" y="90847"/>
                </a:cubicBezTo>
                <a:cubicBezTo>
                  <a:pt x="98936" y="100677"/>
                  <a:pt x="98368" y="109039"/>
                  <a:pt x="94635" y="113898"/>
                </a:cubicBezTo>
                <a:cubicBezTo>
                  <a:pt x="90902" y="118757"/>
                  <a:pt x="84499" y="120790"/>
                  <a:pt x="77873" y="120000"/>
                </a:cubicBezTo>
                <a:cubicBezTo>
                  <a:pt x="71248" y="119209"/>
                  <a:pt x="61260" y="113785"/>
                  <a:pt x="54882" y="109152"/>
                </a:cubicBezTo>
                <a:cubicBezTo>
                  <a:pt x="48504" y="104519"/>
                  <a:pt x="45339" y="104519"/>
                  <a:pt x="39604" y="92203"/>
                </a:cubicBezTo>
                <a:cubicBezTo>
                  <a:pt x="33868" y="79886"/>
                  <a:pt x="25241" y="48022"/>
                  <a:pt x="20469" y="35254"/>
                </a:cubicBezTo>
                <a:cubicBezTo>
                  <a:pt x="15698" y="22485"/>
                  <a:pt x="14388" y="21468"/>
                  <a:pt x="10976" y="15593"/>
                </a:cubicBezTo>
                <a:cubicBezTo>
                  <a:pt x="7564" y="9717"/>
                  <a:pt x="1829" y="2485"/>
                  <a:pt x="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pic>
        <p:nvPicPr>
          <p:cNvPr descr="bird.png" id="680" name="Shape 680"/>
          <p:cNvPicPr preferRelativeResize="0"/>
          <p:nvPr/>
        </p:nvPicPr>
        <p:blipFill rotWithShape="1">
          <a:blip r:embed="rId14">
            <a:alphaModFix/>
          </a:blip>
          <a:srcRect b="0" l="0" r="0" t="0"/>
          <a:stretch/>
        </p:blipFill>
        <p:spPr>
          <a:xfrm>
            <a:off x="7083278" y="1794184"/>
            <a:ext cx="111724" cy="102490"/>
          </a:xfrm>
          <a:prstGeom prst="rect">
            <a:avLst/>
          </a:prstGeom>
          <a:noFill/>
          <a:ln>
            <a:noFill/>
          </a:ln>
        </p:spPr>
      </p:pic>
      <p:pic>
        <p:nvPicPr>
          <p:cNvPr descr="bird.png" id="681" name="Shape 681"/>
          <p:cNvPicPr preferRelativeResize="0"/>
          <p:nvPr/>
        </p:nvPicPr>
        <p:blipFill rotWithShape="1">
          <a:blip r:embed="rId14">
            <a:alphaModFix/>
          </a:blip>
          <a:srcRect b="0" l="0" r="0" t="0"/>
          <a:stretch/>
        </p:blipFill>
        <p:spPr>
          <a:xfrm>
            <a:off x="7025560" y="2139701"/>
            <a:ext cx="111724" cy="102490"/>
          </a:xfrm>
          <a:prstGeom prst="rect">
            <a:avLst/>
          </a:prstGeom>
          <a:noFill/>
          <a:ln>
            <a:noFill/>
          </a:ln>
        </p:spPr>
      </p:pic>
      <p:sp>
        <p:nvSpPr>
          <p:cNvPr id="682" name="Shape 682"/>
          <p:cNvSpPr/>
          <p:nvPr/>
        </p:nvSpPr>
        <p:spPr>
          <a:xfrm>
            <a:off x="2297906" y="1783931"/>
            <a:ext cx="220265" cy="25818"/>
          </a:xfrm>
          <a:custGeom>
            <a:pathLst>
              <a:path extrusionOk="0" h="120000" w="120000">
                <a:moveTo>
                  <a:pt x="120000" y="120000"/>
                </a:moveTo>
                <a:cubicBezTo>
                  <a:pt x="91081" y="73882"/>
                  <a:pt x="62162" y="27767"/>
                  <a:pt x="42162" y="9321"/>
                </a:cubicBezTo>
                <a:cubicBezTo>
                  <a:pt x="22162" y="-9124"/>
                  <a:pt x="7027" y="4709"/>
                  <a:pt x="0" y="9321"/>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83" name="Shape 683"/>
          <p:cNvSpPr/>
          <p:nvPr/>
        </p:nvSpPr>
        <p:spPr>
          <a:xfrm>
            <a:off x="2297906" y="1785937"/>
            <a:ext cx="107156" cy="136921"/>
          </a:xfrm>
          <a:custGeom>
            <a:pathLst>
              <a:path extrusionOk="0" h="120000" w="120000">
                <a:moveTo>
                  <a:pt x="120000" y="120000"/>
                </a:moveTo>
                <a:cubicBezTo>
                  <a:pt x="109999" y="90869"/>
                  <a:pt x="100000" y="61739"/>
                  <a:pt x="80000" y="41739"/>
                </a:cubicBezTo>
                <a:cubicBezTo>
                  <a:pt x="60000" y="21739"/>
                  <a:pt x="13333" y="6087"/>
                  <a:pt x="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84" name="Shape 684"/>
          <p:cNvSpPr/>
          <p:nvPr/>
        </p:nvSpPr>
        <p:spPr>
          <a:xfrm>
            <a:off x="1452562" y="1677919"/>
            <a:ext cx="851296" cy="108018"/>
          </a:xfrm>
          <a:custGeom>
            <a:pathLst>
              <a:path extrusionOk="0" h="120000" w="120000">
                <a:moveTo>
                  <a:pt x="0" y="73705"/>
                </a:moveTo>
                <a:cubicBezTo>
                  <a:pt x="22307" y="33473"/>
                  <a:pt x="44615" y="-6758"/>
                  <a:pt x="64615" y="957"/>
                </a:cubicBezTo>
                <a:cubicBezTo>
                  <a:pt x="84615" y="8673"/>
                  <a:pt x="110769" y="99057"/>
                  <a:pt x="120000" y="12000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85" name="Shape 685"/>
          <p:cNvSpPr/>
          <p:nvPr/>
        </p:nvSpPr>
        <p:spPr>
          <a:xfrm>
            <a:off x="1571625" y="1785937"/>
            <a:ext cx="726281" cy="83343"/>
          </a:xfrm>
          <a:custGeom>
            <a:pathLst>
              <a:path extrusionOk="0" h="120000" w="120000">
                <a:moveTo>
                  <a:pt x="0" y="120000"/>
                </a:moveTo>
                <a:cubicBezTo>
                  <a:pt x="22213" y="92857"/>
                  <a:pt x="44426" y="65714"/>
                  <a:pt x="60983" y="60000"/>
                </a:cubicBezTo>
                <a:cubicBezTo>
                  <a:pt x="77540" y="54285"/>
                  <a:pt x="89508" y="95714"/>
                  <a:pt x="99344" y="85714"/>
                </a:cubicBezTo>
                <a:cubicBezTo>
                  <a:pt x="109180" y="75714"/>
                  <a:pt x="120000" y="0"/>
                  <a:pt x="12000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pic>
        <p:nvPicPr>
          <p:cNvPr descr="bird.png" id="686" name="Shape 686"/>
          <p:cNvPicPr preferRelativeResize="0"/>
          <p:nvPr/>
        </p:nvPicPr>
        <p:blipFill rotWithShape="1">
          <a:blip r:embed="rId14">
            <a:alphaModFix/>
          </a:blip>
          <a:srcRect b="0" l="0" r="0" t="0"/>
          <a:stretch/>
        </p:blipFill>
        <p:spPr>
          <a:xfrm>
            <a:off x="1602342" y="1372619"/>
            <a:ext cx="553259" cy="507535"/>
          </a:xfrm>
          <a:prstGeom prst="rect">
            <a:avLst/>
          </a:prstGeom>
          <a:noFill/>
          <a:ln>
            <a:noFill/>
          </a:ln>
        </p:spPr>
      </p:pic>
      <p:sp>
        <p:nvSpPr>
          <p:cNvPr id="687" name="Shape 687"/>
          <p:cNvSpPr/>
          <p:nvPr/>
        </p:nvSpPr>
        <p:spPr>
          <a:xfrm>
            <a:off x="2226100" y="1779984"/>
            <a:ext cx="81851" cy="410765"/>
          </a:xfrm>
          <a:custGeom>
            <a:pathLst>
              <a:path extrusionOk="0" h="120000" w="120000">
                <a:moveTo>
                  <a:pt x="79089" y="120000"/>
                </a:moveTo>
                <a:cubicBezTo>
                  <a:pt x="36905" y="99565"/>
                  <a:pt x="-5278" y="79130"/>
                  <a:pt x="539" y="64347"/>
                </a:cubicBezTo>
                <a:cubicBezTo>
                  <a:pt x="6358" y="49565"/>
                  <a:pt x="96544" y="42029"/>
                  <a:pt x="113999" y="31304"/>
                </a:cubicBezTo>
                <a:cubicBezTo>
                  <a:pt x="131455" y="20579"/>
                  <a:pt x="105272" y="0"/>
                  <a:pt x="105272"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88" name="Shape 688"/>
          <p:cNvSpPr/>
          <p:nvPr/>
        </p:nvSpPr>
        <p:spPr>
          <a:xfrm>
            <a:off x="2465765" y="2382729"/>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89" name="Shape 689"/>
          <p:cNvSpPr/>
          <p:nvPr/>
        </p:nvSpPr>
        <p:spPr>
          <a:xfrm>
            <a:off x="2286000" y="2190750"/>
            <a:ext cx="190500" cy="196453"/>
          </a:xfrm>
          <a:custGeom>
            <a:pathLst>
              <a:path extrusionOk="0" h="120000" w="120000">
                <a:moveTo>
                  <a:pt x="120000" y="120000"/>
                </a:moveTo>
                <a:cubicBezTo>
                  <a:pt x="104374" y="96060"/>
                  <a:pt x="88749" y="72121"/>
                  <a:pt x="71250" y="58181"/>
                </a:cubicBezTo>
                <a:cubicBezTo>
                  <a:pt x="53750" y="44242"/>
                  <a:pt x="26875" y="46060"/>
                  <a:pt x="15000" y="36363"/>
                </a:cubicBezTo>
                <a:cubicBezTo>
                  <a:pt x="3124" y="26666"/>
                  <a:pt x="0" y="0"/>
                  <a:pt x="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90" name="Shape 690"/>
          <p:cNvSpPr/>
          <p:nvPr/>
        </p:nvSpPr>
        <p:spPr>
          <a:xfrm>
            <a:off x="4517994" y="1545636"/>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91" name="Shape 691"/>
          <p:cNvSpPr/>
          <p:nvPr/>
        </p:nvSpPr>
        <p:spPr>
          <a:xfrm>
            <a:off x="6894257" y="3732878"/>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92" name="Shape 692"/>
          <p:cNvSpPr/>
          <p:nvPr/>
        </p:nvSpPr>
        <p:spPr>
          <a:xfrm>
            <a:off x="7515326" y="3921900"/>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93" name="Shape 693"/>
          <p:cNvSpPr/>
          <p:nvPr/>
        </p:nvSpPr>
        <p:spPr>
          <a:xfrm>
            <a:off x="6899671" y="3705875"/>
            <a:ext cx="875109" cy="86299"/>
          </a:xfrm>
          <a:custGeom>
            <a:pathLst>
              <a:path extrusionOk="0" h="120000" w="120000">
                <a:moveTo>
                  <a:pt x="0" y="37221"/>
                </a:moveTo>
                <a:cubicBezTo>
                  <a:pt x="23877" y="13767"/>
                  <a:pt x="47755" y="-9686"/>
                  <a:pt x="67755" y="4109"/>
                </a:cubicBezTo>
                <a:cubicBezTo>
                  <a:pt x="87755" y="17905"/>
                  <a:pt x="120000" y="120000"/>
                  <a:pt x="120000" y="12000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94" name="Shape 694"/>
          <p:cNvSpPr/>
          <p:nvPr/>
        </p:nvSpPr>
        <p:spPr>
          <a:xfrm>
            <a:off x="6905625" y="3759882"/>
            <a:ext cx="863203" cy="178627"/>
          </a:xfrm>
          <a:custGeom>
            <a:pathLst>
              <a:path extrusionOk="0" h="120000" w="120000">
                <a:moveTo>
                  <a:pt x="0" y="0"/>
                </a:moveTo>
                <a:lnTo>
                  <a:pt x="62068" y="87983"/>
                </a:lnTo>
                <a:cubicBezTo>
                  <a:pt x="76551" y="107979"/>
                  <a:pt x="78620" y="119310"/>
                  <a:pt x="86896" y="119977"/>
                </a:cubicBezTo>
                <a:cubicBezTo>
                  <a:pt x="95172" y="120643"/>
                  <a:pt x="106206" y="106646"/>
                  <a:pt x="111724" y="91982"/>
                </a:cubicBezTo>
                <a:cubicBezTo>
                  <a:pt x="117241" y="77318"/>
                  <a:pt x="118620" y="54656"/>
                  <a:pt x="120000" y="31993"/>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95" name="Shape 695"/>
          <p:cNvSpPr/>
          <p:nvPr/>
        </p:nvSpPr>
        <p:spPr>
          <a:xfrm>
            <a:off x="4544997" y="1653648"/>
            <a:ext cx="27003" cy="27003"/>
          </a:xfrm>
          <a:prstGeom prst="ellipse">
            <a:avLst/>
          </a:prstGeom>
          <a:solidFill>
            <a:srgbClr val="FF0000"/>
          </a:solidFill>
          <a:ln>
            <a:noFill/>
          </a:ln>
        </p:spPr>
        <p:txBody>
          <a:bodyPr anchorCtr="0" anchor="ctr" bIns="26775" lIns="26775" rIns="26775" tIns="26775">
            <a:noAutofit/>
          </a:bodyPr>
          <a:lstStyle/>
          <a:p>
            <a:pPr indent="0" lvl="0" marL="0" marR="0" rtl="0" algn="ctr">
              <a:lnSpc>
                <a:spcPct val="100000"/>
              </a:lnSpc>
              <a:spcBef>
                <a:spcPts val="0"/>
              </a:spcBef>
              <a:spcAft>
                <a:spcPts val="0"/>
              </a:spcAft>
              <a:buFont typeface="Helvetica Neue"/>
              <a:buNone/>
            </a:pPr>
            <a:r>
              <a:t/>
            </a:r>
            <a:endParaRPr b="0" i="0" sz="1900" u="none" cap="none" strike="noStrike">
              <a:solidFill>
                <a:srgbClr val="000000"/>
              </a:solidFill>
              <a:latin typeface="Helvetica Neue"/>
              <a:ea typeface="Helvetica Neue"/>
              <a:cs typeface="Helvetica Neue"/>
              <a:sym typeface="Helvetica Neue"/>
            </a:endParaRPr>
          </a:p>
        </p:txBody>
      </p:sp>
      <p:sp>
        <p:nvSpPr>
          <p:cNvPr id="696" name="Shape 696"/>
          <p:cNvSpPr/>
          <p:nvPr/>
        </p:nvSpPr>
        <p:spPr>
          <a:xfrm>
            <a:off x="4488656" y="1664493"/>
            <a:ext cx="69056" cy="100012"/>
          </a:xfrm>
          <a:custGeom>
            <a:pathLst>
              <a:path extrusionOk="0" h="120000" w="120000">
                <a:moveTo>
                  <a:pt x="0" y="120000"/>
                </a:moveTo>
                <a:cubicBezTo>
                  <a:pt x="4482" y="97142"/>
                  <a:pt x="8965" y="74285"/>
                  <a:pt x="28965" y="54285"/>
                </a:cubicBezTo>
                <a:cubicBezTo>
                  <a:pt x="48965" y="34285"/>
                  <a:pt x="84482" y="17142"/>
                  <a:pt x="12000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97" name="Shape 697"/>
          <p:cNvSpPr/>
          <p:nvPr/>
        </p:nvSpPr>
        <p:spPr>
          <a:xfrm>
            <a:off x="3081890" y="1481608"/>
            <a:ext cx="1301088" cy="2089252"/>
          </a:xfrm>
          <a:custGeom>
            <a:pathLst>
              <a:path extrusionOk="0" h="120000" w="120000">
                <a:moveTo>
                  <a:pt x="115522" y="0"/>
                </a:moveTo>
                <a:cubicBezTo>
                  <a:pt x="118962" y="3487"/>
                  <a:pt x="122403" y="6975"/>
                  <a:pt x="117718" y="21062"/>
                </a:cubicBezTo>
                <a:cubicBezTo>
                  <a:pt x="113033" y="35150"/>
                  <a:pt x="98977" y="68522"/>
                  <a:pt x="87410" y="84524"/>
                </a:cubicBezTo>
                <a:cubicBezTo>
                  <a:pt x="75843" y="100526"/>
                  <a:pt x="62885" y="111423"/>
                  <a:pt x="48317" y="117076"/>
                </a:cubicBezTo>
                <a:cubicBezTo>
                  <a:pt x="33748" y="122729"/>
                  <a:pt x="0" y="118444"/>
                  <a:pt x="0" y="118444"/>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98" name="Shape 698"/>
          <p:cNvSpPr/>
          <p:nvPr/>
        </p:nvSpPr>
        <p:spPr>
          <a:xfrm>
            <a:off x="4459030" y="1557337"/>
            <a:ext cx="74869" cy="95250"/>
          </a:xfrm>
          <a:custGeom>
            <a:pathLst>
              <a:path extrusionOk="0" h="120000" w="120000">
                <a:moveTo>
                  <a:pt x="5500" y="120000"/>
                </a:moveTo>
                <a:cubicBezTo>
                  <a:pt x="-224" y="87999"/>
                  <a:pt x="-5949" y="55999"/>
                  <a:pt x="13133" y="36000"/>
                </a:cubicBezTo>
                <a:cubicBezTo>
                  <a:pt x="32216" y="16000"/>
                  <a:pt x="120000" y="0"/>
                  <a:pt x="12000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699" name="Shape 699"/>
          <p:cNvSpPr/>
          <p:nvPr/>
        </p:nvSpPr>
        <p:spPr>
          <a:xfrm>
            <a:off x="4329112" y="1485625"/>
            <a:ext cx="200024" cy="71712"/>
          </a:xfrm>
          <a:custGeom>
            <a:pathLst>
              <a:path extrusionOk="0" h="120000" w="120000">
                <a:moveTo>
                  <a:pt x="120000" y="120000"/>
                </a:moveTo>
                <a:cubicBezTo>
                  <a:pt x="105714" y="72847"/>
                  <a:pt x="91428" y="25695"/>
                  <a:pt x="71428" y="8428"/>
                </a:cubicBezTo>
                <a:cubicBezTo>
                  <a:pt x="51428" y="-8838"/>
                  <a:pt x="25714" y="3779"/>
                  <a:pt x="0" y="16398"/>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700" name="Shape 700"/>
          <p:cNvSpPr/>
          <p:nvPr/>
        </p:nvSpPr>
        <p:spPr>
          <a:xfrm>
            <a:off x="4529137" y="1552575"/>
            <a:ext cx="28574" cy="114299"/>
          </a:xfrm>
          <a:custGeom>
            <a:pathLst>
              <a:path extrusionOk="0" h="120000" w="120000">
                <a:moveTo>
                  <a:pt x="120000" y="120000"/>
                </a:moveTo>
                <a:cubicBezTo>
                  <a:pt x="120000" y="95000"/>
                  <a:pt x="120000" y="70000"/>
                  <a:pt x="100000" y="50000"/>
                </a:cubicBezTo>
                <a:cubicBezTo>
                  <a:pt x="80000" y="30000"/>
                  <a:pt x="0" y="0"/>
                  <a:pt x="0" y="0"/>
                </a:cubicBezTo>
              </a:path>
            </a:pathLst>
          </a:custGeom>
          <a:noFill/>
          <a:ln cap="flat" cmpd="sng" w="12700">
            <a:solidFill>
              <a:srgbClr val="FF0000"/>
            </a:solidFill>
            <a:prstDash val="solid"/>
            <a:round/>
            <a:headEnd len="med" w="med" type="none"/>
            <a:tailEnd len="med" w="med" type="none"/>
          </a:ln>
        </p:spPr>
        <p:txBody>
          <a:bodyPr anchorCtr="0" anchor="ctr" bIns="17150" lIns="34275" rIns="34275" tIns="17150">
            <a:noAutofit/>
          </a:bodyPr>
          <a:lstStyle/>
          <a:p>
            <a:pPr indent="0" lvl="0" marL="0" marR="0" rtl="0" algn="ctr">
              <a:spcBef>
                <a:spcPts val="0"/>
              </a:spcBef>
              <a:buNone/>
            </a:pPr>
            <a:r>
              <a:t/>
            </a:r>
            <a:endParaRPr sz="1900">
              <a:solidFill>
                <a:schemeClr val="dk1"/>
              </a:solidFill>
              <a:latin typeface="Helvetica Neue"/>
              <a:ea typeface="Helvetica Neue"/>
              <a:cs typeface="Helvetica Neue"/>
              <a:sym typeface="Helvetica Neue"/>
            </a:endParaRPr>
          </a:p>
        </p:txBody>
      </p:sp>
      <p:sp>
        <p:nvSpPr>
          <p:cNvPr id="701" name="Shape 701"/>
          <p:cNvSpPr txBox="1"/>
          <p:nvPr/>
        </p:nvSpPr>
        <p:spPr>
          <a:xfrm>
            <a:off x="5196748" y="1869672"/>
            <a:ext cx="1589497" cy="588622"/>
          </a:xfrm>
          <a:prstGeom prst="rect">
            <a:avLst/>
          </a:prstGeom>
          <a:noFill/>
          <a:ln>
            <a:noFill/>
          </a:ln>
        </p:spPr>
        <p:txBody>
          <a:bodyPr anchorCtr="0" anchor="t" bIns="17150" lIns="34275" rIns="34275" tIns="17150">
            <a:noAutofit/>
          </a:bodyPr>
          <a:lstStyle/>
          <a:p>
            <a:pPr indent="0" lvl="0" marL="0" marR="0" rtl="0" algn="ctr">
              <a:spcBef>
                <a:spcPts val="0"/>
              </a:spcBef>
              <a:buSzPct val="25000"/>
              <a:buNone/>
            </a:pPr>
            <a:r>
              <a:rPr b="1" lang="en" sz="900">
                <a:latin typeface="Arial"/>
                <a:ea typeface="Arial"/>
                <a:cs typeface="Arial"/>
                <a:sym typeface="Arial"/>
              </a:rPr>
              <a:t>Q1 2016 – New connections</a:t>
            </a:r>
          </a:p>
          <a:p>
            <a:pPr indent="0" lvl="0" marL="0" marR="0" rtl="0" algn="ctr">
              <a:spcBef>
                <a:spcPts val="0"/>
              </a:spcBef>
              <a:buSzPct val="25000"/>
              <a:buNone/>
            </a:pPr>
            <a:r>
              <a:rPr lang="en" sz="900">
                <a:latin typeface="Arial"/>
                <a:ea typeface="Arial"/>
                <a:cs typeface="Arial"/>
                <a:sym typeface="Arial"/>
              </a:rPr>
              <a:t>Miami - Korea</a:t>
            </a:r>
          </a:p>
          <a:p>
            <a:pPr indent="0" lvl="0" marL="0" marR="0" rtl="0" algn="ctr">
              <a:spcBef>
                <a:spcPts val="0"/>
              </a:spcBef>
              <a:buSzPct val="25000"/>
              <a:buNone/>
            </a:pPr>
            <a:r>
              <a:rPr lang="en" sz="900">
                <a:latin typeface="Arial"/>
                <a:ea typeface="Arial"/>
                <a:cs typeface="Arial"/>
                <a:sym typeface="Arial"/>
              </a:rPr>
              <a:t>Miami - Taiwan</a:t>
            </a:r>
          </a:p>
          <a:p>
            <a:pPr indent="0" lvl="0" marL="0" marR="0" rtl="0" algn="ctr">
              <a:spcBef>
                <a:spcPts val="0"/>
              </a:spcBef>
              <a:buSzPct val="25000"/>
              <a:buNone/>
            </a:pPr>
            <a:r>
              <a:rPr lang="en" sz="900">
                <a:latin typeface="Arial"/>
                <a:ea typeface="Arial"/>
                <a:cs typeface="Arial"/>
                <a:sym typeface="Arial"/>
              </a:rPr>
              <a:t>Korea - Taiwan</a:t>
            </a:r>
          </a:p>
        </p:txBody>
      </p:sp>
      <p:pic>
        <p:nvPicPr>
          <p:cNvPr descr="map-taiwan-green.png" id="702" name="Shape 702"/>
          <p:cNvPicPr preferRelativeResize="0"/>
          <p:nvPr/>
        </p:nvPicPr>
        <p:blipFill rotWithShape="1">
          <a:blip r:embed="rId18">
            <a:alphaModFix/>
          </a:blip>
          <a:srcRect b="0" l="0" r="0" t="0"/>
          <a:stretch/>
        </p:blipFill>
        <p:spPr>
          <a:xfrm>
            <a:off x="7086469" y="2247713"/>
            <a:ext cx="23812" cy="47625"/>
          </a:xfrm>
          <a:prstGeom prst="rect">
            <a:avLst/>
          </a:prstGeom>
          <a:noFill/>
          <a:ln>
            <a:noFill/>
          </a:ln>
        </p:spPr>
      </p:pic>
      <p:sp>
        <p:nvSpPr>
          <p:cNvPr id="703" name="Shape 703"/>
          <p:cNvSpPr/>
          <p:nvPr/>
        </p:nvSpPr>
        <p:spPr>
          <a:xfrm>
            <a:off x="2541769" y="3544376"/>
            <a:ext cx="526073" cy="304594"/>
          </a:xfrm>
          <a:custGeom>
            <a:pathLst>
              <a:path extrusionOk="0" h="120000" w="120000">
                <a:moveTo>
                  <a:pt x="0" y="120000"/>
                </a:moveTo>
                <a:cubicBezTo>
                  <a:pt x="17999" y="113272"/>
                  <a:pt x="35999" y="106545"/>
                  <a:pt x="47999" y="91636"/>
                </a:cubicBezTo>
                <a:cubicBezTo>
                  <a:pt x="59999" y="76727"/>
                  <a:pt x="59999" y="45818"/>
                  <a:pt x="71999" y="30545"/>
                </a:cubicBezTo>
                <a:cubicBezTo>
                  <a:pt x="83999" y="15272"/>
                  <a:pt x="112000" y="4727"/>
                  <a:pt x="119999" y="0"/>
                </a:cubicBezTo>
              </a:path>
            </a:pathLst>
          </a:custGeom>
          <a:noFill/>
          <a:ln cap="flat" cmpd="sng" w="19050">
            <a:solidFill>
              <a:srgbClr val="FF0000"/>
            </a:solidFill>
            <a:prstDash val="solid"/>
            <a:round/>
            <a:headEnd len="med" w="med" type="none"/>
            <a:tailEnd len="med" w="med" type="none"/>
          </a:ln>
        </p:spPr>
        <p:txBody>
          <a:bodyPr anchorCtr="0" anchor="t" bIns="17150" lIns="34275" rIns="34275" tIns="17150">
            <a:noAutofit/>
          </a:bodyPr>
          <a:lstStyle/>
          <a:p>
            <a:pPr indent="0" lvl="0" marL="0" marR="0" rtl="0" algn="l">
              <a:lnSpc>
                <a:spcPct val="100000"/>
              </a:lnSpc>
              <a:spcBef>
                <a:spcPts val="0"/>
              </a:spcBef>
              <a:spcAft>
                <a:spcPts val="0"/>
              </a:spcAft>
              <a:buFont typeface="Helvetica Neue"/>
              <a:buNone/>
            </a:pPr>
            <a:r>
              <a:t/>
            </a:r>
            <a:endParaRPr b="0" i="0" sz="700" u="none" cap="none" strike="noStrike">
              <a:solidFill>
                <a:srgbClr val="000000"/>
              </a:solidFill>
              <a:latin typeface="Helvetica Neue"/>
              <a:ea typeface="Helvetica Neue"/>
              <a:cs typeface="Helvetica Neue"/>
              <a:sym typeface="Helvetica Neue"/>
            </a:endParaRPr>
          </a:p>
        </p:txBody>
      </p:sp>
      <p:sp>
        <p:nvSpPr>
          <p:cNvPr id="704" name="Shape 704"/>
          <p:cNvSpPr txBox="1"/>
          <p:nvPr>
            <p:ph type="ctrTitle"/>
          </p:nvPr>
        </p:nvSpPr>
        <p:spPr>
          <a:xfrm>
            <a:off x="311734" y="68990"/>
            <a:ext cx="8520600" cy="423000"/>
          </a:xfrm>
          <a:prstGeom prst="rect">
            <a:avLst/>
          </a:prstGeom>
          <a:noFill/>
          <a:ln>
            <a:noFill/>
          </a:ln>
        </p:spPr>
        <p:txBody>
          <a:bodyPr anchorCtr="0" anchor="ctr" bIns="34275" lIns="34275" rIns="34275" tIns="34275">
            <a:noAutofit/>
          </a:bodyPr>
          <a:lstStyle/>
          <a:p>
            <a:pPr indent="0" lvl="0" marL="0" marR="0" rtl="0" algn="l">
              <a:lnSpc>
                <a:spcPct val="100000"/>
              </a:lnSpc>
              <a:spcBef>
                <a:spcPts val="0"/>
              </a:spcBef>
              <a:spcAft>
                <a:spcPts val="0"/>
              </a:spcAft>
              <a:buClr>
                <a:srgbClr val="FFFFFF"/>
              </a:buClr>
              <a:buSzPct val="25000"/>
              <a:buFont typeface="Droid Sans"/>
              <a:buNone/>
            </a:pPr>
            <a:r>
              <a:rPr b="0" i="0" lang="en" sz="2500" u="none" cap="none" strike="noStrike">
                <a:solidFill>
                  <a:srgbClr val="FFFFFF"/>
                </a:solidFill>
                <a:latin typeface="Droid Sans"/>
                <a:ea typeface="Droid Sans"/>
                <a:cs typeface="Droid Sans"/>
                <a:sym typeface="Droid Sans"/>
              </a:rPr>
              <a:t>Global SDN Deployment Powered by ONOS</a:t>
            </a:r>
          </a:p>
        </p:txBody>
      </p:sp>
      <p:sp>
        <p:nvSpPr>
          <p:cNvPr id="705" name="Shape 705"/>
          <p:cNvSpPr txBox="1"/>
          <p:nvPr/>
        </p:nvSpPr>
        <p:spPr>
          <a:xfrm>
            <a:off x="482775" y="4363775"/>
            <a:ext cx="8080800" cy="443400"/>
          </a:xfrm>
          <a:prstGeom prst="rect">
            <a:avLst/>
          </a:prstGeom>
          <a:noFill/>
          <a:ln>
            <a:noFill/>
          </a:ln>
        </p:spPr>
        <p:txBody>
          <a:bodyPr anchorCtr="0" anchor="t" bIns="91425" lIns="91425" rIns="91425" tIns="91425">
            <a:noAutofit/>
          </a:bodyPr>
          <a:lstStyle/>
          <a:p>
            <a:pPr lvl="0">
              <a:spcBef>
                <a:spcPts val="0"/>
              </a:spcBef>
              <a:buNone/>
            </a:pPr>
            <a:r>
              <a:rPr b="1" lang="en" sz="2400">
                <a:solidFill>
                  <a:schemeClr val="accent6"/>
                </a:solidFill>
              </a:rPr>
              <a:t>Global Production L3 Network, No Legacy Routers </a:t>
            </a: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1000"/>
                                        <p:tgtEl>
                                          <p:spTgt spid="7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10" name="Shape 710"/>
        <p:cNvGrpSpPr/>
        <p:nvPr/>
      </p:nvGrpSpPr>
      <p:grpSpPr>
        <a:xfrm>
          <a:off x="0" y="0"/>
          <a:ext cx="0" cy="0"/>
          <a:chOff x="0" y="0"/>
          <a:chExt cx="0" cy="0"/>
        </a:xfrm>
      </p:grpSpPr>
      <p:sp>
        <p:nvSpPr>
          <p:cNvPr id="711" name="Shape 711"/>
          <p:cNvSpPr txBox="1"/>
          <p:nvPr>
            <p:ph type="title"/>
          </p:nvPr>
        </p:nvSpPr>
        <p:spPr>
          <a:xfrm>
            <a:off x="438725" y="81303"/>
            <a:ext cx="8229600" cy="8574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FFFFFF"/>
              </a:buClr>
              <a:buSzPct val="25000"/>
              <a:buFont typeface="Droid Sans"/>
              <a:buNone/>
            </a:pPr>
            <a:r>
              <a:rPr b="1" i="0" lang="en" sz="3000" u="none" cap="none" strike="noStrike">
                <a:solidFill>
                  <a:schemeClr val="accent6"/>
                </a:solidFill>
                <a:latin typeface="Arial"/>
                <a:ea typeface="Arial"/>
                <a:cs typeface="Arial"/>
                <a:sym typeface="Arial"/>
              </a:rPr>
              <a:t>Additional Deployments (Q3/4 2016)</a:t>
            </a:r>
          </a:p>
        </p:txBody>
      </p:sp>
      <p:sp>
        <p:nvSpPr>
          <p:cNvPr id="712" name="Shape 712"/>
          <p:cNvSpPr txBox="1"/>
          <p:nvPr>
            <p:ph idx="1" type="body"/>
          </p:nvPr>
        </p:nvSpPr>
        <p:spPr>
          <a:xfrm>
            <a:off x="528800" y="823650"/>
            <a:ext cx="4525500" cy="1487700"/>
          </a:xfrm>
          <a:prstGeom prst="rect">
            <a:avLst/>
          </a:prstGeom>
          <a:noFill/>
          <a:ln>
            <a:noFill/>
          </a:ln>
        </p:spPr>
        <p:txBody>
          <a:bodyPr anchorCtr="0" anchor="t" bIns="91425" lIns="91425" rIns="91425" tIns="91425">
            <a:noAutofit/>
          </a:bodyPr>
          <a:lstStyle/>
          <a:p>
            <a:pPr indent="0" lvl="0" marL="0" marR="0" rtl="0">
              <a:lnSpc>
                <a:spcPct val="100000"/>
              </a:lnSpc>
              <a:spcBef>
                <a:spcPts val="0"/>
              </a:spcBef>
              <a:spcAft>
                <a:spcPts val="0"/>
              </a:spcAft>
              <a:buClr>
                <a:schemeClr val="dk1"/>
              </a:buClr>
              <a:buSzPct val="25000"/>
              <a:buFont typeface="Droid Sans"/>
              <a:buNone/>
            </a:pPr>
            <a:r>
              <a:rPr lang="en" sz="1800"/>
              <a:t>SDX-L2/L3</a:t>
            </a:r>
          </a:p>
          <a:p>
            <a:pPr indent="0" lvl="0" marL="0" marR="0" rtl="0">
              <a:lnSpc>
                <a:spcPct val="100000"/>
              </a:lnSpc>
              <a:spcBef>
                <a:spcPts val="0"/>
              </a:spcBef>
              <a:spcAft>
                <a:spcPts val="0"/>
              </a:spcAft>
              <a:buClr>
                <a:schemeClr val="dk1"/>
              </a:buClr>
              <a:buSzPct val="25000"/>
              <a:buFont typeface="Droid Sans"/>
              <a:buNone/>
            </a:pPr>
            <a:r>
              <a:rPr b="0" i="0" lang="en" sz="1800" u="none" cap="none" strike="noStrike">
                <a:solidFill>
                  <a:schemeClr val="dk1"/>
                </a:solidFill>
                <a:latin typeface="Droid Sans"/>
                <a:ea typeface="Droid Sans"/>
                <a:cs typeface="Droid Sans"/>
                <a:sym typeface="Droid Sans"/>
              </a:rPr>
              <a:t>ONOS </a:t>
            </a:r>
            <a:r>
              <a:rPr lang="en" sz="1800"/>
              <a:t>B</a:t>
            </a:r>
            <a:r>
              <a:rPr b="0" i="0" lang="en" sz="1800" u="none" cap="none" strike="noStrike">
                <a:solidFill>
                  <a:schemeClr val="dk1"/>
                </a:solidFill>
                <a:latin typeface="Droid Sans"/>
                <a:ea typeface="Droid Sans"/>
                <a:cs typeface="Droid Sans"/>
                <a:sym typeface="Droid Sans"/>
              </a:rPr>
              <a:t>andwidth on </a:t>
            </a:r>
            <a:r>
              <a:rPr lang="en" sz="1800"/>
              <a:t>D</a:t>
            </a:r>
            <a:r>
              <a:rPr b="0" i="0" lang="en" sz="1800" u="none" cap="none" strike="noStrike">
                <a:solidFill>
                  <a:schemeClr val="dk1"/>
                </a:solidFill>
                <a:latin typeface="Droid Sans"/>
                <a:ea typeface="Droid Sans"/>
                <a:cs typeface="Droid Sans"/>
                <a:sym typeface="Droid Sans"/>
              </a:rPr>
              <a:t>emand</a:t>
            </a:r>
          </a:p>
          <a:p>
            <a:pPr indent="0" lvl="0" marL="0" marR="0" rtl="0">
              <a:lnSpc>
                <a:spcPct val="100000"/>
              </a:lnSpc>
              <a:spcBef>
                <a:spcPts val="0"/>
              </a:spcBef>
              <a:spcAft>
                <a:spcPts val="0"/>
              </a:spcAft>
              <a:buClr>
                <a:schemeClr val="dk1"/>
              </a:buClr>
              <a:buSzPct val="25000"/>
              <a:buFont typeface="Droid Sans"/>
              <a:buNone/>
            </a:pPr>
            <a:r>
              <a:rPr b="0" i="0" lang="en" sz="1800" u="none" cap="none" strike="noStrike">
                <a:solidFill>
                  <a:schemeClr val="dk1"/>
                </a:solidFill>
                <a:latin typeface="Droid Sans"/>
                <a:ea typeface="Droid Sans"/>
                <a:cs typeface="Droid Sans"/>
                <a:sym typeface="Droid Sans"/>
              </a:rPr>
              <a:t>Self serve portal</a:t>
            </a:r>
          </a:p>
        </p:txBody>
      </p:sp>
      <p:grpSp>
        <p:nvGrpSpPr>
          <p:cNvPr id="713" name="Shape 713"/>
          <p:cNvGrpSpPr/>
          <p:nvPr/>
        </p:nvGrpSpPr>
        <p:grpSpPr>
          <a:xfrm>
            <a:off x="4740578" y="972618"/>
            <a:ext cx="3793630" cy="3462358"/>
            <a:chOff x="3262050" y="1649741"/>
            <a:chExt cx="3387775" cy="3379889"/>
          </a:xfrm>
        </p:grpSpPr>
        <p:pic>
          <p:nvPicPr>
            <p:cNvPr descr="Screen Shot 2016-05-05 at 5.07.10 PM.png" id="714" name="Shape 714"/>
            <p:cNvPicPr preferRelativeResize="0"/>
            <p:nvPr/>
          </p:nvPicPr>
          <p:blipFill rotWithShape="1">
            <a:blip r:embed="rId3">
              <a:alphaModFix/>
            </a:blip>
            <a:srcRect b="0" l="0" r="0" t="0"/>
            <a:stretch/>
          </p:blipFill>
          <p:spPr>
            <a:xfrm>
              <a:off x="3262050" y="1649741"/>
              <a:ext cx="3372947" cy="3379889"/>
            </a:xfrm>
            <a:prstGeom prst="rect">
              <a:avLst/>
            </a:prstGeom>
            <a:noFill/>
            <a:ln>
              <a:noFill/>
            </a:ln>
          </p:spPr>
        </p:pic>
        <p:sp>
          <p:nvSpPr>
            <p:cNvPr id="715" name="Shape 715"/>
            <p:cNvSpPr txBox="1"/>
            <p:nvPr/>
          </p:nvSpPr>
          <p:spPr>
            <a:xfrm>
              <a:off x="4655816" y="4125326"/>
              <a:ext cx="1994009" cy="901365"/>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lt1"/>
                </a:buClr>
                <a:buSzPct val="25000"/>
                <a:buFont typeface="Arial"/>
                <a:buNone/>
              </a:pPr>
              <a:r>
                <a:rPr b="1" i="0" lang="en" sz="1800" u="none" cap="none" strike="noStrike">
                  <a:solidFill>
                    <a:schemeClr val="lt1"/>
                  </a:solidFill>
                  <a:latin typeface="Arial"/>
                  <a:ea typeface="Arial"/>
                  <a:cs typeface="Arial"/>
                  <a:sym typeface="Arial"/>
                </a:rPr>
                <a:t>Kreonet (Korea)</a:t>
              </a:r>
            </a:p>
            <a:p>
              <a:pPr indent="0" lvl="0" marL="0" marR="0" rtl="0" algn="r">
                <a:lnSpc>
                  <a:spcPct val="100000"/>
                </a:lnSpc>
                <a:spcBef>
                  <a:spcPts val="0"/>
                </a:spcBef>
                <a:spcAft>
                  <a:spcPts val="0"/>
                </a:spcAft>
                <a:buClr>
                  <a:schemeClr val="lt1"/>
                </a:buClr>
                <a:buSzPct val="25000"/>
                <a:buFont typeface="Arial"/>
                <a:buNone/>
              </a:pPr>
              <a:r>
                <a:rPr b="1" i="0" lang="en" sz="1800" u="none" cap="none" strike="noStrike">
                  <a:solidFill>
                    <a:schemeClr val="lt1"/>
                  </a:solidFill>
                  <a:latin typeface="Arial"/>
                  <a:ea typeface="Arial"/>
                  <a:cs typeface="Arial"/>
                  <a:sym typeface="Arial"/>
                </a:rPr>
                <a:t>Nokia</a:t>
              </a:r>
            </a:p>
            <a:p>
              <a:pPr indent="0" lvl="0" marL="0" marR="0" rtl="0" algn="r">
                <a:lnSpc>
                  <a:spcPct val="100000"/>
                </a:lnSpc>
                <a:spcBef>
                  <a:spcPts val="0"/>
                </a:spcBef>
                <a:spcAft>
                  <a:spcPts val="0"/>
                </a:spcAft>
                <a:buClr>
                  <a:schemeClr val="lt1"/>
                </a:buClr>
                <a:buSzPct val="25000"/>
                <a:buFont typeface="Arial"/>
                <a:buNone/>
              </a:pPr>
              <a:r>
                <a:rPr b="1" i="0" lang="en" sz="1800" u="none" cap="none" strike="noStrike">
                  <a:solidFill>
                    <a:schemeClr val="lt1"/>
                  </a:solidFill>
                  <a:latin typeface="Arial"/>
                  <a:ea typeface="Arial"/>
                  <a:cs typeface="Arial"/>
                  <a:sym typeface="Arial"/>
                </a:rPr>
                <a:t>Q3 2016</a:t>
              </a:r>
            </a:p>
          </p:txBody>
        </p:sp>
      </p:grpSp>
      <p:grpSp>
        <p:nvGrpSpPr>
          <p:cNvPr id="716" name="Shape 716"/>
          <p:cNvGrpSpPr/>
          <p:nvPr/>
        </p:nvGrpSpPr>
        <p:grpSpPr>
          <a:xfrm>
            <a:off x="670916" y="1810801"/>
            <a:ext cx="3411917" cy="3015180"/>
            <a:chOff x="8290806" y="1255445"/>
            <a:chExt cx="3669517" cy="3171870"/>
          </a:xfrm>
        </p:grpSpPr>
        <p:pic>
          <p:nvPicPr>
            <p:cNvPr id="717" name="Shape 717"/>
            <p:cNvPicPr preferRelativeResize="0"/>
            <p:nvPr/>
          </p:nvPicPr>
          <p:blipFill rotWithShape="1">
            <a:blip r:embed="rId4">
              <a:alphaModFix/>
            </a:blip>
            <a:srcRect b="0" l="0" r="0" t="0"/>
            <a:stretch/>
          </p:blipFill>
          <p:spPr>
            <a:xfrm>
              <a:off x="8290806" y="1255445"/>
              <a:ext cx="3669517" cy="3171870"/>
            </a:xfrm>
            <a:prstGeom prst="rect">
              <a:avLst/>
            </a:prstGeom>
            <a:noFill/>
            <a:ln>
              <a:noFill/>
            </a:ln>
          </p:spPr>
        </p:pic>
        <p:sp>
          <p:nvSpPr>
            <p:cNvPr id="718" name="Shape 718"/>
            <p:cNvSpPr txBox="1"/>
            <p:nvPr/>
          </p:nvSpPr>
          <p:spPr>
            <a:xfrm>
              <a:off x="8871696" y="1288999"/>
              <a:ext cx="3088626" cy="1082211"/>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Clr>
                  <a:srgbClr val="000000"/>
                </a:buClr>
                <a:buSzPct val="25000"/>
                <a:buFont typeface="Arial"/>
                <a:buNone/>
              </a:pPr>
              <a:r>
                <a:rPr b="1" i="0" lang="en" sz="1800" u="none" cap="none" strike="noStrike">
                  <a:solidFill>
                    <a:srgbClr val="000000"/>
                  </a:solidFill>
                  <a:latin typeface="Arial"/>
                  <a:ea typeface="Arial"/>
                  <a:cs typeface="Arial"/>
                  <a:sym typeface="Arial"/>
                </a:rPr>
                <a:t>GEANT (Europe)</a:t>
              </a:r>
            </a:p>
            <a:p>
              <a:pPr indent="0" lvl="0" marL="0" marR="0" rtl="0" algn="r">
                <a:lnSpc>
                  <a:spcPct val="100000"/>
                </a:lnSpc>
                <a:spcBef>
                  <a:spcPts val="0"/>
                </a:spcBef>
                <a:spcAft>
                  <a:spcPts val="0"/>
                </a:spcAft>
                <a:buClr>
                  <a:srgbClr val="000000"/>
                </a:buClr>
                <a:buSzPct val="25000"/>
                <a:buFont typeface="Arial"/>
                <a:buNone/>
              </a:pPr>
              <a:r>
                <a:rPr b="1" i="0" lang="en" sz="1800" u="none" cap="none" strike="noStrike">
                  <a:solidFill>
                    <a:srgbClr val="000000"/>
                  </a:solidFill>
                  <a:latin typeface="Arial"/>
                  <a:ea typeface="Arial"/>
                  <a:cs typeface="Arial"/>
                  <a:sym typeface="Arial"/>
                </a:rPr>
                <a:t>Infinera</a:t>
              </a:r>
            </a:p>
            <a:p>
              <a:pPr indent="0" lvl="0" marL="0" marR="0" rtl="0" algn="r">
                <a:lnSpc>
                  <a:spcPct val="100000"/>
                </a:lnSpc>
                <a:spcBef>
                  <a:spcPts val="0"/>
                </a:spcBef>
                <a:spcAft>
                  <a:spcPts val="0"/>
                </a:spcAft>
                <a:buClr>
                  <a:srgbClr val="000000"/>
                </a:buClr>
                <a:buSzPct val="25000"/>
                <a:buFont typeface="Arial"/>
                <a:buNone/>
              </a:pPr>
              <a:r>
                <a:rPr b="1" i="0" lang="en" sz="1800" u="none" cap="none" strike="noStrike">
                  <a:solidFill>
                    <a:srgbClr val="000000"/>
                  </a:solidFill>
                  <a:latin typeface="Arial"/>
                  <a:ea typeface="Arial"/>
                  <a:cs typeface="Arial"/>
                  <a:sym typeface="Arial"/>
                </a:rPr>
                <a:t>Q4 2016</a:t>
              </a:r>
            </a:p>
          </p:txBody>
        </p:sp>
      </p:grpSp>
      <p:sp>
        <p:nvSpPr>
          <p:cNvPr id="719" name="Shape 719"/>
          <p:cNvSpPr txBox="1"/>
          <p:nvPr/>
        </p:nvSpPr>
        <p:spPr>
          <a:xfrm>
            <a:off x="4634801" y="4376700"/>
            <a:ext cx="3844500" cy="430800"/>
          </a:xfrm>
          <a:prstGeom prst="rect">
            <a:avLst/>
          </a:prstGeom>
          <a:noFill/>
          <a:ln>
            <a:noFill/>
          </a:ln>
        </p:spPr>
        <p:txBody>
          <a:bodyPr anchorCtr="0" anchor="t" bIns="45700" lIns="91425" rIns="91425" tIns="45700">
            <a:noAutofit/>
          </a:bodyPr>
          <a:lstStyle/>
          <a:p>
            <a:pPr indent="0" lvl="0" marL="0" marR="0" rtl="0">
              <a:lnSpc>
                <a:spcPct val="100000"/>
              </a:lnSpc>
              <a:spcBef>
                <a:spcPts val="0"/>
              </a:spcBef>
              <a:spcAft>
                <a:spcPts val="0"/>
              </a:spcAft>
              <a:buClr>
                <a:srgbClr val="000000"/>
              </a:buClr>
              <a:buSzPct val="25000"/>
              <a:buFont typeface="Arial"/>
              <a:buNone/>
            </a:pPr>
            <a:r>
              <a:rPr b="0" i="0" lang="en" sz="1800" u="none" cap="none" strike="noStrike">
                <a:solidFill>
                  <a:srgbClr val="000000"/>
                </a:solidFill>
                <a:latin typeface="Arial"/>
                <a:ea typeface="Arial"/>
                <a:cs typeface="Arial"/>
                <a:sym typeface="Arial"/>
              </a:rPr>
              <a:t>Demonstrate ONF’s Transport API (T-API) and OpenConfig support</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24" name="Shape 724"/>
        <p:cNvGrpSpPr/>
        <p:nvPr/>
      </p:nvGrpSpPr>
      <p:grpSpPr>
        <a:xfrm>
          <a:off x="0" y="0"/>
          <a:ext cx="0" cy="0"/>
          <a:chOff x="0" y="0"/>
          <a:chExt cx="0" cy="0"/>
        </a:xfrm>
      </p:grpSpPr>
      <p:pic>
        <p:nvPicPr>
          <p:cNvPr id="725" name="Shape 725"/>
          <p:cNvPicPr preferRelativeResize="0"/>
          <p:nvPr/>
        </p:nvPicPr>
        <p:blipFill rotWithShape="1">
          <a:blip r:embed="rId3">
            <a:alphaModFix/>
          </a:blip>
          <a:srcRect b="0" l="0" r="0" t="0"/>
          <a:stretch/>
        </p:blipFill>
        <p:spPr>
          <a:xfrm>
            <a:off x="-54539" y="1021700"/>
            <a:ext cx="9144000" cy="3825916"/>
          </a:xfrm>
          <a:prstGeom prst="rect">
            <a:avLst/>
          </a:prstGeom>
          <a:noFill/>
          <a:ln>
            <a:noFill/>
          </a:ln>
        </p:spPr>
      </p:pic>
      <p:sp>
        <p:nvSpPr>
          <p:cNvPr id="726" name="Shape 726"/>
          <p:cNvSpPr/>
          <p:nvPr/>
        </p:nvSpPr>
        <p:spPr>
          <a:xfrm>
            <a:off x="6259810" y="21527"/>
            <a:ext cx="2884189" cy="254804"/>
          </a:xfrm>
          <a:prstGeom prst="roundRect">
            <a:avLst>
              <a:gd fmla="val 16667" name="adj"/>
            </a:avLst>
          </a:prstGeom>
          <a:solidFill>
            <a:srgbClr val="BADBE1"/>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SzPct val="25000"/>
              <a:buFont typeface="Arial"/>
              <a:buNone/>
            </a:pPr>
            <a:r>
              <a:rPr b="1" i="0" lang="en" sz="1400" u="sng" cap="none" strike="noStrike">
                <a:solidFill>
                  <a:schemeClr val="hlink"/>
                </a:solidFill>
                <a:latin typeface="Arial"/>
                <a:ea typeface="Arial"/>
                <a:cs typeface="Arial"/>
                <a:sym typeface="Arial"/>
                <a:hlinkClick r:id="rId4"/>
              </a:rPr>
              <a:t>https://youtu.be/gsfYwJyYfI4</a:t>
            </a:r>
          </a:p>
        </p:txBody>
      </p:sp>
      <p:sp>
        <p:nvSpPr>
          <p:cNvPr id="727" name="Shape 727"/>
          <p:cNvSpPr txBox="1"/>
          <p:nvPr>
            <p:ph type="title"/>
          </p:nvPr>
        </p:nvSpPr>
        <p:spPr>
          <a:xfrm>
            <a:off x="457200" y="108978"/>
            <a:ext cx="8229600" cy="8574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FFFFFF"/>
              </a:buClr>
              <a:buSzPct val="25000"/>
              <a:buFont typeface="Droid Sans"/>
              <a:buNone/>
            </a:pPr>
            <a:r>
              <a:rPr b="1" i="0" lang="en" sz="3000" u="none" cap="none" strike="noStrike">
                <a:solidFill>
                  <a:schemeClr val="accent6"/>
                </a:solidFill>
                <a:latin typeface="Arial"/>
                <a:ea typeface="Arial"/>
                <a:cs typeface="Arial"/>
                <a:sym typeface="Arial"/>
              </a:rPr>
              <a:t>Multi-Layer, Multi-Vendor IP-Optical Demo</a:t>
            </a:r>
          </a:p>
          <a:p>
            <a:pPr indent="0" lvl="0" marL="0" marR="0" rtl="0" algn="l">
              <a:lnSpc>
                <a:spcPct val="100000"/>
              </a:lnSpc>
              <a:spcBef>
                <a:spcPts val="0"/>
              </a:spcBef>
              <a:spcAft>
                <a:spcPts val="0"/>
              </a:spcAft>
              <a:buClr>
                <a:srgbClr val="FFFFFF"/>
              </a:buClr>
              <a:buSzPct val="25000"/>
              <a:buFont typeface="Droid Sans"/>
              <a:buNone/>
            </a:pPr>
            <a:r>
              <a:rPr i="0" lang="en" sz="1200" u="none" cap="none" strike="noStrike">
                <a:solidFill>
                  <a:schemeClr val="accent6"/>
                </a:solidFill>
                <a:latin typeface="Arial"/>
                <a:ea typeface="Arial"/>
                <a:cs typeface="Arial"/>
                <a:sym typeface="Arial"/>
              </a:rPr>
              <a:t>(June 2015)</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32" name="Shape 732"/>
        <p:cNvGrpSpPr/>
        <p:nvPr/>
      </p:nvGrpSpPr>
      <p:grpSpPr>
        <a:xfrm>
          <a:off x="0" y="0"/>
          <a:ext cx="0" cy="0"/>
          <a:chOff x="0" y="0"/>
          <a:chExt cx="0" cy="0"/>
        </a:xfrm>
      </p:grpSpPr>
      <p:grpSp>
        <p:nvGrpSpPr>
          <p:cNvPr id="733" name="Shape 733"/>
          <p:cNvGrpSpPr/>
          <p:nvPr/>
        </p:nvGrpSpPr>
        <p:grpSpPr>
          <a:xfrm>
            <a:off x="3322389" y="3092792"/>
            <a:ext cx="1135417" cy="1950256"/>
            <a:chOff x="7604610" y="3288405"/>
            <a:chExt cx="931869" cy="588808"/>
          </a:xfrm>
        </p:grpSpPr>
        <p:pic>
          <p:nvPicPr>
            <p:cNvPr descr="DWDM.jpg" id="734" name="Shape 734"/>
            <p:cNvPicPr preferRelativeResize="0"/>
            <p:nvPr/>
          </p:nvPicPr>
          <p:blipFill rotWithShape="1">
            <a:blip r:embed="rId3">
              <a:alphaModFix/>
            </a:blip>
            <a:srcRect b="0" l="0" r="0" t="0"/>
            <a:stretch/>
          </p:blipFill>
          <p:spPr>
            <a:xfrm>
              <a:off x="7604610" y="3288405"/>
              <a:ext cx="740847" cy="588808"/>
            </a:xfrm>
            <a:prstGeom prst="rect">
              <a:avLst/>
            </a:prstGeom>
            <a:noFill/>
            <a:ln>
              <a:noFill/>
            </a:ln>
          </p:spPr>
        </p:pic>
        <p:grpSp>
          <p:nvGrpSpPr>
            <p:cNvPr id="735" name="Shape 735"/>
            <p:cNvGrpSpPr/>
            <p:nvPr/>
          </p:nvGrpSpPr>
          <p:grpSpPr>
            <a:xfrm rot="5400000">
              <a:off x="8201201" y="3499877"/>
              <a:ext cx="414356" cy="256199"/>
              <a:chOff x="9332200" y="4662707"/>
              <a:chExt cx="980183" cy="359729"/>
            </a:xfrm>
          </p:grpSpPr>
          <p:cxnSp>
            <p:nvCxnSpPr>
              <p:cNvPr id="736" name="Shape 736"/>
              <p:cNvCxnSpPr/>
              <p:nvPr/>
            </p:nvCxnSpPr>
            <p:spPr>
              <a:xfrm>
                <a:off x="9332200" y="4662707"/>
                <a:ext cx="9960" cy="355819"/>
              </a:xfrm>
              <a:prstGeom prst="straightConnector1">
                <a:avLst/>
              </a:prstGeom>
              <a:noFill/>
              <a:ln cap="flat" cmpd="sng" w="38100">
                <a:solidFill>
                  <a:schemeClr val="dk1"/>
                </a:solidFill>
                <a:prstDash val="solid"/>
                <a:round/>
                <a:headEnd len="med" w="med" type="none"/>
                <a:tailEnd len="med" w="med" type="none"/>
              </a:ln>
            </p:spPr>
          </p:cxnSp>
          <p:cxnSp>
            <p:nvCxnSpPr>
              <p:cNvPr id="737" name="Shape 737"/>
              <p:cNvCxnSpPr/>
              <p:nvPr/>
            </p:nvCxnSpPr>
            <p:spPr>
              <a:xfrm>
                <a:off x="9495564" y="4662707"/>
                <a:ext cx="9960" cy="355819"/>
              </a:xfrm>
              <a:prstGeom prst="straightConnector1">
                <a:avLst/>
              </a:prstGeom>
              <a:noFill/>
              <a:ln cap="flat" cmpd="sng" w="38100">
                <a:solidFill>
                  <a:schemeClr val="dk1"/>
                </a:solidFill>
                <a:prstDash val="solid"/>
                <a:round/>
                <a:headEnd len="med" w="med" type="none"/>
                <a:tailEnd len="med" w="med" type="none"/>
              </a:ln>
            </p:spPr>
          </p:cxnSp>
          <p:cxnSp>
            <p:nvCxnSpPr>
              <p:cNvPr id="738" name="Shape 738"/>
              <p:cNvCxnSpPr/>
              <p:nvPr/>
            </p:nvCxnSpPr>
            <p:spPr>
              <a:xfrm>
                <a:off x="9660918" y="4666617"/>
                <a:ext cx="11953" cy="355819"/>
              </a:xfrm>
              <a:prstGeom prst="straightConnector1">
                <a:avLst/>
              </a:prstGeom>
              <a:noFill/>
              <a:ln cap="flat" cmpd="sng" w="38100">
                <a:solidFill>
                  <a:schemeClr val="dk1"/>
                </a:solidFill>
                <a:prstDash val="solid"/>
                <a:round/>
                <a:headEnd len="med" w="med" type="none"/>
                <a:tailEnd len="med" w="med" type="none"/>
              </a:ln>
            </p:spPr>
          </p:cxnSp>
          <p:cxnSp>
            <p:nvCxnSpPr>
              <p:cNvPr id="739" name="Shape 739"/>
              <p:cNvCxnSpPr/>
              <p:nvPr/>
            </p:nvCxnSpPr>
            <p:spPr>
              <a:xfrm>
                <a:off x="9822292" y="4662707"/>
                <a:ext cx="9960" cy="355819"/>
              </a:xfrm>
              <a:prstGeom prst="straightConnector1">
                <a:avLst/>
              </a:prstGeom>
              <a:noFill/>
              <a:ln cap="flat" cmpd="sng" w="38100">
                <a:solidFill>
                  <a:srgbClr val="008000"/>
                </a:solidFill>
                <a:prstDash val="solid"/>
                <a:round/>
                <a:headEnd len="med" w="med" type="none"/>
                <a:tailEnd len="med" w="med" type="none"/>
              </a:ln>
            </p:spPr>
          </p:cxnSp>
          <p:cxnSp>
            <p:nvCxnSpPr>
              <p:cNvPr id="740" name="Shape 740"/>
              <p:cNvCxnSpPr/>
              <p:nvPr/>
            </p:nvCxnSpPr>
            <p:spPr>
              <a:xfrm>
                <a:off x="9967725" y="4664664"/>
                <a:ext cx="11953" cy="355819"/>
              </a:xfrm>
              <a:prstGeom prst="straightConnector1">
                <a:avLst/>
              </a:prstGeom>
              <a:noFill/>
              <a:ln cap="flat" cmpd="sng" w="38100">
                <a:solidFill>
                  <a:srgbClr val="FF0000"/>
                </a:solidFill>
                <a:prstDash val="solid"/>
                <a:round/>
                <a:headEnd len="med" w="med" type="none"/>
                <a:tailEnd len="med" w="med" type="none"/>
              </a:ln>
            </p:spPr>
          </p:cxnSp>
          <p:cxnSp>
            <p:nvCxnSpPr>
              <p:cNvPr id="741" name="Shape 741"/>
              <p:cNvCxnSpPr/>
              <p:nvPr/>
            </p:nvCxnSpPr>
            <p:spPr>
              <a:xfrm>
                <a:off x="10129096" y="4666617"/>
                <a:ext cx="11953" cy="355819"/>
              </a:xfrm>
              <a:prstGeom prst="straightConnector1">
                <a:avLst/>
              </a:prstGeom>
              <a:noFill/>
              <a:ln cap="flat" cmpd="sng" w="38100">
                <a:solidFill>
                  <a:schemeClr val="accent5"/>
                </a:solidFill>
                <a:prstDash val="solid"/>
                <a:round/>
                <a:headEnd len="med" w="med" type="none"/>
                <a:tailEnd len="med" w="med" type="none"/>
              </a:ln>
            </p:spPr>
          </p:cxnSp>
          <p:cxnSp>
            <p:nvCxnSpPr>
              <p:cNvPr id="742" name="Shape 742"/>
              <p:cNvCxnSpPr/>
              <p:nvPr/>
            </p:nvCxnSpPr>
            <p:spPr>
              <a:xfrm>
                <a:off x="10302421" y="4664662"/>
                <a:ext cx="9962" cy="355819"/>
              </a:xfrm>
              <a:prstGeom prst="straightConnector1">
                <a:avLst/>
              </a:prstGeom>
              <a:noFill/>
              <a:ln cap="flat" cmpd="sng" w="38100">
                <a:solidFill>
                  <a:schemeClr val="accent3"/>
                </a:solidFill>
                <a:prstDash val="solid"/>
                <a:round/>
                <a:headEnd len="med" w="med" type="none"/>
                <a:tailEnd len="med" w="med" type="none"/>
              </a:ln>
            </p:spPr>
          </p:cxnSp>
        </p:grpSp>
      </p:grpSp>
      <p:sp>
        <p:nvSpPr>
          <p:cNvPr id="743" name="Shape 743"/>
          <p:cNvSpPr txBox="1"/>
          <p:nvPr>
            <p:ph type="title"/>
          </p:nvPr>
        </p:nvSpPr>
        <p:spPr>
          <a:xfrm>
            <a:off x="457200" y="-98821"/>
            <a:ext cx="8229600" cy="857400"/>
          </a:xfrm>
          <a:prstGeom prst="rect">
            <a:avLst/>
          </a:prstGeom>
          <a:no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FFFFFF"/>
              </a:buClr>
              <a:buSzPct val="25000"/>
              <a:buFont typeface="Droid Sans"/>
              <a:buNone/>
            </a:pPr>
            <a:r>
              <a:rPr b="1" i="0" lang="en" sz="3000" u="none" cap="none" strike="noStrike">
                <a:solidFill>
                  <a:schemeClr val="accent6"/>
                </a:solidFill>
                <a:latin typeface="Arial"/>
                <a:ea typeface="Arial"/>
                <a:cs typeface="Arial"/>
                <a:sym typeface="Arial"/>
              </a:rPr>
              <a:t>Disaggregated ROADM</a:t>
            </a:r>
          </a:p>
        </p:txBody>
      </p:sp>
      <p:sp>
        <p:nvSpPr>
          <p:cNvPr id="744" name="Shape 744"/>
          <p:cNvSpPr/>
          <p:nvPr/>
        </p:nvSpPr>
        <p:spPr>
          <a:xfrm>
            <a:off x="881704" y="781400"/>
            <a:ext cx="6083877" cy="2064841"/>
          </a:xfrm>
          <a:prstGeom prst="ellipse">
            <a:avLst/>
          </a:prstGeom>
          <a:solidFill>
            <a:schemeClr val="lt1"/>
          </a:solidFill>
          <a:ln cap="flat" cmpd="sng" w="12700">
            <a:solidFill>
              <a:srgbClr val="347EB8"/>
            </a:solidFill>
            <a:prstDash val="solid"/>
            <a:round/>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200" u="none" cap="none" strike="noStrike">
              <a:solidFill>
                <a:schemeClr val="dk1"/>
              </a:solidFill>
              <a:latin typeface="Arial"/>
              <a:ea typeface="Arial"/>
              <a:cs typeface="Arial"/>
              <a:sym typeface="Arial"/>
            </a:endParaRPr>
          </a:p>
        </p:txBody>
      </p:sp>
      <p:cxnSp>
        <p:nvCxnSpPr>
          <p:cNvPr id="745" name="Shape 745"/>
          <p:cNvCxnSpPr/>
          <p:nvPr/>
        </p:nvCxnSpPr>
        <p:spPr>
          <a:xfrm rot="10800000">
            <a:off x="1253318" y="2310617"/>
            <a:ext cx="1852122" cy="1494233"/>
          </a:xfrm>
          <a:prstGeom prst="straightConnector1">
            <a:avLst/>
          </a:prstGeom>
          <a:noFill/>
          <a:ln cap="flat" cmpd="sng" w="12700">
            <a:solidFill>
              <a:schemeClr val="accent1"/>
            </a:solidFill>
            <a:prstDash val="solid"/>
            <a:round/>
            <a:headEnd len="med" w="med" type="none"/>
            <a:tailEnd len="med" w="med" type="none"/>
          </a:ln>
        </p:spPr>
      </p:cxnSp>
      <p:cxnSp>
        <p:nvCxnSpPr>
          <p:cNvPr id="746" name="Shape 746"/>
          <p:cNvCxnSpPr/>
          <p:nvPr/>
        </p:nvCxnSpPr>
        <p:spPr>
          <a:xfrm flipH="1" rot="10800000">
            <a:off x="4397292" y="2310617"/>
            <a:ext cx="2203516" cy="1494233"/>
          </a:xfrm>
          <a:prstGeom prst="straightConnector1">
            <a:avLst/>
          </a:prstGeom>
          <a:noFill/>
          <a:ln cap="flat" cmpd="sng" w="12700">
            <a:solidFill>
              <a:schemeClr val="accent1"/>
            </a:solidFill>
            <a:prstDash val="solid"/>
            <a:round/>
            <a:headEnd len="med" w="med" type="none"/>
            <a:tailEnd len="med" w="med" type="none"/>
          </a:ln>
        </p:spPr>
      </p:cxnSp>
      <p:sp>
        <p:nvSpPr>
          <p:cNvPr id="747" name="Shape 747"/>
          <p:cNvSpPr/>
          <p:nvPr/>
        </p:nvSpPr>
        <p:spPr>
          <a:xfrm>
            <a:off x="3368767" y="2469455"/>
            <a:ext cx="1096964" cy="202457"/>
          </a:xfrm>
          <a:prstGeom prst="rect">
            <a:avLst/>
          </a:prstGeom>
          <a:solidFill>
            <a:srgbClr val="D5E5F2"/>
          </a:solidFill>
          <a:ln cap="flat" cmpd="sng" w="9525">
            <a:solidFill>
              <a:schemeClr val="accent1"/>
            </a:solidFill>
            <a:prstDash val="solid"/>
            <a:round/>
            <a:headEnd len="med" w="med" type="none"/>
            <a:tailEnd len="med" w="med" type="none"/>
          </a:ln>
        </p:spPr>
        <p:txBody>
          <a:bodyPr anchorCtr="1"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 sz="1200" u="none" cap="none" strike="noStrike">
                <a:solidFill>
                  <a:schemeClr val="dk1"/>
                </a:solidFill>
                <a:latin typeface="Arial"/>
                <a:ea typeface="Arial"/>
                <a:cs typeface="Arial"/>
                <a:sym typeface="Arial"/>
              </a:rPr>
              <a:t>transponder</a:t>
            </a:r>
          </a:p>
        </p:txBody>
      </p:sp>
      <p:sp>
        <p:nvSpPr>
          <p:cNvPr id="748" name="Shape 748"/>
          <p:cNvSpPr/>
          <p:nvPr/>
        </p:nvSpPr>
        <p:spPr>
          <a:xfrm>
            <a:off x="3368767" y="2259884"/>
            <a:ext cx="1096964" cy="202457"/>
          </a:xfrm>
          <a:prstGeom prst="rect">
            <a:avLst/>
          </a:prstGeom>
          <a:solidFill>
            <a:srgbClr val="E6E4F5"/>
          </a:solidFill>
          <a:ln cap="flat" cmpd="sng" w="9525">
            <a:solidFill>
              <a:schemeClr val="accent5"/>
            </a:solidFill>
            <a:prstDash val="solid"/>
            <a:round/>
            <a:headEnd len="med" w="med" type="none"/>
            <a:tailEnd len="med" w="med" type="none"/>
          </a:ln>
        </p:spPr>
        <p:txBody>
          <a:bodyPr anchorCtr="1"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 sz="1200" u="none" cap="none" strike="noStrike">
                <a:solidFill>
                  <a:schemeClr val="dk1"/>
                </a:solidFill>
                <a:latin typeface="Arial"/>
                <a:ea typeface="Arial"/>
                <a:cs typeface="Arial"/>
                <a:sym typeface="Arial"/>
              </a:rPr>
              <a:t>muxponder</a:t>
            </a:r>
          </a:p>
        </p:txBody>
      </p:sp>
      <p:sp>
        <p:nvSpPr>
          <p:cNvPr id="749" name="Shape 749"/>
          <p:cNvSpPr/>
          <p:nvPr/>
        </p:nvSpPr>
        <p:spPr>
          <a:xfrm>
            <a:off x="3365187" y="2046538"/>
            <a:ext cx="1096964" cy="202457"/>
          </a:xfrm>
          <a:prstGeom prst="rect">
            <a:avLst/>
          </a:prstGeom>
          <a:solidFill>
            <a:srgbClr val="CCFFCC"/>
          </a:solidFill>
          <a:ln cap="flat" cmpd="sng" w="9525">
            <a:solidFill>
              <a:srgbClr val="008000"/>
            </a:solidFill>
            <a:prstDash val="solid"/>
            <a:round/>
            <a:headEnd len="med" w="med" type="none"/>
            <a:tailEnd len="med" w="med" type="none"/>
          </a:ln>
        </p:spPr>
        <p:txBody>
          <a:bodyPr anchorCtr="1"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 sz="1200" u="none" cap="none" strike="noStrike">
                <a:solidFill>
                  <a:schemeClr val="dk1"/>
                </a:solidFill>
                <a:latin typeface="Arial"/>
                <a:ea typeface="Arial"/>
                <a:cs typeface="Arial"/>
                <a:sym typeface="Arial"/>
              </a:rPr>
              <a:t>WSS</a:t>
            </a:r>
          </a:p>
        </p:txBody>
      </p:sp>
      <p:sp>
        <p:nvSpPr>
          <p:cNvPr id="750" name="Shape 750"/>
          <p:cNvSpPr/>
          <p:nvPr/>
        </p:nvSpPr>
        <p:spPr>
          <a:xfrm>
            <a:off x="3365187" y="1806393"/>
            <a:ext cx="1096964" cy="227957"/>
          </a:xfrm>
          <a:prstGeom prst="rect">
            <a:avLst/>
          </a:prstGeom>
          <a:solidFill>
            <a:srgbClr val="D5E5F2"/>
          </a:solidFill>
          <a:ln cap="flat" cmpd="sng" w="9525">
            <a:solidFill>
              <a:schemeClr val="accent1"/>
            </a:solidFill>
            <a:prstDash val="solid"/>
            <a:round/>
            <a:headEnd len="med" w="med" type="none"/>
            <a:tailEnd len="med" w="med" type="none"/>
          </a:ln>
        </p:spPr>
        <p:txBody>
          <a:bodyPr anchorCtr="1"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 sz="1200" u="none" cap="none" strike="noStrike">
                <a:solidFill>
                  <a:schemeClr val="dk1"/>
                </a:solidFill>
                <a:latin typeface="Arial"/>
                <a:ea typeface="Arial"/>
                <a:cs typeface="Arial"/>
                <a:sym typeface="Arial"/>
              </a:rPr>
              <a:t>WSS</a:t>
            </a:r>
          </a:p>
        </p:txBody>
      </p:sp>
      <p:cxnSp>
        <p:nvCxnSpPr>
          <p:cNvPr id="751" name="Shape 751"/>
          <p:cNvCxnSpPr/>
          <p:nvPr/>
        </p:nvCxnSpPr>
        <p:spPr>
          <a:xfrm>
            <a:off x="4465732" y="1870448"/>
            <a:ext cx="668776" cy="0"/>
          </a:xfrm>
          <a:prstGeom prst="straightConnector1">
            <a:avLst/>
          </a:prstGeom>
          <a:noFill/>
          <a:ln cap="flat" cmpd="sng" w="25400">
            <a:solidFill>
              <a:srgbClr val="800000"/>
            </a:solidFill>
            <a:prstDash val="solid"/>
            <a:round/>
            <a:headEnd len="med" w="med" type="none"/>
            <a:tailEnd len="med" w="med" type="none"/>
          </a:ln>
        </p:spPr>
      </p:cxnSp>
      <p:cxnSp>
        <p:nvCxnSpPr>
          <p:cNvPr id="752" name="Shape 752"/>
          <p:cNvCxnSpPr/>
          <p:nvPr/>
        </p:nvCxnSpPr>
        <p:spPr>
          <a:xfrm>
            <a:off x="4465732" y="1973766"/>
            <a:ext cx="668776" cy="0"/>
          </a:xfrm>
          <a:prstGeom prst="straightConnector1">
            <a:avLst/>
          </a:prstGeom>
          <a:noFill/>
          <a:ln cap="flat" cmpd="sng" w="25400">
            <a:solidFill>
              <a:srgbClr val="800000"/>
            </a:solidFill>
            <a:prstDash val="solid"/>
            <a:round/>
            <a:headEnd len="med" w="med" type="none"/>
            <a:tailEnd len="med" w="med" type="none"/>
          </a:ln>
        </p:spPr>
      </p:cxnSp>
      <p:cxnSp>
        <p:nvCxnSpPr>
          <p:cNvPr id="753" name="Shape 753"/>
          <p:cNvCxnSpPr/>
          <p:nvPr/>
        </p:nvCxnSpPr>
        <p:spPr>
          <a:xfrm>
            <a:off x="4465732" y="2081125"/>
            <a:ext cx="668776" cy="0"/>
          </a:xfrm>
          <a:prstGeom prst="straightConnector1">
            <a:avLst/>
          </a:prstGeom>
          <a:noFill/>
          <a:ln cap="flat" cmpd="sng" w="25400">
            <a:solidFill>
              <a:srgbClr val="800000"/>
            </a:solidFill>
            <a:prstDash val="solid"/>
            <a:round/>
            <a:headEnd len="med" w="med" type="none"/>
            <a:tailEnd len="med" w="med" type="none"/>
          </a:ln>
        </p:spPr>
      </p:cxnSp>
      <p:sp>
        <p:nvSpPr>
          <p:cNvPr id="754" name="Shape 754"/>
          <p:cNvSpPr txBox="1"/>
          <p:nvPr/>
        </p:nvSpPr>
        <p:spPr>
          <a:xfrm>
            <a:off x="5177275" y="1756773"/>
            <a:ext cx="911365" cy="46166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Calibri"/>
              <a:buNone/>
            </a:pPr>
            <a:r>
              <a:rPr b="0" i="0" lang="en" sz="1200" u="none" cap="none" strike="noStrike">
                <a:solidFill>
                  <a:schemeClr val="dk1"/>
                </a:solidFill>
                <a:latin typeface="Calibri"/>
                <a:ea typeface="Calibri"/>
                <a:cs typeface="Calibri"/>
                <a:sym typeface="Calibri"/>
              </a:rPr>
              <a:t>To optical transport</a:t>
            </a:r>
          </a:p>
        </p:txBody>
      </p:sp>
      <p:cxnSp>
        <p:nvCxnSpPr>
          <p:cNvPr id="755" name="Shape 755"/>
          <p:cNvCxnSpPr/>
          <p:nvPr/>
        </p:nvCxnSpPr>
        <p:spPr>
          <a:xfrm>
            <a:off x="4301303" y="1285349"/>
            <a:ext cx="0" cy="466268"/>
          </a:xfrm>
          <a:prstGeom prst="straightConnector1">
            <a:avLst/>
          </a:prstGeom>
          <a:noFill/>
          <a:ln cap="flat" cmpd="sng" w="12700">
            <a:solidFill>
              <a:schemeClr val="accent6"/>
            </a:solidFill>
            <a:prstDash val="solid"/>
            <a:round/>
            <a:headEnd len="med" w="med" type="stealth"/>
            <a:tailEnd len="med" w="med" type="stealth"/>
          </a:ln>
        </p:spPr>
      </p:cxnSp>
      <p:sp>
        <p:nvSpPr>
          <p:cNvPr id="756" name="Shape 756"/>
          <p:cNvSpPr/>
          <p:nvPr/>
        </p:nvSpPr>
        <p:spPr>
          <a:xfrm>
            <a:off x="2066241" y="1751616"/>
            <a:ext cx="728564" cy="685661"/>
          </a:xfrm>
          <a:prstGeom prst="rect">
            <a:avLst/>
          </a:prstGeom>
          <a:solidFill>
            <a:srgbClr val="DCEDF0"/>
          </a:solidFill>
          <a:ln cap="flat" cmpd="sng" w="9525">
            <a:solidFill>
              <a:schemeClr val="accent4"/>
            </a:solidFill>
            <a:prstDash val="solid"/>
            <a:round/>
            <a:headEnd len="med" w="med" type="none"/>
            <a:tailEnd len="med" w="med" type="none"/>
          </a:ln>
        </p:spPr>
        <p:txBody>
          <a:bodyPr anchorCtr="1"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 sz="3200" u="none" cap="none" strike="noStrike">
                <a:solidFill>
                  <a:schemeClr val="dk1"/>
                </a:solidFill>
                <a:latin typeface="Arial"/>
                <a:ea typeface="Arial"/>
                <a:cs typeface="Arial"/>
                <a:sym typeface="Arial"/>
              </a:rPr>
              <a:t>X</a:t>
            </a:r>
          </a:p>
        </p:txBody>
      </p:sp>
      <p:cxnSp>
        <p:nvCxnSpPr>
          <p:cNvPr id="757" name="Shape 757"/>
          <p:cNvCxnSpPr>
            <a:stCxn id="747" idx="1"/>
          </p:cNvCxnSpPr>
          <p:nvPr/>
        </p:nvCxnSpPr>
        <p:spPr>
          <a:xfrm rot="10800000">
            <a:off x="2794867" y="2310583"/>
            <a:ext cx="573900" cy="260100"/>
          </a:xfrm>
          <a:prstGeom prst="straightConnector1">
            <a:avLst/>
          </a:prstGeom>
          <a:noFill/>
          <a:ln cap="flat" cmpd="sng" w="28575">
            <a:solidFill>
              <a:srgbClr val="666666"/>
            </a:solidFill>
            <a:prstDash val="solid"/>
            <a:round/>
            <a:headEnd len="med" w="med" type="none"/>
            <a:tailEnd len="med" w="med" type="none"/>
          </a:ln>
        </p:spPr>
      </p:cxnSp>
      <p:cxnSp>
        <p:nvCxnSpPr>
          <p:cNvPr id="758" name="Shape 758"/>
          <p:cNvCxnSpPr>
            <a:stCxn id="748" idx="1"/>
          </p:cNvCxnSpPr>
          <p:nvPr/>
        </p:nvCxnSpPr>
        <p:spPr>
          <a:xfrm rot="10800000">
            <a:off x="2794867" y="2260013"/>
            <a:ext cx="573900" cy="101100"/>
          </a:xfrm>
          <a:prstGeom prst="straightConnector1">
            <a:avLst/>
          </a:prstGeom>
          <a:noFill/>
          <a:ln cap="flat" cmpd="sng" w="28575">
            <a:solidFill>
              <a:srgbClr val="666666"/>
            </a:solidFill>
            <a:prstDash val="solid"/>
            <a:round/>
            <a:headEnd len="med" w="med" type="none"/>
            <a:tailEnd len="med" w="med" type="none"/>
          </a:ln>
        </p:spPr>
      </p:cxnSp>
      <p:cxnSp>
        <p:nvCxnSpPr>
          <p:cNvPr id="759" name="Shape 759"/>
          <p:cNvCxnSpPr/>
          <p:nvPr/>
        </p:nvCxnSpPr>
        <p:spPr>
          <a:xfrm rot="10800000">
            <a:off x="2794806" y="2199514"/>
            <a:ext cx="573960" cy="0"/>
          </a:xfrm>
          <a:prstGeom prst="straightConnector1">
            <a:avLst/>
          </a:prstGeom>
          <a:noFill/>
          <a:ln cap="flat" cmpd="sng" w="28575">
            <a:solidFill>
              <a:srgbClr val="666666"/>
            </a:solidFill>
            <a:prstDash val="solid"/>
            <a:round/>
            <a:headEnd len="med" w="med" type="none"/>
            <a:tailEnd len="med" w="med" type="none"/>
          </a:ln>
        </p:spPr>
      </p:cxnSp>
      <p:cxnSp>
        <p:nvCxnSpPr>
          <p:cNvPr id="760" name="Shape 760"/>
          <p:cNvCxnSpPr/>
          <p:nvPr/>
        </p:nvCxnSpPr>
        <p:spPr>
          <a:xfrm rot="10800000">
            <a:off x="2791227" y="1962292"/>
            <a:ext cx="573960" cy="2641"/>
          </a:xfrm>
          <a:prstGeom prst="straightConnector1">
            <a:avLst/>
          </a:prstGeom>
          <a:noFill/>
          <a:ln cap="flat" cmpd="sng" w="28575">
            <a:solidFill>
              <a:srgbClr val="666666"/>
            </a:solidFill>
            <a:prstDash val="solid"/>
            <a:round/>
            <a:headEnd len="med" w="med" type="none"/>
            <a:tailEnd len="med" w="med" type="none"/>
          </a:ln>
        </p:spPr>
      </p:cxnSp>
      <p:cxnSp>
        <p:nvCxnSpPr>
          <p:cNvPr id="761" name="Shape 761"/>
          <p:cNvCxnSpPr>
            <a:stCxn id="749" idx="1"/>
          </p:cNvCxnSpPr>
          <p:nvPr/>
        </p:nvCxnSpPr>
        <p:spPr>
          <a:xfrm rot="10800000">
            <a:off x="2794887" y="2057466"/>
            <a:ext cx="570300" cy="90300"/>
          </a:xfrm>
          <a:prstGeom prst="straightConnector1">
            <a:avLst/>
          </a:prstGeom>
          <a:noFill/>
          <a:ln cap="flat" cmpd="sng" w="28575">
            <a:solidFill>
              <a:srgbClr val="666666"/>
            </a:solidFill>
            <a:prstDash val="solid"/>
            <a:round/>
            <a:headEnd len="med" w="med" type="none"/>
            <a:tailEnd len="med" w="med" type="none"/>
          </a:ln>
        </p:spPr>
      </p:cxnSp>
      <p:cxnSp>
        <p:nvCxnSpPr>
          <p:cNvPr id="762" name="Shape 762"/>
          <p:cNvCxnSpPr>
            <a:stCxn id="750" idx="1"/>
          </p:cNvCxnSpPr>
          <p:nvPr/>
        </p:nvCxnSpPr>
        <p:spPr>
          <a:xfrm rot="10800000">
            <a:off x="2794887" y="1854972"/>
            <a:ext cx="570300" cy="65400"/>
          </a:xfrm>
          <a:prstGeom prst="straightConnector1">
            <a:avLst/>
          </a:prstGeom>
          <a:noFill/>
          <a:ln cap="flat" cmpd="sng" w="28575">
            <a:solidFill>
              <a:srgbClr val="666666"/>
            </a:solidFill>
            <a:prstDash val="solid"/>
            <a:round/>
            <a:headEnd len="med" w="med" type="none"/>
            <a:tailEnd len="med" w="med" type="none"/>
          </a:ln>
        </p:spPr>
      </p:cxnSp>
      <p:cxnSp>
        <p:nvCxnSpPr>
          <p:cNvPr id="763" name="Shape 763"/>
          <p:cNvCxnSpPr/>
          <p:nvPr/>
        </p:nvCxnSpPr>
        <p:spPr>
          <a:xfrm rot="10800000">
            <a:off x="4465732" y="2319339"/>
            <a:ext cx="668778" cy="0"/>
          </a:xfrm>
          <a:prstGeom prst="straightConnector1">
            <a:avLst/>
          </a:prstGeom>
          <a:noFill/>
          <a:ln cap="flat" cmpd="sng" w="28575">
            <a:solidFill>
              <a:schemeClr val="dk2"/>
            </a:solidFill>
            <a:prstDash val="solid"/>
            <a:round/>
            <a:headEnd len="med" w="med" type="none"/>
            <a:tailEnd len="med" w="med" type="none"/>
          </a:ln>
        </p:spPr>
      </p:cxnSp>
      <p:cxnSp>
        <p:nvCxnSpPr>
          <p:cNvPr id="764" name="Shape 764"/>
          <p:cNvCxnSpPr>
            <a:endCxn id="747" idx="3"/>
          </p:cNvCxnSpPr>
          <p:nvPr/>
        </p:nvCxnSpPr>
        <p:spPr>
          <a:xfrm rot="10800000">
            <a:off x="4465732" y="2570683"/>
            <a:ext cx="668700" cy="0"/>
          </a:xfrm>
          <a:prstGeom prst="straightConnector1">
            <a:avLst/>
          </a:prstGeom>
          <a:noFill/>
          <a:ln cap="flat" cmpd="sng" w="28575">
            <a:solidFill>
              <a:schemeClr val="dk2"/>
            </a:solidFill>
            <a:prstDash val="solid"/>
            <a:round/>
            <a:headEnd len="med" w="med" type="none"/>
            <a:tailEnd len="med" w="med" type="none"/>
          </a:ln>
        </p:spPr>
      </p:cxnSp>
      <p:sp>
        <p:nvSpPr>
          <p:cNvPr id="765" name="Shape 765"/>
          <p:cNvSpPr txBox="1"/>
          <p:nvPr/>
        </p:nvSpPr>
        <p:spPr>
          <a:xfrm>
            <a:off x="5158141" y="2255649"/>
            <a:ext cx="911365" cy="360099"/>
          </a:xfrm>
          <a:prstGeom prst="rect">
            <a:avLst/>
          </a:prstGeom>
          <a:noFill/>
          <a:ln>
            <a:noFill/>
          </a:ln>
        </p:spPr>
        <p:txBody>
          <a:bodyPr anchorCtr="0" anchor="t" bIns="45700" lIns="91425" rIns="91425" tIns="45700">
            <a:noAutofit/>
          </a:bodyPr>
          <a:lstStyle/>
          <a:p>
            <a:pPr indent="0" lvl="0" marL="0" marR="0" rtl="0" algn="ctr">
              <a:lnSpc>
                <a:spcPct val="70000"/>
              </a:lnSpc>
              <a:spcBef>
                <a:spcPts val="0"/>
              </a:spcBef>
              <a:spcAft>
                <a:spcPts val="0"/>
              </a:spcAft>
              <a:buClr>
                <a:srgbClr val="000000"/>
              </a:buClr>
              <a:buSzPct val="25000"/>
              <a:buFont typeface="Calibri"/>
              <a:buNone/>
            </a:pPr>
            <a:r>
              <a:rPr b="0" i="0" lang="en" sz="1200" u="none" cap="none" strike="noStrike">
                <a:solidFill>
                  <a:srgbClr val="000000"/>
                </a:solidFill>
                <a:latin typeface="Calibri"/>
                <a:ea typeface="Calibri"/>
                <a:cs typeface="Calibri"/>
                <a:sym typeface="Calibri"/>
              </a:rPr>
              <a:t>To packet layer</a:t>
            </a:r>
          </a:p>
        </p:txBody>
      </p:sp>
      <p:sp>
        <p:nvSpPr>
          <p:cNvPr id="766" name="Shape 766"/>
          <p:cNvSpPr/>
          <p:nvPr/>
        </p:nvSpPr>
        <p:spPr>
          <a:xfrm>
            <a:off x="5182317" y="1813821"/>
            <a:ext cx="127280" cy="386912"/>
          </a:xfrm>
          <a:prstGeom prst="rightBrace">
            <a:avLst>
              <a:gd fmla="val 8333" name="adj1"/>
              <a:gd fmla="val 50000" name="adj2"/>
            </a:avLst>
          </a:prstGeom>
          <a:noFill/>
          <a:ln cap="flat" cmpd="sng" w="12700">
            <a:solidFill>
              <a:schemeClr val="lt2"/>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dk1"/>
              </a:solidFill>
              <a:latin typeface="Arial"/>
              <a:ea typeface="Arial"/>
              <a:cs typeface="Arial"/>
              <a:sym typeface="Arial"/>
            </a:endParaRPr>
          </a:p>
        </p:txBody>
      </p:sp>
      <p:sp>
        <p:nvSpPr>
          <p:cNvPr id="767" name="Shape 767"/>
          <p:cNvSpPr txBox="1"/>
          <p:nvPr/>
        </p:nvSpPr>
        <p:spPr>
          <a:xfrm>
            <a:off x="1834873" y="2354391"/>
            <a:ext cx="1206862" cy="276998"/>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Calibri"/>
              <a:buNone/>
            </a:pPr>
            <a:r>
              <a:rPr b="0" i="0" lang="en" sz="1200" u="none" cap="none" strike="noStrike">
                <a:solidFill>
                  <a:srgbClr val="000000"/>
                </a:solidFill>
                <a:latin typeface="Calibri"/>
                <a:ea typeface="Calibri"/>
                <a:cs typeface="Calibri"/>
                <a:sym typeface="Calibri"/>
              </a:rPr>
              <a:t>Backplane</a:t>
            </a:r>
          </a:p>
        </p:txBody>
      </p:sp>
      <p:sp>
        <p:nvSpPr>
          <p:cNvPr id="768" name="Shape 768"/>
          <p:cNvSpPr/>
          <p:nvPr/>
        </p:nvSpPr>
        <p:spPr>
          <a:xfrm>
            <a:off x="236312" y="2985003"/>
            <a:ext cx="2078338" cy="680512"/>
          </a:xfrm>
          <a:prstGeom prst="wedgeRoundRectCallout">
            <a:avLst>
              <a:gd fmla="val 86437" name="adj1"/>
              <a:gd fmla="val -123252" name="adj2"/>
              <a:gd fmla="val 16667" name="adj3"/>
            </a:avLst>
          </a:prstGeom>
          <a:solidFill>
            <a:srgbClr val="EFD0D0"/>
          </a:solidFill>
          <a:ln cap="flat" cmpd="sng" w="9525">
            <a:solidFill>
              <a:schemeClr val="accent6"/>
            </a:solidFill>
            <a:prstDash val="solid"/>
            <a:round/>
            <a:headEnd len="med" w="med" type="none"/>
            <a:tailEnd len="med" w="med" type="none"/>
          </a:ln>
        </p:spPr>
        <p:txBody>
          <a:bodyPr anchorCtr="0" anchor="ctr" bIns="45700" lIns="91425" rIns="91425" tIns="45700">
            <a:noAutofit/>
          </a:bodyPr>
          <a:lstStyle/>
          <a:p>
            <a:pPr indent="-171450" lvl="0" marL="171450" marR="0" rtl="0" algn="l">
              <a:lnSpc>
                <a:spcPct val="100000"/>
              </a:lnSpc>
              <a:spcBef>
                <a:spcPts val="0"/>
              </a:spcBef>
              <a:spcAft>
                <a:spcPts val="0"/>
              </a:spcAft>
              <a:buClr>
                <a:srgbClr val="000000"/>
              </a:buClr>
              <a:buSzPct val="100000"/>
              <a:buFont typeface="Arial"/>
              <a:buChar char="•"/>
            </a:pPr>
            <a:r>
              <a:rPr b="0" i="0" lang="en" sz="1200" u="none" cap="none" strike="noStrike">
                <a:solidFill>
                  <a:srgbClr val="000000"/>
                </a:solidFill>
                <a:latin typeface="Arial"/>
                <a:ea typeface="Arial"/>
                <a:cs typeface="Arial"/>
                <a:sym typeface="Arial"/>
              </a:rPr>
              <a:t>1x20 WSS, 1U</a:t>
            </a:r>
          </a:p>
          <a:p>
            <a:pPr indent="-171450" lvl="0" marL="171450" marR="0" rtl="0" algn="l">
              <a:lnSpc>
                <a:spcPct val="100000"/>
              </a:lnSpc>
              <a:spcBef>
                <a:spcPts val="0"/>
              </a:spcBef>
              <a:spcAft>
                <a:spcPts val="0"/>
              </a:spcAft>
              <a:buClr>
                <a:srgbClr val="000000"/>
              </a:buClr>
              <a:buSzPct val="100000"/>
              <a:buFont typeface="Arial"/>
              <a:buChar char="•"/>
            </a:pPr>
            <a:r>
              <a:rPr b="0" i="0" lang="en" sz="1200" u="none" cap="none" strike="noStrike">
                <a:solidFill>
                  <a:srgbClr val="000000"/>
                </a:solidFill>
                <a:latin typeface="Arial"/>
                <a:ea typeface="Arial"/>
                <a:cs typeface="Arial"/>
                <a:sym typeface="Arial"/>
              </a:rPr>
              <a:t>8x2 transponder, 1U</a:t>
            </a:r>
          </a:p>
          <a:p>
            <a:pPr indent="-171450" lvl="0" marL="171450" marR="0" rtl="0" algn="l">
              <a:lnSpc>
                <a:spcPct val="100000"/>
              </a:lnSpc>
              <a:spcBef>
                <a:spcPts val="0"/>
              </a:spcBef>
              <a:spcAft>
                <a:spcPts val="0"/>
              </a:spcAft>
              <a:buClr>
                <a:srgbClr val="000000"/>
              </a:buClr>
              <a:buSzPct val="100000"/>
              <a:buFont typeface="Arial"/>
              <a:buChar char="•"/>
            </a:pPr>
            <a:r>
              <a:rPr b="0" i="0" lang="en" sz="1200" u="none" cap="none" strike="noStrike">
                <a:solidFill>
                  <a:srgbClr val="000000"/>
                </a:solidFill>
                <a:latin typeface="Arial"/>
                <a:ea typeface="Arial"/>
                <a:cs typeface="Arial"/>
                <a:sym typeface="Arial"/>
              </a:rPr>
              <a:t>160x160 backplane, 7U</a:t>
            </a:r>
          </a:p>
        </p:txBody>
      </p:sp>
      <p:grpSp>
        <p:nvGrpSpPr>
          <p:cNvPr id="769" name="Shape 769"/>
          <p:cNvGrpSpPr/>
          <p:nvPr/>
        </p:nvGrpSpPr>
        <p:grpSpPr>
          <a:xfrm>
            <a:off x="7205860" y="1026782"/>
            <a:ext cx="1852789" cy="2321362"/>
            <a:chOff x="205038" y="910211"/>
            <a:chExt cx="3068460" cy="3844477"/>
          </a:xfrm>
        </p:grpSpPr>
        <p:pic>
          <p:nvPicPr>
            <p:cNvPr id="770" name="Shape 770"/>
            <p:cNvPicPr preferRelativeResize="0"/>
            <p:nvPr/>
          </p:nvPicPr>
          <p:blipFill rotWithShape="1">
            <a:blip r:embed="rId4">
              <a:alphaModFix/>
            </a:blip>
            <a:srcRect b="0" l="0" r="61744" t="0"/>
            <a:stretch/>
          </p:blipFill>
          <p:spPr>
            <a:xfrm>
              <a:off x="205038" y="3010518"/>
              <a:ext cx="1229030" cy="381703"/>
            </a:xfrm>
            <a:prstGeom prst="rect">
              <a:avLst/>
            </a:prstGeom>
            <a:noFill/>
            <a:ln>
              <a:noFill/>
            </a:ln>
          </p:spPr>
        </p:pic>
        <p:pic>
          <p:nvPicPr>
            <p:cNvPr id="771" name="Shape 771"/>
            <p:cNvPicPr preferRelativeResize="0"/>
            <p:nvPr/>
          </p:nvPicPr>
          <p:blipFill rotWithShape="1">
            <a:blip r:embed="rId5">
              <a:alphaModFix/>
            </a:blip>
            <a:srcRect b="0" l="0" r="0" t="0"/>
            <a:stretch/>
          </p:blipFill>
          <p:spPr>
            <a:xfrm>
              <a:off x="569997" y="910211"/>
              <a:ext cx="1788562" cy="534025"/>
            </a:xfrm>
            <a:prstGeom prst="rect">
              <a:avLst/>
            </a:prstGeom>
            <a:noFill/>
            <a:ln>
              <a:noFill/>
            </a:ln>
          </p:spPr>
        </p:pic>
        <p:pic>
          <p:nvPicPr>
            <p:cNvPr id="772" name="Shape 772"/>
            <p:cNvPicPr preferRelativeResize="0"/>
            <p:nvPr/>
          </p:nvPicPr>
          <p:blipFill rotWithShape="1">
            <a:blip r:embed="rId6">
              <a:alphaModFix/>
            </a:blip>
            <a:srcRect b="0" l="0" r="0" t="0"/>
            <a:stretch/>
          </p:blipFill>
          <p:spPr>
            <a:xfrm>
              <a:off x="926933" y="4025728"/>
              <a:ext cx="1255430" cy="728959"/>
            </a:xfrm>
            <a:prstGeom prst="rect">
              <a:avLst/>
            </a:prstGeom>
            <a:noFill/>
            <a:ln>
              <a:noFill/>
            </a:ln>
          </p:spPr>
        </p:pic>
        <p:pic>
          <p:nvPicPr>
            <p:cNvPr id="773" name="Shape 773"/>
            <p:cNvPicPr preferRelativeResize="0"/>
            <p:nvPr/>
          </p:nvPicPr>
          <p:blipFill rotWithShape="1">
            <a:blip r:embed="rId7">
              <a:alphaModFix/>
            </a:blip>
            <a:srcRect b="0" l="0" r="0" t="0"/>
            <a:stretch/>
          </p:blipFill>
          <p:spPr>
            <a:xfrm>
              <a:off x="1966364" y="2842653"/>
              <a:ext cx="1307134" cy="660102"/>
            </a:xfrm>
            <a:prstGeom prst="rect">
              <a:avLst/>
            </a:prstGeom>
            <a:noFill/>
            <a:ln>
              <a:noFill/>
            </a:ln>
          </p:spPr>
        </p:pic>
        <p:pic>
          <p:nvPicPr>
            <p:cNvPr id="774" name="Shape 774"/>
            <p:cNvPicPr preferRelativeResize="0"/>
            <p:nvPr/>
          </p:nvPicPr>
          <p:blipFill rotWithShape="1">
            <a:blip r:embed="rId8">
              <a:alphaModFix/>
            </a:blip>
            <a:srcRect b="0" l="0" r="0" t="0"/>
            <a:stretch/>
          </p:blipFill>
          <p:spPr>
            <a:xfrm>
              <a:off x="380830" y="1734835"/>
              <a:ext cx="2588042" cy="921948"/>
            </a:xfrm>
            <a:prstGeom prst="rect">
              <a:avLst/>
            </a:prstGeom>
            <a:noFill/>
            <a:ln>
              <a:noFill/>
            </a:ln>
          </p:spPr>
        </p:pic>
      </p:grpSp>
      <p:cxnSp>
        <p:nvCxnSpPr>
          <p:cNvPr id="775" name="Shape 775"/>
          <p:cNvCxnSpPr>
            <a:endCxn id="756" idx="0"/>
          </p:cNvCxnSpPr>
          <p:nvPr/>
        </p:nvCxnSpPr>
        <p:spPr>
          <a:xfrm flipH="1">
            <a:off x="2430523" y="1267416"/>
            <a:ext cx="938100" cy="484200"/>
          </a:xfrm>
          <a:prstGeom prst="straightConnector1">
            <a:avLst/>
          </a:prstGeom>
          <a:noFill/>
          <a:ln cap="flat" cmpd="sng" w="12700">
            <a:solidFill>
              <a:schemeClr val="accent6"/>
            </a:solidFill>
            <a:prstDash val="solid"/>
            <a:round/>
            <a:headEnd len="med" w="med" type="stealth"/>
            <a:tailEnd len="med" w="med" type="stealth"/>
          </a:ln>
        </p:spPr>
      </p:cxnSp>
      <p:cxnSp>
        <p:nvCxnSpPr>
          <p:cNvPr id="776" name="Shape 776"/>
          <p:cNvCxnSpPr/>
          <p:nvPr/>
        </p:nvCxnSpPr>
        <p:spPr>
          <a:xfrm>
            <a:off x="4465732" y="2187464"/>
            <a:ext cx="668776" cy="0"/>
          </a:xfrm>
          <a:prstGeom prst="straightConnector1">
            <a:avLst/>
          </a:prstGeom>
          <a:noFill/>
          <a:ln cap="flat" cmpd="sng" w="25400">
            <a:solidFill>
              <a:srgbClr val="800000"/>
            </a:solidFill>
            <a:prstDash val="solid"/>
            <a:round/>
            <a:headEnd len="med" w="med" type="none"/>
            <a:tailEnd len="med" w="med" type="none"/>
          </a:ln>
        </p:spPr>
      </p:cxnSp>
      <p:sp>
        <p:nvSpPr>
          <p:cNvPr id="777" name="Shape 777"/>
          <p:cNvSpPr/>
          <p:nvPr/>
        </p:nvSpPr>
        <p:spPr>
          <a:xfrm>
            <a:off x="2203152" y="913091"/>
            <a:ext cx="3574612" cy="330827"/>
          </a:xfrm>
          <a:prstGeom prst="rect">
            <a:avLst/>
          </a:prstGeom>
          <a:solidFill>
            <a:srgbClr val="376092"/>
          </a:solidFill>
          <a:ln>
            <a:noFill/>
          </a:ln>
        </p:spPr>
        <p:txBody>
          <a:bodyPr anchorCtr="0" anchor="ctr" bIns="45675" lIns="91350" rIns="91350" tIns="45675">
            <a:noAutofit/>
          </a:bodyPr>
          <a:lstStyle/>
          <a:p>
            <a:pPr indent="0" lvl="0" marL="0" marR="0" rtl="0" algn="ctr">
              <a:lnSpc>
                <a:spcPct val="100000"/>
              </a:lnSpc>
              <a:spcBef>
                <a:spcPts val="0"/>
              </a:spcBef>
              <a:spcAft>
                <a:spcPts val="0"/>
              </a:spcAft>
              <a:buClr>
                <a:srgbClr val="FFFFFF"/>
              </a:buClr>
              <a:buSzPct val="25000"/>
              <a:buFont typeface="Calibri"/>
              <a:buNone/>
            </a:pPr>
            <a:r>
              <a:rPr b="0" i="0" lang="en" sz="1050" u="none" cap="none" strike="noStrike">
                <a:solidFill>
                  <a:srgbClr val="FFFFFF"/>
                </a:solidFill>
                <a:latin typeface="Calibri"/>
                <a:ea typeface="Calibri"/>
                <a:cs typeface="Calibri"/>
                <a:sym typeface="Calibri"/>
              </a:rPr>
              <a:t>ONOS</a:t>
            </a:r>
          </a:p>
        </p:txBody>
      </p:sp>
      <p:sp>
        <p:nvSpPr>
          <p:cNvPr id="778" name="Shape 778"/>
          <p:cNvSpPr txBox="1"/>
          <p:nvPr/>
        </p:nvSpPr>
        <p:spPr>
          <a:xfrm>
            <a:off x="2842916" y="1343329"/>
            <a:ext cx="1610549" cy="46166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OpenFlow, SNMP,</a:t>
            </a:r>
            <a:br>
              <a:rPr b="0" i="0" lang="en" sz="1200" u="none" cap="none" strike="noStrike">
                <a:solidFill>
                  <a:srgbClr val="000000"/>
                </a:solidFill>
                <a:latin typeface="Arial"/>
                <a:ea typeface="Arial"/>
                <a:cs typeface="Arial"/>
                <a:sym typeface="Arial"/>
              </a:rPr>
            </a:br>
            <a:r>
              <a:rPr b="0" i="0" lang="en" sz="1200" u="none" cap="none" strike="noStrike">
                <a:solidFill>
                  <a:srgbClr val="000000"/>
                </a:solidFill>
                <a:latin typeface="Arial"/>
                <a:ea typeface="Arial"/>
                <a:cs typeface="Arial"/>
                <a:sym typeface="Arial"/>
              </a:rPr>
              <a:t>NETCONF, REST</a:t>
            </a:r>
          </a:p>
        </p:txBody>
      </p:sp>
      <p:sp>
        <p:nvSpPr>
          <p:cNvPr id="779" name="Shape 779"/>
          <p:cNvSpPr/>
          <p:nvPr/>
        </p:nvSpPr>
        <p:spPr>
          <a:xfrm>
            <a:off x="3996150" y="653714"/>
            <a:ext cx="842586" cy="223140"/>
          </a:xfrm>
          <a:prstGeom prst="rect">
            <a:avLst/>
          </a:prstGeom>
          <a:solidFill>
            <a:srgbClr val="376092"/>
          </a:solidFill>
          <a:ln>
            <a:noFill/>
          </a:ln>
        </p:spPr>
        <p:txBody>
          <a:bodyPr anchorCtr="0" anchor="ctr" bIns="45675" lIns="91350" rIns="91350" tIns="45675">
            <a:noAutofit/>
          </a:bodyPr>
          <a:lstStyle/>
          <a:p>
            <a:pPr indent="0" lvl="0" marL="0" marR="0" rtl="0" algn="ctr">
              <a:lnSpc>
                <a:spcPct val="100000"/>
              </a:lnSpc>
              <a:spcBef>
                <a:spcPts val="0"/>
              </a:spcBef>
              <a:spcAft>
                <a:spcPts val="0"/>
              </a:spcAft>
              <a:buClr>
                <a:srgbClr val="FFFFFF"/>
              </a:buClr>
              <a:buSzPct val="25000"/>
              <a:buFont typeface="Calibri"/>
              <a:buNone/>
            </a:pPr>
            <a:r>
              <a:rPr b="0" i="0" lang="en" sz="800" u="none" cap="none" strike="noStrike">
                <a:solidFill>
                  <a:srgbClr val="FFFFFF"/>
                </a:solidFill>
                <a:latin typeface="Calibri"/>
                <a:ea typeface="Calibri"/>
                <a:cs typeface="Calibri"/>
                <a:sym typeface="Calibri"/>
              </a:rPr>
              <a:t>Power Management</a:t>
            </a:r>
          </a:p>
        </p:txBody>
      </p:sp>
      <p:sp>
        <p:nvSpPr>
          <p:cNvPr id="780" name="Shape 780"/>
          <p:cNvSpPr/>
          <p:nvPr/>
        </p:nvSpPr>
        <p:spPr>
          <a:xfrm>
            <a:off x="3118952" y="657725"/>
            <a:ext cx="842586" cy="223140"/>
          </a:xfrm>
          <a:prstGeom prst="rect">
            <a:avLst/>
          </a:prstGeom>
          <a:solidFill>
            <a:srgbClr val="376092"/>
          </a:solidFill>
          <a:ln>
            <a:noFill/>
          </a:ln>
        </p:spPr>
        <p:txBody>
          <a:bodyPr anchorCtr="0" anchor="ctr" bIns="45675" lIns="91350" rIns="91350" tIns="45675">
            <a:noAutofit/>
          </a:bodyPr>
          <a:lstStyle/>
          <a:p>
            <a:pPr indent="0" lvl="0" marL="0" marR="0" rtl="0" algn="ctr">
              <a:lnSpc>
                <a:spcPct val="100000"/>
              </a:lnSpc>
              <a:spcBef>
                <a:spcPts val="0"/>
              </a:spcBef>
              <a:spcAft>
                <a:spcPts val="0"/>
              </a:spcAft>
              <a:buClr>
                <a:srgbClr val="FFFFFF"/>
              </a:buClr>
              <a:buSzPct val="25000"/>
              <a:buFont typeface="Calibri"/>
              <a:buNone/>
            </a:pPr>
            <a:r>
              <a:rPr b="0" i="0" lang="en" sz="800" u="none" cap="none" strike="noStrike">
                <a:solidFill>
                  <a:srgbClr val="FFFFFF"/>
                </a:solidFill>
                <a:latin typeface="Calibri"/>
                <a:ea typeface="Calibri"/>
                <a:cs typeface="Calibri"/>
                <a:sym typeface="Calibri"/>
              </a:rPr>
              <a:t>Alarm Handling</a:t>
            </a:r>
          </a:p>
        </p:txBody>
      </p:sp>
      <p:sp>
        <p:nvSpPr>
          <p:cNvPr id="781" name="Shape 781"/>
          <p:cNvSpPr/>
          <p:nvPr/>
        </p:nvSpPr>
        <p:spPr>
          <a:xfrm>
            <a:off x="2235794" y="658035"/>
            <a:ext cx="842586" cy="223140"/>
          </a:xfrm>
          <a:prstGeom prst="rect">
            <a:avLst/>
          </a:prstGeom>
          <a:solidFill>
            <a:srgbClr val="376092"/>
          </a:solidFill>
          <a:ln>
            <a:noFill/>
          </a:ln>
        </p:spPr>
        <p:txBody>
          <a:bodyPr anchorCtr="0" anchor="ctr" bIns="45675" lIns="91350" rIns="91350" tIns="45675">
            <a:noAutofit/>
          </a:bodyPr>
          <a:lstStyle/>
          <a:p>
            <a:pPr indent="0" lvl="0" marL="0" marR="0" rtl="0" algn="ctr">
              <a:lnSpc>
                <a:spcPct val="100000"/>
              </a:lnSpc>
              <a:spcBef>
                <a:spcPts val="0"/>
              </a:spcBef>
              <a:spcAft>
                <a:spcPts val="0"/>
              </a:spcAft>
              <a:buClr>
                <a:srgbClr val="FFFFFF"/>
              </a:buClr>
              <a:buSzPct val="25000"/>
              <a:buFont typeface="Calibri"/>
              <a:buNone/>
            </a:pPr>
            <a:r>
              <a:rPr b="0" i="0" lang="en" sz="800" u="none" cap="none" strike="noStrike">
                <a:solidFill>
                  <a:srgbClr val="FFFFFF"/>
                </a:solidFill>
                <a:latin typeface="Calibri"/>
                <a:ea typeface="Calibri"/>
                <a:cs typeface="Calibri"/>
                <a:sym typeface="Calibri"/>
              </a:rPr>
              <a:t>Bandwidth</a:t>
            </a:r>
            <a:br>
              <a:rPr b="0" i="0" lang="en" sz="800" u="none" cap="none" strike="noStrike">
                <a:solidFill>
                  <a:srgbClr val="FFFFFF"/>
                </a:solidFill>
                <a:latin typeface="Calibri"/>
                <a:ea typeface="Calibri"/>
                <a:cs typeface="Calibri"/>
                <a:sym typeface="Calibri"/>
              </a:rPr>
            </a:br>
            <a:r>
              <a:rPr b="0" i="0" lang="en" sz="800" u="none" cap="none" strike="noStrike">
                <a:solidFill>
                  <a:srgbClr val="FFFFFF"/>
                </a:solidFill>
                <a:latin typeface="Calibri"/>
                <a:ea typeface="Calibri"/>
                <a:cs typeface="Calibri"/>
                <a:sym typeface="Calibri"/>
              </a:rPr>
              <a:t>On Demand</a:t>
            </a:r>
          </a:p>
        </p:txBody>
      </p:sp>
      <p:sp>
        <p:nvSpPr>
          <p:cNvPr id="782" name="Shape 782"/>
          <p:cNvSpPr/>
          <p:nvPr/>
        </p:nvSpPr>
        <p:spPr>
          <a:xfrm>
            <a:off x="5187103" y="2255336"/>
            <a:ext cx="127280" cy="386912"/>
          </a:xfrm>
          <a:prstGeom prst="rightBrace">
            <a:avLst>
              <a:gd fmla="val 8333" name="adj1"/>
              <a:gd fmla="val 50000" name="adj2"/>
            </a:avLst>
          </a:prstGeom>
          <a:noFill/>
          <a:ln cap="flat" cmpd="sng" w="12700">
            <a:solidFill>
              <a:schemeClr val="lt2"/>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dk1"/>
              </a:solidFill>
              <a:latin typeface="Arial"/>
              <a:ea typeface="Arial"/>
              <a:cs typeface="Arial"/>
              <a:sym typeface="Arial"/>
            </a:endParaRPr>
          </a:p>
        </p:txBody>
      </p:sp>
      <p:sp>
        <p:nvSpPr>
          <p:cNvPr id="783" name="Shape 783"/>
          <p:cNvSpPr/>
          <p:nvPr/>
        </p:nvSpPr>
        <p:spPr>
          <a:xfrm>
            <a:off x="4895808" y="653714"/>
            <a:ext cx="842586" cy="223140"/>
          </a:xfrm>
          <a:prstGeom prst="rect">
            <a:avLst/>
          </a:prstGeom>
          <a:solidFill>
            <a:srgbClr val="376092"/>
          </a:solidFill>
          <a:ln>
            <a:noFill/>
          </a:ln>
        </p:spPr>
        <p:txBody>
          <a:bodyPr anchorCtr="0" anchor="ctr" bIns="45675" lIns="91350" rIns="91350" tIns="45675">
            <a:noAutofit/>
          </a:bodyPr>
          <a:lstStyle/>
          <a:p>
            <a:pPr indent="0" lvl="0" marL="0" marR="0" rtl="0" algn="ctr">
              <a:lnSpc>
                <a:spcPct val="100000"/>
              </a:lnSpc>
              <a:spcBef>
                <a:spcPts val="0"/>
              </a:spcBef>
              <a:spcAft>
                <a:spcPts val="0"/>
              </a:spcAft>
              <a:buClr>
                <a:srgbClr val="FFFFFF"/>
              </a:buClr>
              <a:buSzPct val="25000"/>
              <a:buFont typeface="Calibri"/>
              <a:buNone/>
            </a:pPr>
            <a:r>
              <a:rPr b="0" i="0" lang="en" sz="800" u="none" cap="none" strike="noStrike">
                <a:solidFill>
                  <a:srgbClr val="FFFFFF"/>
                </a:solidFill>
                <a:latin typeface="Calibri"/>
                <a:ea typeface="Calibri"/>
                <a:cs typeface="Calibri"/>
                <a:sym typeface="Calibri"/>
              </a:rPr>
              <a:t>Optical Restoration</a:t>
            </a:r>
          </a:p>
        </p:txBody>
      </p:sp>
      <p:grpSp>
        <p:nvGrpSpPr>
          <p:cNvPr id="784" name="Shape 784"/>
          <p:cNvGrpSpPr/>
          <p:nvPr/>
        </p:nvGrpSpPr>
        <p:grpSpPr>
          <a:xfrm>
            <a:off x="3084956" y="3325260"/>
            <a:ext cx="1316122" cy="1609471"/>
            <a:chOff x="3197546" y="3413696"/>
            <a:chExt cx="1078692" cy="1319121"/>
          </a:xfrm>
        </p:grpSpPr>
        <p:grpSp>
          <p:nvGrpSpPr>
            <p:cNvPr id="785" name="Shape 785"/>
            <p:cNvGrpSpPr/>
            <p:nvPr/>
          </p:nvGrpSpPr>
          <p:grpSpPr>
            <a:xfrm>
              <a:off x="3197546" y="3621060"/>
              <a:ext cx="1075588" cy="1111757"/>
              <a:chOff x="3197546" y="3621060"/>
              <a:chExt cx="1075588" cy="1111757"/>
            </a:xfrm>
          </p:grpSpPr>
          <p:pic>
            <p:nvPicPr>
              <p:cNvPr id="786" name="Shape 786"/>
              <p:cNvPicPr preferRelativeResize="0"/>
              <p:nvPr/>
            </p:nvPicPr>
            <p:blipFill rotWithShape="1">
              <a:blip r:embed="rId9">
                <a:alphaModFix/>
              </a:blip>
              <a:srcRect b="14202" l="-9309" r="-1" t="0"/>
              <a:stretch/>
            </p:blipFill>
            <p:spPr>
              <a:xfrm>
                <a:off x="3199888" y="4361401"/>
                <a:ext cx="1058800" cy="371416"/>
              </a:xfrm>
              <a:prstGeom prst="rect">
                <a:avLst/>
              </a:prstGeom>
              <a:noFill/>
              <a:ln>
                <a:noFill/>
              </a:ln>
            </p:spPr>
          </p:pic>
          <p:pic>
            <p:nvPicPr>
              <p:cNvPr id="787" name="Shape 787"/>
              <p:cNvPicPr preferRelativeResize="0"/>
              <p:nvPr/>
            </p:nvPicPr>
            <p:blipFill rotWithShape="1">
              <a:blip r:embed="rId9">
                <a:alphaModFix/>
              </a:blip>
              <a:srcRect b="14202" l="-9309" r="-1" t="0"/>
              <a:stretch/>
            </p:blipFill>
            <p:spPr>
              <a:xfrm>
                <a:off x="3214334" y="4188307"/>
                <a:ext cx="1058800" cy="371416"/>
              </a:xfrm>
              <a:prstGeom prst="rect">
                <a:avLst/>
              </a:prstGeom>
              <a:noFill/>
              <a:ln>
                <a:noFill/>
              </a:ln>
            </p:spPr>
          </p:pic>
          <p:pic>
            <p:nvPicPr>
              <p:cNvPr id="788" name="Shape 788"/>
              <p:cNvPicPr preferRelativeResize="0"/>
              <p:nvPr/>
            </p:nvPicPr>
            <p:blipFill rotWithShape="1">
              <a:blip r:embed="rId9">
                <a:alphaModFix/>
              </a:blip>
              <a:srcRect b="14202" l="-9309" r="-1" t="0"/>
              <a:stretch/>
            </p:blipFill>
            <p:spPr>
              <a:xfrm>
                <a:off x="3197546" y="4009435"/>
                <a:ext cx="1058800" cy="371416"/>
              </a:xfrm>
              <a:prstGeom prst="rect">
                <a:avLst/>
              </a:prstGeom>
              <a:noFill/>
              <a:ln>
                <a:noFill/>
              </a:ln>
            </p:spPr>
          </p:pic>
          <p:pic>
            <p:nvPicPr>
              <p:cNvPr id="789" name="Shape 789"/>
              <p:cNvPicPr preferRelativeResize="0"/>
              <p:nvPr/>
            </p:nvPicPr>
            <p:blipFill rotWithShape="1">
              <a:blip r:embed="rId9">
                <a:alphaModFix/>
              </a:blip>
              <a:srcRect b="14202" l="-9309" r="-1" t="0"/>
              <a:stretch/>
            </p:blipFill>
            <p:spPr>
              <a:xfrm>
                <a:off x="3214334" y="3828301"/>
                <a:ext cx="1058800" cy="371416"/>
              </a:xfrm>
              <a:prstGeom prst="rect">
                <a:avLst/>
              </a:prstGeom>
              <a:noFill/>
              <a:ln>
                <a:noFill/>
              </a:ln>
            </p:spPr>
          </p:pic>
          <p:pic>
            <p:nvPicPr>
              <p:cNvPr id="790" name="Shape 790"/>
              <p:cNvPicPr preferRelativeResize="0"/>
              <p:nvPr/>
            </p:nvPicPr>
            <p:blipFill rotWithShape="1">
              <a:blip r:embed="rId9">
                <a:alphaModFix/>
              </a:blip>
              <a:srcRect b="14202" l="-9309" r="-1" t="0"/>
              <a:stretch/>
            </p:blipFill>
            <p:spPr>
              <a:xfrm>
                <a:off x="3214334" y="3621060"/>
                <a:ext cx="1058800" cy="371416"/>
              </a:xfrm>
              <a:prstGeom prst="rect">
                <a:avLst/>
              </a:prstGeom>
              <a:noFill/>
              <a:ln>
                <a:noFill/>
              </a:ln>
            </p:spPr>
          </p:pic>
        </p:grpSp>
        <p:pic>
          <p:nvPicPr>
            <p:cNvPr id="791" name="Shape 791"/>
            <p:cNvPicPr preferRelativeResize="0"/>
            <p:nvPr/>
          </p:nvPicPr>
          <p:blipFill rotWithShape="1">
            <a:blip r:embed="rId9">
              <a:alphaModFix/>
            </a:blip>
            <a:srcRect b="14202" l="-9309" r="-1" t="0"/>
            <a:stretch/>
          </p:blipFill>
          <p:spPr>
            <a:xfrm>
              <a:off x="3217438" y="3413696"/>
              <a:ext cx="1058800" cy="371416"/>
            </a:xfrm>
            <a:prstGeom prst="rect">
              <a:avLst/>
            </a:prstGeom>
            <a:noFill/>
            <a:ln>
              <a:noFill/>
            </a:ln>
          </p:spPr>
        </p:pic>
      </p:grpSp>
      <p:graphicFrame>
        <p:nvGraphicFramePr>
          <p:cNvPr id="792" name="Shape 792"/>
          <p:cNvGraphicFramePr/>
          <p:nvPr/>
        </p:nvGraphicFramePr>
        <p:xfrm>
          <a:off x="4971494" y="3594558"/>
          <a:ext cx="3000000" cy="3000000"/>
        </p:xfrm>
        <a:graphic>
          <a:graphicData uri="http://schemas.openxmlformats.org/drawingml/2006/table">
            <a:tbl>
              <a:tblPr bandRow="1" firstRow="1">
                <a:noFill/>
                <a:tableStyleId>{166D7E62-824E-484D-8639-DB79E850F34F}</a:tableStyleId>
              </a:tblPr>
              <a:tblGrid>
                <a:gridCol w="2071300"/>
                <a:gridCol w="2071300"/>
              </a:tblGrid>
              <a:tr h="270950">
                <a:tc>
                  <a:txBody>
                    <a:bodyPr>
                      <a:noAutofit/>
                    </a:bodyPr>
                    <a:lstStyle/>
                    <a:p>
                      <a:pPr indent="0" lvl="0" marL="0" marR="0" rtl="0" algn="ctr">
                        <a:lnSpc>
                          <a:spcPct val="100000"/>
                        </a:lnSpc>
                        <a:spcBef>
                          <a:spcPts val="0"/>
                        </a:spcBef>
                        <a:spcAft>
                          <a:spcPts val="0"/>
                        </a:spcAft>
                        <a:buClr>
                          <a:srgbClr val="000000"/>
                        </a:buClr>
                        <a:buSzPct val="25000"/>
                        <a:buFont typeface="Arial"/>
                        <a:buNone/>
                      </a:pPr>
                      <a:r>
                        <a:rPr b="1" lang="en" sz="1100" u="none" cap="none" strike="noStrike"/>
                        <a:t>Vertical integration</a:t>
                      </a:r>
                    </a:p>
                  </a:txBody>
                  <a:tcPr marT="45725" marB="45725" marR="91450" marL="91450"/>
                </a:tc>
                <a:tc>
                  <a:txBody>
                    <a:bodyPr>
                      <a:noAutofit/>
                    </a:bodyPr>
                    <a:lstStyle/>
                    <a:p>
                      <a:pPr indent="0" lvl="0" marL="0" marR="0" rtl="0" algn="ctr">
                        <a:lnSpc>
                          <a:spcPct val="100000"/>
                        </a:lnSpc>
                        <a:spcBef>
                          <a:spcPts val="0"/>
                        </a:spcBef>
                        <a:spcAft>
                          <a:spcPts val="0"/>
                        </a:spcAft>
                        <a:buClr>
                          <a:srgbClr val="000000"/>
                        </a:buClr>
                        <a:buSzPct val="25000"/>
                        <a:buFont typeface="Arial"/>
                        <a:buNone/>
                      </a:pPr>
                      <a:r>
                        <a:rPr b="1" lang="en" sz="1100" u="none" cap="none" strike="noStrike"/>
                        <a:t>Disaggregated</a:t>
                      </a:r>
                    </a:p>
                  </a:txBody>
                  <a:tcPr marT="45725" marB="45725" marR="91450" marL="91450"/>
                </a:tc>
              </a:tr>
              <a:tr h="270950">
                <a:tc>
                  <a:txBody>
                    <a:bodyPr>
                      <a:noAutofit/>
                    </a:bodyPr>
                    <a:lstStyle/>
                    <a:p>
                      <a:pPr indent="0" lvl="0" marL="0" marR="0" rtl="0" algn="ctr">
                        <a:lnSpc>
                          <a:spcPct val="100000"/>
                        </a:lnSpc>
                        <a:spcBef>
                          <a:spcPts val="0"/>
                        </a:spcBef>
                        <a:spcAft>
                          <a:spcPts val="0"/>
                        </a:spcAft>
                        <a:buClr>
                          <a:schemeClr val="accent6"/>
                        </a:buClr>
                        <a:buSzPct val="25000"/>
                        <a:buFont typeface="Arial"/>
                        <a:buNone/>
                      </a:pPr>
                      <a:r>
                        <a:rPr b="1" lang="en" sz="1100" u="none" cap="none" strike="noStrike">
                          <a:solidFill>
                            <a:schemeClr val="accent6"/>
                          </a:solidFill>
                        </a:rPr>
                        <a:t>Vendor lock-in</a:t>
                      </a:r>
                    </a:p>
                  </a:txBody>
                  <a:tcPr marT="45725" marB="45725" marR="91450" marL="91450"/>
                </a:tc>
                <a:tc>
                  <a:txBody>
                    <a:bodyPr>
                      <a:noAutofit/>
                    </a:bodyPr>
                    <a:lstStyle/>
                    <a:p>
                      <a:pPr indent="0" lvl="0" marL="0" marR="0" rtl="0" algn="ctr">
                        <a:lnSpc>
                          <a:spcPct val="100000"/>
                        </a:lnSpc>
                        <a:spcBef>
                          <a:spcPts val="0"/>
                        </a:spcBef>
                        <a:spcAft>
                          <a:spcPts val="0"/>
                        </a:spcAft>
                        <a:buClr>
                          <a:schemeClr val="accent3"/>
                        </a:buClr>
                        <a:buSzPct val="25000"/>
                        <a:buFont typeface="Arial"/>
                        <a:buNone/>
                      </a:pPr>
                      <a:r>
                        <a:rPr b="1" lang="en" sz="1100" u="none" cap="none" strike="noStrike">
                          <a:solidFill>
                            <a:schemeClr val="accent3"/>
                          </a:solidFill>
                        </a:rPr>
                        <a:t>Multi vendor</a:t>
                      </a:r>
                    </a:p>
                  </a:txBody>
                  <a:tcPr marT="45725" marB="45725" marR="91450" marL="91450"/>
                </a:tc>
              </a:tr>
              <a:tr h="270950">
                <a:tc>
                  <a:txBody>
                    <a:bodyPr>
                      <a:noAutofit/>
                    </a:bodyPr>
                    <a:lstStyle/>
                    <a:p>
                      <a:pPr indent="0" lvl="0" marL="0" marR="0" rtl="0" algn="ctr">
                        <a:lnSpc>
                          <a:spcPct val="100000"/>
                        </a:lnSpc>
                        <a:spcBef>
                          <a:spcPts val="0"/>
                        </a:spcBef>
                        <a:spcAft>
                          <a:spcPts val="0"/>
                        </a:spcAft>
                        <a:buClr>
                          <a:schemeClr val="accent6"/>
                        </a:buClr>
                        <a:buSzPct val="25000"/>
                        <a:buFont typeface="Arial"/>
                        <a:buNone/>
                      </a:pPr>
                      <a:r>
                        <a:rPr b="1" lang="en" sz="1100" u="none" cap="none" strike="noStrike">
                          <a:solidFill>
                            <a:schemeClr val="accent6"/>
                          </a:solidFill>
                        </a:rPr>
                        <a:t>One size fits all</a:t>
                      </a:r>
                    </a:p>
                  </a:txBody>
                  <a:tcPr marT="45725" marB="45725" marR="91450" marL="91450"/>
                </a:tc>
                <a:tc>
                  <a:txBody>
                    <a:bodyPr>
                      <a:noAutofit/>
                    </a:bodyPr>
                    <a:lstStyle/>
                    <a:p>
                      <a:pPr indent="0" lvl="0" marL="0" marR="0" rtl="0" algn="ctr">
                        <a:lnSpc>
                          <a:spcPct val="100000"/>
                        </a:lnSpc>
                        <a:spcBef>
                          <a:spcPts val="0"/>
                        </a:spcBef>
                        <a:spcAft>
                          <a:spcPts val="0"/>
                        </a:spcAft>
                        <a:buClr>
                          <a:schemeClr val="accent3"/>
                        </a:buClr>
                        <a:buSzPct val="25000"/>
                        <a:buFont typeface="Arial"/>
                        <a:buNone/>
                      </a:pPr>
                      <a:r>
                        <a:rPr b="1" lang="en" sz="1100" u="none" cap="none" strike="noStrike">
                          <a:solidFill>
                            <a:schemeClr val="accent3"/>
                          </a:solidFill>
                        </a:rPr>
                        <a:t>Rightsize</a:t>
                      </a:r>
                    </a:p>
                  </a:txBody>
                  <a:tcPr marT="45725" marB="45725" marR="91450" marL="91450"/>
                </a:tc>
              </a:tr>
              <a:tr h="270950">
                <a:tc>
                  <a:txBody>
                    <a:bodyPr>
                      <a:noAutofit/>
                    </a:bodyPr>
                    <a:lstStyle/>
                    <a:p>
                      <a:pPr indent="0" lvl="0" marL="0" marR="0" rtl="0" algn="ctr">
                        <a:lnSpc>
                          <a:spcPct val="100000"/>
                        </a:lnSpc>
                        <a:spcBef>
                          <a:spcPts val="0"/>
                        </a:spcBef>
                        <a:spcAft>
                          <a:spcPts val="0"/>
                        </a:spcAft>
                        <a:buClr>
                          <a:schemeClr val="accent6"/>
                        </a:buClr>
                        <a:buSzPct val="25000"/>
                        <a:buFont typeface="Arial"/>
                        <a:buNone/>
                      </a:pPr>
                      <a:r>
                        <a:rPr b="1" lang="en" sz="1100" u="none" cap="none" strike="noStrike">
                          <a:solidFill>
                            <a:schemeClr val="accent6"/>
                          </a:solidFill>
                        </a:rPr>
                        <a:t>Forklift upgrade</a:t>
                      </a:r>
                    </a:p>
                  </a:txBody>
                  <a:tcPr marT="45725" marB="45725" marR="91450" marL="91450"/>
                </a:tc>
                <a:tc>
                  <a:txBody>
                    <a:bodyPr>
                      <a:noAutofit/>
                    </a:bodyPr>
                    <a:lstStyle/>
                    <a:p>
                      <a:pPr indent="0" lvl="0" marL="0" marR="0" rtl="0" algn="ctr">
                        <a:lnSpc>
                          <a:spcPct val="100000"/>
                        </a:lnSpc>
                        <a:spcBef>
                          <a:spcPts val="0"/>
                        </a:spcBef>
                        <a:spcAft>
                          <a:spcPts val="0"/>
                        </a:spcAft>
                        <a:buClr>
                          <a:schemeClr val="accent3"/>
                        </a:buClr>
                        <a:buSzPct val="25000"/>
                        <a:buFont typeface="Arial"/>
                        <a:buNone/>
                      </a:pPr>
                      <a:r>
                        <a:rPr b="1" lang="en" sz="1100" u="none" cap="none" strike="noStrike">
                          <a:solidFill>
                            <a:schemeClr val="accent3"/>
                          </a:solidFill>
                        </a:rPr>
                        <a:t>Piece-wise upgrade</a:t>
                      </a:r>
                    </a:p>
                  </a:txBody>
                  <a:tcPr marT="45725" marB="45725" marR="91450" marL="91450"/>
                </a:tc>
              </a:tr>
              <a:tr h="270950">
                <a:tc>
                  <a:txBody>
                    <a:bodyPr>
                      <a:noAutofit/>
                    </a:bodyPr>
                    <a:lstStyle/>
                    <a:p>
                      <a:pPr indent="0" lvl="0" marL="0" marR="0" rtl="0" algn="ctr">
                        <a:lnSpc>
                          <a:spcPct val="100000"/>
                        </a:lnSpc>
                        <a:spcBef>
                          <a:spcPts val="0"/>
                        </a:spcBef>
                        <a:spcAft>
                          <a:spcPts val="0"/>
                        </a:spcAft>
                        <a:buClr>
                          <a:schemeClr val="accent3"/>
                        </a:buClr>
                        <a:buSzPct val="25000"/>
                        <a:buFont typeface="Arial"/>
                        <a:buNone/>
                      </a:pPr>
                      <a:r>
                        <a:rPr b="1" lang="en" sz="1100" u="none" cap="none" strike="noStrike">
                          <a:solidFill>
                            <a:schemeClr val="accent3"/>
                          </a:solidFill>
                        </a:rPr>
                        <a:t>System integration</a:t>
                      </a:r>
                    </a:p>
                  </a:txBody>
                  <a:tcPr marT="45725" marB="45725" marR="91450" marL="91450"/>
                </a:tc>
                <a:tc>
                  <a:txBody>
                    <a:bodyPr>
                      <a:noAutofit/>
                    </a:bodyPr>
                    <a:lstStyle/>
                    <a:p>
                      <a:pPr indent="0" lvl="0" marL="0" marR="0" rtl="0" algn="ctr">
                        <a:lnSpc>
                          <a:spcPct val="100000"/>
                        </a:lnSpc>
                        <a:spcBef>
                          <a:spcPts val="0"/>
                        </a:spcBef>
                        <a:spcAft>
                          <a:spcPts val="0"/>
                        </a:spcAft>
                        <a:buClr>
                          <a:schemeClr val="accent2"/>
                        </a:buClr>
                        <a:buSzPct val="25000"/>
                        <a:buFont typeface="Arial"/>
                        <a:buNone/>
                      </a:pPr>
                      <a:r>
                        <a:rPr b="1" lang="en" sz="1100" u="none" cap="none" strike="noStrike">
                          <a:solidFill>
                            <a:schemeClr val="accent2"/>
                          </a:solidFill>
                        </a:rPr>
                        <a:t>Software-driven integration</a:t>
                      </a:r>
                    </a:p>
                  </a:txBody>
                  <a:tcPr marT="45725" marB="45725" marR="91450" marL="91450"/>
                </a:tc>
              </a:tr>
            </a:tbl>
          </a:graphicData>
        </a:graphic>
      </p:graphicFrame>
      <p:cxnSp>
        <p:nvCxnSpPr>
          <p:cNvPr id="793" name="Shape 793"/>
          <p:cNvCxnSpPr/>
          <p:nvPr/>
        </p:nvCxnSpPr>
        <p:spPr>
          <a:xfrm rot="10800000">
            <a:off x="4467741" y="2404899"/>
            <a:ext cx="668778"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97" name="Shape 797"/>
        <p:cNvGrpSpPr/>
        <p:nvPr/>
      </p:nvGrpSpPr>
      <p:grpSpPr>
        <a:xfrm>
          <a:off x="0" y="0"/>
          <a:ext cx="0" cy="0"/>
          <a:chOff x="0" y="0"/>
          <a:chExt cx="0" cy="0"/>
        </a:xfrm>
      </p:grpSpPr>
      <p:sp>
        <p:nvSpPr>
          <p:cNvPr id="798" name="Shape 798"/>
          <p:cNvSpPr txBox="1"/>
          <p:nvPr>
            <p:ph idx="4294967295" type="title"/>
          </p:nvPr>
        </p:nvSpPr>
        <p:spPr>
          <a:xfrm>
            <a:off x="10" y="8120"/>
            <a:ext cx="8882361" cy="857250"/>
          </a:xfrm>
          <a:prstGeom prst="rect">
            <a:avLst/>
          </a:prstGeom>
          <a:noFill/>
          <a:ln>
            <a:noFill/>
          </a:ln>
        </p:spPr>
        <p:txBody>
          <a:bodyPr anchorCtr="0" anchor="ctr" bIns="45700" lIns="91425" rIns="91425" tIns="45700">
            <a:noAutofit/>
          </a:bodyPr>
          <a:lstStyle/>
          <a:p>
            <a:pPr indent="0" lvl="0" marL="0" marR="0" rtl="0" algn="ctr">
              <a:spcBef>
                <a:spcPts val="0"/>
              </a:spcBef>
              <a:buClr>
                <a:schemeClr val="lt1"/>
              </a:buClr>
              <a:buSzPct val="25000"/>
              <a:buFont typeface="Calibri"/>
              <a:buNone/>
            </a:pPr>
            <a:r>
              <a:rPr i="0" lang="en" sz="2400" u="none" cap="none" strike="noStrike">
                <a:solidFill>
                  <a:schemeClr val="accent6"/>
                </a:solidFill>
              </a:rPr>
              <a:t>CORD: Central Office Re-architected as Datacenter</a:t>
            </a:r>
          </a:p>
        </p:txBody>
      </p:sp>
      <p:sp>
        <p:nvSpPr>
          <p:cNvPr id="799" name="Shape 799"/>
          <p:cNvSpPr/>
          <p:nvPr/>
        </p:nvSpPr>
        <p:spPr>
          <a:xfrm>
            <a:off x="4640326" y="1129137"/>
            <a:ext cx="1477452" cy="508179"/>
          </a:xfrm>
          <a:prstGeom prst="rect">
            <a:avLst/>
          </a:prstGeom>
          <a:solidFill>
            <a:srgbClr val="AD0004"/>
          </a:solidFill>
          <a:ln>
            <a:noFill/>
          </a:ln>
        </p:spPr>
        <p:txBody>
          <a:bodyPr anchorCtr="0" anchor="ctr" bIns="45675" lIns="91350" rIns="91350" tIns="45675">
            <a:noAutofit/>
          </a:bodyPr>
          <a:lstStyle/>
          <a:p>
            <a:pPr indent="0" lvl="0" marL="0" marR="0" rtl="0" algn="ctr">
              <a:lnSpc>
                <a:spcPct val="100000"/>
              </a:lnSpc>
              <a:spcBef>
                <a:spcPts val="0"/>
              </a:spcBef>
              <a:spcAft>
                <a:spcPts val="0"/>
              </a:spcAft>
              <a:buClr>
                <a:srgbClr val="FFFFFF"/>
              </a:buClr>
              <a:buSzPct val="25000"/>
              <a:buFont typeface="Calibri"/>
              <a:buNone/>
            </a:pPr>
            <a:r>
              <a:rPr b="0" i="0" lang="en" sz="1200" u="none" cap="none" strike="noStrike">
                <a:solidFill>
                  <a:srgbClr val="FFFFFF"/>
                </a:solidFill>
                <a:latin typeface="Calibri"/>
                <a:ea typeface="Calibri"/>
                <a:cs typeface="Calibri"/>
                <a:sym typeface="Calibri"/>
              </a:rPr>
              <a:t>SDN Control Plane - ONOS</a:t>
            </a:r>
          </a:p>
        </p:txBody>
      </p:sp>
      <p:pic>
        <p:nvPicPr>
          <p:cNvPr descr="68_big.jpg" id="800" name="Shape 800"/>
          <p:cNvPicPr preferRelativeResize="0"/>
          <p:nvPr/>
        </p:nvPicPr>
        <p:blipFill rotWithShape="1">
          <a:blip r:embed="rId3">
            <a:alphaModFix/>
          </a:blip>
          <a:srcRect b="0" l="0" r="0" t="0"/>
          <a:stretch/>
        </p:blipFill>
        <p:spPr>
          <a:xfrm>
            <a:off x="724787" y="1070742"/>
            <a:ext cx="1371891" cy="891425"/>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descr="TelecomCenter.jpg" id="801" name="Shape 801"/>
          <p:cNvPicPr preferRelativeResize="0"/>
          <p:nvPr/>
        </p:nvPicPr>
        <p:blipFill rotWithShape="1">
          <a:blip r:embed="rId4">
            <a:alphaModFix/>
          </a:blip>
          <a:srcRect b="0" l="0" r="0" t="0"/>
          <a:stretch/>
        </p:blipFill>
        <p:spPr>
          <a:xfrm>
            <a:off x="724793" y="2316975"/>
            <a:ext cx="1390059" cy="922152"/>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descr="ComputerWiresImage.jpg" id="802" name="Shape 802"/>
          <p:cNvPicPr preferRelativeResize="0"/>
          <p:nvPr/>
        </p:nvPicPr>
        <p:blipFill rotWithShape="1">
          <a:blip r:embed="rId5">
            <a:alphaModFix/>
          </a:blip>
          <a:srcRect b="0" l="0" r="0" t="0"/>
          <a:stretch/>
        </p:blipFill>
        <p:spPr>
          <a:xfrm>
            <a:off x="724787" y="3572969"/>
            <a:ext cx="1371891" cy="829605"/>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
        <p:nvSpPr>
          <p:cNvPr id="803" name="Shape 803"/>
          <p:cNvSpPr/>
          <p:nvPr/>
        </p:nvSpPr>
        <p:spPr>
          <a:xfrm>
            <a:off x="6328125" y="1129084"/>
            <a:ext cx="1395148" cy="508179"/>
          </a:xfrm>
          <a:prstGeom prst="rect">
            <a:avLst/>
          </a:prstGeom>
          <a:solidFill>
            <a:srgbClr val="376092"/>
          </a:solidFill>
          <a:ln>
            <a:noFill/>
          </a:ln>
        </p:spPr>
        <p:txBody>
          <a:bodyPr anchorCtr="0" anchor="ctr" bIns="45675" lIns="91350" rIns="91350" tIns="45675">
            <a:noAutofit/>
          </a:bodyPr>
          <a:lstStyle/>
          <a:p>
            <a:pPr indent="0" lvl="0" marL="0" marR="0" rtl="0" algn="ctr">
              <a:lnSpc>
                <a:spcPct val="100000"/>
              </a:lnSpc>
              <a:spcBef>
                <a:spcPts val="0"/>
              </a:spcBef>
              <a:spcAft>
                <a:spcPts val="0"/>
              </a:spcAft>
              <a:buClr>
                <a:srgbClr val="FFFFFF"/>
              </a:buClr>
              <a:buSzPct val="25000"/>
              <a:buFont typeface="Calibri"/>
              <a:buNone/>
            </a:pPr>
            <a:r>
              <a:rPr b="0" i="0" lang="en" sz="1200" u="none" cap="none" strike="noStrike">
                <a:solidFill>
                  <a:srgbClr val="FFFFFF"/>
                </a:solidFill>
                <a:latin typeface="Calibri"/>
                <a:ea typeface="Calibri"/>
                <a:cs typeface="Calibri"/>
                <a:sym typeface="Calibri"/>
              </a:rPr>
              <a:t>NFV Orchestration w/XOS</a:t>
            </a:r>
          </a:p>
        </p:txBody>
      </p:sp>
      <p:sp>
        <p:nvSpPr>
          <p:cNvPr id="804" name="Shape 804"/>
          <p:cNvSpPr txBox="1"/>
          <p:nvPr/>
        </p:nvSpPr>
        <p:spPr>
          <a:xfrm>
            <a:off x="543260" y="1993768"/>
            <a:ext cx="1739224" cy="246207"/>
          </a:xfrm>
          <a:prstGeom prst="rect">
            <a:avLst/>
          </a:prstGeom>
          <a:solidFill>
            <a:srgbClr val="666666"/>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FFFF"/>
              </a:buClr>
              <a:buSzPct val="25000"/>
              <a:buFont typeface="Calibri"/>
              <a:buNone/>
            </a:pPr>
            <a:r>
              <a:rPr b="1" i="0" lang="en" sz="1000" u="none" cap="none" strike="noStrike">
                <a:solidFill>
                  <a:srgbClr val="FFFFFF"/>
                </a:solidFill>
                <a:latin typeface="Calibri"/>
                <a:ea typeface="Calibri"/>
                <a:cs typeface="Calibri"/>
                <a:sym typeface="Calibri"/>
              </a:rPr>
              <a:t>Large number of COs</a:t>
            </a:r>
          </a:p>
        </p:txBody>
      </p:sp>
      <p:sp>
        <p:nvSpPr>
          <p:cNvPr id="805" name="Shape 805"/>
          <p:cNvSpPr txBox="1"/>
          <p:nvPr/>
        </p:nvSpPr>
        <p:spPr>
          <a:xfrm>
            <a:off x="492268" y="3277569"/>
            <a:ext cx="1790193" cy="246207"/>
          </a:xfrm>
          <a:prstGeom prst="rect">
            <a:avLst/>
          </a:prstGeom>
          <a:solidFill>
            <a:srgbClr val="666666"/>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FFFF"/>
              </a:buClr>
              <a:buSzPct val="25000"/>
              <a:buFont typeface="Calibri"/>
              <a:buNone/>
            </a:pPr>
            <a:r>
              <a:rPr b="1" i="0" lang="en" sz="1000" u="none" cap="none" strike="noStrike">
                <a:solidFill>
                  <a:srgbClr val="FFFFFF"/>
                </a:solidFill>
                <a:latin typeface="Calibri"/>
                <a:ea typeface="Calibri"/>
                <a:cs typeface="Calibri"/>
                <a:sym typeface="Calibri"/>
              </a:rPr>
              <a:t>Evolved over 40-50 years</a:t>
            </a:r>
          </a:p>
        </p:txBody>
      </p:sp>
      <p:sp>
        <p:nvSpPr>
          <p:cNvPr id="806" name="Shape 806"/>
          <p:cNvSpPr txBox="1"/>
          <p:nvPr/>
        </p:nvSpPr>
        <p:spPr>
          <a:xfrm>
            <a:off x="492266" y="4429469"/>
            <a:ext cx="1790193" cy="400095"/>
          </a:xfrm>
          <a:prstGeom prst="rect">
            <a:avLst/>
          </a:prstGeom>
          <a:solidFill>
            <a:srgbClr val="666666"/>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FFFF"/>
              </a:buClr>
              <a:buSzPct val="25000"/>
              <a:buFont typeface="Calibri"/>
              <a:buNone/>
            </a:pPr>
            <a:r>
              <a:rPr b="1" i="0" lang="en" sz="1000" u="none" cap="none" strike="noStrike">
                <a:solidFill>
                  <a:srgbClr val="FFFFFF"/>
                </a:solidFill>
                <a:latin typeface="Calibri"/>
                <a:ea typeface="Calibri"/>
                <a:cs typeface="Calibri"/>
                <a:sym typeface="Calibri"/>
              </a:rPr>
              <a:t>300+ Types of equipment</a:t>
            </a:r>
            <a:br>
              <a:rPr b="1" i="0" lang="en" sz="1000" u="none" cap="none" strike="noStrike">
                <a:solidFill>
                  <a:srgbClr val="FFFFFF"/>
                </a:solidFill>
                <a:latin typeface="Calibri"/>
                <a:ea typeface="Calibri"/>
                <a:cs typeface="Calibri"/>
                <a:sym typeface="Calibri"/>
              </a:rPr>
            </a:br>
            <a:r>
              <a:rPr b="1" i="0" lang="en" sz="1000" u="none" cap="none" strike="noStrike">
                <a:solidFill>
                  <a:srgbClr val="FFFFFF"/>
                </a:solidFill>
                <a:latin typeface="Calibri"/>
                <a:ea typeface="Calibri"/>
                <a:cs typeface="Calibri"/>
                <a:sym typeface="Calibri"/>
              </a:rPr>
              <a:t>Huge source of CAPEX/OPEX</a:t>
            </a:r>
          </a:p>
        </p:txBody>
      </p:sp>
      <p:grpSp>
        <p:nvGrpSpPr>
          <p:cNvPr id="807" name="Shape 807"/>
          <p:cNvGrpSpPr/>
          <p:nvPr/>
        </p:nvGrpSpPr>
        <p:grpSpPr>
          <a:xfrm>
            <a:off x="3667758" y="1820234"/>
            <a:ext cx="4985503" cy="1460905"/>
            <a:chOff x="3777307" y="1820222"/>
            <a:chExt cx="4985503" cy="1460905"/>
          </a:xfrm>
        </p:grpSpPr>
        <p:sp>
          <p:nvSpPr>
            <p:cNvPr id="808" name="Shape 808"/>
            <p:cNvSpPr/>
            <p:nvPr/>
          </p:nvSpPr>
          <p:spPr>
            <a:xfrm>
              <a:off x="4039028" y="2988947"/>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sp>
          <p:nvSpPr>
            <p:cNvPr id="809" name="Shape 809"/>
            <p:cNvSpPr/>
            <p:nvPr/>
          </p:nvSpPr>
          <p:spPr>
            <a:xfrm>
              <a:off x="4755571" y="2983732"/>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sp>
          <p:nvSpPr>
            <p:cNvPr id="810" name="Shape 810"/>
            <p:cNvSpPr/>
            <p:nvPr/>
          </p:nvSpPr>
          <p:spPr>
            <a:xfrm>
              <a:off x="5522435" y="2983732"/>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sp>
          <p:nvSpPr>
            <p:cNvPr id="811" name="Shape 811"/>
            <p:cNvSpPr/>
            <p:nvPr/>
          </p:nvSpPr>
          <p:spPr>
            <a:xfrm>
              <a:off x="7199345" y="2778760"/>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sp>
          <p:nvSpPr>
            <p:cNvPr id="812" name="Shape 812"/>
            <p:cNvSpPr/>
            <p:nvPr/>
          </p:nvSpPr>
          <p:spPr>
            <a:xfrm>
              <a:off x="7199346" y="2997150"/>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sp>
          <p:nvSpPr>
            <p:cNvPr id="813" name="Shape 813"/>
            <p:cNvSpPr/>
            <p:nvPr/>
          </p:nvSpPr>
          <p:spPr>
            <a:xfrm>
              <a:off x="7964053" y="2997150"/>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sp>
          <p:nvSpPr>
            <p:cNvPr id="814" name="Shape 814"/>
            <p:cNvSpPr/>
            <p:nvPr/>
          </p:nvSpPr>
          <p:spPr>
            <a:xfrm>
              <a:off x="4708180" y="1900728"/>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sp>
          <p:nvSpPr>
            <p:cNvPr id="815" name="Shape 815"/>
            <p:cNvSpPr/>
            <p:nvPr/>
          </p:nvSpPr>
          <p:spPr>
            <a:xfrm>
              <a:off x="5676137" y="1900728"/>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sp>
          <p:nvSpPr>
            <p:cNvPr id="816" name="Shape 816"/>
            <p:cNvSpPr/>
            <p:nvPr/>
          </p:nvSpPr>
          <p:spPr>
            <a:xfrm>
              <a:off x="6532528" y="1897750"/>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sp>
          <p:nvSpPr>
            <p:cNvPr id="817" name="Shape 817"/>
            <p:cNvSpPr/>
            <p:nvPr/>
          </p:nvSpPr>
          <p:spPr>
            <a:xfrm>
              <a:off x="7461667" y="1900728"/>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cxnSp>
          <p:nvCxnSpPr>
            <p:cNvPr id="818" name="Shape 818"/>
            <p:cNvCxnSpPr>
              <a:stCxn id="819" idx="0"/>
              <a:endCxn id="814" idx="2"/>
            </p:cNvCxnSpPr>
            <p:nvPr/>
          </p:nvCxnSpPr>
          <p:spPr>
            <a:xfrm flipH="1" rot="10800000">
              <a:off x="4348739" y="2087157"/>
              <a:ext cx="669300" cy="683400"/>
            </a:xfrm>
            <a:prstGeom prst="straightConnector1">
              <a:avLst/>
            </a:prstGeom>
            <a:noFill/>
            <a:ln cap="flat" cmpd="sng" w="25400">
              <a:solidFill>
                <a:srgbClr val="FFFFFF"/>
              </a:solidFill>
              <a:prstDash val="solid"/>
              <a:round/>
              <a:headEnd len="med" w="med" type="none"/>
              <a:tailEnd len="med" w="med" type="none"/>
            </a:ln>
          </p:spPr>
        </p:cxnSp>
        <p:cxnSp>
          <p:nvCxnSpPr>
            <p:cNvPr id="820" name="Shape 820"/>
            <p:cNvCxnSpPr>
              <a:stCxn id="808" idx="0"/>
              <a:endCxn id="814" idx="2"/>
            </p:cNvCxnSpPr>
            <p:nvPr/>
          </p:nvCxnSpPr>
          <p:spPr>
            <a:xfrm flipH="1" rot="10800000">
              <a:off x="4348741" y="2087147"/>
              <a:ext cx="669300" cy="901800"/>
            </a:xfrm>
            <a:prstGeom prst="straightConnector1">
              <a:avLst/>
            </a:prstGeom>
            <a:noFill/>
            <a:ln cap="flat" cmpd="sng" w="25400">
              <a:solidFill>
                <a:srgbClr val="FFFFFF"/>
              </a:solidFill>
              <a:prstDash val="solid"/>
              <a:round/>
              <a:headEnd len="med" w="med" type="none"/>
              <a:tailEnd len="med" w="med" type="none"/>
            </a:ln>
          </p:spPr>
        </p:cxnSp>
        <p:cxnSp>
          <p:nvCxnSpPr>
            <p:cNvPr id="821" name="Shape 821"/>
            <p:cNvCxnSpPr>
              <a:stCxn id="822" idx="0"/>
              <a:endCxn id="814" idx="2"/>
            </p:cNvCxnSpPr>
            <p:nvPr/>
          </p:nvCxnSpPr>
          <p:spPr>
            <a:xfrm rot="10800000">
              <a:off x="5017884" y="2087041"/>
              <a:ext cx="47400" cy="678300"/>
            </a:xfrm>
            <a:prstGeom prst="straightConnector1">
              <a:avLst/>
            </a:prstGeom>
            <a:noFill/>
            <a:ln cap="flat" cmpd="sng" w="25400">
              <a:solidFill>
                <a:srgbClr val="4F81BD"/>
              </a:solidFill>
              <a:prstDash val="solid"/>
              <a:round/>
              <a:headEnd len="med" w="med" type="none"/>
              <a:tailEnd len="med" w="med" type="none"/>
            </a:ln>
          </p:spPr>
        </p:cxnSp>
        <p:cxnSp>
          <p:nvCxnSpPr>
            <p:cNvPr id="823" name="Shape 823"/>
            <p:cNvCxnSpPr>
              <a:stCxn id="809" idx="0"/>
              <a:endCxn id="814" idx="2"/>
            </p:cNvCxnSpPr>
            <p:nvPr/>
          </p:nvCxnSpPr>
          <p:spPr>
            <a:xfrm rot="10800000">
              <a:off x="5017884" y="2087032"/>
              <a:ext cx="47400" cy="896700"/>
            </a:xfrm>
            <a:prstGeom prst="straightConnector1">
              <a:avLst/>
            </a:prstGeom>
            <a:noFill/>
            <a:ln cap="flat" cmpd="sng" w="25400">
              <a:solidFill>
                <a:srgbClr val="FFFFFF"/>
              </a:solidFill>
              <a:prstDash val="solid"/>
              <a:round/>
              <a:headEnd len="med" w="med" type="none"/>
              <a:tailEnd len="med" w="med" type="none"/>
            </a:ln>
          </p:spPr>
        </p:cxnSp>
        <p:cxnSp>
          <p:nvCxnSpPr>
            <p:cNvPr id="824" name="Shape 824"/>
            <p:cNvCxnSpPr>
              <a:stCxn id="825" idx="0"/>
              <a:endCxn id="814" idx="2"/>
            </p:cNvCxnSpPr>
            <p:nvPr/>
          </p:nvCxnSpPr>
          <p:spPr>
            <a:xfrm rot="10800000">
              <a:off x="5017948" y="2087041"/>
              <a:ext cx="814200" cy="678300"/>
            </a:xfrm>
            <a:prstGeom prst="straightConnector1">
              <a:avLst/>
            </a:prstGeom>
            <a:noFill/>
            <a:ln cap="flat" cmpd="sng" w="25400">
              <a:solidFill>
                <a:srgbClr val="FFFFFF"/>
              </a:solidFill>
              <a:prstDash val="solid"/>
              <a:round/>
              <a:headEnd len="med" w="med" type="none"/>
              <a:tailEnd len="med" w="med" type="none"/>
            </a:ln>
          </p:spPr>
        </p:cxnSp>
        <p:cxnSp>
          <p:nvCxnSpPr>
            <p:cNvPr id="826" name="Shape 826"/>
            <p:cNvCxnSpPr>
              <a:stCxn id="810" idx="0"/>
              <a:endCxn id="814" idx="2"/>
            </p:cNvCxnSpPr>
            <p:nvPr/>
          </p:nvCxnSpPr>
          <p:spPr>
            <a:xfrm rot="10800000">
              <a:off x="5017948" y="2087032"/>
              <a:ext cx="814200" cy="896700"/>
            </a:xfrm>
            <a:prstGeom prst="straightConnector1">
              <a:avLst/>
            </a:prstGeom>
            <a:noFill/>
            <a:ln cap="flat" cmpd="sng" w="25400">
              <a:solidFill>
                <a:srgbClr val="FFFFFF"/>
              </a:solidFill>
              <a:prstDash val="solid"/>
              <a:round/>
              <a:headEnd len="med" w="med" type="none"/>
              <a:tailEnd len="med" w="med" type="none"/>
            </a:ln>
          </p:spPr>
        </p:cxnSp>
        <p:cxnSp>
          <p:nvCxnSpPr>
            <p:cNvPr id="827" name="Shape 827"/>
            <p:cNvCxnSpPr>
              <a:endCxn id="814" idx="2"/>
            </p:cNvCxnSpPr>
            <p:nvPr/>
          </p:nvCxnSpPr>
          <p:spPr>
            <a:xfrm rot="10800000">
              <a:off x="5017893" y="2087067"/>
              <a:ext cx="1713900" cy="684900"/>
            </a:xfrm>
            <a:prstGeom prst="straightConnector1">
              <a:avLst/>
            </a:prstGeom>
            <a:noFill/>
            <a:ln cap="flat" cmpd="sng" w="25400">
              <a:solidFill>
                <a:srgbClr val="FFFFFF"/>
              </a:solidFill>
              <a:prstDash val="solid"/>
              <a:round/>
              <a:headEnd len="med" w="med" type="none"/>
              <a:tailEnd len="med" w="med" type="none"/>
            </a:ln>
          </p:spPr>
        </p:cxnSp>
        <p:cxnSp>
          <p:nvCxnSpPr>
            <p:cNvPr id="828" name="Shape 828"/>
            <p:cNvCxnSpPr>
              <a:stCxn id="811" idx="0"/>
              <a:endCxn id="814" idx="2"/>
            </p:cNvCxnSpPr>
            <p:nvPr/>
          </p:nvCxnSpPr>
          <p:spPr>
            <a:xfrm rot="10800000">
              <a:off x="5017858" y="2086960"/>
              <a:ext cx="2491200" cy="691800"/>
            </a:xfrm>
            <a:prstGeom prst="straightConnector1">
              <a:avLst/>
            </a:prstGeom>
            <a:noFill/>
            <a:ln cap="flat" cmpd="sng" w="25400">
              <a:solidFill>
                <a:srgbClr val="FFFFFF"/>
              </a:solidFill>
              <a:prstDash val="solid"/>
              <a:round/>
              <a:headEnd len="med" w="med" type="none"/>
              <a:tailEnd len="med" w="med" type="none"/>
            </a:ln>
          </p:spPr>
        </p:cxnSp>
        <p:cxnSp>
          <p:nvCxnSpPr>
            <p:cNvPr id="829" name="Shape 829"/>
            <p:cNvCxnSpPr>
              <a:stCxn id="830" idx="0"/>
              <a:endCxn id="814" idx="2"/>
            </p:cNvCxnSpPr>
            <p:nvPr/>
          </p:nvCxnSpPr>
          <p:spPr>
            <a:xfrm rot="10800000">
              <a:off x="5017866" y="2086960"/>
              <a:ext cx="3255900" cy="691800"/>
            </a:xfrm>
            <a:prstGeom prst="straightConnector1">
              <a:avLst/>
            </a:prstGeom>
            <a:noFill/>
            <a:ln cap="flat" cmpd="sng" w="25400">
              <a:solidFill>
                <a:srgbClr val="FFFFFF"/>
              </a:solidFill>
              <a:prstDash val="solid"/>
              <a:round/>
              <a:headEnd len="med" w="med" type="none"/>
              <a:tailEnd len="med" w="med" type="none"/>
            </a:ln>
          </p:spPr>
        </p:cxnSp>
        <p:sp>
          <p:nvSpPr>
            <p:cNvPr id="819" name="Shape 819"/>
            <p:cNvSpPr/>
            <p:nvPr/>
          </p:nvSpPr>
          <p:spPr>
            <a:xfrm>
              <a:off x="4039026" y="2770557"/>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sp>
          <p:nvSpPr>
            <p:cNvPr id="822" name="Shape 822"/>
            <p:cNvSpPr/>
            <p:nvPr/>
          </p:nvSpPr>
          <p:spPr>
            <a:xfrm>
              <a:off x="4755571" y="2765341"/>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sp>
          <p:nvSpPr>
            <p:cNvPr id="825" name="Shape 825"/>
            <p:cNvSpPr/>
            <p:nvPr/>
          </p:nvSpPr>
          <p:spPr>
            <a:xfrm>
              <a:off x="5522435" y="2765341"/>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cxnSp>
          <p:nvCxnSpPr>
            <p:cNvPr id="831" name="Shape 831"/>
            <p:cNvCxnSpPr>
              <a:stCxn id="819" idx="0"/>
              <a:endCxn id="815" idx="2"/>
            </p:cNvCxnSpPr>
            <p:nvPr/>
          </p:nvCxnSpPr>
          <p:spPr>
            <a:xfrm flipH="1" rot="10800000">
              <a:off x="4348739" y="2087157"/>
              <a:ext cx="1637100" cy="683400"/>
            </a:xfrm>
            <a:prstGeom prst="straightConnector1">
              <a:avLst/>
            </a:prstGeom>
            <a:noFill/>
            <a:ln cap="flat" cmpd="sng" w="25400">
              <a:solidFill>
                <a:srgbClr val="FFFFFF"/>
              </a:solidFill>
              <a:prstDash val="solid"/>
              <a:round/>
              <a:headEnd len="med" w="med" type="none"/>
              <a:tailEnd len="med" w="med" type="none"/>
            </a:ln>
          </p:spPr>
        </p:cxnSp>
        <p:cxnSp>
          <p:nvCxnSpPr>
            <p:cNvPr id="832" name="Shape 832"/>
            <p:cNvCxnSpPr>
              <a:stCxn id="830" idx="2"/>
              <a:endCxn id="815" idx="2"/>
            </p:cNvCxnSpPr>
            <p:nvPr/>
          </p:nvCxnSpPr>
          <p:spPr>
            <a:xfrm rot="10800000">
              <a:off x="5985966" y="2086999"/>
              <a:ext cx="2287800" cy="878100"/>
            </a:xfrm>
            <a:prstGeom prst="straightConnector1">
              <a:avLst/>
            </a:prstGeom>
            <a:noFill/>
            <a:ln cap="flat" cmpd="sng" w="25400">
              <a:solidFill>
                <a:srgbClr val="FFFFFF"/>
              </a:solidFill>
              <a:prstDash val="solid"/>
              <a:round/>
              <a:headEnd len="med" w="med" type="none"/>
              <a:tailEnd len="med" w="med" type="none"/>
            </a:ln>
          </p:spPr>
        </p:cxnSp>
        <p:cxnSp>
          <p:nvCxnSpPr>
            <p:cNvPr id="833" name="Shape 833"/>
            <p:cNvCxnSpPr>
              <a:stCxn id="822" idx="0"/>
              <a:endCxn id="815" idx="2"/>
            </p:cNvCxnSpPr>
            <p:nvPr/>
          </p:nvCxnSpPr>
          <p:spPr>
            <a:xfrm flipH="1" rot="10800000">
              <a:off x="5065284" y="2087041"/>
              <a:ext cx="920700" cy="678300"/>
            </a:xfrm>
            <a:prstGeom prst="straightConnector1">
              <a:avLst/>
            </a:prstGeom>
            <a:noFill/>
            <a:ln cap="flat" cmpd="sng" w="25400">
              <a:solidFill>
                <a:srgbClr val="FFFFFF"/>
              </a:solidFill>
              <a:prstDash val="solid"/>
              <a:round/>
              <a:headEnd len="med" w="med" type="none"/>
              <a:tailEnd len="med" w="med" type="none"/>
            </a:ln>
          </p:spPr>
        </p:cxnSp>
        <p:cxnSp>
          <p:nvCxnSpPr>
            <p:cNvPr id="834" name="Shape 834"/>
            <p:cNvCxnSpPr>
              <a:stCxn id="825" idx="0"/>
              <a:endCxn id="815" idx="2"/>
            </p:cNvCxnSpPr>
            <p:nvPr/>
          </p:nvCxnSpPr>
          <p:spPr>
            <a:xfrm flipH="1" rot="10800000">
              <a:off x="5832148" y="2087041"/>
              <a:ext cx="153600" cy="678300"/>
            </a:xfrm>
            <a:prstGeom prst="straightConnector1">
              <a:avLst/>
            </a:prstGeom>
            <a:noFill/>
            <a:ln cap="flat" cmpd="sng" w="25400">
              <a:solidFill>
                <a:srgbClr val="FFFFFF"/>
              </a:solidFill>
              <a:prstDash val="solid"/>
              <a:round/>
              <a:headEnd len="med" w="med" type="none"/>
              <a:tailEnd len="med" w="med" type="none"/>
            </a:ln>
          </p:spPr>
        </p:cxnSp>
        <p:cxnSp>
          <p:nvCxnSpPr>
            <p:cNvPr id="835" name="Shape 835"/>
            <p:cNvCxnSpPr>
              <a:endCxn id="815" idx="2"/>
            </p:cNvCxnSpPr>
            <p:nvPr/>
          </p:nvCxnSpPr>
          <p:spPr>
            <a:xfrm rot="10800000">
              <a:off x="5985850" y="2087067"/>
              <a:ext cx="745800" cy="684900"/>
            </a:xfrm>
            <a:prstGeom prst="straightConnector1">
              <a:avLst/>
            </a:prstGeom>
            <a:noFill/>
            <a:ln cap="flat" cmpd="sng" w="25400">
              <a:solidFill>
                <a:srgbClr val="FFFFFF"/>
              </a:solidFill>
              <a:prstDash val="solid"/>
              <a:round/>
              <a:headEnd len="med" w="med" type="none"/>
              <a:tailEnd len="med" w="med" type="none"/>
            </a:ln>
          </p:spPr>
        </p:cxnSp>
        <p:cxnSp>
          <p:nvCxnSpPr>
            <p:cNvPr id="836" name="Shape 836"/>
            <p:cNvCxnSpPr>
              <a:stCxn id="811" idx="0"/>
              <a:endCxn id="815" idx="2"/>
            </p:cNvCxnSpPr>
            <p:nvPr/>
          </p:nvCxnSpPr>
          <p:spPr>
            <a:xfrm rot="10800000">
              <a:off x="5985958" y="2086960"/>
              <a:ext cx="1523100" cy="691800"/>
            </a:xfrm>
            <a:prstGeom prst="straightConnector1">
              <a:avLst/>
            </a:prstGeom>
            <a:noFill/>
            <a:ln cap="flat" cmpd="sng" w="25400">
              <a:solidFill>
                <a:srgbClr val="FFFFFF"/>
              </a:solidFill>
              <a:prstDash val="solid"/>
              <a:round/>
              <a:headEnd len="med" w="med" type="none"/>
              <a:tailEnd len="med" w="med" type="none"/>
            </a:ln>
          </p:spPr>
        </p:cxnSp>
        <p:cxnSp>
          <p:nvCxnSpPr>
            <p:cNvPr id="837" name="Shape 837"/>
            <p:cNvCxnSpPr>
              <a:stCxn id="830" idx="0"/>
              <a:endCxn id="815" idx="2"/>
            </p:cNvCxnSpPr>
            <p:nvPr/>
          </p:nvCxnSpPr>
          <p:spPr>
            <a:xfrm rot="10800000">
              <a:off x="5985966" y="2086960"/>
              <a:ext cx="2287800" cy="691800"/>
            </a:xfrm>
            <a:prstGeom prst="straightConnector1">
              <a:avLst/>
            </a:prstGeom>
            <a:noFill/>
            <a:ln cap="flat" cmpd="sng" w="25400">
              <a:solidFill>
                <a:srgbClr val="FFFFFF"/>
              </a:solidFill>
              <a:prstDash val="solid"/>
              <a:round/>
              <a:headEnd len="med" w="med" type="none"/>
              <a:tailEnd len="med" w="med" type="none"/>
            </a:ln>
          </p:spPr>
        </p:cxnSp>
        <p:sp>
          <p:nvSpPr>
            <p:cNvPr id="830" name="Shape 830"/>
            <p:cNvSpPr/>
            <p:nvPr/>
          </p:nvSpPr>
          <p:spPr>
            <a:xfrm>
              <a:off x="7964053" y="2778760"/>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cxnSp>
          <p:nvCxnSpPr>
            <p:cNvPr id="838" name="Shape 838"/>
            <p:cNvCxnSpPr>
              <a:stCxn id="819" idx="0"/>
              <a:endCxn id="816" idx="2"/>
            </p:cNvCxnSpPr>
            <p:nvPr/>
          </p:nvCxnSpPr>
          <p:spPr>
            <a:xfrm flipH="1" rot="10800000">
              <a:off x="4348739" y="2084157"/>
              <a:ext cx="2493600" cy="686400"/>
            </a:xfrm>
            <a:prstGeom prst="straightConnector1">
              <a:avLst/>
            </a:prstGeom>
            <a:noFill/>
            <a:ln cap="flat" cmpd="sng" w="25400">
              <a:solidFill>
                <a:srgbClr val="FFFFFF"/>
              </a:solidFill>
              <a:prstDash val="solid"/>
              <a:round/>
              <a:headEnd len="med" w="med" type="none"/>
              <a:tailEnd len="med" w="med" type="none"/>
            </a:ln>
          </p:spPr>
        </p:cxnSp>
        <p:cxnSp>
          <p:nvCxnSpPr>
            <p:cNvPr id="839" name="Shape 839"/>
            <p:cNvCxnSpPr>
              <a:stCxn id="819" idx="0"/>
              <a:endCxn id="817" idx="2"/>
            </p:cNvCxnSpPr>
            <p:nvPr/>
          </p:nvCxnSpPr>
          <p:spPr>
            <a:xfrm flipH="1" rot="10800000">
              <a:off x="4348739" y="2087157"/>
              <a:ext cx="3422700" cy="683400"/>
            </a:xfrm>
            <a:prstGeom prst="straightConnector1">
              <a:avLst/>
            </a:prstGeom>
            <a:noFill/>
            <a:ln cap="flat" cmpd="sng" w="25400">
              <a:solidFill>
                <a:srgbClr val="FFFFFF"/>
              </a:solidFill>
              <a:prstDash val="solid"/>
              <a:round/>
              <a:headEnd len="med" w="med" type="none"/>
              <a:tailEnd len="med" w="med" type="none"/>
            </a:ln>
          </p:spPr>
        </p:cxnSp>
        <p:cxnSp>
          <p:nvCxnSpPr>
            <p:cNvPr id="840" name="Shape 840"/>
            <p:cNvCxnSpPr>
              <a:stCxn id="822" idx="0"/>
              <a:endCxn id="816" idx="2"/>
            </p:cNvCxnSpPr>
            <p:nvPr/>
          </p:nvCxnSpPr>
          <p:spPr>
            <a:xfrm flipH="1" rot="10800000">
              <a:off x="5065284" y="2084041"/>
              <a:ext cx="1776900" cy="681300"/>
            </a:xfrm>
            <a:prstGeom prst="straightConnector1">
              <a:avLst/>
            </a:prstGeom>
            <a:noFill/>
            <a:ln cap="flat" cmpd="sng" w="25400">
              <a:solidFill>
                <a:srgbClr val="FFFFFF"/>
              </a:solidFill>
              <a:prstDash val="solid"/>
              <a:round/>
              <a:headEnd len="med" w="med" type="none"/>
              <a:tailEnd len="med" w="med" type="none"/>
            </a:ln>
          </p:spPr>
        </p:cxnSp>
        <p:cxnSp>
          <p:nvCxnSpPr>
            <p:cNvPr id="841" name="Shape 841"/>
            <p:cNvCxnSpPr>
              <a:stCxn id="822" idx="0"/>
              <a:endCxn id="817" idx="2"/>
            </p:cNvCxnSpPr>
            <p:nvPr/>
          </p:nvCxnSpPr>
          <p:spPr>
            <a:xfrm flipH="1" rot="10800000">
              <a:off x="5065284" y="2087041"/>
              <a:ext cx="2706000" cy="678300"/>
            </a:xfrm>
            <a:prstGeom prst="straightConnector1">
              <a:avLst/>
            </a:prstGeom>
            <a:noFill/>
            <a:ln cap="flat" cmpd="sng" w="25400">
              <a:solidFill>
                <a:srgbClr val="FFFFFF"/>
              </a:solidFill>
              <a:prstDash val="solid"/>
              <a:round/>
              <a:headEnd len="med" w="med" type="none"/>
              <a:tailEnd len="med" w="med" type="none"/>
            </a:ln>
          </p:spPr>
        </p:cxnSp>
        <p:cxnSp>
          <p:nvCxnSpPr>
            <p:cNvPr id="842" name="Shape 842"/>
            <p:cNvCxnSpPr>
              <a:stCxn id="825" idx="0"/>
              <a:endCxn id="816" idx="2"/>
            </p:cNvCxnSpPr>
            <p:nvPr/>
          </p:nvCxnSpPr>
          <p:spPr>
            <a:xfrm flipH="1" rot="10800000">
              <a:off x="5832148" y="2084041"/>
              <a:ext cx="1010100" cy="681300"/>
            </a:xfrm>
            <a:prstGeom prst="straightConnector1">
              <a:avLst/>
            </a:prstGeom>
            <a:noFill/>
            <a:ln cap="flat" cmpd="sng" w="25400">
              <a:solidFill>
                <a:srgbClr val="FFFFFF"/>
              </a:solidFill>
              <a:prstDash val="solid"/>
              <a:round/>
              <a:headEnd len="med" w="med" type="none"/>
              <a:tailEnd len="med" w="med" type="none"/>
            </a:ln>
          </p:spPr>
        </p:cxnSp>
        <p:cxnSp>
          <p:nvCxnSpPr>
            <p:cNvPr id="843" name="Shape 843"/>
            <p:cNvCxnSpPr>
              <a:stCxn id="825" idx="0"/>
              <a:endCxn id="817" idx="2"/>
            </p:cNvCxnSpPr>
            <p:nvPr/>
          </p:nvCxnSpPr>
          <p:spPr>
            <a:xfrm flipH="1" rot="10800000">
              <a:off x="5832148" y="2087041"/>
              <a:ext cx="1939200" cy="678300"/>
            </a:xfrm>
            <a:prstGeom prst="straightConnector1">
              <a:avLst/>
            </a:prstGeom>
            <a:noFill/>
            <a:ln cap="flat" cmpd="sng" w="25400">
              <a:solidFill>
                <a:srgbClr val="FFFFFF"/>
              </a:solidFill>
              <a:prstDash val="solid"/>
              <a:round/>
              <a:headEnd len="med" w="med" type="none"/>
              <a:tailEnd len="med" w="med" type="none"/>
            </a:ln>
          </p:spPr>
        </p:cxnSp>
        <p:cxnSp>
          <p:nvCxnSpPr>
            <p:cNvPr id="844" name="Shape 844"/>
            <p:cNvCxnSpPr>
              <a:endCxn id="816" idx="2"/>
            </p:cNvCxnSpPr>
            <p:nvPr/>
          </p:nvCxnSpPr>
          <p:spPr>
            <a:xfrm flipH="1" rot="10800000">
              <a:off x="6731541" y="2084089"/>
              <a:ext cx="110700" cy="687900"/>
            </a:xfrm>
            <a:prstGeom prst="straightConnector1">
              <a:avLst/>
            </a:prstGeom>
            <a:noFill/>
            <a:ln cap="flat" cmpd="sng" w="25400">
              <a:solidFill>
                <a:srgbClr val="FFFFFF"/>
              </a:solidFill>
              <a:prstDash val="solid"/>
              <a:round/>
              <a:headEnd len="med" w="med" type="none"/>
              <a:tailEnd len="med" w="med" type="none"/>
            </a:ln>
          </p:spPr>
        </p:cxnSp>
        <p:cxnSp>
          <p:nvCxnSpPr>
            <p:cNvPr id="845" name="Shape 845"/>
            <p:cNvCxnSpPr>
              <a:endCxn id="817" idx="2"/>
            </p:cNvCxnSpPr>
            <p:nvPr/>
          </p:nvCxnSpPr>
          <p:spPr>
            <a:xfrm flipH="1" rot="10800000">
              <a:off x="6731580" y="2087067"/>
              <a:ext cx="1039800" cy="684900"/>
            </a:xfrm>
            <a:prstGeom prst="straightConnector1">
              <a:avLst/>
            </a:prstGeom>
            <a:noFill/>
            <a:ln cap="flat" cmpd="sng" w="25400">
              <a:solidFill>
                <a:srgbClr val="FFFFFF"/>
              </a:solidFill>
              <a:prstDash val="solid"/>
              <a:round/>
              <a:headEnd len="med" w="med" type="none"/>
              <a:tailEnd len="med" w="med" type="none"/>
            </a:ln>
          </p:spPr>
        </p:cxnSp>
        <p:cxnSp>
          <p:nvCxnSpPr>
            <p:cNvPr id="846" name="Shape 846"/>
            <p:cNvCxnSpPr>
              <a:stCxn id="811" idx="0"/>
              <a:endCxn id="816" idx="2"/>
            </p:cNvCxnSpPr>
            <p:nvPr/>
          </p:nvCxnSpPr>
          <p:spPr>
            <a:xfrm rot="10800000">
              <a:off x="6842158" y="2083960"/>
              <a:ext cx="666900" cy="694800"/>
            </a:xfrm>
            <a:prstGeom prst="straightConnector1">
              <a:avLst/>
            </a:prstGeom>
            <a:noFill/>
            <a:ln cap="flat" cmpd="sng" w="25400">
              <a:solidFill>
                <a:srgbClr val="FFFFFF"/>
              </a:solidFill>
              <a:prstDash val="solid"/>
              <a:round/>
              <a:headEnd len="med" w="med" type="none"/>
              <a:tailEnd len="med" w="med" type="none"/>
            </a:ln>
          </p:spPr>
        </p:cxnSp>
        <p:cxnSp>
          <p:nvCxnSpPr>
            <p:cNvPr id="847" name="Shape 847"/>
            <p:cNvCxnSpPr>
              <a:stCxn id="830" idx="0"/>
              <a:endCxn id="816" idx="2"/>
            </p:cNvCxnSpPr>
            <p:nvPr/>
          </p:nvCxnSpPr>
          <p:spPr>
            <a:xfrm rot="10800000">
              <a:off x="6842166" y="2083960"/>
              <a:ext cx="1431600" cy="694800"/>
            </a:xfrm>
            <a:prstGeom prst="straightConnector1">
              <a:avLst/>
            </a:prstGeom>
            <a:noFill/>
            <a:ln cap="flat" cmpd="sng" w="25400">
              <a:solidFill>
                <a:srgbClr val="FFFFFF"/>
              </a:solidFill>
              <a:prstDash val="solid"/>
              <a:round/>
              <a:headEnd len="med" w="med" type="none"/>
              <a:tailEnd len="med" w="med" type="none"/>
            </a:ln>
          </p:spPr>
        </p:cxnSp>
        <p:cxnSp>
          <p:nvCxnSpPr>
            <p:cNvPr id="848" name="Shape 848"/>
            <p:cNvCxnSpPr>
              <a:stCxn id="817" idx="2"/>
              <a:endCxn id="811" idx="0"/>
            </p:cNvCxnSpPr>
            <p:nvPr/>
          </p:nvCxnSpPr>
          <p:spPr>
            <a:xfrm flipH="1">
              <a:off x="7509180" y="2087067"/>
              <a:ext cx="262200" cy="691800"/>
            </a:xfrm>
            <a:prstGeom prst="straightConnector1">
              <a:avLst/>
            </a:prstGeom>
            <a:noFill/>
            <a:ln cap="flat" cmpd="sng" w="25400">
              <a:solidFill>
                <a:srgbClr val="FFFFFF"/>
              </a:solidFill>
              <a:prstDash val="solid"/>
              <a:round/>
              <a:headEnd len="med" w="med" type="none"/>
              <a:tailEnd len="med" w="med" type="none"/>
            </a:ln>
          </p:spPr>
        </p:cxnSp>
        <p:cxnSp>
          <p:nvCxnSpPr>
            <p:cNvPr id="849" name="Shape 849"/>
            <p:cNvCxnSpPr>
              <a:stCxn id="817" idx="2"/>
              <a:endCxn id="830" idx="0"/>
            </p:cNvCxnSpPr>
            <p:nvPr/>
          </p:nvCxnSpPr>
          <p:spPr>
            <a:xfrm>
              <a:off x="7771380" y="2087067"/>
              <a:ext cx="502500" cy="691800"/>
            </a:xfrm>
            <a:prstGeom prst="straightConnector1">
              <a:avLst/>
            </a:prstGeom>
            <a:noFill/>
            <a:ln cap="flat" cmpd="sng" w="25400">
              <a:solidFill>
                <a:srgbClr val="FFFFFF"/>
              </a:solidFill>
              <a:prstDash val="solid"/>
              <a:round/>
              <a:headEnd len="med" w="med" type="none"/>
              <a:tailEnd len="med" w="med" type="none"/>
            </a:ln>
          </p:spPr>
        </p:cxnSp>
        <p:sp>
          <p:nvSpPr>
            <p:cNvPr id="850" name="Shape 850"/>
            <p:cNvSpPr/>
            <p:nvPr/>
          </p:nvSpPr>
          <p:spPr>
            <a:xfrm>
              <a:off x="3869112" y="1820222"/>
              <a:ext cx="4893697" cy="1460905"/>
            </a:xfrm>
            <a:prstGeom prst="roundRect">
              <a:avLst>
                <a:gd fmla="val 16667" name="adj"/>
              </a:avLst>
            </a:prstGeom>
            <a:noFill/>
            <a:ln cap="flat" cmpd="sng" w="19050">
              <a:solidFill>
                <a:srgbClr val="AD0004"/>
              </a:solidFill>
              <a:prstDash val="dot"/>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rgbClr val="FFFFFF"/>
                </a:solidFill>
                <a:latin typeface="Calibri"/>
                <a:ea typeface="Calibri"/>
                <a:cs typeface="Calibri"/>
                <a:sym typeface="Calibri"/>
              </a:endParaRPr>
            </a:p>
          </p:txBody>
        </p:sp>
        <p:sp>
          <p:nvSpPr>
            <p:cNvPr id="851" name="Shape 851"/>
            <p:cNvSpPr txBox="1"/>
            <p:nvPr/>
          </p:nvSpPr>
          <p:spPr>
            <a:xfrm>
              <a:off x="3777307" y="2017211"/>
              <a:ext cx="1063796" cy="523219"/>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Calibri"/>
                <a:buNone/>
              </a:pPr>
              <a:r>
                <a:rPr b="0" i="0" lang="en" sz="1400" u="none" cap="none" strike="noStrike">
                  <a:solidFill>
                    <a:srgbClr val="000000"/>
                  </a:solidFill>
                  <a:latin typeface="Calibri"/>
                  <a:ea typeface="Calibri"/>
                  <a:cs typeface="Calibri"/>
                  <a:sym typeface="Calibri"/>
                </a:rPr>
                <a:t>Leaf-Spine </a:t>
              </a:r>
            </a:p>
            <a:p>
              <a:pPr indent="0" lvl="0" marL="0" marR="0" rtl="0" algn="ctr">
                <a:lnSpc>
                  <a:spcPct val="100000"/>
                </a:lnSpc>
                <a:spcBef>
                  <a:spcPts val="0"/>
                </a:spcBef>
                <a:spcAft>
                  <a:spcPts val="0"/>
                </a:spcAft>
                <a:buClr>
                  <a:srgbClr val="000000"/>
                </a:buClr>
                <a:buSzPct val="25000"/>
                <a:buFont typeface="Calibri"/>
                <a:buNone/>
              </a:pPr>
              <a:r>
                <a:rPr b="0" i="0" lang="en" sz="1400" u="none" cap="none" strike="noStrike">
                  <a:solidFill>
                    <a:srgbClr val="000000"/>
                  </a:solidFill>
                  <a:latin typeface="Calibri"/>
                  <a:ea typeface="Calibri"/>
                  <a:cs typeface="Calibri"/>
                  <a:sym typeface="Calibri"/>
                </a:rPr>
                <a:t>Fabric</a:t>
              </a:r>
            </a:p>
          </p:txBody>
        </p:sp>
        <p:sp>
          <p:nvSpPr>
            <p:cNvPr id="852" name="Shape 852"/>
            <p:cNvSpPr/>
            <p:nvPr/>
          </p:nvSpPr>
          <p:spPr>
            <a:xfrm>
              <a:off x="6421944" y="3000982"/>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sp>
          <p:nvSpPr>
            <p:cNvPr id="853" name="Shape 853"/>
            <p:cNvSpPr/>
            <p:nvPr/>
          </p:nvSpPr>
          <p:spPr>
            <a:xfrm>
              <a:off x="6421944" y="2782591"/>
              <a:ext cx="619425" cy="186338"/>
            </a:xfrm>
            <a:prstGeom prst="roundRect">
              <a:avLst>
                <a:gd fmla="val 16667" name="adj"/>
              </a:avLst>
            </a:prstGeom>
            <a:solidFill>
              <a:srgbClr val="666666"/>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1" i="0" lang="en" sz="700" u="none" cap="none" strike="noStrike">
                  <a:solidFill>
                    <a:srgbClr val="FFFFFF"/>
                  </a:solidFill>
                  <a:latin typeface="Calibri"/>
                  <a:ea typeface="Calibri"/>
                  <a:cs typeface="Calibri"/>
                  <a:sym typeface="Calibri"/>
                </a:rPr>
                <a:t>White Box</a:t>
              </a:r>
            </a:p>
          </p:txBody>
        </p:sp>
        <p:sp>
          <p:nvSpPr>
            <p:cNvPr id="854" name="Shape 854"/>
            <p:cNvSpPr txBox="1"/>
            <p:nvPr/>
          </p:nvSpPr>
          <p:spPr>
            <a:xfrm>
              <a:off x="5159241" y="2297567"/>
              <a:ext cx="1864613" cy="307777"/>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C0504D"/>
                </a:buClr>
                <a:buSzPct val="25000"/>
                <a:buFont typeface="Calibri"/>
                <a:buNone/>
              </a:pPr>
              <a:r>
                <a:rPr b="0" i="0" lang="en" sz="1400" u="none" cap="none" strike="noStrike">
                  <a:solidFill>
                    <a:srgbClr val="C0504D"/>
                  </a:solidFill>
                  <a:latin typeface="Calibri"/>
                  <a:ea typeface="Calibri"/>
                  <a:cs typeface="Calibri"/>
                  <a:sym typeface="Calibri"/>
                </a:rPr>
                <a:t>SDN Enabled CO Fabric</a:t>
              </a:r>
            </a:p>
          </p:txBody>
        </p:sp>
      </p:grpSp>
      <p:grpSp>
        <p:nvGrpSpPr>
          <p:cNvPr id="855" name="Shape 855"/>
          <p:cNvGrpSpPr/>
          <p:nvPr/>
        </p:nvGrpSpPr>
        <p:grpSpPr>
          <a:xfrm>
            <a:off x="3759573" y="3364970"/>
            <a:ext cx="5290256" cy="1489212"/>
            <a:chOff x="3869112" y="3364971"/>
            <a:chExt cx="5290256" cy="1489212"/>
          </a:xfrm>
        </p:grpSpPr>
        <p:grpSp>
          <p:nvGrpSpPr>
            <p:cNvPr id="856" name="Shape 856"/>
            <p:cNvGrpSpPr/>
            <p:nvPr/>
          </p:nvGrpSpPr>
          <p:grpSpPr>
            <a:xfrm>
              <a:off x="3869112" y="3364971"/>
              <a:ext cx="4964635" cy="1489212"/>
              <a:chOff x="3869112" y="3364971"/>
              <a:chExt cx="4964635" cy="1489212"/>
            </a:xfrm>
          </p:grpSpPr>
          <p:pic>
            <p:nvPicPr>
              <p:cNvPr descr="rack_42U.gif" id="857" name="Shape 857"/>
              <p:cNvPicPr preferRelativeResize="0"/>
              <p:nvPr/>
            </p:nvPicPr>
            <p:blipFill rotWithShape="1">
              <a:blip r:embed="rId6">
                <a:alphaModFix/>
              </a:blip>
              <a:srcRect b="0" l="0" r="0" t="0"/>
              <a:stretch/>
            </p:blipFill>
            <p:spPr>
              <a:xfrm>
                <a:off x="7206807" y="3364973"/>
                <a:ext cx="619425" cy="1227465"/>
              </a:xfrm>
              <a:prstGeom prst="rect">
                <a:avLst/>
              </a:prstGeom>
              <a:noFill/>
              <a:ln>
                <a:noFill/>
              </a:ln>
            </p:spPr>
          </p:pic>
          <p:pic>
            <p:nvPicPr>
              <p:cNvPr descr="rack_42U.gif" id="858" name="Shape 858"/>
              <p:cNvPicPr preferRelativeResize="0"/>
              <p:nvPr/>
            </p:nvPicPr>
            <p:blipFill rotWithShape="1">
              <a:blip r:embed="rId6">
                <a:alphaModFix/>
              </a:blip>
              <a:srcRect b="0" l="0" r="0" t="0"/>
              <a:stretch/>
            </p:blipFill>
            <p:spPr>
              <a:xfrm>
                <a:off x="6429405" y="3364973"/>
                <a:ext cx="619425" cy="1227465"/>
              </a:xfrm>
              <a:prstGeom prst="rect">
                <a:avLst/>
              </a:prstGeom>
              <a:noFill/>
              <a:ln>
                <a:noFill/>
              </a:ln>
            </p:spPr>
          </p:pic>
          <p:pic>
            <p:nvPicPr>
              <p:cNvPr descr="rack_42U.gif" id="859" name="Shape 859"/>
              <p:cNvPicPr preferRelativeResize="0"/>
              <p:nvPr/>
            </p:nvPicPr>
            <p:blipFill rotWithShape="1">
              <a:blip r:embed="rId6">
                <a:alphaModFix/>
              </a:blip>
              <a:srcRect b="0" l="0" r="0" t="0"/>
              <a:stretch/>
            </p:blipFill>
            <p:spPr>
              <a:xfrm>
                <a:off x="5595051" y="3364973"/>
                <a:ext cx="619425" cy="1227465"/>
              </a:xfrm>
              <a:prstGeom prst="rect">
                <a:avLst/>
              </a:prstGeom>
              <a:noFill/>
              <a:ln>
                <a:noFill/>
              </a:ln>
            </p:spPr>
          </p:pic>
          <p:pic>
            <p:nvPicPr>
              <p:cNvPr descr="rack_42U.gif" id="860" name="Shape 860"/>
              <p:cNvPicPr preferRelativeResize="0"/>
              <p:nvPr/>
            </p:nvPicPr>
            <p:blipFill rotWithShape="1">
              <a:blip r:embed="rId6">
                <a:alphaModFix/>
              </a:blip>
              <a:srcRect b="0" l="0" r="0" t="0"/>
              <a:stretch/>
            </p:blipFill>
            <p:spPr>
              <a:xfrm>
                <a:off x="4763032" y="3364973"/>
                <a:ext cx="619425" cy="1227465"/>
              </a:xfrm>
              <a:prstGeom prst="rect">
                <a:avLst/>
              </a:prstGeom>
              <a:noFill/>
              <a:ln>
                <a:noFill/>
              </a:ln>
            </p:spPr>
          </p:pic>
          <p:sp>
            <p:nvSpPr>
              <p:cNvPr id="861" name="Shape 861"/>
              <p:cNvSpPr/>
              <p:nvPr/>
            </p:nvSpPr>
            <p:spPr>
              <a:xfrm>
                <a:off x="3869112" y="3364971"/>
                <a:ext cx="4893697" cy="1460905"/>
              </a:xfrm>
              <a:prstGeom prst="roundRect">
                <a:avLst>
                  <a:gd fmla="val 16667" name="adj"/>
                </a:avLst>
              </a:prstGeom>
              <a:noFill/>
              <a:ln cap="flat" cmpd="sng" w="12700">
                <a:solidFill>
                  <a:srgbClr val="AD0004"/>
                </a:solidFill>
                <a:prstDash val="dot"/>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rgbClr val="FFFFFF"/>
                  </a:solidFill>
                  <a:latin typeface="Calibri"/>
                  <a:ea typeface="Calibri"/>
                  <a:cs typeface="Calibri"/>
                  <a:sym typeface="Calibri"/>
                </a:endParaRPr>
              </a:p>
            </p:txBody>
          </p:sp>
          <p:sp>
            <p:nvSpPr>
              <p:cNvPr id="862" name="Shape 862"/>
              <p:cNvSpPr txBox="1"/>
              <p:nvPr/>
            </p:nvSpPr>
            <p:spPr>
              <a:xfrm>
                <a:off x="4193212" y="4546407"/>
                <a:ext cx="4155768" cy="307777"/>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C0504D"/>
                  </a:buClr>
                  <a:buSzPct val="25000"/>
                  <a:buFont typeface="Arial"/>
                  <a:buNone/>
                </a:pPr>
                <a:r>
                  <a:rPr b="0" i="0" lang="en" sz="1400" u="none" cap="none" strike="noStrike">
                    <a:solidFill>
                      <a:srgbClr val="C0504D"/>
                    </a:solidFill>
                    <a:latin typeface="Arial"/>
                    <a:ea typeface="Arial"/>
                    <a:cs typeface="Arial"/>
                    <a:sym typeface="Arial"/>
                  </a:rPr>
                  <a:t>Commodity servers, switches and network access</a:t>
                </a:r>
              </a:p>
            </p:txBody>
          </p:sp>
          <p:grpSp>
            <p:nvGrpSpPr>
              <p:cNvPr id="863" name="Shape 863"/>
              <p:cNvGrpSpPr/>
              <p:nvPr/>
            </p:nvGrpSpPr>
            <p:grpSpPr>
              <a:xfrm>
                <a:off x="3882874" y="3460384"/>
                <a:ext cx="671202" cy="1132052"/>
                <a:chOff x="1296949" y="4059583"/>
                <a:chExt cx="671202" cy="1132052"/>
              </a:xfrm>
            </p:grpSpPr>
            <p:sp>
              <p:nvSpPr>
                <p:cNvPr id="864" name="Shape 864"/>
                <p:cNvSpPr/>
                <p:nvPr/>
              </p:nvSpPr>
              <p:spPr>
                <a:xfrm>
                  <a:off x="1478500" y="4059583"/>
                  <a:ext cx="489652" cy="1132052"/>
                </a:xfrm>
                <a:prstGeom prst="rect">
                  <a:avLst/>
                </a:prstGeom>
                <a:solidFill>
                  <a:srgbClr val="999999"/>
                </a:solidFill>
                <a:ln cap="flat" cmpd="sng" w="25400">
                  <a:solidFill>
                    <a:srgbClr val="000000"/>
                  </a:solidFill>
                  <a:prstDash val="solid"/>
                  <a:round/>
                  <a:headEnd len="med" w="med" type="none"/>
                  <a:tailEnd len="med" w="med" type="none"/>
                </a:ln>
              </p:spPr>
              <p:txBody>
                <a:bodyPr anchorCtr="0" anchor="ctr" bIns="45675" lIns="0" rIns="0" tIns="45675">
                  <a:noAutofit/>
                </a:bodyPr>
                <a:lstStyle/>
                <a:p>
                  <a:pPr indent="0" lvl="0" marL="0" marR="0" rtl="0" algn="ctr">
                    <a:lnSpc>
                      <a:spcPct val="100000"/>
                    </a:lnSpc>
                    <a:spcBef>
                      <a:spcPts val="0"/>
                    </a:spcBef>
                    <a:spcAft>
                      <a:spcPts val="0"/>
                    </a:spcAft>
                    <a:buClr>
                      <a:srgbClr val="FFFFFF"/>
                    </a:buClr>
                    <a:buSzPct val="25000"/>
                    <a:buFont typeface="Calibri"/>
                    <a:buNone/>
                  </a:pPr>
                  <a:r>
                    <a:rPr b="0" i="0" lang="en" sz="1050" u="none" cap="none" strike="noStrike">
                      <a:solidFill>
                        <a:srgbClr val="FFFFFF"/>
                      </a:solidFill>
                      <a:latin typeface="Calibri"/>
                      <a:ea typeface="Calibri"/>
                      <a:cs typeface="Calibri"/>
                      <a:sym typeface="Calibri"/>
                    </a:rPr>
                    <a:t>Access</a:t>
                  </a:r>
                </a:p>
              </p:txBody>
            </p:sp>
            <p:grpSp>
              <p:nvGrpSpPr>
                <p:cNvPr id="865" name="Shape 865"/>
                <p:cNvGrpSpPr/>
                <p:nvPr/>
              </p:nvGrpSpPr>
              <p:grpSpPr>
                <a:xfrm>
                  <a:off x="1296949" y="4220798"/>
                  <a:ext cx="177832" cy="757663"/>
                  <a:chOff x="1069703" y="3423569"/>
                  <a:chExt cx="177832" cy="681897"/>
                </a:xfrm>
              </p:grpSpPr>
              <p:cxnSp>
                <p:nvCxnSpPr>
                  <p:cNvPr id="866" name="Shape 866"/>
                  <p:cNvCxnSpPr/>
                  <p:nvPr/>
                </p:nvCxnSpPr>
                <p:spPr>
                  <a:xfrm rot="5400000">
                    <a:off x="1158938" y="3565370"/>
                    <a:ext cx="5007" cy="172187"/>
                  </a:xfrm>
                  <a:prstGeom prst="straightConnector1">
                    <a:avLst/>
                  </a:prstGeom>
                  <a:noFill/>
                  <a:ln cap="flat" cmpd="sng" w="38100">
                    <a:solidFill>
                      <a:srgbClr val="000000"/>
                    </a:solidFill>
                    <a:prstDash val="solid"/>
                    <a:round/>
                    <a:headEnd len="med" w="med" type="none"/>
                    <a:tailEnd len="med" w="med" type="none"/>
                  </a:ln>
                </p:spPr>
              </p:cxnSp>
              <p:cxnSp>
                <p:nvCxnSpPr>
                  <p:cNvPr id="867" name="Shape 867"/>
                  <p:cNvCxnSpPr/>
                  <p:nvPr/>
                </p:nvCxnSpPr>
                <p:spPr>
                  <a:xfrm rot="5400000">
                    <a:off x="1158938" y="3641317"/>
                    <a:ext cx="5007" cy="172187"/>
                  </a:xfrm>
                  <a:prstGeom prst="straightConnector1">
                    <a:avLst/>
                  </a:prstGeom>
                  <a:noFill/>
                  <a:ln cap="flat" cmpd="sng" w="38100">
                    <a:solidFill>
                      <a:srgbClr val="000000"/>
                    </a:solidFill>
                    <a:prstDash val="solid"/>
                    <a:round/>
                    <a:headEnd len="med" w="med" type="none"/>
                    <a:tailEnd len="med" w="med" type="none"/>
                  </a:ln>
                </p:spPr>
              </p:cxnSp>
              <p:cxnSp>
                <p:nvCxnSpPr>
                  <p:cNvPr id="868" name="Shape 868"/>
                  <p:cNvCxnSpPr/>
                  <p:nvPr/>
                </p:nvCxnSpPr>
                <p:spPr>
                  <a:xfrm rot="5400000">
                    <a:off x="1157197" y="3718929"/>
                    <a:ext cx="5007" cy="172187"/>
                  </a:xfrm>
                  <a:prstGeom prst="straightConnector1">
                    <a:avLst/>
                  </a:prstGeom>
                  <a:noFill/>
                  <a:ln cap="flat" cmpd="sng" w="38100">
                    <a:solidFill>
                      <a:srgbClr val="000000"/>
                    </a:solidFill>
                    <a:prstDash val="solid"/>
                    <a:round/>
                    <a:headEnd len="med" w="med" type="none"/>
                    <a:tailEnd len="med" w="med" type="none"/>
                  </a:ln>
                </p:spPr>
              </p:cxnSp>
              <p:cxnSp>
                <p:nvCxnSpPr>
                  <p:cNvPr id="869" name="Shape 869"/>
                  <p:cNvCxnSpPr/>
                  <p:nvPr/>
                </p:nvCxnSpPr>
                <p:spPr>
                  <a:xfrm rot="5400000">
                    <a:off x="1158938" y="3793206"/>
                    <a:ext cx="5007" cy="172187"/>
                  </a:xfrm>
                  <a:prstGeom prst="straightConnector1">
                    <a:avLst/>
                  </a:prstGeom>
                  <a:noFill/>
                  <a:ln cap="flat" cmpd="sng" w="38100">
                    <a:solidFill>
                      <a:srgbClr val="000000"/>
                    </a:solidFill>
                    <a:prstDash val="solid"/>
                    <a:round/>
                    <a:headEnd len="med" w="med" type="none"/>
                    <a:tailEnd len="med" w="med" type="none"/>
                  </a:ln>
                </p:spPr>
              </p:cxnSp>
              <p:cxnSp>
                <p:nvCxnSpPr>
                  <p:cNvPr id="870" name="Shape 870"/>
                  <p:cNvCxnSpPr/>
                  <p:nvPr/>
                </p:nvCxnSpPr>
                <p:spPr>
                  <a:xfrm rot="5400000">
                    <a:off x="1158068" y="3861640"/>
                    <a:ext cx="5007" cy="172187"/>
                  </a:xfrm>
                  <a:prstGeom prst="straightConnector1">
                    <a:avLst/>
                  </a:prstGeom>
                  <a:noFill/>
                  <a:ln cap="flat" cmpd="sng" w="38100">
                    <a:solidFill>
                      <a:srgbClr val="FF0000"/>
                    </a:solidFill>
                    <a:prstDash val="solid"/>
                    <a:round/>
                    <a:headEnd len="med" w="med" type="none"/>
                    <a:tailEnd len="med" w="med" type="none"/>
                  </a:ln>
                </p:spPr>
              </p:cxnSp>
              <p:cxnSp>
                <p:nvCxnSpPr>
                  <p:cNvPr id="871" name="Shape 871"/>
                  <p:cNvCxnSpPr/>
                  <p:nvPr/>
                </p:nvCxnSpPr>
                <p:spPr>
                  <a:xfrm rot="5400000">
                    <a:off x="1157197" y="3936751"/>
                    <a:ext cx="5007" cy="172187"/>
                  </a:xfrm>
                  <a:prstGeom prst="straightConnector1">
                    <a:avLst/>
                  </a:prstGeom>
                  <a:noFill/>
                  <a:ln cap="flat" cmpd="sng" w="38100">
                    <a:solidFill>
                      <a:srgbClr val="0E47B1"/>
                    </a:solidFill>
                    <a:prstDash val="solid"/>
                    <a:round/>
                    <a:headEnd len="med" w="med" type="none"/>
                    <a:tailEnd len="med" w="med" type="none"/>
                  </a:ln>
                </p:spPr>
              </p:cxnSp>
              <p:cxnSp>
                <p:nvCxnSpPr>
                  <p:cNvPr id="872" name="Shape 872"/>
                  <p:cNvCxnSpPr/>
                  <p:nvPr/>
                </p:nvCxnSpPr>
                <p:spPr>
                  <a:xfrm rot="5400000">
                    <a:off x="1158068" y="4016868"/>
                    <a:ext cx="5007" cy="172187"/>
                  </a:xfrm>
                  <a:prstGeom prst="straightConnector1">
                    <a:avLst/>
                  </a:prstGeom>
                  <a:noFill/>
                  <a:ln cap="flat" cmpd="sng" w="38100">
                    <a:solidFill>
                      <a:srgbClr val="AD0004"/>
                    </a:solidFill>
                    <a:prstDash val="solid"/>
                    <a:round/>
                    <a:headEnd len="med" w="med" type="none"/>
                    <a:tailEnd len="med" w="med" type="none"/>
                  </a:ln>
                </p:spPr>
              </p:cxnSp>
              <p:cxnSp>
                <p:nvCxnSpPr>
                  <p:cNvPr id="873" name="Shape 873"/>
                  <p:cNvCxnSpPr/>
                  <p:nvPr/>
                </p:nvCxnSpPr>
                <p:spPr>
                  <a:xfrm rot="5400000">
                    <a:off x="1154164" y="3339979"/>
                    <a:ext cx="5007" cy="172187"/>
                  </a:xfrm>
                  <a:prstGeom prst="straightConnector1">
                    <a:avLst/>
                  </a:prstGeom>
                  <a:noFill/>
                  <a:ln cap="flat" cmpd="sng" w="38100">
                    <a:solidFill>
                      <a:srgbClr val="FF0000"/>
                    </a:solidFill>
                    <a:prstDash val="solid"/>
                    <a:round/>
                    <a:headEnd len="med" w="med" type="none"/>
                    <a:tailEnd len="med" w="med" type="none"/>
                  </a:ln>
                </p:spPr>
              </p:cxnSp>
              <p:cxnSp>
                <p:nvCxnSpPr>
                  <p:cNvPr id="874" name="Shape 874"/>
                  <p:cNvCxnSpPr/>
                  <p:nvPr/>
                </p:nvCxnSpPr>
                <p:spPr>
                  <a:xfrm rot="5400000">
                    <a:off x="1153293" y="3415090"/>
                    <a:ext cx="5007" cy="172187"/>
                  </a:xfrm>
                  <a:prstGeom prst="straightConnector1">
                    <a:avLst/>
                  </a:prstGeom>
                  <a:noFill/>
                  <a:ln cap="flat" cmpd="sng" w="38100">
                    <a:solidFill>
                      <a:srgbClr val="0E47B1"/>
                    </a:solidFill>
                    <a:prstDash val="solid"/>
                    <a:round/>
                    <a:headEnd len="med" w="med" type="none"/>
                    <a:tailEnd len="med" w="med" type="none"/>
                  </a:ln>
                </p:spPr>
              </p:cxnSp>
              <p:cxnSp>
                <p:nvCxnSpPr>
                  <p:cNvPr id="875" name="Shape 875"/>
                  <p:cNvCxnSpPr/>
                  <p:nvPr/>
                </p:nvCxnSpPr>
                <p:spPr>
                  <a:xfrm rot="5400000">
                    <a:off x="1154164" y="3495208"/>
                    <a:ext cx="5007" cy="172187"/>
                  </a:xfrm>
                  <a:prstGeom prst="straightConnector1">
                    <a:avLst/>
                  </a:prstGeom>
                  <a:noFill/>
                  <a:ln cap="flat" cmpd="sng" w="38100">
                    <a:solidFill>
                      <a:srgbClr val="AD0004"/>
                    </a:solidFill>
                    <a:prstDash val="solid"/>
                    <a:round/>
                    <a:headEnd len="med" w="med" type="none"/>
                    <a:tailEnd len="med" w="med" type="none"/>
                  </a:ln>
                </p:spPr>
              </p:cxnSp>
            </p:grpSp>
          </p:grpSp>
          <p:grpSp>
            <p:nvGrpSpPr>
              <p:cNvPr id="876" name="Shape 876"/>
              <p:cNvGrpSpPr/>
              <p:nvPr/>
            </p:nvGrpSpPr>
            <p:grpSpPr>
              <a:xfrm>
                <a:off x="7901879" y="3657495"/>
                <a:ext cx="931869" cy="654231"/>
                <a:chOff x="7604610" y="3288405"/>
                <a:chExt cx="931869" cy="588808"/>
              </a:xfrm>
            </p:grpSpPr>
            <p:pic>
              <p:nvPicPr>
                <p:cNvPr descr="DWDM.jpg" id="877" name="Shape 877"/>
                <p:cNvPicPr preferRelativeResize="0"/>
                <p:nvPr/>
              </p:nvPicPr>
              <p:blipFill rotWithShape="1">
                <a:blip r:embed="rId7">
                  <a:alphaModFix/>
                </a:blip>
                <a:srcRect b="0" l="0" r="0" t="0"/>
                <a:stretch/>
              </p:blipFill>
              <p:spPr>
                <a:xfrm>
                  <a:off x="7604610" y="3288405"/>
                  <a:ext cx="740847" cy="588808"/>
                </a:xfrm>
                <a:prstGeom prst="rect">
                  <a:avLst/>
                </a:prstGeom>
                <a:noFill/>
                <a:ln>
                  <a:noFill/>
                </a:ln>
              </p:spPr>
            </p:pic>
            <p:grpSp>
              <p:nvGrpSpPr>
                <p:cNvPr id="878" name="Shape 878"/>
                <p:cNvGrpSpPr/>
                <p:nvPr/>
              </p:nvGrpSpPr>
              <p:grpSpPr>
                <a:xfrm rot="5400000">
                  <a:off x="8201201" y="3499877"/>
                  <a:ext cx="414356" cy="256199"/>
                  <a:chOff x="9332200" y="4662707"/>
                  <a:chExt cx="980183" cy="359729"/>
                </a:xfrm>
              </p:grpSpPr>
              <p:cxnSp>
                <p:nvCxnSpPr>
                  <p:cNvPr id="879" name="Shape 879"/>
                  <p:cNvCxnSpPr/>
                  <p:nvPr/>
                </p:nvCxnSpPr>
                <p:spPr>
                  <a:xfrm>
                    <a:off x="9332200" y="4662707"/>
                    <a:ext cx="9960" cy="355819"/>
                  </a:xfrm>
                  <a:prstGeom prst="straightConnector1">
                    <a:avLst/>
                  </a:prstGeom>
                  <a:noFill/>
                  <a:ln cap="flat" cmpd="sng" w="38100">
                    <a:solidFill>
                      <a:srgbClr val="000000"/>
                    </a:solidFill>
                    <a:prstDash val="solid"/>
                    <a:round/>
                    <a:headEnd len="med" w="med" type="none"/>
                    <a:tailEnd len="med" w="med" type="none"/>
                  </a:ln>
                </p:spPr>
              </p:cxnSp>
              <p:cxnSp>
                <p:nvCxnSpPr>
                  <p:cNvPr id="880" name="Shape 880"/>
                  <p:cNvCxnSpPr/>
                  <p:nvPr/>
                </p:nvCxnSpPr>
                <p:spPr>
                  <a:xfrm>
                    <a:off x="9495564" y="4662707"/>
                    <a:ext cx="9960" cy="355819"/>
                  </a:xfrm>
                  <a:prstGeom prst="straightConnector1">
                    <a:avLst/>
                  </a:prstGeom>
                  <a:noFill/>
                  <a:ln cap="flat" cmpd="sng" w="38100">
                    <a:solidFill>
                      <a:srgbClr val="000000"/>
                    </a:solidFill>
                    <a:prstDash val="solid"/>
                    <a:round/>
                    <a:headEnd len="med" w="med" type="none"/>
                    <a:tailEnd len="med" w="med" type="none"/>
                  </a:ln>
                </p:spPr>
              </p:cxnSp>
              <p:cxnSp>
                <p:nvCxnSpPr>
                  <p:cNvPr id="881" name="Shape 881"/>
                  <p:cNvCxnSpPr/>
                  <p:nvPr/>
                </p:nvCxnSpPr>
                <p:spPr>
                  <a:xfrm>
                    <a:off x="9660918" y="4666617"/>
                    <a:ext cx="11953" cy="355819"/>
                  </a:xfrm>
                  <a:prstGeom prst="straightConnector1">
                    <a:avLst/>
                  </a:prstGeom>
                  <a:noFill/>
                  <a:ln cap="flat" cmpd="sng" w="38100">
                    <a:solidFill>
                      <a:srgbClr val="000000"/>
                    </a:solidFill>
                    <a:prstDash val="solid"/>
                    <a:round/>
                    <a:headEnd len="med" w="med" type="none"/>
                    <a:tailEnd len="med" w="med" type="none"/>
                  </a:ln>
                </p:spPr>
              </p:cxnSp>
              <p:cxnSp>
                <p:nvCxnSpPr>
                  <p:cNvPr id="882" name="Shape 882"/>
                  <p:cNvCxnSpPr/>
                  <p:nvPr/>
                </p:nvCxnSpPr>
                <p:spPr>
                  <a:xfrm>
                    <a:off x="9822292" y="4662707"/>
                    <a:ext cx="9960" cy="355819"/>
                  </a:xfrm>
                  <a:prstGeom prst="straightConnector1">
                    <a:avLst/>
                  </a:prstGeom>
                  <a:noFill/>
                  <a:ln cap="flat" cmpd="sng" w="38100">
                    <a:solidFill>
                      <a:srgbClr val="000000"/>
                    </a:solidFill>
                    <a:prstDash val="solid"/>
                    <a:round/>
                    <a:headEnd len="med" w="med" type="none"/>
                    <a:tailEnd len="med" w="med" type="none"/>
                  </a:ln>
                </p:spPr>
              </p:cxnSp>
              <p:cxnSp>
                <p:nvCxnSpPr>
                  <p:cNvPr id="883" name="Shape 883"/>
                  <p:cNvCxnSpPr/>
                  <p:nvPr/>
                </p:nvCxnSpPr>
                <p:spPr>
                  <a:xfrm>
                    <a:off x="9967725" y="4664664"/>
                    <a:ext cx="11953" cy="355819"/>
                  </a:xfrm>
                  <a:prstGeom prst="straightConnector1">
                    <a:avLst/>
                  </a:prstGeom>
                  <a:noFill/>
                  <a:ln cap="flat" cmpd="sng" w="38100">
                    <a:solidFill>
                      <a:srgbClr val="FF0000"/>
                    </a:solidFill>
                    <a:prstDash val="solid"/>
                    <a:round/>
                    <a:headEnd len="med" w="med" type="none"/>
                    <a:tailEnd len="med" w="med" type="none"/>
                  </a:ln>
                </p:spPr>
              </p:cxnSp>
              <p:cxnSp>
                <p:nvCxnSpPr>
                  <p:cNvPr id="884" name="Shape 884"/>
                  <p:cNvCxnSpPr/>
                  <p:nvPr/>
                </p:nvCxnSpPr>
                <p:spPr>
                  <a:xfrm>
                    <a:off x="10129096" y="4666617"/>
                    <a:ext cx="11953" cy="355819"/>
                  </a:xfrm>
                  <a:prstGeom prst="straightConnector1">
                    <a:avLst/>
                  </a:prstGeom>
                  <a:noFill/>
                  <a:ln cap="flat" cmpd="sng" w="38100">
                    <a:solidFill>
                      <a:srgbClr val="0E47B1"/>
                    </a:solidFill>
                    <a:prstDash val="solid"/>
                    <a:round/>
                    <a:headEnd len="med" w="med" type="none"/>
                    <a:tailEnd len="med" w="med" type="none"/>
                  </a:ln>
                </p:spPr>
              </p:cxnSp>
              <p:cxnSp>
                <p:nvCxnSpPr>
                  <p:cNvPr id="885" name="Shape 885"/>
                  <p:cNvCxnSpPr/>
                  <p:nvPr/>
                </p:nvCxnSpPr>
                <p:spPr>
                  <a:xfrm>
                    <a:off x="10302421" y="4664662"/>
                    <a:ext cx="9962" cy="355819"/>
                  </a:xfrm>
                  <a:prstGeom prst="straightConnector1">
                    <a:avLst/>
                  </a:prstGeom>
                  <a:noFill/>
                  <a:ln cap="flat" cmpd="sng" w="38100">
                    <a:solidFill>
                      <a:srgbClr val="AD0004"/>
                    </a:solidFill>
                    <a:prstDash val="solid"/>
                    <a:round/>
                    <a:headEnd len="med" w="med" type="none"/>
                    <a:tailEnd len="med" w="med" type="none"/>
                  </a:ln>
                </p:spPr>
              </p:cxnSp>
            </p:grpSp>
          </p:grpSp>
        </p:grpSp>
        <p:sp>
          <p:nvSpPr>
            <p:cNvPr id="886" name="Shape 886"/>
            <p:cNvSpPr txBox="1"/>
            <p:nvPr/>
          </p:nvSpPr>
          <p:spPr>
            <a:xfrm rot="5400000">
              <a:off x="8319347" y="3870989"/>
              <a:ext cx="1341491" cy="33855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Arial"/>
                <a:buNone/>
              </a:pPr>
              <a:r>
                <a:rPr b="0" i="0" lang="en" sz="1600" u="none" cap="none" strike="noStrike">
                  <a:solidFill>
                    <a:srgbClr val="000000"/>
                  </a:solidFill>
                  <a:latin typeface="Arial"/>
                  <a:ea typeface="Arial"/>
                  <a:cs typeface="Arial"/>
                  <a:sym typeface="Arial"/>
                </a:rPr>
                <a:t>Core</a:t>
              </a:r>
            </a:p>
          </p:txBody>
        </p:sp>
      </p:grpSp>
      <p:grpSp>
        <p:nvGrpSpPr>
          <p:cNvPr id="887" name="Shape 887"/>
          <p:cNvGrpSpPr/>
          <p:nvPr/>
        </p:nvGrpSpPr>
        <p:grpSpPr>
          <a:xfrm>
            <a:off x="2390273" y="2394714"/>
            <a:ext cx="1223537" cy="1374391"/>
            <a:chOff x="2499822" y="2394713"/>
            <a:chExt cx="1223537" cy="1374391"/>
          </a:xfrm>
        </p:grpSpPr>
        <p:sp>
          <p:nvSpPr>
            <p:cNvPr id="888" name="Shape 888"/>
            <p:cNvSpPr/>
            <p:nvPr/>
          </p:nvSpPr>
          <p:spPr>
            <a:xfrm>
              <a:off x="3073425" y="2750600"/>
              <a:ext cx="649935" cy="626573"/>
            </a:xfrm>
            <a:prstGeom prst="ellipse">
              <a:avLst/>
            </a:prstGeom>
            <a:solidFill>
              <a:srgbClr val="3366FF">
                <a:alpha val="17647"/>
              </a:srgbClr>
            </a:solidFill>
            <a:ln cap="flat" cmpd="sng" w="9525">
              <a:solidFill>
                <a:srgbClr val="7F0000"/>
              </a:solidFill>
              <a:prstDash val="solid"/>
              <a:round/>
              <a:headEnd len="med" w="med" type="none"/>
              <a:tailEnd len="med" w="med" type="none"/>
            </a:ln>
          </p:spPr>
          <p:txBody>
            <a:bodyPr anchorCtr="0" anchor="b"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500" u="none" cap="none" strike="noStrike">
                <a:solidFill>
                  <a:srgbClr val="000000"/>
                </a:solidFill>
                <a:latin typeface="Calibri"/>
                <a:ea typeface="Calibri"/>
                <a:cs typeface="Calibri"/>
                <a:sym typeface="Calibri"/>
              </a:endParaRPr>
            </a:p>
          </p:txBody>
        </p:sp>
        <p:sp>
          <p:nvSpPr>
            <p:cNvPr id="889" name="Shape 889"/>
            <p:cNvSpPr/>
            <p:nvPr/>
          </p:nvSpPr>
          <p:spPr>
            <a:xfrm>
              <a:off x="2502584" y="2920836"/>
              <a:ext cx="536484" cy="25391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r>
                <a:rPr b="0" i="0" lang="en" sz="1050" u="none" cap="none" strike="noStrike">
                  <a:solidFill>
                    <a:srgbClr val="000000"/>
                  </a:solidFill>
                  <a:latin typeface="Arial"/>
                  <a:ea typeface="Arial"/>
                  <a:cs typeface="Arial"/>
                  <a:sym typeface="Arial"/>
                </a:rPr>
                <a:t>Cloud</a:t>
              </a:r>
            </a:p>
          </p:txBody>
        </p:sp>
        <p:sp>
          <p:nvSpPr>
            <p:cNvPr id="890" name="Shape 890"/>
            <p:cNvSpPr/>
            <p:nvPr/>
          </p:nvSpPr>
          <p:spPr>
            <a:xfrm>
              <a:off x="2860990" y="2501715"/>
              <a:ext cx="466793" cy="253916"/>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Arial"/>
                <a:buNone/>
              </a:pPr>
              <a:r>
                <a:rPr b="0" i="0" lang="en" sz="1050" u="none" cap="none" strike="noStrike">
                  <a:solidFill>
                    <a:srgbClr val="000000"/>
                  </a:solidFill>
                  <a:latin typeface="Arial"/>
                  <a:ea typeface="Arial"/>
                  <a:cs typeface="Arial"/>
                  <a:sym typeface="Arial"/>
                </a:rPr>
                <a:t>NFV</a:t>
              </a:r>
            </a:p>
          </p:txBody>
        </p:sp>
        <p:grpSp>
          <p:nvGrpSpPr>
            <p:cNvPr id="891" name="Shape 891"/>
            <p:cNvGrpSpPr/>
            <p:nvPr/>
          </p:nvGrpSpPr>
          <p:grpSpPr>
            <a:xfrm>
              <a:off x="2499822" y="2394713"/>
              <a:ext cx="1155615" cy="1374391"/>
              <a:chOff x="2499822" y="2394713"/>
              <a:chExt cx="1155615" cy="1374391"/>
            </a:xfrm>
          </p:grpSpPr>
          <p:sp>
            <p:nvSpPr>
              <p:cNvPr id="892" name="Shape 892"/>
              <p:cNvSpPr/>
              <p:nvPr/>
            </p:nvSpPr>
            <p:spPr>
              <a:xfrm>
                <a:off x="2782077" y="3379148"/>
                <a:ext cx="804069" cy="389956"/>
              </a:xfrm>
              <a:prstGeom prst="rightArrow">
                <a:avLst>
                  <a:gd fmla="val 50000" name="adj1"/>
                  <a:gd fmla="val 50000" name="adj2"/>
                </a:avLst>
              </a:prstGeom>
              <a:solidFill>
                <a:srgbClr val="376092"/>
              </a:solidFill>
              <a:ln>
                <a:noFill/>
              </a:ln>
            </p:spPr>
            <p:txBody>
              <a:bodyPr anchorCtr="0" anchor="ctr" bIns="45675" lIns="91350" rIns="91350" tIns="45675">
                <a:noAutofit/>
              </a:bodyPr>
              <a:lstStyle/>
              <a:p>
                <a:pPr indent="0" lvl="0" marL="0" marR="0" rtl="0" algn="ctr">
                  <a:lnSpc>
                    <a:spcPct val="100000"/>
                  </a:lnSpc>
                  <a:spcBef>
                    <a:spcPts val="0"/>
                  </a:spcBef>
                  <a:spcAft>
                    <a:spcPts val="0"/>
                  </a:spcAft>
                  <a:buClr>
                    <a:srgbClr val="000000"/>
                  </a:buClr>
                  <a:buFont typeface="Arial"/>
                  <a:buNone/>
                </a:pPr>
                <a:r>
                  <a:t/>
                </a:r>
                <a:endParaRPr b="0" i="0" sz="1200" u="none" cap="none" strike="noStrike">
                  <a:solidFill>
                    <a:srgbClr val="FFFFFF"/>
                  </a:solidFill>
                  <a:latin typeface="Calibri"/>
                  <a:ea typeface="Calibri"/>
                  <a:cs typeface="Calibri"/>
                  <a:sym typeface="Calibri"/>
                </a:endParaRPr>
              </a:p>
            </p:txBody>
          </p:sp>
          <p:sp>
            <p:nvSpPr>
              <p:cNvPr id="893" name="Shape 893"/>
              <p:cNvSpPr/>
              <p:nvPr/>
            </p:nvSpPr>
            <p:spPr>
              <a:xfrm>
                <a:off x="2499822" y="2757511"/>
                <a:ext cx="673178" cy="635726"/>
              </a:xfrm>
              <a:prstGeom prst="ellipse">
                <a:avLst/>
              </a:prstGeom>
              <a:solidFill>
                <a:srgbClr val="008000">
                  <a:alpha val="20000"/>
                </a:srgbClr>
              </a:solidFill>
              <a:ln cap="flat" cmpd="sng" w="9525">
                <a:solidFill>
                  <a:srgbClr val="7F0000"/>
                </a:solidFill>
                <a:prstDash val="solid"/>
                <a:round/>
                <a:headEnd len="med" w="med" type="none"/>
                <a:tailEnd len="med" w="med" type="none"/>
              </a:ln>
            </p:spPr>
            <p:txBody>
              <a:bodyPr anchorCtr="0" anchor="b" bIns="45700" lIns="91425" rIns="91425" tIns="45700">
                <a:noAutofit/>
              </a:bodyPr>
              <a:lstStyle/>
              <a:p>
                <a:pPr indent="0" lvl="0" marL="0" marR="0" rtl="0" algn="l">
                  <a:lnSpc>
                    <a:spcPct val="100000"/>
                  </a:lnSpc>
                  <a:spcBef>
                    <a:spcPts val="0"/>
                  </a:spcBef>
                  <a:spcAft>
                    <a:spcPts val="0"/>
                  </a:spcAft>
                  <a:buClr>
                    <a:srgbClr val="000000"/>
                  </a:buClr>
                  <a:buFont typeface="Arial"/>
                  <a:buNone/>
                </a:pPr>
                <a:r>
                  <a:t/>
                </a:r>
                <a:endParaRPr b="0" i="0" sz="1500" u="none" cap="none" strike="noStrike">
                  <a:solidFill>
                    <a:srgbClr val="000000"/>
                  </a:solidFill>
                  <a:latin typeface="Calibri"/>
                  <a:ea typeface="Calibri"/>
                  <a:cs typeface="Calibri"/>
                  <a:sym typeface="Calibri"/>
                </a:endParaRPr>
              </a:p>
            </p:txBody>
          </p:sp>
          <p:sp>
            <p:nvSpPr>
              <p:cNvPr id="894" name="Shape 894"/>
              <p:cNvSpPr/>
              <p:nvPr/>
            </p:nvSpPr>
            <p:spPr>
              <a:xfrm>
                <a:off x="2782077" y="2394713"/>
                <a:ext cx="670259" cy="612112"/>
              </a:xfrm>
              <a:prstGeom prst="ellipse">
                <a:avLst/>
              </a:prstGeom>
              <a:solidFill>
                <a:srgbClr val="FF0000">
                  <a:alpha val="20000"/>
                </a:srgbClr>
              </a:solidFill>
              <a:ln cap="flat" cmpd="sng" w="9525">
                <a:solidFill>
                  <a:srgbClr val="7F0000"/>
                </a:solidFill>
                <a:prstDash val="solid"/>
                <a:round/>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500" u="none" cap="none" strike="noStrike">
                  <a:solidFill>
                    <a:srgbClr val="000000"/>
                  </a:solidFill>
                  <a:latin typeface="Calibri"/>
                  <a:ea typeface="Calibri"/>
                  <a:cs typeface="Calibri"/>
                  <a:sym typeface="Calibri"/>
                </a:endParaRPr>
              </a:p>
            </p:txBody>
          </p:sp>
          <p:sp>
            <p:nvSpPr>
              <p:cNvPr id="895" name="Shape 895"/>
              <p:cNvSpPr/>
              <p:nvPr/>
            </p:nvSpPr>
            <p:spPr>
              <a:xfrm>
                <a:off x="3186476" y="2932910"/>
                <a:ext cx="468961" cy="253916"/>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Arial"/>
                  <a:buNone/>
                </a:pPr>
                <a:r>
                  <a:rPr b="0" i="0" lang="en" sz="1050" u="none" cap="none" strike="noStrike">
                    <a:solidFill>
                      <a:srgbClr val="000000"/>
                    </a:solidFill>
                    <a:latin typeface="Arial"/>
                    <a:ea typeface="Arial"/>
                    <a:cs typeface="Arial"/>
                    <a:sym typeface="Arial"/>
                  </a:rPr>
                  <a:t>SDN</a:t>
                </a:r>
              </a:p>
            </p:txBody>
          </p:sp>
        </p:grpSp>
      </p:grpSp>
      <p:sp>
        <p:nvSpPr>
          <p:cNvPr id="896" name="Shape 896"/>
          <p:cNvSpPr/>
          <p:nvPr/>
        </p:nvSpPr>
        <p:spPr>
          <a:xfrm>
            <a:off x="7872375" y="1184812"/>
            <a:ext cx="1223400" cy="663300"/>
          </a:xfrm>
          <a:prstGeom prst="wedgeRoundRectCallout">
            <a:avLst>
              <a:gd fmla="val -132914" name="adj1"/>
              <a:gd fmla="val 140960" name="adj2"/>
              <a:gd fmla="val 0" name="adj3"/>
            </a:avLst>
          </a:prstGeom>
          <a:solidFill>
            <a:schemeClr val="accent3"/>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algn="ctr">
              <a:spcBef>
                <a:spcPts val="0"/>
              </a:spcBef>
              <a:buNone/>
            </a:pPr>
            <a:r>
              <a:rPr lang="en"/>
              <a:t>TRELLIS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1000"/>
                                        <p:tgtEl>
                                          <p:spTgt spid="8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00" name="Shape 900"/>
        <p:cNvGrpSpPr/>
        <p:nvPr/>
      </p:nvGrpSpPr>
      <p:grpSpPr>
        <a:xfrm>
          <a:off x="0" y="0"/>
          <a:ext cx="0" cy="0"/>
          <a:chOff x="0" y="0"/>
          <a:chExt cx="0" cy="0"/>
        </a:xfrm>
      </p:grpSpPr>
      <p:sp>
        <p:nvSpPr>
          <p:cNvPr id="901" name="Shape 901"/>
          <p:cNvSpPr txBox="1"/>
          <p:nvPr>
            <p:ph type="title"/>
          </p:nvPr>
        </p:nvSpPr>
        <p:spPr>
          <a:xfrm>
            <a:off x="449475" y="51253"/>
            <a:ext cx="8229600" cy="857400"/>
          </a:xfrm>
          <a:prstGeom prst="rect">
            <a:avLst/>
          </a:prstGeom>
          <a:noFill/>
          <a:ln>
            <a:noFill/>
          </a:ln>
        </p:spPr>
        <p:txBody>
          <a:bodyPr anchorCtr="0" anchor="ctr" bIns="45700" lIns="91425" rIns="91425" tIns="45700">
            <a:noAutofit/>
          </a:bodyPr>
          <a:lstStyle/>
          <a:p>
            <a:pPr indent="0" lvl="0" marL="0" marR="0" rtl="0" algn="ctr">
              <a:spcBef>
                <a:spcPts val="0"/>
              </a:spcBef>
              <a:buClr>
                <a:srgbClr val="FFFFFF"/>
              </a:buClr>
              <a:buSzPct val="25000"/>
              <a:buFont typeface="Calibri"/>
              <a:buNone/>
            </a:pPr>
            <a:r>
              <a:rPr b="1" i="0" lang="en" sz="2400" u="none" cap="none" strike="noStrike">
                <a:solidFill>
                  <a:schemeClr val="accent6"/>
                </a:solidFill>
                <a:latin typeface="Arial"/>
                <a:ea typeface="Arial"/>
                <a:cs typeface="Arial"/>
                <a:sym typeface="Arial"/>
              </a:rPr>
              <a:t>Enterprise </a:t>
            </a:r>
            <a:r>
              <a:rPr b="1" lang="en" sz="2400">
                <a:solidFill>
                  <a:schemeClr val="accent6"/>
                </a:solidFill>
                <a:latin typeface="Arial"/>
                <a:ea typeface="Arial"/>
                <a:cs typeface="Arial"/>
                <a:sym typeface="Arial"/>
              </a:rPr>
              <a:t>Domains of Use: </a:t>
            </a:r>
          </a:p>
          <a:p>
            <a:pPr indent="0" lvl="0" marL="0" marR="0" rtl="0" algn="ctr">
              <a:spcBef>
                <a:spcPts val="0"/>
              </a:spcBef>
              <a:buClr>
                <a:srgbClr val="FFFFFF"/>
              </a:buClr>
              <a:buSzPct val="25000"/>
              <a:buFont typeface="Calibri"/>
              <a:buNone/>
            </a:pPr>
            <a:r>
              <a:rPr b="1" lang="en" sz="2400">
                <a:solidFill>
                  <a:schemeClr val="accent6"/>
                </a:solidFill>
                <a:latin typeface="Arial"/>
                <a:ea typeface="Arial"/>
                <a:cs typeface="Arial"/>
                <a:sym typeface="Arial"/>
              </a:rPr>
              <a:t>Residential, Mobile, Enterprise </a:t>
            </a:r>
          </a:p>
        </p:txBody>
      </p:sp>
      <p:grpSp>
        <p:nvGrpSpPr>
          <p:cNvPr id="902" name="Shape 902"/>
          <p:cNvGrpSpPr/>
          <p:nvPr/>
        </p:nvGrpSpPr>
        <p:grpSpPr>
          <a:xfrm>
            <a:off x="7161031" y="3629507"/>
            <a:ext cx="931869" cy="588808"/>
            <a:chOff x="7604610" y="3288405"/>
            <a:chExt cx="931869" cy="588808"/>
          </a:xfrm>
        </p:grpSpPr>
        <p:pic>
          <p:nvPicPr>
            <p:cNvPr descr="DWDM.jpg" id="903" name="Shape 903"/>
            <p:cNvPicPr preferRelativeResize="0"/>
            <p:nvPr/>
          </p:nvPicPr>
          <p:blipFill rotWithShape="1">
            <a:blip r:embed="rId3">
              <a:alphaModFix/>
            </a:blip>
            <a:srcRect b="0" l="0" r="0" t="0"/>
            <a:stretch/>
          </p:blipFill>
          <p:spPr>
            <a:xfrm>
              <a:off x="7604610" y="3288405"/>
              <a:ext cx="740847" cy="588808"/>
            </a:xfrm>
            <a:prstGeom prst="rect">
              <a:avLst/>
            </a:prstGeom>
            <a:noFill/>
            <a:ln>
              <a:noFill/>
            </a:ln>
          </p:spPr>
        </p:pic>
        <p:grpSp>
          <p:nvGrpSpPr>
            <p:cNvPr id="904" name="Shape 904"/>
            <p:cNvGrpSpPr/>
            <p:nvPr/>
          </p:nvGrpSpPr>
          <p:grpSpPr>
            <a:xfrm rot="5400000">
              <a:off x="8201201" y="3499877"/>
              <a:ext cx="414356" cy="256199"/>
              <a:chOff x="9332200" y="4662707"/>
              <a:chExt cx="980183" cy="359729"/>
            </a:xfrm>
          </p:grpSpPr>
          <p:cxnSp>
            <p:nvCxnSpPr>
              <p:cNvPr id="905" name="Shape 905"/>
              <p:cNvCxnSpPr/>
              <p:nvPr/>
            </p:nvCxnSpPr>
            <p:spPr>
              <a:xfrm>
                <a:off x="9332200" y="4662707"/>
                <a:ext cx="9960" cy="355819"/>
              </a:xfrm>
              <a:prstGeom prst="straightConnector1">
                <a:avLst/>
              </a:prstGeom>
              <a:noFill/>
              <a:ln cap="flat" cmpd="sng" w="38100">
                <a:solidFill>
                  <a:schemeClr val="dk1"/>
                </a:solidFill>
                <a:prstDash val="solid"/>
                <a:round/>
                <a:headEnd len="med" w="med" type="none"/>
                <a:tailEnd len="med" w="med" type="none"/>
              </a:ln>
            </p:spPr>
          </p:cxnSp>
          <p:cxnSp>
            <p:nvCxnSpPr>
              <p:cNvPr id="906" name="Shape 906"/>
              <p:cNvCxnSpPr/>
              <p:nvPr/>
            </p:nvCxnSpPr>
            <p:spPr>
              <a:xfrm>
                <a:off x="9495564" y="4662707"/>
                <a:ext cx="9960" cy="355819"/>
              </a:xfrm>
              <a:prstGeom prst="straightConnector1">
                <a:avLst/>
              </a:prstGeom>
              <a:noFill/>
              <a:ln cap="flat" cmpd="sng" w="38100">
                <a:solidFill>
                  <a:schemeClr val="dk1"/>
                </a:solidFill>
                <a:prstDash val="solid"/>
                <a:round/>
                <a:headEnd len="med" w="med" type="none"/>
                <a:tailEnd len="med" w="med" type="none"/>
              </a:ln>
            </p:spPr>
          </p:cxnSp>
          <p:cxnSp>
            <p:nvCxnSpPr>
              <p:cNvPr id="907" name="Shape 907"/>
              <p:cNvCxnSpPr/>
              <p:nvPr/>
            </p:nvCxnSpPr>
            <p:spPr>
              <a:xfrm>
                <a:off x="9660918" y="4666617"/>
                <a:ext cx="11953" cy="355819"/>
              </a:xfrm>
              <a:prstGeom prst="straightConnector1">
                <a:avLst/>
              </a:prstGeom>
              <a:noFill/>
              <a:ln cap="flat" cmpd="sng" w="38100">
                <a:solidFill>
                  <a:schemeClr val="dk1"/>
                </a:solidFill>
                <a:prstDash val="solid"/>
                <a:round/>
                <a:headEnd len="med" w="med" type="none"/>
                <a:tailEnd len="med" w="med" type="none"/>
              </a:ln>
            </p:spPr>
          </p:cxnSp>
          <p:cxnSp>
            <p:nvCxnSpPr>
              <p:cNvPr id="908" name="Shape 908"/>
              <p:cNvCxnSpPr/>
              <p:nvPr/>
            </p:nvCxnSpPr>
            <p:spPr>
              <a:xfrm>
                <a:off x="9822292" y="4662707"/>
                <a:ext cx="9960" cy="355819"/>
              </a:xfrm>
              <a:prstGeom prst="straightConnector1">
                <a:avLst/>
              </a:prstGeom>
              <a:noFill/>
              <a:ln cap="flat" cmpd="sng" w="38100">
                <a:solidFill>
                  <a:schemeClr val="dk1"/>
                </a:solidFill>
                <a:prstDash val="solid"/>
                <a:round/>
                <a:headEnd len="med" w="med" type="none"/>
                <a:tailEnd len="med" w="med" type="none"/>
              </a:ln>
            </p:spPr>
          </p:cxnSp>
          <p:cxnSp>
            <p:nvCxnSpPr>
              <p:cNvPr id="909" name="Shape 909"/>
              <p:cNvCxnSpPr/>
              <p:nvPr/>
            </p:nvCxnSpPr>
            <p:spPr>
              <a:xfrm>
                <a:off x="9967725" y="4664664"/>
                <a:ext cx="11953" cy="355819"/>
              </a:xfrm>
              <a:prstGeom prst="straightConnector1">
                <a:avLst/>
              </a:prstGeom>
              <a:noFill/>
              <a:ln cap="flat" cmpd="sng" w="38100">
                <a:solidFill>
                  <a:srgbClr val="FF0000"/>
                </a:solidFill>
                <a:prstDash val="solid"/>
                <a:round/>
                <a:headEnd len="med" w="med" type="none"/>
                <a:tailEnd len="med" w="med" type="none"/>
              </a:ln>
            </p:spPr>
          </p:cxnSp>
          <p:cxnSp>
            <p:nvCxnSpPr>
              <p:cNvPr id="910" name="Shape 910"/>
              <p:cNvCxnSpPr/>
              <p:nvPr/>
            </p:nvCxnSpPr>
            <p:spPr>
              <a:xfrm>
                <a:off x="10129096" y="4666617"/>
                <a:ext cx="11953" cy="355819"/>
              </a:xfrm>
              <a:prstGeom prst="straightConnector1">
                <a:avLst/>
              </a:prstGeom>
              <a:noFill/>
              <a:ln cap="flat" cmpd="sng" w="38100">
                <a:solidFill>
                  <a:schemeClr val="accent5"/>
                </a:solidFill>
                <a:prstDash val="solid"/>
                <a:round/>
                <a:headEnd len="med" w="med" type="none"/>
                <a:tailEnd len="med" w="med" type="none"/>
              </a:ln>
            </p:spPr>
          </p:cxnSp>
          <p:cxnSp>
            <p:nvCxnSpPr>
              <p:cNvPr id="911" name="Shape 911"/>
              <p:cNvCxnSpPr/>
              <p:nvPr/>
            </p:nvCxnSpPr>
            <p:spPr>
              <a:xfrm>
                <a:off x="10302421" y="4664662"/>
                <a:ext cx="9962" cy="355819"/>
              </a:xfrm>
              <a:prstGeom prst="straightConnector1">
                <a:avLst/>
              </a:prstGeom>
              <a:noFill/>
              <a:ln cap="flat" cmpd="sng" w="38100">
                <a:solidFill>
                  <a:schemeClr val="accent3"/>
                </a:solidFill>
                <a:prstDash val="solid"/>
                <a:round/>
                <a:headEnd len="med" w="med" type="none"/>
                <a:tailEnd len="med" w="med" type="none"/>
              </a:ln>
            </p:spPr>
          </p:cxnSp>
        </p:grpSp>
      </p:grpSp>
      <p:sp>
        <p:nvSpPr>
          <p:cNvPr id="912" name="Shape 912"/>
          <p:cNvSpPr/>
          <p:nvPr/>
        </p:nvSpPr>
        <p:spPr>
          <a:xfrm>
            <a:off x="1302603" y="2714002"/>
            <a:ext cx="6599284" cy="1057731"/>
          </a:xfrm>
          <a:prstGeom prst="roundRect">
            <a:avLst>
              <a:gd fmla="val 16667" name="adj"/>
            </a:avLst>
          </a:prstGeom>
          <a:noFill/>
          <a:ln cap="flat" cmpd="sng" w="28575">
            <a:solidFill>
              <a:srgbClr val="FF0000"/>
            </a:solidFill>
            <a:prstDash val="dash"/>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1800" u="none" cap="none" strike="noStrike">
              <a:solidFill>
                <a:srgbClr val="FFFFFF"/>
              </a:solidFill>
              <a:latin typeface="Calibri"/>
              <a:ea typeface="Calibri"/>
              <a:cs typeface="Calibri"/>
              <a:sym typeface="Calibri"/>
            </a:endParaRPr>
          </a:p>
        </p:txBody>
      </p:sp>
      <p:sp>
        <p:nvSpPr>
          <p:cNvPr id="913" name="Shape 913"/>
          <p:cNvSpPr txBox="1"/>
          <p:nvPr/>
        </p:nvSpPr>
        <p:spPr>
          <a:xfrm rot="5400000">
            <a:off x="7828226" y="3663184"/>
            <a:ext cx="1207342" cy="584776"/>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Calibri"/>
              <a:buNone/>
            </a:pPr>
            <a:r>
              <a:rPr b="0" i="0" lang="en" sz="1600" u="none" cap="none" strike="noStrike">
                <a:solidFill>
                  <a:srgbClr val="000000"/>
                </a:solidFill>
                <a:latin typeface="Calibri"/>
                <a:ea typeface="Calibri"/>
                <a:cs typeface="Calibri"/>
                <a:sym typeface="Calibri"/>
              </a:rPr>
              <a:t>ROADM</a:t>
            </a:r>
          </a:p>
          <a:p>
            <a:pPr indent="0" lvl="0" marL="0" marR="0" rtl="0" algn="ctr">
              <a:lnSpc>
                <a:spcPct val="100000"/>
              </a:lnSpc>
              <a:spcBef>
                <a:spcPts val="0"/>
              </a:spcBef>
              <a:spcAft>
                <a:spcPts val="0"/>
              </a:spcAft>
              <a:buClr>
                <a:srgbClr val="000000"/>
              </a:buClr>
              <a:buSzPct val="25000"/>
              <a:buFont typeface="Calibri"/>
              <a:buNone/>
            </a:pPr>
            <a:r>
              <a:rPr b="0" i="0" lang="en" sz="1600" u="none" cap="none" strike="noStrike">
                <a:solidFill>
                  <a:srgbClr val="000000"/>
                </a:solidFill>
                <a:latin typeface="Calibri"/>
                <a:ea typeface="Calibri"/>
                <a:cs typeface="Calibri"/>
                <a:sym typeface="Calibri"/>
              </a:rPr>
              <a:t>(Core)</a:t>
            </a:r>
          </a:p>
        </p:txBody>
      </p:sp>
      <p:pic>
        <p:nvPicPr>
          <p:cNvPr id="914" name="Shape 914"/>
          <p:cNvPicPr preferRelativeResize="0"/>
          <p:nvPr/>
        </p:nvPicPr>
        <p:blipFill rotWithShape="1">
          <a:blip r:embed="rId4">
            <a:alphaModFix/>
          </a:blip>
          <a:srcRect b="0" l="0" r="0" t="0"/>
          <a:stretch/>
        </p:blipFill>
        <p:spPr>
          <a:xfrm>
            <a:off x="2994342" y="2847275"/>
            <a:ext cx="489650" cy="157047"/>
          </a:xfrm>
          <a:prstGeom prst="rect">
            <a:avLst/>
          </a:prstGeom>
          <a:noFill/>
          <a:ln>
            <a:noFill/>
          </a:ln>
        </p:spPr>
      </p:pic>
      <p:pic>
        <p:nvPicPr>
          <p:cNvPr id="915" name="Shape 915"/>
          <p:cNvPicPr preferRelativeResize="0"/>
          <p:nvPr/>
        </p:nvPicPr>
        <p:blipFill rotWithShape="1">
          <a:blip r:embed="rId4">
            <a:alphaModFix/>
          </a:blip>
          <a:srcRect b="0" l="0" r="0" t="0"/>
          <a:stretch/>
        </p:blipFill>
        <p:spPr>
          <a:xfrm>
            <a:off x="4032421" y="2847275"/>
            <a:ext cx="489650" cy="157047"/>
          </a:xfrm>
          <a:prstGeom prst="rect">
            <a:avLst/>
          </a:prstGeom>
          <a:noFill/>
          <a:ln>
            <a:noFill/>
          </a:ln>
        </p:spPr>
      </p:pic>
      <p:pic>
        <p:nvPicPr>
          <p:cNvPr id="916" name="Shape 916"/>
          <p:cNvPicPr preferRelativeResize="0"/>
          <p:nvPr/>
        </p:nvPicPr>
        <p:blipFill rotWithShape="1">
          <a:blip r:embed="rId4">
            <a:alphaModFix/>
          </a:blip>
          <a:srcRect b="0" l="0" r="0" t="0"/>
          <a:stretch/>
        </p:blipFill>
        <p:spPr>
          <a:xfrm>
            <a:off x="5070489" y="2847275"/>
            <a:ext cx="489650" cy="157047"/>
          </a:xfrm>
          <a:prstGeom prst="rect">
            <a:avLst/>
          </a:prstGeom>
          <a:noFill/>
          <a:ln>
            <a:noFill/>
          </a:ln>
        </p:spPr>
      </p:pic>
      <p:pic>
        <p:nvPicPr>
          <p:cNvPr id="917" name="Shape 917"/>
          <p:cNvPicPr preferRelativeResize="0"/>
          <p:nvPr/>
        </p:nvPicPr>
        <p:blipFill rotWithShape="1">
          <a:blip r:embed="rId4">
            <a:alphaModFix/>
          </a:blip>
          <a:srcRect b="0" l="0" r="0" t="0"/>
          <a:stretch/>
        </p:blipFill>
        <p:spPr>
          <a:xfrm>
            <a:off x="6108576" y="2847275"/>
            <a:ext cx="489650" cy="157047"/>
          </a:xfrm>
          <a:prstGeom prst="rect">
            <a:avLst/>
          </a:prstGeom>
          <a:noFill/>
          <a:ln>
            <a:noFill/>
          </a:ln>
        </p:spPr>
      </p:pic>
      <p:pic>
        <p:nvPicPr>
          <p:cNvPr id="918" name="Shape 918"/>
          <p:cNvPicPr preferRelativeResize="0"/>
          <p:nvPr/>
        </p:nvPicPr>
        <p:blipFill rotWithShape="1">
          <a:blip r:embed="rId4">
            <a:alphaModFix/>
          </a:blip>
          <a:srcRect b="0" l="0" r="0" t="0"/>
          <a:stretch/>
        </p:blipFill>
        <p:spPr>
          <a:xfrm>
            <a:off x="4811339" y="3559283"/>
            <a:ext cx="489650" cy="157047"/>
          </a:xfrm>
          <a:prstGeom prst="rect">
            <a:avLst/>
          </a:prstGeom>
          <a:noFill/>
          <a:ln>
            <a:noFill/>
          </a:ln>
        </p:spPr>
      </p:pic>
      <p:pic>
        <p:nvPicPr>
          <p:cNvPr id="919" name="Shape 919"/>
          <p:cNvPicPr preferRelativeResize="0"/>
          <p:nvPr/>
        </p:nvPicPr>
        <p:blipFill rotWithShape="1">
          <a:blip r:embed="rId4">
            <a:alphaModFix/>
          </a:blip>
          <a:srcRect b="0" l="0" r="0" t="0"/>
          <a:stretch/>
        </p:blipFill>
        <p:spPr>
          <a:xfrm>
            <a:off x="3978132" y="3559283"/>
            <a:ext cx="489650" cy="157047"/>
          </a:xfrm>
          <a:prstGeom prst="rect">
            <a:avLst/>
          </a:prstGeom>
          <a:noFill/>
          <a:ln>
            <a:noFill/>
          </a:ln>
        </p:spPr>
      </p:pic>
      <p:pic>
        <p:nvPicPr>
          <p:cNvPr id="920" name="Shape 920"/>
          <p:cNvPicPr preferRelativeResize="0"/>
          <p:nvPr/>
        </p:nvPicPr>
        <p:blipFill rotWithShape="1">
          <a:blip r:embed="rId4">
            <a:alphaModFix/>
          </a:blip>
          <a:srcRect b="0" l="0" r="0" t="0"/>
          <a:stretch/>
        </p:blipFill>
        <p:spPr>
          <a:xfrm>
            <a:off x="5644546" y="3559283"/>
            <a:ext cx="489650" cy="157047"/>
          </a:xfrm>
          <a:prstGeom prst="rect">
            <a:avLst/>
          </a:prstGeom>
          <a:noFill/>
          <a:ln>
            <a:noFill/>
          </a:ln>
        </p:spPr>
      </p:pic>
      <p:pic>
        <p:nvPicPr>
          <p:cNvPr id="921" name="Shape 921"/>
          <p:cNvPicPr preferRelativeResize="0"/>
          <p:nvPr/>
        </p:nvPicPr>
        <p:blipFill rotWithShape="1">
          <a:blip r:embed="rId4">
            <a:alphaModFix/>
          </a:blip>
          <a:srcRect b="0" l="0" r="0" t="0"/>
          <a:stretch/>
        </p:blipFill>
        <p:spPr>
          <a:xfrm>
            <a:off x="6477751" y="3559283"/>
            <a:ext cx="489650" cy="157047"/>
          </a:xfrm>
          <a:prstGeom prst="rect">
            <a:avLst/>
          </a:prstGeom>
          <a:noFill/>
          <a:ln>
            <a:noFill/>
          </a:ln>
        </p:spPr>
      </p:pic>
      <p:pic>
        <p:nvPicPr>
          <p:cNvPr id="922" name="Shape 922"/>
          <p:cNvPicPr preferRelativeResize="0"/>
          <p:nvPr/>
        </p:nvPicPr>
        <p:blipFill rotWithShape="1">
          <a:blip r:embed="rId4">
            <a:alphaModFix/>
          </a:blip>
          <a:srcRect b="0" l="0" r="0" t="0"/>
          <a:stretch/>
        </p:blipFill>
        <p:spPr>
          <a:xfrm>
            <a:off x="7310959" y="3559283"/>
            <a:ext cx="489650" cy="157047"/>
          </a:xfrm>
          <a:prstGeom prst="rect">
            <a:avLst/>
          </a:prstGeom>
          <a:noFill/>
          <a:ln>
            <a:noFill/>
          </a:ln>
        </p:spPr>
      </p:pic>
      <p:pic>
        <p:nvPicPr>
          <p:cNvPr descr="rack_42U.gif" id="923" name="Shape 923"/>
          <p:cNvPicPr preferRelativeResize="0"/>
          <p:nvPr/>
        </p:nvPicPr>
        <p:blipFill rotWithShape="1">
          <a:blip r:embed="rId5">
            <a:alphaModFix/>
          </a:blip>
          <a:srcRect b="0" l="0" r="0" t="0"/>
          <a:stretch/>
        </p:blipFill>
        <p:spPr>
          <a:xfrm>
            <a:off x="3867889" y="3767485"/>
            <a:ext cx="711376" cy="1120417"/>
          </a:xfrm>
          <a:prstGeom prst="rect">
            <a:avLst/>
          </a:prstGeom>
          <a:noFill/>
          <a:ln>
            <a:noFill/>
          </a:ln>
        </p:spPr>
      </p:pic>
      <p:pic>
        <p:nvPicPr>
          <p:cNvPr descr="rack_42U.gif" id="924" name="Shape 924"/>
          <p:cNvPicPr preferRelativeResize="0"/>
          <p:nvPr/>
        </p:nvPicPr>
        <p:blipFill rotWithShape="1">
          <a:blip r:embed="rId5">
            <a:alphaModFix/>
          </a:blip>
          <a:srcRect b="0" l="0" r="0" t="0"/>
          <a:stretch/>
        </p:blipFill>
        <p:spPr>
          <a:xfrm>
            <a:off x="4704528" y="3767485"/>
            <a:ext cx="711376" cy="1120417"/>
          </a:xfrm>
          <a:prstGeom prst="rect">
            <a:avLst/>
          </a:prstGeom>
          <a:noFill/>
          <a:ln>
            <a:noFill/>
          </a:ln>
        </p:spPr>
      </p:pic>
      <p:pic>
        <p:nvPicPr>
          <p:cNvPr descr="rack_42U.gif" id="925" name="Shape 925"/>
          <p:cNvPicPr preferRelativeResize="0"/>
          <p:nvPr/>
        </p:nvPicPr>
        <p:blipFill rotWithShape="1">
          <a:blip r:embed="rId5">
            <a:alphaModFix/>
          </a:blip>
          <a:srcRect b="0" l="0" r="0" t="0"/>
          <a:stretch/>
        </p:blipFill>
        <p:spPr>
          <a:xfrm>
            <a:off x="5541162" y="3767485"/>
            <a:ext cx="711376" cy="1120417"/>
          </a:xfrm>
          <a:prstGeom prst="rect">
            <a:avLst/>
          </a:prstGeom>
          <a:noFill/>
          <a:ln>
            <a:noFill/>
          </a:ln>
        </p:spPr>
      </p:pic>
      <p:pic>
        <p:nvPicPr>
          <p:cNvPr descr="rack_42U.gif" id="926" name="Shape 926"/>
          <p:cNvPicPr preferRelativeResize="0"/>
          <p:nvPr/>
        </p:nvPicPr>
        <p:blipFill rotWithShape="1">
          <a:blip r:embed="rId5">
            <a:alphaModFix/>
          </a:blip>
          <a:srcRect b="0" l="0" r="0" t="0"/>
          <a:stretch/>
        </p:blipFill>
        <p:spPr>
          <a:xfrm>
            <a:off x="6377807" y="3767485"/>
            <a:ext cx="711376" cy="1120417"/>
          </a:xfrm>
          <a:prstGeom prst="rect">
            <a:avLst/>
          </a:prstGeom>
          <a:noFill/>
          <a:ln>
            <a:noFill/>
          </a:ln>
        </p:spPr>
      </p:pic>
      <p:cxnSp>
        <p:nvCxnSpPr>
          <p:cNvPr id="927" name="Shape 927"/>
          <p:cNvCxnSpPr>
            <a:stCxn id="919" idx="0"/>
            <a:endCxn id="914" idx="2"/>
          </p:cNvCxnSpPr>
          <p:nvPr/>
        </p:nvCxnSpPr>
        <p:spPr>
          <a:xfrm rot="10800000">
            <a:off x="3239258" y="3004283"/>
            <a:ext cx="983700" cy="555000"/>
          </a:xfrm>
          <a:prstGeom prst="straightConnector1">
            <a:avLst/>
          </a:prstGeom>
          <a:noFill/>
          <a:ln cap="flat" cmpd="sng" w="9525">
            <a:solidFill>
              <a:srgbClr val="7F7F7F"/>
            </a:solidFill>
            <a:prstDash val="solid"/>
            <a:round/>
            <a:headEnd len="med" w="med" type="none"/>
            <a:tailEnd len="med" w="med" type="none"/>
          </a:ln>
        </p:spPr>
      </p:cxnSp>
      <p:cxnSp>
        <p:nvCxnSpPr>
          <p:cNvPr id="928" name="Shape 928"/>
          <p:cNvCxnSpPr>
            <a:stCxn id="918" idx="0"/>
            <a:endCxn id="914" idx="2"/>
          </p:cNvCxnSpPr>
          <p:nvPr/>
        </p:nvCxnSpPr>
        <p:spPr>
          <a:xfrm rot="10800000">
            <a:off x="3239064" y="3004283"/>
            <a:ext cx="1817100" cy="555000"/>
          </a:xfrm>
          <a:prstGeom prst="straightConnector1">
            <a:avLst/>
          </a:prstGeom>
          <a:noFill/>
          <a:ln cap="flat" cmpd="sng" w="9525">
            <a:solidFill>
              <a:srgbClr val="7F7F7F"/>
            </a:solidFill>
            <a:prstDash val="solid"/>
            <a:round/>
            <a:headEnd len="med" w="med" type="none"/>
            <a:tailEnd len="med" w="med" type="none"/>
          </a:ln>
        </p:spPr>
      </p:cxnSp>
      <p:cxnSp>
        <p:nvCxnSpPr>
          <p:cNvPr id="929" name="Shape 929"/>
          <p:cNvCxnSpPr>
            <a:stCxn id="920" idx="0"/>
            <a:endCxn id="914" idx="2"/>
          </p:cNvCxnSpPr>
          <p:nvPr/>
        </p:nvCxnSpPr>
        <p:spPr>
          <a:xfrm rot="10800000">
            <a:off x="3239171" y="3004283"/>
            <a:ext cx="2650200" cy="555000"/>
          </a:xfrm>
          <a:prstGeom prst="straightConnector1">
            <a:avLst/>
          </a:prstGeom>
          <a:noFill/>
          <a:ln cap="flat" cmpd="sng" w="9525">
            <a:solidFill>
              <a:srgbClr val="7F7F7F"/>
            </a:solidFill>
            <a:prstDash val="solid"/>
            <a:round/>
            <a:headEnd len="med" w="med" type="none"/>
            <a:tailEnd len="med" w="med" type="none"/>
          </a:ln>
        </p:spPr>
      </p:cxnSp>
      <p:cxnSp>
        <p:nvCxnSpPr>
          <p:cNvPr id="930" name="Shape 930"/>
          <p:cNvCxnSpPr>
            <a:stCxn id="921" idx="0"/>
            <a:endCxn id="914" idx="2"/>
          </p:cNvCxnSpPr>
          <p:nvPr/>
        </p:nvCxnSpPr>
        <p:spPr>
          <a:xfrm rot="10800000">
            <a:off x="3239276" y="3004283"/>
            <a:ext cx="3483300" cy="555000"/>
          </a:xfrm>
          <a:prstGeom prst="straightConnector1">
            <a:avLst/>
          </a:prstGeom>
          <a:noFill/>
          <a:ln cap="flat" cmpd="sng" w="9525">
            <a:solidFill>
              <a:srgbClr val="7F7F7F"/>
            </a:solidFill>
            <a:prstDash val="solid"/>
            <a:round/>
            <a:headEnd len="med" w="med" type="none"/>
            <a:tailEnd len="med" w="med" type="none"/>
          </a:ln>
        </p:spPr>
      </p:cxnSp>
      <p:cxnSp>
        <p:nvCxnSpPr>
          <p:cNvPr id="931" name="Shape 931"/>
          <p:cNvCxnSpPr>
            <a:stCxn id="922" idx="0"/>
            <a:endCxn id="914" idx="2"/>
          </p:cNvCxnSpPr>
          <p:nvPr/>
        </p:nvCxnSpPr>
        <p:spPr>
          <a:xfrm rot="10800000">
            <a:off x="3239084" y="3004283"/>
            <a:ext cx="4316700" cy="555000"/>
          </a:xfrm>
          <a:prstGeom prst="straightConnector1">
            <a:avLst/>
          </a:prstGeom>
          <a:noFill/>
          <a:ln cap="flat" cmpd="sng" w="9525">
            <a:solidFill>
              <a:srgbClr val="7F7F7F"/>
            </a:solidFill>
            <a:prstDash val="solid"/>
            <a:round/>
            <a:headEnd len="med" w="med" type="none"/>
            <a:tailEnd len="med" w="med" type="none"/>
          </a:ln>
        </p:spPr>
      </p:cxnSp>
      <p:cxnSp>
        <p:nvCxnSpPr>
          <p:cNvPr id="932" name="Shape 932"/>
          <p:cNvCxnSpPr>
            <a:stCxn id="919" idx="0"/>
            <a:endCxn id="915" idx="2"/>
          </p:cNvCxnSpPr>
          <p:nvPr/>
        </p:nvCxnSpPr>
        <p:spPr>
          <a:xfrm flipH="1" rot="10800000">
            <a:off x="4222958" y="3004283"/>
            <a:ext cx="54300" cy="555000"/>
          </a:xfrm>
          <a:prstGeom prst="straightConnector1">
            <a:avLst/>
          </a:prstGeom>
          <a:noFill/>
          <a:ln cap="flat" cmpd="sng" w="9525">
            <a:solidFill>
              <a:srgbClr val="7F7F7F"/>
            </a:solidFill>
            <a:prstDash val="solid"/>
            <a:round/>
            <a:headEnd len="med" w="med" type="none"/>
            <a:tailEnd len="med" w="med" type="none"/>
          </a:ln>
        </p:spPr>
      </p:cxnSp>
      <p:cxnSp>
        <p:nvCxnSpPr>
          <p:cNvPr id="933" name="Shape 933"/>
          <p:cNvCxnSpPr>
            <a:stCxn id="918" idx="0"/>
            <a:endCxn id="915" idx="2"/>
          </p:cNvCxnSpPr>
          <p:nvPr/>
        </p:nvCxnSpPr>
        <p:spPr>
          <a:xfrm rot="10800000">
            <a:off x="4277364" y="3004283"/>
            <a:ext cx="778800" cy="555000"/>
          </a:xfrm>
          <a:prstGeom prst="straightConnector1">
            <a:avLst/>
          </a:prstGeom>
          <a:noFill/>
          <a:ln cap="flat" cmpd="sng" w="9525">
            <a:solidFill>
              <a:srgbClr val="7F7F7F"/>
            </a:solidFill>
            <a:prstDash val="solid"/>
            <a:round/>
            <a:headEnd len="med" w="med" type="none"/>
            <a:tailEnd len="med" w="med" type="none"/>
          </a:ln>
        </p:spPr>
      </p:cxnSp>
      <p:cxnSp>
        <p:nvCxnSpPr>
          <p:cNvPr id="934" name="Shape 934"/>
          <p:cNvCxnSpPr>
            <a:stCxn id="920" idx="0"/>
            <a:endCxn id="915" idx="2"/>
          </p:cNvCxnSpPr>
          <p:nvPr/>
        </p:nvCxnSpPr>
        <p:spPr>
          <a:xfrm rot="10800000">
            <a:off x="4277171" y="3004283"/>
            <a:ext cx="1612200" cy="555000"/>
          </a:xfrm>
          <a:prstGeom prst="straightConnector1">
            <a:avLst/>
          </a:prstGeom>
          <a:noFill/>
          <a:ln cap="flat" cmpd="sng" w="9525">
            <a:solidFill>
              <a:srgbClr val="7F7F7F"/>
            </a:solidFill>
            <a:prstDash val="solid"/>
            <a:round/>
            <a:headEnd len="med" w="med" type="none"/>
            <a:tailEnd len="med" w="med" type="none"/>
          </a:ln>
        </p:spPr>
      </p:cxnSp>
      <p:cxnSp>
        <p:nvCxnSpPr>
          <p:cNvPr id="935" name="Shape 935"/>
          <p:cNvCxnSpPr>
            <a:stCxn id="921" idx="0"/>
            <a:endCxn id="915" idx="2"/>
          </p:cNvCxnSpPr>
          <p:nvPr/>
        </p:nvCxnSpPr>
        <p:spPr>
          <a:xfrm rot="10800000">
            <a:off x="4277276" y="3004283"/>
            <a:ext cx="2445300" cy="555000"/>
          </a:xfrm>
          <a:prstGeom prst="straightConnector1">
            <a:avLst/>
          </a:prstGeom>
          <a:noFill/>
          <a:ln cap="flat" cmpd="sng" w="9525">
            <a:solidFill>
              <a:srgbClr val="7F7F7F"/>
            </a:solidFill>
            <a:prstDash val="solid"/>
            <a:round/>
            <a:headEnd len="med" w="med" type="none"/>
            <a:tailEnd len="med" w="med" type="none"/>
          </a:ln>
        </p:spPr>
      </p:cxnSp>
      <p:cxnSp>
        <p:nvCxnSpPr>
          <p:cNvPr id="936" name="Shape 936"/>
          <p:cNvCxnSpPr>
            <a:stCxn id="922" idx="0"/>
            <a:endCxn id="915" idx="2"/>
          </p:cNvCxnSpPr>
          <p:nvPr/>
        </p:nvCxnSpPr>
        <p:spPr>
          <a:xfrm rot="10800000">
            <a:off x="4277384" y="3004283"/>
            <a:ext cx="3278400" cy="555000"/>
          </a:xfrm>
          <a:prstGeom prst="straightConnector1">
            <a:avLst/>
          </a:prstGeom>
          <a:noFill/>
          <a:ln cap="flat" cmpd="sng" w="9525">
            <a:solidFill>
              <a:srgbClr val="7F7F7F"/>
            </a:solidFill>
            <a:prstDash val="solid"/>
            <a:round/>
            <a:headEnd len="med" w="med" type="none"/>
            <a:tailEnd len="med" w="med" type="none"/>
          </a:ln>
        </p:spPr>
      </p:cxnSp>
      <p:cxnSp>
        <p:nvCxnSpPr>
          <p:cNvPr id="937" name="Shape 937"/>
          <p:cNvCxnSpPr>
            <a:stCxn id="922" idx="0"/>
            <a:endCxn id="916" idx="2"/>
          </p:cNvCxnSpPr>
          <p:nvPr/>
        </p:nvCxnSpPr>
        <p:spPr>
          <a:xfrm rot="10800000">
            <a:off x="5315384" y="3004283"/>
            <a:ext cx="2240400" cy="555000"/>
          </a:xfrm>
          <a:prstGeom prst="straightConnector1">
            <a:avLst/>
          </a:prstGeom>
          <a:noFill/>
          <a:ln cap="flat" cmpd="sng" w="9525">
            <a:solidFill>
              <a:srgbClr val="7F7F7F"/>
            </a:solidFill>
            <a:prstDash val="solid"/>
            <a:round/>
            <a:headEnd len="med" w="med" type="none"/>
            <a:tailEnd len="med" w="med" type="none"/>
          </a:ln>
        </p:spPr>
      </p:cxnSp>
      <p:cxnSp>
        <p:nvCxnSpPr>
          <p:cNvPr id="938" name="Shape 938"/>
          <p:cNvCxnSpPr>
            <a:stCxn id="921" idx="0"/>
            <a:endCxn id="916" idx="2"/>
          </p:cNvCxnSpPr>
          <p:nvPr/>
        </p:nvCxnSpPr>
        <p:spPr>
          <a:xfrm rot="10800000">
            <a:off x="5315276" y="3004283"/>
            <a:ext cx="1407300" cy="555000"/>
          </a:xfrm>
          <a:prstGeom prst="straightConnector1">
            <a:avLst/>
          </a:prstGeom>
          <a:noFill/>
          <a:ln cap="flat" cmpd="sng" w="9525">
            <a:solidFill>
              <a:srgbClr val="7F7F7F"/>
            </a:solidFill>
            <a:prstDash val="solid"/>
            <a:round/>
            <a:headEnd len="med" w="med" type="none"/>
            <a:tailEnd len="med" w="med" type="none"/>
          </a:ln>
        </p:spPr>
      </p:cxnSp>
      <p:cxnSp>
        <p:nvCxnSpPr>
          <p:cNvPr id="939" name="Shape 939"/>
          <p:cNvCxnSpPr>
            <a:stCxn id="920" idx="0"/>
            <a:endCxn id="916" idx="2"/>
          </p:cNvCxnSpPr>
          <p:nvPr/>
        </p:nvCxnSpPr>
        <p:spPr>
          <a:xfrm rot="10800000">
            <a:off x="5315171" y="3004283"/>
            <a:ext cx="574200" cy="555000"/>
          </a:xfrm>
          <a:prstGeom prst="straightConnector1">
            <a:avLst/>
          </a:prstGeom>
          <a:noFill/>
          <a:ln cap="flat" cmpd="sng" w="9525">
            <a:solidFill>
              <a:srgbClr val="7F7F7F"/>
            </a:solidFill>
            <a:prstDash val="solid"/>
            <a:round/>
            <a:headEnd len="med" w="med" type="none"/>
            <a:tailEnd len="med" w="med" type="none"/>
          </a:ln>
        </p:spPr>
      </p:cxnSp>
      <p:cxnSp>
        <p:nvCxnSpPr>
          <p:cNvPr id="940" name="Shape 940"/>
          <p:cNvCxnSpPr>
            <a:stCxn id="918" idx="0"/>
            <a:endCxn id="916" idx="2"/>
          </p:cNvCxnSpPr>
          <p:nvPr/>
        </p:nvCxnSpPr>
        <p:spPr>
          <a:xfrm flipH="1" rot="10800000">
            <a:off x="5056164" y="3004283"/>
            <a:ext cx="259200" cy="555000"/>
          </a:xfrm>
          <a:prstGeom prst="straightConnector1">
            <a:avLst/>
          </a:prstGeom>
          <a:noFill/>
          <a:ln cap="flat" cmpd="sng" w="9525">
            <a:solidFill>
              <a:srgbClr val="7F7F7F"/>
            </a:solidFill>
            <a:prstDash val="solid"/>
            <a:round/>
            <a:headEnd len="med" w="med" type="none"/>
            <a:tailEnd len="med" w="med" type="none"/>
          </a:ln>
        </p:spPr>
      </p:cxnSp>
      <p:cxnSp>
        <p:nvCxnSpPr>
          <p:cNvPr id="941" name="Shape 941"/>
          <p:cNvCxnSpPr>
            <a:stCxn id="919" idx="0"/>
            <a:endCxn id="916" idx="2"/>
          </p:cNvCxnSpPr>
          <p:nvPr/>
        </p:nvCxnSpPr>
        <p:spPr>
          <a:xfrm flipH="1" rot="10800000">
            <a:off x="4222958" y="3004283"/>
            <a:ext cx="1092300" cy="555000"/>
          </a:xfrm>
          <a:prstGeom prst="straightConnector1">
            <a:avLst/>
          </a:prstGeom>
          <a:noFill/>
          <a:ln cap="flat" cmpd="sng" w="9525">
            <a:solidFill>
              <a:srgbClr val="7F7F7F"/>
            </a:solidFill>
            <a:prstDash val="solid"/>
            <a:round/>
            <a:headEnd len="med" w="med" type="none"/>
            <a:tailEnd len="med" w="med" type="none"/>
          </a:ln>
        </p:spPr>
      </p:cxnSp>
      <p:grpSp>
        <p:nvGrpSpPr>
          <p:cNvPr id="942" name="Shape 942"/>
          <p:cNvGrpSpPr/>
          <p:nvPr/>
        </p:nvGrpSpPr>
        <p:grpSpPr>
          <a:xfrm>
            <a:off x="1480360" y="3004426"/>
            <a:ext cx="4872925" cy="708671"/>
            <a:chOff x="1480350" y="3161732"/>
            <a:chExt cx="4872925" cy="787398"/>
          </a:xfrm>
        </p:grpSpPr>
        <p:cxnSp>
          <p:nvCxnSpPr>
            <p:cNvPr id="943" name="Shape 943"/>
            <p:cNvCxnSpPr>
              <a:stCxn id="944" idx="0"/>
              <a:endCxn id="916" idx="2"/>
            </p:cNvCxnSpPr>
            <p:nvPr/>
          </p:nvCxnSpPr>
          <p:spPr>
            <a:xfrm flipH="1" rot="10800000">
              <a:off x="1725176" y="3161732"/>
              <a:ext cx="3590100" cy="612900"/>
            </a:xfrm>
            <a:prstGeom prst="straightConnector1">
              <a:avLst/>
            </a:prstGeom>
            <a:noFill/>
            <a:ln cap="flat" cmpd="sng" w="9525">
              <a:solidFill>
                <a:srgbClr val="7F7F7F"/>
              </a:solidFill>
              <a:prstDash val="solid"/>
              <a:round/>
              <a:headEnd len="med" w="med" type="none"/>
              <a:tailEnd len="med" w="med" type="none"/>
            </a:ln>
          </p:spPr>
        </p:cxnSp>
        <p:grpSp>
          <p:nvGrpSpPr>
            <p:cNvPr id="945" name="Shape 945"/>
            <p:cNvGrpSpPr/>
            <p:nvPr/>
          </p:nvGrpSpPr>
          <p:grpSpPr>
            <a:xfrm>
              <a:off x="1480350" y="3161732"/>
              <a:ext cx="4872925" cy="787398"/>
              <a:chOff x="1478501" y="3165473"/>
              <a:chExt cx="4872925" cy="787398"/>
            </a:xfrm>
          </p:grpSpPr>
          <p:pic>
            <p:nvPicPr>
              <p:cNvPr id="944" name="Shape 944"/>
              <p:cNvPicPr preferRelativeResize="0"/>
              <p:nvPr/>
            </p:nvPicPr>
            <p:blipFill rotWithShape="1">
              <a:blip r:embed="rId6">
                <a:alphaModFix/>
              </a:blip>
              <a:srcRect b="0" l="0" r="0" t="0"/>
              <a:stretch/>
            </p:blipFill>
            <p:spPr>
              <a:xfrm>
                <a:off x="1478501" y="3778373"/>
                <a:ext cx="489650" cy="174498"/>
              </a:xfrm>
              <a:prstGeom prst="rect">
                <a:avLst/>
              </a:prstGeom>
              <a:noFill/>
              <a:ln>
                <a:noFill/>
              </a:ln>
            </p:spPr>
          </p:pic>
          <p:cxnSp>
            <p:nvCxnSpPr>
              <p:cNvPr id="946" name="Shape 946"/>
              <p:cNvCxnSpPr>
                <a:stCxn id="944" idx="0"/>
                <a:endCxn id="914" idx="2"/>
              </p:cNvCxnSpPr>
              <p:nvPr/>
            </p:nvCxnSpPr>
            <p:spPr>
              <a:xfrm flipH="1" rot="10800000">
                <a:off x="1723327" y="3165473"/>
                <a:ext cx="1514100" cy="612900"/>
              </a:xfrm>
              <a:prstGeom prst="straightConnector1">
                <a:avLst/>
              </a:prstGeom>
              <a:noFill/>
              <a:ln cap="flat" cmpd="sng" w="9525">
                <a:solidFill>
                  <a:srgbClr val="7F7F7F"/>
                </a:solidFill>
                <a:prstDash val="solid"/>
                <a:round/>
                <a:headEnd len="med" w="med" type="none"/>
                <a:tailEnd len="med" w="med" type="none"/>
              </a:ln>
            </p:spPr>
          </p:cxnSp>
          <p:cxnSp>
            <p:nvCxnSpPr>
              <p:cNvPr id="947" name="Shape 947"/>
              <p:cNvCxnSpPr>
                <a:stCxn id="944" idx="0"/>
                <a:endCxn id="915" idx="2"/>
              </p:cNvCxnSpPr>
              <p:nvPr/>
            </p:nvCxnSpPr>
            <p:spPr>
              <a:xfrm flipH="1" rot="10800000">
                <a:off x="1723327" y="3165473"/>
                <a:ext cx="2552099" cy="612900"/>
              </a:xfrm>
              <a:prstGeom prst="straightConnector1">
                <a:avLst/>
              </a:prstGeom>
              <a:noFill/>
              <a:ln cap="flat" cmpd="sng" w="9525">
                <a:solidFill>
                  <a:srgbClr val="7F7F7F"/>
                </a:solidFill>
                <a:prstDash val="solid"/>
                <a:round/>
                <a:headEnd len="med" w="med" type="none"/>
                <a:tailEnd len="med" w="med" type="none"/>
              </a:ln>
            </p:spPr>
          </p:cxnSp>
          <p:cxnSp>
            <p:nvCxnSpPr>
              <p:cNvPr id="948" name="Shape 948"/>
              <p:cNvCxnSpPr>
                <a:stCxn id="944" idx="0"/>
                <a:endCxn id="917" idx="2"/>
              </p:cNvCxnSpPr>
              <p:nvPr/>
            </p:nvCxnSpPr>
            <p:spPr>
              <a:xfrm flipH="1" rot="10800000">
                <a:off x="1723327" y="3165473"/>
                <a:ext cx="4628100" cy="612900"/>
              </a:xfrm>
              <a:prstGeom prst="straightConnector1">
                <a:avLst/>
              </a:prstGeom>
              <a:noFill/>
              <a:ln cap="flat" cmpd="sng" w="9525">
                <a:solidFill>
                  <a:srgbClr val="7F7F7F"/>
                </a:solidFill>
                <a:prstDash val="solid"/>
                <a:round/>
                <a:headEnd len="med" w="med" type="none"/>
                <a:tailEnd len="med" w="med" type="none"/>
              </a:ln>
            </p:spPr>
          </p:cxnSp>
        </p:grpSp>
      </p:grpSp>
      <p:grpSp>
        <p:nvGrpSpPr>
          <p:cNvPr id="949" name="Shape 949"/>
          <p:cNvGrpSpPr/>
          <p:nvPr/>
        </p:nvGrpSpPr>
        <p:grpSpPr>
          <a:xfrm>
            <a:off x="2311713" y="3004286"/>
            <a:ext cx="4041625" cy="712181"/>
            <a:chOff x="2311708" y="3161573"/>
            <a:chExt cx="4041625" cy="791298"/>
          </a:xfrm>
        </p:grpSpPr>
        <p:pic>
          <p:nvPicPr>
            <p:cNvPr id="950" name="Shape 950"/>
            <p:cNvPicPr preferRelativeResize="0"/>
            <p:nvPr/>
          </p:nvPicPr>
          <p:blipFill rotWithShape="1">
            <a:blip r:embed="rId6">
              <a:alphaModFix/>
            </a:blip>
            <a:srcRect b="0" l="0" r="0" t="0"/>
            <a:stretch/>
          </p:blipFill>
          <p:spPr>
            <a:xfrm>
              <a:off x="2311708" y="3778373"/>
              <a:ext cx="489650" cy="174498"/>
            </a:xfrm>
            <a:prstGeom prst="rect">
              <a:avLst/>
            </a:prstGeom>
            <a:noFill/>
            <a:ln>
              <a:noFill/>
            </a:ln>
          </p:spPr>
        </p:pic>
        <p:cxnSp>
          <p:nvCxnSpPr>
            <p:cNvPr id="951" name="Shape 951"/>
            <p:cNvCxnSpPr>
              <a:stCxn id="950" idx="0"/>
              <a:endCxn id="914" idx="2"/>
            </p:cNvCxnSpPr>
            <p:nvPr/>
          </p:nvCxnSpPr>
          <p:spPr>
            <a:xfrm flipH="1" rot="10800000">
              <a:off x="2556533" y="3161573"/>
              <a:ext cx="682500" cy="616800"/>
            </a:xfrm>
            <a:prstGeom prst="straightConnector1">
              <a:avLst/>
            </a:prstGeom>
            <a:noFill/>
            <a:ln cap="flat" cmpd="sng" w="9525">
              <a:solidFill>
                <a:srgbClr val="7F7F7F"/>
              </a:solidFill>
              <a:prstDash val="solid"/>
              <a:round/>
              <a:headEnd len="med" w="med" type="none"/>
              <a:tailEnd len="med" w="med" type="none"/>
            </a:ln>
          </p:spPr>
        </p:cxnSp>
        <p:cxnSp>
          <p:nvCxnSpPr>
            <p:cNvPr id="952" name="Shape 952"/>
            <p:cNvCxnSpPr>
              <a:stCxn id="950" idx="0"/>
              <a:endCxn id="915" idx="2"/>
            </p:cNvCxnSpPr>
            <p:nvPr/>
          </p:nvCxnSpPr>
          <p:spPr>
            <a:xfrm flipH="1" rot="10800000">
              <a:off x="2556533" y="3161573"/>
              <a:ext cx="1720800" cy="616800"/>
            </a:xfrm>
            <a:prstGeom prst="straightConnector1">
              <a:avLst/>
            </a:prstGeom>
            <a:noFill/>
            <a:ln cap="flat" cmpd="sng" w="9525">
              <a:solidFill>
                <a:srgbClr val="7F7F7F"/>
              </a:solidFill>
              <a:prstDash val="solid"/>
              <a:round/>
              <a:headEnd len="med" w="med" type="none"/>
              <a:tailEnd len="med" w="med" type="none"/>
            </a:ln>
          </p:spPr>
        </p:cxnSp>
        <p:cxnSp>
          <p:nvCxnSpPr>
            <p:cNvPr id="953" name="Shape 953"/>
            <p:cNvCxnSpPr>
              <a:stCxn id="950" idx="0"/>
              <a:endCxn id="916" idx="2"/>
            </p:cNvCxnSpPr>
            <p:nvPr/>
          </p:nvCxnSpPr>
          <p:spPr>
            <a:xfrm flipH="1" rot="10800000">
              <a:off x="2556533" y="3161573"/>
              <a:ext cx="2758800" cy="616800"/>
            </a:xfrm>
            <a:prstGeom prst="straightConnector1">
              <a:avLst/>
            </a:prstGeom>
            <a:noFill/>
            <a:ln cap="flat" cmpd="sng" w="9525">
              <a:solidFill>
                <a:srgbClr val="7F7F7F"/>
              </a:solidFill>
              <a:prstDash val="solid"/>
              <a:round/>
              <a:headEnd len="med" w="med" type="none"/>
              <a:tailEnd len="med" w="med" type="none"/>
            </a:ln>
          </p:spPr>
        </p:cxnSp>
        <p:cxnSp>
          <p:nvCxnSpPr>
            <p:cNvPr id="954" name="Shape 954"/>
            <p:cNvCxnSpPr>
              <a:stCxn id="950" idx="0"/>
              <a:endCxn id="917" idx="2"/>
            </p:cNvCxnSpPr>
            <p:nvPr/>
          </p:nvCxnSpPr>
          <p:spPr>
            <a:xfrm flipH="1" rot="10800000">
              <a:off x="2556533" y="3161573"/>
              <a:ext cx="3796800" cy="616800"/>
            </a:xfrm>
            <a:prstGeom prst="straightConnector1">
              <a:avLst/>
            </a:prstGeom>
            <a:noFill/>
            <a:ln cap="flat" cmpd="sng" w="9525">
              <a:solidFill>
                <a:srgbClr val="7F7F7F"/>
              </a:solidFill>
              <a:prstDash val="solid"/>
              <a:round/>
              <a:headEnd len="med" w="med" type="none"/>
              <a:tailEnd len="med" w="med" type="none"/>
            </a:ln>
          </p:spPr>
        </p:cxnSp>
      </p:grpSp>
      <p:grpSp>
        <p:nvGrpSpPr>
          <p:cNvPr id="955" name="Shape 955"/>
          <p:cNvGrpSpPr/>
          <p:nvPr/>
        </p:nvGrpSpPr>
        <p:grpSpPr>
          <a:xfrm>
            <a:off x="3144934" y="3004286"/>
            <a:ext cx="3208525" cy="712181"/>
            <a:chOff x="3144914" y="3161573"/>
            <a:chExt cx="3208525" cy="791298"/>
          </a:xfrm>
        </p:grpSpPr>
        <p:pic>
          <p:nvPicPr>
            <p:cNvPr id="956" name="Shape 956"/>
            <p:cNvPicPr preferRelativeResize="0"/>
            <p:nvPr/>
          </p:nvPicPr>
          <p:blipFill rotWithShape="1">
            <a:blip r:embed="rId6">
              <a:alphaModFix/>
            </a:blip>
            <a:srcRect b="0" l="0" r="0" t="0"/>
            <a:stretch/>
          </p:blipFill>
          <p:spPr>
            <a:xfrm>
              <a:off x="3144914" y="3778373"/>
              <a:ext cx="489650" cy="174498"/>
            </a:xfrm>
            <a:prstGeom prst="rect">
              <a:avLst/>
            </a:prstGeom>
            <a:noFill/>
            <a:ln>
              <a:noFill/>
            </a:ln>
          </p:spPr>
        </p:pic>
        <p:cxnSp>
          <p:nvCxnSpPr>
            <p:cNvPr id="957" name="Shape 957"/>
            <p:cNvCxnSpPr>
              <a:stCxn id="956" idx="0"/>
              <a:endCxn id="914" idx="2"/>
            </p:cNvCxnSpPr>
            <p:nvPr/>
          </p:nvCxnSpPr>
          <p:spPr>
            <a:xfrm rot="10800000">
              <a:off x="3239139" y="3161573"/>
              <a:ext cx="150600" cy="616800"/>
            </a:xfrm>
            <a:prstGeom prst="straightConnector1">
              <a:avLst/>
            </a:prstGeom>
            <a:noFill/>
            <a:ln cap="flat" cmpd="sng" w="9525">
              <a:solidFill>
                <a:srgbClr val="7F7F7F"/>
              </a:solidFill>
              <a:prstDash val="solid"/>
              <a:round/>
              <a:headEnd len="med" w="med" type="none"/>
              <a:tailEnd len="med" w="med" type="none"/>
            </a:ln>
          </p:spPr>
        </p:cxnSp>
        <p:cxnSp>
          <p:nvCxnSpPr>
            <p:cNvPr id="958" name="Shape 958"/>
            <p:cNvCxnSpPr>
              <a:stCxn id="956" idx="0"/>
              <a:endCxn id="915" idx="2"/>
            </p:cNvCxnSpPr>
            <p:nvPr/>
          </p:nvCxnSpPr>
          <p:spPr>
            <a:xfrm flipH="1" rot="10800000">
              <a:off x="3389739" y="3161573"/>
              <a:ext cx="887400" cy="616800"/>
            </a:xfrm>
            <a:prstGeom prst="straightConnector1">
              <a:avLst/>
            </a:prstGeom>
            <a:noFill/>
            <a:ln cap="flat" cmpd="sng" w="9525">
              <a:solidFill>
                <a:srgbClr val="7F7F7F"/>
              </a:solidFill>
              <a:prstDash val="solid"/>
              <a:round/>
              <a:headEnd len="med" w="med" type="none"/>
              <a:tailEnd len="med" w="med" type="none"/>
            </a:ln>
          </p:spPr>
        </p:cxnSp>
        <p:cxnSp>
          <p:nvCxnSpPr>
            <p:cNvPr id="959" name="Shape 959"/>
            <p:cNvCxnSpPr>
              <a:stCxn id="956" idx="0"/>
              <a:endCxn id="916" idx="2"/>
            </p:cNvCxnSpPr>
            <p:nvPr/>
          </p:nvCxnSpPr>
          <p:spPr>
            <a:xfrm flipH="1" rot="10800000">
              <a:off x="3389739" y="3161573"/>
              <a:ext cx="1925700" cy="616800"/>
            </a:xfrm>
            <a:prstGeom prst="straightConnector1">
              <a:avLst/>
            </a:prstGeom>
            <a:noFill/>
            <a:ln cap="flat" cmpd="sng" w="9525">
              <a:solidFill>
                <a:srgbClr val="7F7F7F"/>
              </a:solidFill>
              <a:prstDash val="solid"/>
              <a:round/>
              <a:headEnd len="med" w="med" type="none"/>
              <a:tailEnd len="med" w="med" type="none"/>
            </a:ln>
          </p:spPr>
        </p:cxnSp>
        <p:cxnSp>
          <p:nvCxnSpPr>
            <p:cNvPr id="960" name="Shape 960"/>
            <p:cNvCxnSpPr>
              <a:stCxn id="956" idx="0"/>
              <a:endCxn id="917" idx="2"/>
            </p:cNvCxnSpPr>
            <p:nvPr/>
          </p:nvCxnSpPr>
          <p:spPr>
            <a:xfrm flipH="1" rot="10800000">
              <a:off x="3389739" y="3161573"/>
              <a:ext cx="2963700" cy="616800"/>
            </a:xfrm>
            <a:prstGeom prst="straightConnector1">
              <a:avLst/>
            </a:prstGeom>
            <a:noFill/>
            <a:ln cap="flat" cmpd="sng" w="9525">
              <a:solidFill>
                <a:srgbClr val="7F7F7F"/>
              </a:solidFill>
              <a:prstDash val="solid"/>
              <a:round/>
              <a:headEnd len="med" w="med" type="none"/>
              <a:tailEnd len="med" w="med" type="none"/>
            </a:ln>
          </p:spPr>
        </p:cxnSp>
      </p:grpSp>
      <p:cxnSp>
        <p:nvCxnSpPr>
          <p:cNvPr id="961" name="Shape 961"/>
          <p:cNvCxnSpPr>
            <a:stCxn id="919" idx="0"/>
            <a:endCxn id="917" idx="2"/>
          </p:cNvCxnSpPr>
          <p:nvPr/>
        </p:nvCxnSpPr>
        <p:spPr>
          <a:xfrm flipH="1" rot="10800000">
            <a:off x="4222958" y="3004283"/>
            <a:ext cx="2130300" cy="555000"/>
          </a:xfrm>
          <a:prstGeom prst="straightConnector1">
            <a:avLst/>
          </a:prstGeom>
          <a:noFill/>
          <a:ln cap="flat" cmpd="sng" w="9525">
            <a:solidFill>
              <a:srgbClr val="7F7F7F"/>
            </a:solidFill>
            <a:prstDash val="solid"/>
            <a:round/>
            <a:headEnd len="med" w="med" type="none"/>
            <a:tailEnd len="med" w="med" type="none"/>
          </a:ln>
        </p:spPr>
      </p:cxnSp>
      <p:cxnSp>
        <p:nvCxnSpPr>
          <p:cNvPr id="962" name="Shape 962"/>
          <p:cNvCxnSpPr>
            <a:stCxn id="918" idx="0"/>
            <a:endCxn id="917" idx="2"/>
          </p:cNvCxnSpPr>
          <p:nvPr/>
        </p:nvCxnSpPr>
        <p:spPr>
          <a:xfrm flipH="1" rot="10800000">
            <a:off x="5056164" y="3004283"/>
            <a:ext cx="1297200" cy="555000"/>
          </a:xfrm>
          <a:prstGeom prst="straightConnector1">
            <a:avLst/>
          </a:prstGeom>
          <a:noFill/>
          <a:ln cap="flat" cmpd="sng" w="9525">
            <a:solidFill>
              <a:srgbClr val="7F7F7F"/>
            </a:solidFill>
            <a:prstDash val="solid"/>
            <a:round/>
            <a:headEnd len="med" w="med" type="none"/>
            <a:tailEnd len="med" w="med" type="none"/>
          </a:ln>
        </p:spPr>
      </p:cxnSp>
      <p:cxnSp>
        <p:nvCxnSpPr>
          <p:cNvPr id="963" name="Shape 963"/>
          <p:cNvCxnSpPr>
            <a:stCxn id="920" idx="0"/>
            <a:endCxn id="917" idx="2"/>
          </p:cNvCxnSpPr>
          <p:nvPr/>
        </p:nvCxnSpPr>
        <p:spPr>
          <a:xfrm flipH="1" rot="10800000">
            <a:off x="5889371" y="3004283"/>
            <a:ext cx="464100" cy="555000"/>
          </a:xfrm>
          <a:prstGeom prst="straightConnector1">
            <a:avLst/>
          </a:prstGeom>
          <a:noFill/>
          <a:ln cap="flat" cmpd="sng" w="9525">
            <a:solidFill>
              <a:srgbClr val="7F7F7F"/>
            </a:solidFill>
            <a:prstDash val="solid"/>
            <a:round/>
            <a:headEnd len="med" w="med" type="none"/>
            <a:tailEnd len="med" w="med" type="none"/>
          </a:ln>
        </p:spPr>
      </p:cxnSp>
      <p:cxnSp>
        <p:nvCxnSpPr>
          <p:cNvPr id="964" name="Shape 964"/>
          <p:cNvCxnSpPr>
            <a:stCxn id="921" idx="0"/>
            <a:endCxn id="917" idx="2"/>
          </p:cNvCxnSpPr>
          <p:nvPr/>
        </p:nvCxnSpPr>
        <p:spPr>
          <a:xfrm rot="10800000">
            <a:off x="6353276" y="3004283"/>
            <a:ext cx="369300" cy="555000"/>
          </a:xfrm>
          <a:prstGeom prst="straightConnector1">
            <a:avLst/>
          </a:prstGeom>
          <a:noFill/>
          <a:ln cap="flat" cmpd="sng" w="9525">
            <a:solidFill>
              <a:srgbClr val="7F7F7F"/>
            </a:solidFill>
            <a:prstDash val="solid"/>
            <a:round/>
            <a:headEnd len="med" w="med" type="none"/>
            <a:tailEnd len="med" w="med" type="none"/>
          </a:ln>
        </p:spPr>
      </p:cxnSp>
      <p:cxnSp>
        <p:nvCxnSpPr>
          <p:cNvPr id="965" name="Shape 965"/>
          <p:cNvCxnSpPr>
            <a:stCxn id="922" idx="0"/>
            <a:endCxn id="917" idx="2"/>
          </p:cNvCxnSpPr>
          <p:nvPr/>
        </p:nvCxnSpPr>
        <p:spPr>
          <a:xfrm rot="10800000">
            <a:off x="6353384" y="3004283"/>
            <a:ext cx="1202400" cy="555000"/>
          </a:xfrm>
          <a:prstGeom prst="straightConnector1">
            <a:avLst/>
          </a:prstGeom>
          <a:noFill/>
          <a:ln cap="flat" cmpd="sng" w="9525">
            <a:solidFill>
              <a:srgbClr val="7F7F7F"/>
            </a:solidFill>
            <a:prstDash val="solid"/>
            <a:round/>
            <a:headEnd len="med" w="med" type="none"/>
            <a:tailEnd len="med" w="med" type="none"/>
          </a:ln>
        </p:spPr>
      </p:cxnSp>
      <p:sp>
        <p:nvSpPr>
          <p:cNvPr id="966" name="Shape 966"/>
          <p:cNvSpPr txBox="1"/>
          <p:nvPr/>
        </p:nvSpPr>
        <p:spPr>
          <a:xfrm>
            <a:off x="2222608" y="4768603"/>
            <a:ext cx="5089827" cy="400095"/>
          </a:xfrm>
          <a:prstGeom prst="rect">
            <a:avLst/>
          </a:prstGeom>
          <a:solidFill>
            <a:schemeClr val="lt1">
              <a:alpha val="73725"/>
            </a:schemeClr>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Calibri"/>
              <a:buNone/>
            </a:pPr>
            <a:r>
              <a:rPr b="0" i="0" lang="en" sz="2000" u="none" cap="none" strike="noStrike">
                <a:solidFill>
                  <a:srgbClr val="FF0000"/>
                </a:solidFill>
                <a:latin typeface="Calibri"/>
                <a:ea typeface="Calibri"/>
                <a:cs typeface="Calibri"/>
                <a:sym typeface="Calibri"/>
              </a:rPr>
              <a:t>Commodity Servers, Storage, Switches, and I/O</a:t>
            </a:r>
          </a:p>
        </p:txBody>
      </p:sp>
      <p:grpSp>
        <p:nvGrpSpPr>
          <p:cNvPr id="967" name="Shape 967"/>
          <p:cNvGrpSpPr/>
          <p:nvPr/>
        </p:nvGrpSpPr>
        <p:grpSpPr>
          <a:xfrm>
            <a:off x="2938444" y="3812373"/>
            <a:ext cx="671202" cy="1018847"/>
            <a:chOff x="1296949" y="4059583"/>
            <a:chExt cx="671202" cy="1132052"/>
          </a:xfrm>
        </p:grpSpPr>
        <p:sp>
          <p:nvSpPr>
            <p:cNvPr id="968" name="Shape 968"/>
            <p:cNvSpPr/>
            <p:nvPr/>
          </p:nvSpPr>
          <p:spPr>
            <a:xfrm>
              <a:off x="1478500" y="4059583"/>
              <a:ext cx="489652" cy="1132052"/>
            </a:xfrm>
            <a:prstGeom prst="rect">
              <a:avLst/>
            </a:prstGeom>
            <a:solidFill>
              <a:srgbClr val="C4BD97"/>
            </a:solidFill>
            <a:ln cap="flat" cmpd="sng" w="25400">
              <a:solidFill>
                <a:schemeClr val="dk1"/>
              </a:solidFill>
              <a:prstDash val="solid"/>
              <a:round/>
              <a:headEnd len="med" w="med" type="none"/>
              <a:tailEnd len="med" w="med" type="none"/>
            </a:ln>
          </p:spPr>
          <p:txBody>
            <a:bodyPr anchorCtr="0" anchor="ctr" bIns="45675" lIns="91375" rIns="91375" tIns="45675">
              <a:noAutofit/>
            </a:bodyPr>
            <a:lstStyle/>
            <a:p>
              <a:pPr indent="0" lvl="0" marL="0" marR="0" rtl="0" algn="l">
                <a:lnSpc>
                  <a:spcPct val="100000"/>
                </a:lnSpc>
                <a:spcBef>
                  <a:spcPts val="0"/>
                </a:spcBef>
                <a:spcAft>
                  <a:spcPts val="0"/>
                </a:spcAft>
                <a:buClr>
                  <a:srgbClr val="FFFFFF"/>
                </a:buClr>
                <a:buSzPct val="25000"/>
                <a:buFont typeface="Calibri"/>
                <a:buNone/>
              </a:pPr>
              <a:r>
                <a:rPr b="0" i="0" lang="en" sz="900" u="none" cap="none" strike="noStrike">
                  <a:solidFill>
                    <a:srgbClr val="FFFFFF"/>
                  </a:solidFill>
                  <a:latin typeface="Calibri"/>
                  <a:ea typeface="Calibri"/>
                  <a:cs typeface="Calibri"/>
                  <a:sym typeface="Calibri"/>
                </a:rPr>
                <a:t>PON</a:t>
              </a:r>
            </a:p>
            <a:p>
              <a:pPr indent="0" lvl="0" marL="0" marR="0" rtl="0" algn="l">
                <a:lnSpc>
                  <a:spcPct val="100000"/>
                </a:lnSpc>
                <a:spcBef>
                  <a:spcPts val="0"/>
                </a:spcBef>
                <a:spcAft>
                  <a:spcPts val="0"/>
                </a:spcAft>
                <a:buClr>
                  <a:srgbClr val="FFFFFF"/>
                </a:buClr>
                <a:buSzPct val="25000"/>
                <a:buFont typeface="Calibri"/>
                <a:buNone/>
              </a:pPr>
              <a:r>
                <a:rPr b="0" i="0" lang="en" sz="900" u="none" cap="none" strike="noStrike">
                  <a:solidFill>
                    <a:srgbClr val="FFFFFF"/>
                  </a:solidFill>
                  <a:latin typeface="Calibri"/>
                  <a:ea typeface="Calibri"/>
                  <a:cs typeface="Calibri"/>
                  <a:sym typeface="Calibri"/>
                </a:rPr>
                <a:t>OLT MACs</a:t>
              </a:r>
            </a:p>
          </p:txBody>
        </p:sp>
        <p:grpSp>
          <p:nvGrpSpPr>
            <p:cNvPr id="969" name="Shape 969"/>
            <p:cNvGrpSpPr/>
            <p:nvPr/>
          </p:nvGrpSpPr>
          <p:grpSpPr>
            <a:xfrm>
              <a:off x="1296949" y="4220798"/>
              <a:ext cx="177832" cy="757663"/>
              <a:chOff x="1069703" y="3423569"/>
              <a:chExt cx="177832" cy="681897"/>
            </a:xfrm>
          </p:grpSpPr>
          <p:cxnSp>
            <p:nvCxnSpPr>
              <p:cNvPr id="970" name="Shape 970"/>
              <p:cNvCxnSpPr/>
              <p:nvPr/>
            </p:nvCxnSpPr>
            <p:spPr>
              <a:xfrm rot="5400000">
                <a:off x="1158938" y="3565370"/>
                <a:ext cx="5007" cy="172187"/>
              </a:xfrm>
              <a:prstGeom prst="straightConnector1">
                <a:avLst/>
              </a:prstGeom>
              <a:noFill/>
              <a:ln cap="flat" cmpd="sng" w="38100">
                <a:solidFill>
                  <a:schemeClr val="dk1"/>
                </a:solidFill>
                <a:prstDash val="solid"/>
                <a:round/>
                <a:headEnd len="med" w="med" type="none"/>
                <a:tailEnd len="med" w="med" type="none"/>
              </a:ln>
            </p:spPr>
          </p:cxnSp>
          <p:cxnSp>
            <p:nvCxnSpPr>
              <p:cNvPr id="971" name="Shape 971"/>
              <p:cNvCxnSpPr/>
              <p:nvPr/>
            </p:nvCxnSpPr>
            <p:spPr>
              <a:xfrm rot="5400000">
                <a:off x="1158938" y="3641317"/>
                <a:ext cx="5007" cy="172187"/>
              </a:xfrm>
              <a:prstGeom prst="straightConnector1">
                <a:avLst/>
              </a:prstGeom>
              <a:noFill/>
              <a:ln cap="flat" cmpd="sng" w="38100">
                <a:solidFill>
                  <a:schemeClr val="dk1"/>
                </a:solidFill>
                <a:prstDash val="solid"/>
                <a:round/>
                <a:headEnd len="med" w="med" type="none"/>
                <a:tailEnd len="med" w="med" type="none"/>
              </a:ln>
            </p:spPr>
          </p:cxnSp>
          <p:cxnSp>
            <p:nvCxnSpPr>
              <p:cNvPr id="972" name="Shape 972"/>
              <p:cNvCxnSpPr/>
              <p:nvPr/>
            </p:nvCxnSpPr>
            <p:spPr>
              <a:xfrm rot="5400000">
                <a:off x="1157197" y="3718929"/>
                <a:ext cx="5007" cy="172187"/>
              </a:xfrm>
              <a:prstGeom prst="straightConnector1">
                <a:avLst/>
              </a:prstGeom>
              <a:noFill/>
              <a:ln cap="flat" cmpd="sng" w="38100">
                <a:solidFill>
                  <a:schemeClr val="dk1"/>
                </a:solidFill>
                <a:prstDash val="solid"/>
                <a:round/>
                <a:headEnd len="med" w="med" type="none"/>
                <a:tailEnd len="med" w="med" type="none"/>
              </a:ln>
            </p:spPr>
          </p:cxnSp>
          <p:cxnSp>
            <p:nvCxnSpPr>
              <p:cNvPr id="973" name="Shape 973"/>
              <p:cNvCxnSpPr/>
              <p:nvPr/>
            </p:nvCxnSpPr>
            <p:spPr>
              <a:xfrm rot="5400000">
                <a:off x="1158938" y="3793206"/>
                <a:ext cx="5007" cy="172187"/>
              </a:xfrm>
              <a:prstGeom prst="straightConnector1">
                <a:avLst/>
              </a:prstGeom>
              <a:noFill/>
              <a:ln cap="flat" cmpd="sng" w="38100">
                <a:solidFill>
                  <a:schemeClr val="dk1"/>
                </a:solidFill>
                <a:prstDash val="solid"/>
                <a:round/>
                <a:headEnd len="med" w="med" type="none"/>
                <a:tailEnd len="med" w="med" type="none"/>
              </a:ln>
            </p:spPr>
          </p:cxnSp>
          <p:cxnSp>
            <p:nvCxnSpPr>
              <p:cNvPr id="974" name="Shape 974"/>
              <p:cNvCxnSpPr/>
              <p:nvPr/>
            </p:nvCxnSpPr>
            <p:spPr>
              <a:xfrm rot="5400000">
                <a:off x="1158068" y="3861640"/>
                <a:ext cx="5007" cy="172187"/>
              </a:xfrm>
              <a:prstGeom prst="straightConnector1">
                <a:avLst/>
              </a:prstGeom>
              <a:noFill/>
              <a:ln cap="flat" cmpd="sng" w="38100">
                <a:solidFill>
                  <a:srgbClr val="FF0000"/>
                </a:solidFill>
                <a:prstDash val="solid"/>
                <a:round/>
                <a:headEnd len="med" w="med" type="none"/>
                <a:tailEnd len="med" w="med" type="none"/>
              </a:ln>
            </p:spPr>
          </p:cxnSp>
          <p:cxnSp>
            <p:nvCxnSpPr>
              <p:cNvPr id="975" name="Shape 975"/>
              <p:cNvCxnSpPr/>
              <p:nvPr/>
            </p:nvCxnSpPr>
            <p:spPr>
              <a:xfrm rot="5400000">
                <a:off x="1157197" y="3936751"/>
                <a:ext cx="5007" cy="172187"/>
              </a:xfrm>
              <a:prstGeom prst="straightConnector1">
                <a:avLst/>
              </a:prstGeom>
              <a:noFill/>
              <a:ln cap="flat" cmpd="sng" w="38100">
                <a:solidFill>
                  <a:schemeClr val="accent5"/>
                </a:solidFill>
                <a:prstDash val="solid"/>
                <a:round/>
                <a:headEnd len="med" w="med" type="none"/>
                <a:tailEnd len="med" w="med" type="none"/>
              </a:ln>
            </p:spPr>
          </p:cxnSp>
          <p:cxnSp>
            <p:nvCxnSpPr>
              <p:cNvPr id="976" name="Shape 976"/>
              <p:cNvCxnSpPr/>
              <p:nvPr/>
            </p:nvCxnSpPr>
            <p:spPr>
              <a:xfrm rot="5400000">
                <a:off x="1158068" y="4016868"/>
                <a:ext cx="5007" cy="172187"/>
              </a:xfrm>
              <a:prstGeom prst="straightConnector1">
                <a:avLst/>
              </a:prstGeom>
              <a:noFill/>
              <a:ln cap="flat" cmpd="sng" w="38100">
                <a:solidFill>
                  <a:schemeClr val="accent3"/>
                </a:solidFill>
                <a:prstDash val="solid"/>
                <a:round/>
                <a:headEnd len="med" w="med" type="none"/>
                <a:tailEnd len="med" w="med" type="none"/>
              </a:ln>
            </p:spPr>
          </p:cxnSp>
          <p:cxnSp>
            <p:nvCxnSpPr>
              <p:cNvPr id="977" name="Shape 977"/>
              <p:cNvCxnSpPr/>
              <p:nvPr/>
            </p:nvCxnSpPr>
            <p:spPr>
              <a:xfrm rot="5400000">
                <a:off x="1154164" y="3339979"/>
                <a:ext cx="5007" cy="172187"/>
              </a:xfrm>
              <a:prstGeom prst="straightConnector1">
                <a:avLst/>
              </a:prstGeom>
              <a:noFill/>
              <a:ln cap="flat" cmpd="sng" w="38100">
                <a:solidFill>
                  <a:srgbClr val="FF0000"/>
                </a:solidFill>
                <a:prstDash val="solid"/>
                <a:round/>
                <a:headEnd len="med" w="med" type="none"/>
                <a:tailEnd len="med" w="med" type="none"/>
              </a:ln>
            </p:spPr>
          </p:cxnSp>
          <p:cxnSp>
            <p:nvCxnSpPr>
              <p:cNvPr id="978" name="Shape 978"/>
              <p:cNvCxnSpPr/>
              <p:nvPr/>
            </p:nvCxnSpPr>
            <p:spPr>
              <a:xfrm rot="5400000">
                <a:off x="1153293" y="3415090"/>
                <a:ext cx="5007" cy="172187"/>
              </a:xfrm>
              <a:prstGeom prst="straightConnector1">
                <a:avLst/>
              </a:prstGeom>
              <a:noFill/>
              <a:ln cap="flat" cmpd="sng" w="38100">
                <a:solidFill>
                  <a:schemeClr val="accent5"/>
                </a:solidFill>
                <a:prstDash val="solid"/>
                <a:round/>
                <a:headEnd len="med" w="med" type="none"/>
                <a:tailEnd len="med" w="med" type="none"/>
              </a:ln>
            </p:spPr>
          </p:cxnSp>
          <p:cxnSp>
            <p:nvCxnSpPr>
              <p:cNvPr id="979" name="Shape 979"/>
              <p:cNvCxnSpPr/>
              <p:nvPr/>
            </p:nvCxnSpPr>
            <p:spPr>
              <a:xfrm rot="5400000">
                <a:off x="1154164" y="3495208"/>
                <a:ext cx="5007" cy="172187"/>
              </a:xfrm>
              <a:prstGeom prst="straightConnector1">
                <a:avLst/>
              </a:prstGeom>
              <a:noFill/>
              <a:ln cap="flat" cmpd="sng" w="38100">
                <a:solidFill>
                  <a:schemeClr val="accent3"/>
                </a:solidFill>
                <a:prstDash val="solid"/>
                <a:round/>
                <a:headEnd len="med" w="med" type="none"/>
                <a:tailEnd len="med" w="med" type="none"/>
              </a:ln>
            </p:spPr>
          </p:cxnSp>
        </p:grpSp>
      </p:grpSp>
      <p:sp>
        <p:nvSpPr>
          <p:cNvPr id="980" name="Shape 980"/>
          <p:cNvSpPr txBox="1"/>
          <p:nvPr/>
        </p:nvSpPr>
        <p:spPr>
          <a:xfrm>
            <a:off x="1389686" y="2899771"/>
            <a:ext cx="1164661" cy="646317"/>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Calibri"/>
              <a:buNone/>
            </a:pPr>
            <a:r>
              <a:rPr b="0" i="0" lang="en" sz="1800" u="none" cap="none" strike="noStrike">
                <a:solidFill>
                  <a:srgbClr val="000000"/>
                </a:solidFill>
                <a:latin typeface="Calibri"/>
                <a:ea typeface="Calibri"/>
                <a:cs typeface="Calibri"/>
                <a:sym typeface="Calibri"/>
              </a:rPr>
              <a:t>Leaf-Spine</a:t>
            </a:r>
          </a:p>
          <a:p>
            <a:pPr indent="0" lvl="0" marL="0" marR="0" rtl="0" algn="l">
              <a:lnSpc>
                <a:spcPct val="100000"/>
              </a:lnSpc>
              <a:spcBef>
                <a:spcPts val="0"/>
              </a:spcBef>
              <a:spcAft>
                <a:spcPts val="0"/>
              </a:spcAft>
              <a:buClr>
                <a:srgbClr val="000000"/>
              </a:buClr>
              <a:buSzPct val="25000"/>
              <a:buFont typeface="Calibri"/>
              <a:buNone/>
            </a:pPr>
            <a:r>
              <a:rPr b="0" i="0" lang="en" sz="1800" u="none" cap="none" strike="noStrike">
                <a:solidFill>
                  <a:srgbClr val="000000"/>
                </a:solidFill>
                <a:latin typeface="Calibri"/>
                <a:ea typeface="Calibri"/>
                <a:cs typeface="Calibri"/>
                <a:sym typeface="Calibri"/>
              </a:rPr>
              <a:t>Fabric</a:t>
            </a:r>
          </a:p>
        </p:txBody>
      </p:sp>
      <p:grpSp>
        <p:nvGrpSpPr>
          <p:cNvPr id="981" name="Shape 981"/>
          <p:cNvGrpSpPr/>
          <p:nvPr/>
        </p:nvGrpSpPr>
        <p:grpSpPr>
          <a:xfrm>
            <a:off x="2120984" y="3812373"/>
            <a:ext cx="671202" cy="1018847"/>
            <a:chOff x="2120978" y="4059583"/>
            <a:chExt cx="671202" cy="1132052"/>
          </a:xfrm>
        </p:grpSpPr>
        <p:sp>
          <p:nvSpPr>
            <p:cNvPr id="982" name="Shape 982"/>
            <p:cNvSpPr/>
            <p:nvPr/>
          </p:nvSpPr>
          <p:spPr>
            <a:xfrm>
              <a:off x="2302528" y="4059583"/>
              <a:ext cx="489652" cy="1132052"/>
            </a:xfrm>
            <a:prstGeom prst="rect">
              <a:avLst/>
            </a:prstGeom>
            <a:solidFill>
              <a:srgbClr val="C0504D"/>
            </a:solidFill>
            <a:ln cap="flat" cmpd="sng" w="25400">
              <a:solidFill>
                <a:schemeClr val="dk1"/>
              </a:solidFill>
              <a:prstDash val="solid"/>
              <a:round/>
              <a:headEnd len="med" w="med" type="none"/>
              <a:tailEnd len="med" w="med" type="none"/>
            </a:ln>
          </p:spPr>
          <p:txBody>
            <a:bodyPr anchorCtr="0" anchor="ctr" bIns="45675" lIns="91375" rIns="91375" tIns="45675">
              <a:noAutofit/>
            </a:bodyPr>
            <a:lstStyle/>
            <a:p>
              <a:pPr indent="0" lvl="0" marL="0" marR="0" rtl="0" algn="l">
                <a:lnSpc>
                  <a:spcPct val="100000"/>
                </a:lnSpc>
                <a:spcBef>
                  <a:spcPts val="0"/>
                </a:spcBef>
                <a:spcAft>
                  <a:spcPts val="0"/>
                </a:spcAft>
                <a:buClr>
                  <a:srgbClr val="FFFFFF"/>
                </a:buClr>
                <a:buSzPct val="25000"/>
                <a:buFont typeface="Calibri"/>
                <a:buNone/>
              </a:pPr>
              <a:r>
                <a:rPr b="0" i="0" lang="en" sz="900" u="none" cap="none" strike="noStrike">
                  <a:solidFill>
                    <a:srgbClr val="FFFFFF"/>
                  </a:solidFill>
                  <a:latin typeface="Calibri"/>
                  <a:ea typeface="Calibri"/>
                  <a:cs typeface="Calibri"/>
                  <a:sym typeface="Calibri"/>
                </a:rPr>
                <a:t>BBUs</a:t>
              </a:r>
              <a:br>
                <a:rPr b="0" i="0" lang="en" sz="900" u="none" cap="none" strike="noStrike">
                  <a:solidFill>
                    <a:srgbClr val="FFFFFF"/>
                  </a:solidFill>
                  <a:latin typeface="Calibri"/>
                  <a:ea typeface="Calibri"/>
                  <a:cs typeface="Calibri"/>
                  <a:sym typeface="Calibri"/>
                </a:rPr>
              </a:br>
              <a:r>
                <a:rPr b="0" i="0" lang="en" sz="900" u="none" cap="none" strike="noStrike">
                  <a:solidFill>
                    <a:srgbClr val="FFFFFF"/>
                  </a:solidFill>
                  <a:latin typeface="Calibri"/>
                  <a:ea typeface="Calibri"/>
                  <a:cs typeface="Calibri"/>
                  <a:sym typeface="Calibri"/>
                </a:rPr>
                <a:t>(Multi-RATs)</a:t>
              </a:r>
            </a:p>
          </p:txBody>
        </p:sp>
        <p:grpSp>
          <p:nvGrpSpPr>
            <p:cNvPr id="983" name="Shape 983"/>
            <p:cNvGrpSpPr/>
            <p:nvPr/>
          </p:nvGrpSpPr>
          <p:grpSpPr>
            <a:xfrm>
              <a:off x="2120978" y="4220798"/>
              <a:ext cx="177832" cy="757663"/>
              <a:chOff x="1069703" y="3423569"/>
              <a:chExt cx="177832" cy="681897"/>
            </a:xfrm>
          </p:grpSpPr>
          <p:cxnSp>
            <p:nvCxnSpPr>
              <p:cNvPr id="984" name="Shape 984"/>
              <p:cNvCxnSpPr/>
              <p:nvPr/>
            </p:nvCxnSpPr>
            <p:spPr>
              <a:xfrm rot="5400000">
                <a:off x="1158938" y="3565370"/>
                <a:ext cx="5007" cy="172187"/>
              </a:xfrm>
              <a:prstGeom prst="straightConnector1">
                <a:avLst/>
              </a:prstGeom>
              <a:noFill/>
              <a:ln cap="flat" cmpd="sng" w="38100">
                <a:solidFill>
                  <a:schemeClr val="dk1"/>
                </a:solidFill>
                <a:prstDash val="solid"/>
                <a:round/>
                <a:headEnd len="med" w="med" type="none"/>
                <a:tailEnd len="med" w="med" type="none"/>
              </a:ln>
            </p:spPr>
          </p:cxnSp>
          <p:cxnSp>
            <p:nvCxnSpPr>
              <p:cNvPr id="985" name="Shape 985"/>
              <p:cNvCxnSpPr/>
              <p:nvPr/>
            </p:nvCxnSpPr>
            <p:spPr>
              <a:xfrm rot="5400000">
                <a:off x="1158938" y="3641317"/>
                <a:ext cx="5007" cy="172187"/>
              </a:xfrm>
              <a:prstGeom prst="straightConnector1">
                <a:avLst/>
              </a:prstGeom>
              <a:noFill/>
              <a:ln cap="flat" cmpd="sng" w="38100">
                <a:solidFill>
                  <a:schemeClr val="dk1"/>
                </a:solidFill>
                <a:prstDash val="solid"/>
                <a:round/>
                <a:headEnd len="med" w="med" type="none"/>
                <a:tailEnd len="med" w="med" type="none"/>
              </a:ln>
            </p:spPr>
          </p:cxnSp>
          <p:cxnSp>
            <p:nvCxnSpPr>
              <p:cNvPr id="986" name="Shape 986"/>
              <p:cNvCxnSpPr/>
              <p:nvPr/>
            </p:nvCxnSpPr>
            <p:spPr>
              <a:xfrm rot="5400000">
                <a:off x="1157197" y="3718929"/>
                <a:ext cx="5007" cy="172187"/>
              </a:xfrm>
              <a:prstGeom prst="straightConnector1">
                <a:avLst/>
              </a:prstGeom>
              <a:noFill/>
              <a:ln cap="flat" cmpd="sng" w="38100">
                <a:solidFill>
                  <a:schemeClr val="dk1"/>
                </a:solidFill>
                <a:prstDash val="solid"/>
                <a:round/>
                <a:headEnd len="med" w="med" type="none"/>
                <a:tailEnd len="med" w="med" type="none"/>
              </a:ln>
            </p:spPr>
          </p:cxnSp>
          <p:cxnSp>
            <p:nvCxnSpPr>
              <p:cNvPr id="987" name="Shape 987"/>
              <p:cNvCxnSpPr/>
              <p:nvPr/>
            </p:nvCxnSpPr>
            <p:spPr>
              <a:xfrm rot="5400000">
                <a:off x="1158938" y="3793206"/>
                <a:ext cx="5007" cy="172187"/>
              </a:xfrm>
              <a:prstGeom prst="straightConnector1">
                <a:avLst/>
              </a:prstGeom>
              <a:noFill/>
              <a:ln cap="flat" cmpd="sng" w="38100">
                <a:solidFill>
                  <a:schemeClr val="dk1"/>
                </a:solidFill>
                <a:prstDash val="solid"/>
                <a:round/>
                <a:headEnd len="med" w="med" type="none"/>
                <a:tailEnd len="med" w="med" type="none"/>
              </a:ln>
            </p:spPr>
          </p:cxnSp>
          <p:cxnSp>
            <p:nvCxnSpPr>
              <p:cNvPr id="988" name="Shape 988"/>
              <p:cNvCxnSpPr/>
              <p:nvPr/>
            </p:nvCxnSpPr>
            <p:spPr>
              <a:xfrm rot="5400000">
                <a:off x="1158068" y="3861640"/>
                <a:ext cx="5007" cy="172187"/>
              </a:xfrm>
              <a:prstGeom prst="straightConnector1">
                <a:avLst/>
              </a:prstGeom>
              <a:noFill/>
              <a:ln cap="flat" cmpd="sng" w="38100">
                <a:solidFill>
                  <a:srgbClr val="FF0000"/>
                </a:solidFill>
                <a:prstDash val="solid"/>
                <a:round/>
                <a:headEnd len="med" w="med" type="none"/>
                <a:tailEnd len="med" w="med" type="none"/>
              </a:ln>
            </p:spPr>
          </p:cxnSp>
          <p:cxnSp>
            <p:nvCxnSpPr>
              <p:cNvPr id="989" name="Shape 989"/>
              <p:cNvCxnSpPr/>
              <p:nvPr/>
            </p:nvCxnSpPr>
            <p:spPr>
              <a:xfrm rot="5400000">
                <a:off x="1157197" y="3936751"/>
                <a:ext cx="5007" cy="172187"/>
              </a:xfrm>
              <a:prstGeom prst="straightConnector1">
                <a:avLst/>
              </a:prstGeom>
              <a:noFill/>
              <a:ln cap="flat" cmpd="sng" w="38100">
                <a:solidFill>
                  <a:schemeClr val="accent5"/>
                </a:solidFill>
                <a:prstDash val="solid"/>
                <a:round/>
                <a:headEnd len="med" w="med" type="none"/>
                <a:tailEnd len="med" w="med" type="none"/>
              </a:ln>
            </p:spPr>
          </p:cxnSp>
          <p:cxnSp>
            <p:nvCxnSpPr>
              <p:cNvPr id="990" name="Shape 990"/>
              <p:cNvCxnSpPr/>
              <p:nvPr/>
            </p:nvCxnSpPr>
            <p:spPr>
              <a:xfrm rot="5400000">
                <a:off x="1158068" y="4016868"/>
                <a:ext cx="5007" cy="172187"/>
              </a:xfrm>
              <a:prstGeom prst="straightConnector1">
                <a:avLst/>
              </a:prstGeom>
              <a:noFill/>
              <a:ln cap="flat" cmpd="sng" w="38100">
                <a:solidFill>
                  <a:schemeClr val="accent3"/>
                </a:solidFill>
                <a:prstDash val="solid"/>
                <a:round/>
                <a:headEnd len="med" w="med" type="none"/>
                <a:tailEnd len="med" w="med" type="none"/>
              </a:ln>
            </p:spPr>
          </p:cxnSp>
          <p:cxnSp>
            <p:nvCxnSpPr>
              <p:cNvPr id="991" name="Shape 991"/>
              <p:cNvCxnSpPr/>
              <p:nvPr/>
            </p:nvCxnSpPr>
            <p:spPr>
              <a:xfrm rot="5400000">
                <a:off x="1154164" y="3339979"/>
                <a:ext cx="5007" cy="172187"/>
              </a:xfrm>
              <a:prstGeom prst="straightConnector1">
                <a:avLst/>
              </a:prstGeom>
              <a:noFill/>
              <a:ln cap="flat" cmpd="sng" w="38100">
                <a:solidFill>
                  <a:srgbClr val="FF0000"/>
                </a:solidFill>
                <a:prstDash val="solid"/>
                <a:round/>
                <a:headEnd len="med" w="med" type="none"/>
                <a:tailEnd len="med" w="med" type="none"/>
              </a:ln>
            </p:spPr>
          </p:cxnSp>
          <p:cxnSp>
            <p:nvCxnSpPr>
              <p:cNvPr id="992" name="Shape 992"/>
              <p:cNvCxnSpPr/>
              <p:nvPr/>
            </p:nvCxnSpPr>
            <p:spPr>
              <a:xfrm rot="5400000">
                <a:off x="1153293" y="3415090"/>
                <a:ext cx="5007" cy="172187"/>
              </a:xfrm>
              <a:prstGeom prst="straightConnector1">
                <a:avLst/>
              </a:prstGeom>
              <a:noFill/>
              <a:ln cap="flat" cmpd="sng" w="38100">
                <a:solidFill>
                  <a:schemeClr val="accent5"/>
                </a:solidFill>
                <a:prstDash val="solid"/>
                <a:round/>
                <a:headEnd len="med" w="med" type="none"/>
                <a:tailEnd len="med" w="med" type="none"/>
              </a:ln>
            </p:spPr>
          </p:cxnSp>
          <p:cxnSp>
            <p:nvCxnSpPr>
              <p:cNvPr id="993" name="Shape 993"/>
              <p:cNvCxnSpPr/>
              <p:nvPr/>
            </p:nvCxnSpPr>
            <p:spPr>
              <a:xfrm rot="5400000">
                <a:off x="1154164" y="3495208"/>
                <a:ext cx="5007" cy="172187"/>
              </a:xfrm>
              <a:prstGeom prst="straightConnector1">
                <a:avLst/>
              </a:prstGeom>
              <a:noFill/>
              <a:ln cap="flat" cmpd="sng" w="38100">
                <a:solidFill>
                  <a:schemeClr val="accent3"/>
                </a:solidFill>
                <a:prstDash val="solid"/>
                <a:round/>
                <a:headEnd len="med" w="med" type="none"/>
                <a:tailEnd len="med" w="med" type="none"/>
              </a:ln>
            </p:spPr>
          </p:cxnSp>
        </p:grpSp>
      </p:grpSp>
      <p:sp>
        <p:nvSpPr>
          <p:cNvPr id="994" name="Shape 994"/>
          <p:cNvSpPr/>
          <p:nvPr/>
        </p:nvSpPr>
        <p:spPr>
          <a:xfrm>
            <a:off x="1296950" y="2304800"/>
            <a:ext cx="6604929" cy="331237"/>
          </a:xfrm>
          <a:prstGeom prst="rect">
            <a:avLst/>
          </a:prstGeom>
          <a:solidFill>
            <a:schemeClr val="accent4"/>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800" u="none" cap="none" strike="noStrike">
                <a:solidFill>
                  <a:srgbClr val="FFFFFF"/>
                </a:solidFill>
                <a:latin typeface="Calibri"/>
                <a:ea typeface="Calibri"/>
                <a:cs typeface="Calibri"/>
                <a:sym typeface="Calibri"/>
              </a:rPr>
              <a:t>ONOS + OpenStack + XOS</a:t>
            </a:r>
          </a:p>
        </p:txBody>
      </p:sp>
      <p:sp>
        <p:nvSpPr>
          <p:cNvPr id="995" name="Shape 995"/>
          <p:cNvSpPr/>
          <p:nvPr/>
        </p:nvSpPr>
        <p:spPr>
          <a:xfrm>
            <a:off x="3735351" y="928520"/>
            <a:ext cx="1732264" cy="1320281"/>
          </a:xfrm>
          <a:prstGeom prst="roundRect">
            <a:avLst>
              <a:gd fmla="val 16667" name="adj"/>
            </a:avLst>
          </a:prstGeom>
          <a:solidFill>
            <a:schemeClr val="accent2"/>
          </a:solidFill>
          <a:ln cap="flat" cmpd="sng" w="9525">
            <a:solidFill>
              <a:srgbClr val="4A7DBA"/>
            </a:solidFill>
            <a:prstDash val="solid"/>
            <a:round/>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953735"/>
              </a:buClr>
              <a:buSzPct val="25000"/>
              <a:buFont typeface="Calibri"/>
              <a:buNone/>
            </a:pPr>
            <a:r>
              <a:rPr b="0" i="0" lang="en" sz="1400" u="none" cap="none" strike="noStrike">
                <a:solidFill>
                  <a:srgbClr val="953735"/>
                </a:solidFill>
                <a:latin typeface="Calibri"/>
                <a:ea typeface="Calibri"/>
                <a:cs typeface="Calibri"/>
                <a:sym typeface="Calibri"/>
              </a:rPr>
              <a:t>Mobile</a:t>
            </a:r>
            <a:br>
              <a:rPr b="0" i="0" lang="en" sz="1400" u="none" cap="none" strike="noStrike">
                <a:solidFill>
                  <a:srgbClr val="953735"/>
                </a:solidFill>
                <a:latin typeface="Calibri"/>
                <a:ea typeface="Calibri"/>
                <a:cs typeface="Calibri"/>
                <a:sym typeface="Calibri"/>
              </a:rPr>
            </a:br>
            <a:r>
              <a:rPr b="0" i="0" lang="en" sz="1400" u="none" cap="none" strike="noStrike">
                <a:solidFill>
                  <a:srgbClr val="FFFFFF"/>
                </a:solidFill>
                <a:latin typeface="Calibri"/>
                <a:ea typeface="Calibri"/>
                <a:cs typeface="Calibri"/>
                <a:sym typeface="Calibri"/>
              </a:rPr>
              <a:t>Enable 5G w/</a:t>
            </a:r>
          </a:p>
          <a:p>
            <a:pPr indent="0" lvl="0" marL="0" marR="0" rtl="0" algn="ctr">
              <a:lnSpc>
                <a:spcPct val="100000"/>
              </a:lnSpc>
              <a:spcBef>
                <a:spcPts val="0"/>
              </a:spcBef>
              <a:spcAft>
                <a:spcPts val="0"/>
              </a:spcAft>
              <a:buClr>
                <a:srgbClr val="FFFFFF"/>
              </a:buClr>
              <a:buSzPct val="25000"/>
              <a:buFont typeface="Calibri"/>
              <a:buNone/>
            </a:pPr>
            <a:r>
              <a:rPr b="0" i="0" lang="en" sz="1400" u="none" cap="none" strike="noStrike">
                <a:solidFill>
                  <a:srgbClr val="FFFFFF"/>
                </a:solidFill>
                <a:latin typeface="Calibri"/>
                <a:ea typeface="Calibri"/>
                <a:cs typeface="Calibri"/>
                <a:sym typeface="Calibri"/>
              </a:rPr>
              <a:t>Disaggregated/Virtualized RAN  &amp; EPC, Mobile Edge </a:t>
            </a:r>
          </a:p>
        </p:txBody>
      </p:sp>
      <p:sp>
        <p:nvSpPr>
          <p:cNvPr id="996" name="Shape 996"/>
          <p:cNvSpPr/>
          <p:nvPr/>
        </p:nvSpPr>
        <p:spPr>
          <a:xfrm>
            <a:off x="1347117" y="928520"/>
            <a:ext cx="1402515" cy="1320281"/>
          </a:xfrm>
          <a:prstGeom prst="roundRect">
            <a:avLst>
              <a:gd fmla="val 16667" name="adj"/>
            </a:avLst>
          </a:prstGeom>
          <a:solidFill>
            <a:srgbClr val="C4BE97"/>
          </a:solidFill>
          <a:ln cap="flat" cmpd="sng" w="9525">
            <a:solidFill>
              <a:srgbClr val="4A7DBA"/>
            </a:solidFill>
            <a:prstDash val="solid"/>
            <a:round/>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953735"/>
              </a:buClr>
              <a:buSzPct val="25000"/>
              <a:buFont typeface="Calibri"/>
              <a:buNone/>
            </a:pPr>
            <a:r>
              <a:rPr b="0" i="0" lang="en" sz="1400" u="none" cap="none" strike="noStrike">
                <a:solidFill>
                  <a:srgbClr val="953735"/>
                </a:solidFill>
                <a:latin typeface="Calibri"/>
                <a:ea typeface="Calibri"/>
                <a:cs typeface="Calibri"/>
                <a:sym typeface="Calibri"/>
              </a:rPr>
              <a:t>Residential </a:t>
            </a:r>
            <a:r>
              <a:rPr b="0" i="0" lang="en" sz="1400" u="none" cap="none" strike="noStrike">
                <a:solidFill>
                  <a:srgbClr val="FFFFFF"/>
                </a:solidFill>
                <a:latin typeface="Calibri"/>
                <a:ea typeface="Calibri"/>
                <a:cs typeface="Calibri"/>
                <a:sym typeface="Calibri"/>
              </a:rPr>
              <a:t>vOLT, vSG, vRouter, vCDN</a:t>
            </a:r>
          </a:p>
        </p:txBody>
      </p:sp>
      <p:sp>
        <p:nvSpPr>
          <p:cNvPr id="997" name="Shape 997"/>
          <p:cNvSpPr/>
          <p:nvPr/>
        </p:nvSpPr>
        <p:spPr>
          <a:xfrm>
            <a:off x="6377807" y="928520"/>
            <a:ext cx="1571935" cy="1320281"/>
          </a:xfrm>
          <a:prstGeom prst="roundRect">
            <a:avLst>
              <a:gd fmla="val 16667" name="adj"/>
            </a:avLst>
          </a:prstGeom>
          <a:solidFill>
            <a:srgbClr val="4BACC6"/>
          </a:solidFill>
          <a:ln cap="flat" cmpd="sng" w="9525">
            <a:solidFill>
              <a:srgbClr val="4A7DBA"/>
            </a:solidFill>
            <a:prstDash val="solid"/>
            <a:round/>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953735"/>
              </a:buClr>
              <a:buSzPct val="25000"/>
              <a:buFont typeface="Calibri"/>
              <a:buNone/>
            </a:pPr>
            <a:r>
              <a:rPr b="0" i="0" lang="en" sz="1400" u="none" cap="none" strike="noStrike">
                <a:solidFill>
                  <a:srgbClr val="953735"/>
                </a:solidFill>
                <a:latin typeface="Calibri"/>
                <a:ea typeface="Calibri"/>
                <a:cs typeface="Calibri"/>
                <a:sym typeface="Calibri"/>
              </a:rPr>
              <a:t>Enterprise</a:t>
            </a:r>
          </a:p>
          <a:p>
            <a:pPr indent="0" lvl="0" marL="0" marR="0" rtl="0" algn="ctr">
              <a:lnSpc>
                <a:spcPct val="100000"/>
              </a:lnSpc>
              <a:spcBef>
                <a:spcPts val="0"/>
              </a:spcBef>
              <a:spcAft>
                <a:spcPts val="0"/>
              </a:spcAft>
              <a:buClr>
                <a:srgbClr val="FFFFFF"/>
              </a:buClr>
              <a:buSzPct val="25000"/>
              <a:buFont typeface="Calibri"/>
              <a:buNone/>
            </a:pPr>
            <a:r>
              <a:rPr b="0" i="0" lang="en" sz="1400" u="none" cap="none" strike="noStrike">
                <a:solidFill>
                  <a:srgbClr val="FFFFFF"/>
                </a:solidFill>
                <a:latin typeface="Calibri"/>
                <a:ea typeface="Calibri"/>
                <a:cs typeface="Calibri"/>
                <a:sym typeface="Calibri"/>
              </a:rPr>
              <a:t>SDN-WAN with programmability,</a:t>
            </a:r>
            <a:br>
              <a:rPr b="0" i="0" lang="en" sz="1400" u="none" cap="none" strike="noStrike">
                <a:solidFill>
                  <a:srgbClr val="FFFFFF"/>
                </a:solidFill>
                <a:latin typeface="Calibri"/>
                <a:ea typeface="Calibri"/>
                <a:cs typeface="Calibri"/>
                <a:sym typeface="Calibri"/>
              </a:rPr>
            </a:br>
            <a:r>
              <a:rPr b="0" i="0" lang="en" sz="1400" u="none" cap="none" strike="noStrike">
                <a:solidFill>
                  <a:srgbClr val="FFFFFF"/>
                </a:solidFill>
                <a:latin typeface="Calibri"/>
                <a:ea typeface="Calibri"/>
                <a:cs typeface="Calibri"/>
                <a:sym typeface="Calibri"/>
              </a:rPr>
              <a:t>packet-optical convergence</a:t>
            </a:r>
          </a:p>
        </p:txBody>
      </p:sp>
      <p:grpSp>
        <p:nvGrpSpPr>
          <p:cNvPr id="998" name="Shape 998"/>
          <p:cNvGrpSpPr/>
          <p:nvPr/>
        </p:nvGrpSpPr>
        <p:grpSpPr>
          <a:xfrm>
            <a:off x="1146325" y="3812373"/>
            <a:ext cx="904507" cy="1018847"/>
            <a:chOff x="2909889" y="4057607"/>
            <a:chExt cx="904507" cy="1132052"/>
          </a:xfrm>
        </p:grpSpPr>
        <p:sp>
          <p:nvSpPr>
            <p:cNvPr id="999" name="Shape 999"/>
            <p:cNvSpPr/>
            <p:nvPr/>
          </p:nvSpPr>
          <p:spPr>
            <a:xfrm>
              <a:off x="3091440" y="4057607"/>
              <a:ext cx="722956" cy="1132052"/>
            </a:xfrm>
            <a:prstGeom prst="rect">
              <a:avLst/>
            </a:prstGeom>
            <a:solidFill>
              <a:srgbClr val="4BACC6"/>
            </a:solidFill>
            <a:ln cap="flat" cmpd="sng" w="25400">
              <a:solidFill>
                <a:schemeClr val="dk1"/>
              </a:solidFill>
              <a:prstDash val="solid"/>
              <a:round/>
              <a:headEnd len="med" w="med" type="none"/>
              <a:tailEnd len="med" w="med" type="none"/>
            </a:ln>
          </p:spPr>
          <p:txBody>
            <a:bodyPr anchorCtr="0" anchor="ctr" bIns="45675" lIns="91375" rIns="91375" tIns="45675">
              <a:noAutofit/>
            </a:bodyPr>
            <a:lstStyle/>
            <a:p>
              <a:pPr indent="0" lvl="0" marL="0" marR="0" rtl="0" algn="l">
                <a:lnSpc>
                  <a:spcPct val="100000"/>
                </a:lnSpc>
                <a:spcBef>
                  <a:spcPts val="0"/>
                </a:spcBef>
                <a:spcAft>
                  <a:spcPts val="0"/>
                </a:spcAft>
                <a:buClr>
                  <a:srgbClr val="FFFFFF"/>
                </a:buClr>
                <a:buSzPct val="25000"/>
                <a:buFont typeface="Calibri"/>
                <a:buNone/>
              </a:pPr>
              <a:r>
                <a:rPr b="0" i="0" lang="en" sz="900" u="none" cap="none" strike="noStrike">
                  <a:solidFill>
                    <a:srgbClr val="FFFFFF"/>
                  </a:solidFill>
                  <a:latin typeface="Calibri"/>
                  <a:ea typeface="Calibri"/>
                  <a:cs typeface="Calibri"/>
                  <a:sym typeface="Calibri"/>
                </a:rPr>
                <a:t>Enterprise</a:t>
              </a:r>
            </a:p>
            <a:p>
              <a:pPr indent="0" lvl="0" marL="0" marR="0" rtl="0" algn="l">
                <a:lnSpc>
                  <a:spcPct val="100000"/>
                </a:lnSpc>
                <a:spcBef>
                  <a:spcPts val="0"/>
                </a:spcBef>
                <a:spcAft>
                  <a:spcPts val="0"/>
                </a:spcAft>
                <a:buClr>
                  <a:srgbClr val="FFFFFF"/>
                </a:buClr>
                <a:buSzPct val="25000"/>
                <a:buFont typeface="Calibri"/>
                <a:buNone/>
              </a:pPr>
              <a:r>
                <a:rPr b="0" i="0" lang="en" sz="900" u="none" cap="none" strike="noStrike">
                  <a:solidFill>
                    <a:srgbClr val="FFFFFF"/>
                  </a:solidFill>
                  <a:latin typeface="Calibri"/>
                  <a:ea typeface="Calibri"/>
                  <a:cs typeface="Calibri"/>
                  <a:sym typeface="Calibri"/>
                </a:rPr>
                <a:t>Metro Ethernet</a:t>
              </a:r>
            </a:p>
          </p:txBody>
        </p:sp>
        <p:grpSp>
          <p:nvGrpSpPr>
            <p:cNvPr id="1000" name="Shape 1000"/>
            <p:cNvGrpSpPr/>
            <p:nvPr/>
          </p:nvGrpSpPr>
          <p:grpSpPr>
            <a:xfrm>
              <a:off x="2909889" y="4218821"/>
              <a:ext cx="177832" cy="757663"/>
              <a:chOff x="1069703" y="3423569"/>
              <a:chExt cx="177832" cy="681897"/>
            </a:xfrm>
          </p:grpSpPr>
          <p:cxnSp>
            <p:nvCxnSpPr>
              <p:cNvPr id="1001" name="Shape 1001"/>
              <p:cNvCxnSpPr/>
              <p:nvPr/>
            </p:nvCxnSpPr>
            <p:spPr>
              <a:xfrm rot="5400000">
                <a:off x="1158938" y="3565370"/>
                <a:ext cx="5007" cy="172187"/>
              </a:xfrm>
              <a:prstGeom prst="straightConnector1">
                <a:avLst/>
              </a:prstGeom>
              <a:noFill/>
              <a:ln cap="flat" cmpd="sng" w="38100">
                <a:solidFill>
                  <a:schemeClr val="dk1"/>
                </a:solidFill>
                <a:prstDash val="solid"/>
                <a:round/>
                <a:headEnd len="med" w="med" type="none"/>
                <a:tailEnd len="med" w="med" type="none"/>
              </a:ln>
            </p:spPr>
          </p:cxnSp>
          <p:cxnSp>
            <p:nvCxnSpPr>
              <p:cNvPr id="1002" name="Shape 1002"/>
              <p:cNvCxnSpPr/>
              <p:nvPr/>
            </p:nvCxnSpPr>
            <p:spPr>
              <a:xfrm rot="5400000">
                <a:off x="1158938" y="3641317"/>
                <a:ext cx="5007" cy="172187"/>
              </a:xfrm>
              <a:prstGeom prst="straightConnector1">
                <a:avLst/>
              </a:prstGeom>
              <a:noFill/>
              <a:ln cap="flat" cmpd="sng" w="38100">
                <a:solidFill>
                  <a:schemeClr val="dk1"/>
                </a:solidFill>
                <a:prstDash val="solid"/>
                <a:round/>
                <a:headEnd len="med" w="med" type="none"/>
                <a:tailEnd len="med" w="med" type="none"/>
              </a:ln>
            </p:spPr>
          </p:cxnSp>
          <p:cxnSp>
            <p:nvCxnSpPr>
              <p:cNvPr id="1003" name="Shape 1003"/>
              <p:cNvCxnSpPr/>
              <p:nvPr/>
            </p:nvCxnSpPr>
            <p:spPr>
              <a:xfrm rot="5400000">
                <a:off x="1157197" y="3718929"/>
                <a:ext cx="5007" cy="172187"/>
              </a:xfrm>
              <a:prstGeom prst="straightConnector1">
                <a:avLst/>
              </a:prstGeom>
              <a:noFill/>
              <a:ln cap="flat" cmpd="sng" w="38100">
                <a:solidFill>
                  <a:schemeClr val="dk1"/>
                </a:solidFill>
                <a:prstDash val="solid"/>
                <a:round/>
                <a:headEnd len="med" w="med" type="none"/>
                <a:tailEnd len="med" w="med" type="none"/>
              </a:ln>
            </p:spPr>
          </p:cxnSp>
          <p:cxnSp>
            <p:nvCxnSpPr>
              <p:cNvPr id="1004" name="Shape 1004"/>
              <p:cNvCxnSpPr/>
              <p:nvPr/>
            </p:nvCxnSpPr>
            <p:spPr>
              <a:xfrm rot="5400000">
                <a:off x="1158938" y="3793206"/>
                <a:ext cx="5007" cy="172187"/>
              </a:xfrm>
              <a:prstGeom prst="straightConnector1">
                <a:avLst/>
              </a:prstGeom>
              <a:noFill/>
              <a:ln cap="flat" cmpd="sng" w="38100">
                <a:solidFill>
                  <a:schemeClr val="dk1"/>
                </a:solidFill>
                <a:prstDash val="solid"/>
                <a:round/>
                <a:headEnd len="med" w="med" type="none"/>
                <a:tailEnd len="med" w="med" type="none"/>
              </a:ln>
            </p:spPr>
          </p:cxnSp>
          <p:cxnSp>
            <p:nvCxnSpPr>
              <p:cNvPr id="1005" name="Shape 1005"/>
              <p:cNvCxnSpPr/>
              <p:nvPr/>
            </p:nvCxnSpPr>
            <p:spPr>
              <a:xfrm rot="5400000">
                <a:off x="1158068" y="3861640"/>
                <a:ext cx="5007" cy="172187"/>
              </a:xfrm>
              <a:prstGeom prst="straightConnector1">
                <a:avLst/>
              </a:prstGeom>
              <a:noFill/>
              <a:ln cap="flat" cmpd="sng" w="38100">
                <a:solidFill>
                  <a:srgbClr val="FF0000"/>
                </a:solidFill>
                <a:prstDash val="solid"/>
                <a:round/>
                <a:headEnd len="med" w="med" type="none"/>
                <a:tailEnd len="med" w="med" type="none"/>
              </a:ln>
            </p:spPr>
          </p:cxnSp>
          <p:cxnSp>
            <p:nvCxnSpPr>
              <p:cNvPr id="1006" name="Shape 1006"/>
              <p:cNvCxnSpPr/>
              <p:nvPr/>
            </p:nvCxnSpPr>
            <p:spPr>
              <a:xfrm rot="5400000">
                <a:off x="1157197" y="3936751"/>
                <a:ext cx="5007" cy="172187"/>
              </a:xfrm>
              <a:prstGeom prst="straightConnector1">
                <a:avLst/>
              </a:prstGeom>
              <a:noFill/>
              <a:ln cap="flat" cmpd="sng" w="38100">
                <a:solidFill>
                  <a:schemeClr val="accent5"/>
                </a:solidFill>
                <a:prstDash val="solid"/>
                <a:round/>
                <a:headEnd len="med" w="med" type="none"/>
                <a:tailEnd len="med" w="med" type="none"/>
              </a:ln>
            </p:spPr>
          </p:cxnSp>
          <p:cxnSp>
            <p:nvCxnSpPr>
              <p:cNvPr id="1007" name="Shape 1007"/>
              <p:cNvCxnSpPr/>
              <p:nvPr/>
            </p:nvCxnSpPr>
            <p:spPr>
              <a:xfrm rot="5400000">
                <a:off x="1158068" y="4016868"/>
                <a:ext cx="5007" cy="172187"/>
              </a:xfrm>
              <a:prstGeom prst="straightConnector1">
                <a:avLst/>
              </a:prstGeom>
              <a:noFill/>
              <a:ln cap="flat" cmpd="sng" w="38100">
                <a:solidFill>
                  <a:schemeClr val="accent3"/>
                </a:solidFill>
                <a:prstDash val="solid"/>
                <a:round/>
                <a:headEnd len="med" w="med" type="none"/>
                <a:tailEnd len="med" w="med" type="none"/>
              </a:ln>
            </p:spPr>
          </p:cxnSp>
          <p:cxnSp>
            <p:nvCxnSpPr>
              <p:cNvPr id="1008" name="Shape 1008"/>
              <p:cNvCxnSpPr/>
              <p:nvPr/>
            </p:nvCxnSpPr>
            <p:spPr>
              <a:xfrm rot="5400000">
                <a:off x="1154164" y="3339979"/>
                <a:ext cx="5007" cy="172187"/>
              </a:xfrm>
              <a:prstGeom prst="straightConnector1">
                <a:avLst/>
              </a:prstGeom>
              <a:noFill/>
              <a:ln cap="flat" cmpd="sng" w="38100">
                <a:solidFill>
                  <a:srgbClr val="FF0000"/>
                </a:solidFill>
                <a:prstDash val="solid"/>
                <a:round/>
                <a:headEnd len="med" w="med" type="none"/>
                <a:tailEnd len="med" w="med" type="none"/>
              </a:ln>
            </p:spPr>
          </p:cxnSp>
          <p:cxnSp>
            <p:nvCxnSpPr>
              <p:cNvPr id="1009" name="Shape 1009"/>
              <p:cNvCxnSpPr/>
              <p:nvPr/>
            </p:nvCxnSpPr>
            <p:spPr>
              <a:xfrm rot="5400000">
                <a:off x="1153293" y="3415090"/>
                <a:ext cx="5007" cy="172187"/>
              </a:xfrm>
              <a:prstGeom prst="straightConnector1">
                <a:avLst/>
              </a:prstGeom>
              <a:noFill/>
              <a:ln cap="flat" cmpd="sng" w="38100">
                <a:solidFill>
                  <a:schemeClr val="accent5"/>
                </a:solidFill>
                <a:prstDash val="solid"/>
                <a:round/>
                <a:headEnd len="med" w="med" type="none"/>
                <a:tailEnd len="med" w="med" type="none"/>
              </a:ln>
            </p:spPr>
          </p:cxnSp>
          <p:cxnSp>
            <p:nvCxnSpPr>
              <p:cNvPr id="1010" name="Shape 1010"/>
              <p:cNvCxnSpPr/>
              <p:nvPr/>
            </p:nvCxnSpPr>
            <p:spPr>
              <a:xfrm rot="5400000">
                <a:off x="1154164" y="3495208"/>
                <a:ext cx="5007" cy="172187"/>
              </a:xfrm>
              <a:prstGeom prst="straightConnector1">
                <a:avLst/>
              </a:prstGeom>
              <a:noFill/>
              <a:ln cap="flat" cmpd="sng" w="38100">
                <a:solidFill>
                  <a:schemeClr val="accent3"/>
                </a:solidFill>
                <a:prstDash val="solid"/>
                <a:round/>
                <a:headEnd len="med" w="med" type="none"/>
                <a:tailEnd len="med" w="med" type="none"/>
              </a:ln>
            </p:spPr>
          </p:cxnSp>
        </p:grpSp>
      </p:grpSp>
      <p:sp>
        <p:nvSpPr>
          <p:cNvPr id="1011" name="Shape 1011"/>
          <p:cNvSpPr/>
          <p:nvPr/>
        </p:nvSpPr>
        <p:spPr>
          <a:xfrm>
            <a:off x="40704" y="928523"/>
            <a:ext cx="805926" cy="881733"/>
          </a:xfrm>
          <a:prstGeom prst="wedgeEllipseCallout">
            <a:avLst>
              <a:gd fmla="val 109740" name="adj1"/>
              <a:gd fmla="val 26593" name="adj2"/>
            </a:avLst>
          </a:prstGeom>
          <a:solidFill>
            <a:srgbClr val="C0504D"/>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400" u="none" cap="none" strike="noStrike">
                <a:solidFill>
                  <a:srgbClr val="FFFFFF"/>
                </a:solidFill>
                <a:latin typeface="Calibri"/>
                <a:ea typeface="Calibri"/>
                <a:cs typeface="Calibri"/>
                <a:sym typeface="Calibri"/>
              </a:rPr>
              <a:t>Field Trial </a:t>
            </a:r>
          </a:p>
        </p:txBody>
      </p:sp>
      <p:sp>
        <p:nvSpPr>
          <p:cNvPr id="1012" name="Shape 1012"/>
          <p:cNvSpPr/>
          <p:nvPr/>
        </p:nvSpPr>
        <p:spPr>
          <a:xfrm>
            <a:off x="8301210" y="928523"/>
            <a:ext cx="805926" cy="881733"/>
          </a:xfrm>
          <a:prstGeom prst="wedgeEllipseCallout">
            <a:avLst>
              <a:gd fmla="val -95311" name="adj1"/>
              <a:gd fmla="val 10895" name="adj2"/>
            </a:avLst>
          </a:prstGeom>
          <a:solidFill>
            <a:srgbClr val="C0504D"/>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400" u="none" cap="none" strike="noStrike">
                <a:solidFill>
                  <a:srgbClr val="FFFFFF"/>
                </a:solidFill>
                <a:latin typeface="Calibri"/>
                <a:ea typeface="Calibri"/>
                <a:cs typeface="Calibri"/>
                <a:sym typeface="Calibri"/>
              </a:rPr>
              <a:t>POC at ONS</a:t>
            </a:r>
          </a:p>
        </p:txBody>
      </p:sp>
      <p:sp>
        <p:nvSpPr>
          <p:cNvPr id="1013" name="Shape 1013"/>
          <p:cNvSpPr/>
          <p:nvPr/>
        </p:nvSpPr>
        <p:spPr>
          <a:xfrm>
            <a:off x="8338074" y="1863928"/>
            <a:ext cx="805926" cy="881733"/>
          </a:xfrm>
          <a:prstGeom prst="wedgeEllipseCallout">
            <a:avLst>
              <a:gd fmla="val -405412" name="adj1"/>
              <a:gd fmla="val -73132" name="adj2"/>
            </a:avLst>
          </a:prstGeom>
          <a:solidFill>
            <a:srgbClr val="C0504D"/>
          </a:solidFill>
          <a:ln cap="flat" cmpd="sng" w="9525">
            <a:solidFill>
              <a:srgbClr val="4A7DBA"/>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rgbClr val="FFFFFF"/>
              </a:buClr>
              <a:buSzPct val="25000"/>
              <a:buFont typeface="Calibri"/>
              <a:buNone/>
            </a:pPr>
            <a:r>
              <a:rPr b="0" i="0" lang="en" sz="1400" u="none" cap="none" strike="noStrike">
                <a:solidFill>
                  <a:srgbClr val="FFFFFF"/>
                </a:solidFill>
                <a:latin typeface="Calibri"/>
                <a:ea typeface="Calibri"/>
                <a:cs typeface="Calibri"/>
                <a:sym typeface="Calibri"/>
              </a:rPr>
              <a:t>POC at ONS</a:t>
            </a: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17" name="Shape 1017"/>
        <p:cNvGrpSpPr/>
        <p:nvPr/>
      </p:nvGrpSpPr>
      <p:grpSpPr>
        <a:xfrm>
          <a:off x="0" y="0"/>
          <a:ext cx="0" cy="0"/>
          <a:chOff x="0" y="0"/>
          <a:chExt cx="0" cy="0"/>
        </a:xfrm>
      </p:grpSpPr>
      <p:sp>
        <p:nvSpPr>
          <p:cNvPr id="1018" name="Shape 1018"/>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Hummingbird Release - Takeaways</a:t>
            </a:r>
          </a:p>
        </p:txBody>
      </p:sp>
      <p:sp>
        <p:nvSpPr>
          <p:cNvPr id="1019" name="Shape 1019"/>
          <p:cNvSpPr txBox="1"/>
          <p:nvPr>
            <p:ph idx="1" type="body"/>
          </p:nvPr>
        </p:nvSpPr>
        <p:spPr>
          <a:xfrm>
            <a:off x="457200" y="1154724"/>
            <a:ext cx="8229600" cy="3768600"/>
          </a:xfrm>
          <a:prstGeom prst="rect">
            <a:avLst/>
          </a:prstGeom>
        </p:spPr>
        <p:txBody>
          <a:bodyPr anchorCtr="0" anchor="t" bIns="91425" lIns="91425" rIns="91425" tIns="91425">
            <a:noAutofit/>
          </a:bodyPr>
          <a:lstStyle/>
          <a:p>
            <a:pPr indent="-355600" lvl="0" marL="457200" marR="0" rtl="0" algn="l">
              <a:lnSpc>
                <a:spcPct val="115000"/>
              </a:lnSpc>
              <a:spcBef>
                <a:spcPts val="0"/>
              </a:spcBef>
              <a:spcAft>
                <a:spcPts val="0"/>
              </a:spcAft>
              <a:buClr>
                <a:srgbClr val="D9D9D9"/>
              </a:buClr>
              <a:buSzPct val="100000"/>
            </a:pPr>
            <a:r>
              <a:rPr b="1" lang="en" sz="2000">
                <a:solidFill>
                  <a:srgbClr val="D9D9D9"/>
                </a:solidFill>
              </a:rPr>
              <a:t>ONOS Community is Diverse and Growing Rapidly</a:t>
            </a:r>
          </a:p>
          <a:p>
            <a:pPr lvl="0" marR="0" rtl="0" algn="l">
              <a:lnSpc>
                <a:spcPct val="115000"/>
              </a:lnSpc>
              <a:spcBef>
                <a:spcPts val="0"/>
              </a:spcBef>
              <a:spcAft>
                <a:spcPts val="0"/>
              </a:spcAft>
              <a:buNone/>
            </a:pPr>
            <a:r>
              <a:t/>
            </a:r>
            <a:endParaRPr b="1" sz="2000">
              <a:solidFill>
                <a:srgbClr val="D9D9D9"/>
              </a:solidFill>
            </a:endParaRPr>
          </a:p>
          <a:p>
            <a:pPr indent="-355600" lvl="0" marL="457200" marR="0" rtl="0" algn="l">
              <a:lnSpc>
                <a:spcPct val="115000"/>
              </a:lnSpc>
              <a:spcBef>
                <a:spcPts val="0"/>
              </a:spcBef>
              <a:spcAft>
                <a:spcPts val="0"/>
              </a:spcAft>
              <a:buClr>
                <a:srgbClr val="D9D9D9"/>
              </a:buClr>
              <a:buSzPct val="100000"/>
            </a:pPr>
            <a:r>
              <a:rPr b="1" lang="en" sz="2000">
                <a:solidFill>
                  <a:srgbClr val="D9D9D9"/>
                </a:solidFill>
              </a:rPr>
              <a:t>ONOS is the only platform supporting both incremental and true SDN</a:t>
            </a:r>
          </a:p>
          <a:p>
            <a:pPr lvl="0" marR="0" rtl="0" algn="l">
              <a:lnSpc>
                <a:spcPct val="115000"/>
              </a:lnSpc>
              <a:spcBef>
                <a:spcPts val="0"/>
              </a:spcBef>
              <a:spcAft>
                <a:spcPts val="0"/>
              </a:spcAft>
              <a:buNone/>
            </a:pPr>
            <a:r>
              <a:t/>
            </a:r>
            <a:endParaRPr b="1" sz="2000">
              <a:solidFill>
                <a:srgbClr val="D9D9D9"/>
              </a:solidFill>
            </a:endParaRPr>
          </a:p>
          <a:p>
            <a:pPr indent="-355600" lvl="0" marL="457200" marR="0" rtl="0" algn="l">
              <a:lnSpc>
                <a:spcPct val="115000"/>
              </a:lnSpc>
              <a:spcBef>
                <a:spcPts val="0"/>
              </a:spcBef>
              <a:spcAft>
                <a:spcPts val="0"/>
              </a:spcAft>
              <a:buClr>
                <a:srgbClr val="D9D9D9"/>
              </a:buClr>
              <a:buSzPct val="100000"/>
            </a:pPr>
            <a:r>
              <a:rPr b="1" lang="en" sz="2000">
                <a:solidFill>
                  <a:srgbClr val="D9D9D9"/>
                </a:solidFill>
              </a:rPr>
              <a:t>ONOS is critical to operator PoCs, Field Trials, Deployments</a:t>
            </a:r>
          </a:p>
          <a:p>
            <a:pPr lvl="0" marR="0" rtl="0" algn="l">
              <a:lnSpc>
                <a:spcPct val="115000"/>
              </a:lnSpc>
              <a:spcBef>
                <a:spcPts val="0"/>
              </a:spcBef>
              <a:spcAft>
                <a:spcPts val="0"/>
              </a:spcAft>
              <a:buNone/>
            </a:pPr>
            <a:r>
              <a:t/>
            </a:r>
            <a:endParaRPr b="1" sz="2000">
              <a:solidFill>
                <a:srgbClr val="D9D9D9"/>
              </a:solidFill>
            </a:endParaRPr>
          </a:p>
          <a:p>
            <a:pPr indent="-355600" lvl="0" marL="457200" marR="0" rtl="0" algn="l">
              <a:lnSpc>
                <a:spcPct val="115000"/>
              </a:lnSpc>
              <a:spcBef>
                <a:spcPts val="0"/>
              </a:spcBef>
              <a:spcAft>
                <a:spcPts val="0"/>
              </a:spcAft>
              <a:buSzPct val="100000"/>
            </a:pPr>
            <a:r>
              <a:rPr b="1" lang="en" sz="2000"/>
              <a:t>Hummingbird</a:t>
            </a:r>
          </a:p>
          <a:p>
            <a:pPr indent="-355600" lvl="1" marL="914400" marR="0" rtl="0" algn="l">
              <a:lnSpc>
                <a:spcPct val="115000"/>
              </a:lnSpc>
              <a:spcBef>
                <a:spcPts val="0"/>
              </a:spcBef>
              <a:spcAft>
                <a:spcPts val="0"/>
              </a:spcAft>
              <a:buSzPct val="100000"/>
            </a:pPr>
            <a:r>
              <a:rPr b="1" lang="en" sz="2000"/>
              <a:t>Automation, Integration and Legacy Enablement</a:t>
            </a: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23" name="Shape 1023"/>
        <p:cNvGrpSpPr/>
        <p:nvPr/>
      </p:nvGrpSpPr>
      <p:grpSpPr>
        <a:xfrm>
          <a:off x="0" y="0"/>
          <a:ext cx="0" cy="0"/>
          <a:chOff x="0" y="0"/>
          <a:chExt cx="0" cy="0"/>
        </a:xfrm>
      </p:grpSpPr>
      <p:sp>
        <p:nvSpPr>
          <p:cNvPr id="1024" name="Shape 1024"/>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Hummingbird focus </a:t>
            </a:r>
          </a:p>
        </p:txBody>
      </p:sp>
      <p:sp>
        <p:nvSpPr>
          <p:cNvPr id="1025" name="Shape 1025"/>
          <p:cNvSpPr txBox="1"/>
          <p:nvPr>
            <p:ph idx="1" type="body"/>
          </p:nvPr>
        </p:nvSpPr>
        <p:spPr>
          <a:xfrm>
            <a:off x="457200" y="751498"/>
            <a:ext cx="8229600" cy="3989400"/>
          </a:xfrm>
          <a:prstGeom prst="rect">
            <a:avLst/>
          </a:prstGeom>
        </p:spPr>
        <p:txBody>
          <a:bodyPr anchorCtr="0" anchor="t" bIns="91425" lIns="91425" rIns="91425" tIns="91425">
            <a:noAutofit/>
          </a:bodyPr>
          <a:lstStyle/>
          <a:p>
            <a:pPr indent="-342900" lvl="0" marL="457200" rtl="0">
              <a:spcBef>
                <a:spcPts val="0"/>
              </a:spcBef>
              <a:buSzPct val="100000"/>
            </a:pPr>
            <a:r>
              <a:rPr b="1" lang="en" sz="1800"/>
              <a:t>Automation</a:t>
            </a:r>
          </a:p>
          <a:p>
            <a:pPr indent="-317500" lvl="1" marL="914400" rtl="0">
              <a:spcBef>
                <a:spcPts val="0"/>
              </a:spcBef>
              <a:buSzPct val="100000"/>
            </a:pPr>
            <a:r>
              <a:rPr lang="en" sz="1400"/>
              <a:t>Automated generation of YANG model java code - NB and SB</a:t>
            </a:r>
          </a:p>
          <a:p>
            <a:pPr indent="-342900" lvl="0" marL="457200" rtl="0">
              <a:spcBef>
                <a:spcPts val="0"/>
              </a:spcBef>
              <a:buSzPct val="100000"/>
            </a:pPr>
            <a:r>
              <a:rPr b="1" lang="en" sz="1800"/>
              <a:t>Integration/Interoperability (with other system components)</a:t>
            </a:r>
          </a:p>
          <a:p>
            <a:pPr indent="-317500" lvl="1" marL="914400" rtl="0">
              <a:spcBef>
                <a:spcPts val="0"/>
              </a:spcBef>
              <a:buSzPct val="100000"/>
            </a:pPr>
            <a:r>
              <a:rPr lang="en" sz="1400"/>
              <a:t>YANG toolchain support to quickly integrate new service and device models</a:t>
            </a:r>
          </a:p>
          <a:p>
            <a:pPr indent="-317500" lvl="1" marL="914400" rtl="0">
              <a:spcBef>
                <a:spcPts val="0"/>
              </a:spcBef>
              <a:buSzPct val="100000"/>
            </a:pPr>
            <a:r>
              <a:rPr lang="en" sz="1400"/>
              <a:t>RabbitMQ (Adara) and Kafka (Calix) message bus support to quickly integrate new applications written in other languages</a:t>
            </a:r>
          </a:p>
          <a:p>
            <a:pPr indent="-317500" lvl="1" marL="914400" rtl="0">
              <a:spcBef>
                <a:spcPts val="0"/>
              </a:spcBef>
              <a:buSzPct val="100000"/>
            </a:pPr>
            <a:r>
              <a:rPr lang="en" sz="1400"/>
              <a:t>Controller peering support through ICONA project (Create-Net and TATA) and through Open Exchange Protocol (BUPT)</a:t>
            </a:r>
          </a:p>
          <a:p>
            <a:pPr indent="-317500" lvl="1" marL="914400" rtl="0">
              <a:spcBef>
                <a:spcPts val="0"/>
              </a:spcBef>
              <a:buSzPct val="100000"/>
            </a:pPr>
            <a:r>
              <a:rPr lang="en" sz="1400"/>
              <a:t>RestConf Client support in southbound (Huawei)</a:t>
            </a:r>
          </a:p>
          <a:p>
            <a:pPr indent="-317500" lvl="1" marL="914400" rtl="0">
              <a:spcBef>
                <a:spcPts val="0"/>
              </a:spcBef>
              <a:buSzPct val="100000"/>
            </a:pPr>
            <a:r>
              <a:rPr lang="en" sz="1400"/>
              <a:t>ACTN (Huawei)</a:t>
            </a:r>
          </a:p>
          <a:p>
            <a:pPr indent="-342900" lvl="0" marL="457200" rtl="0">
              <a:spcBef>
                <a:spcPts val="0"/>
              </a:spcBef>
              <a:buSzPct val="100000"/>
            </a:pPr>
            <a:r>
              <a:rPr b="1" lang="en" sz="1800"/>
              <a:t>Legacy Support</a:t>
            </a:r>
          </a:p>
          <a:p>
            <a:pPr indent="-317500" lvl="1" marL="914400" rtl="0">
              <a:spcBef>
                <a:spcPts val="0"/>
              </a:spcBef>
              <a:buSzPct val="100000"/>
            </a:pPr>
            <a:r>
              <a:rPr lang="en" sz="1400"/>
              <a:t>Additional NETCONF device support (Fujitsu)</a:t>
            </a:r>
          </a:p>
          <a:p>
            <a:pPr indent="-317500" lvl="1" marL="914400" rtl="0">
              <a:spcBef>
                <a:spcPts val="0"/>
              </a:spcBef>
              <a:buSzPct val="100000"/>
            </a:pPr>
            <a:r>
              <a:rPr lang="en" sz="1400"/>
              <a:t>BGP Route Policy Distribution (Huawei)</a:t>
            </a:r>
          </a:p>
          <a:p>
            <a:pPr indent="-317500" lvl="1" marL="914400" rtl="0">
              <a:spcBef>
                <a:spcPts val="0"/>
              </a:spcBef>
              <a:buSzPct val="100000"/>
            </a:pPr>
            <a:r>
              <a:rPr lang="en" sz="1400"/>
              <a:t>IETF TE Topology application, standard YANG models - ACTN (Huawei)</a:t>
            </a:r>
          </a:p>
          <a:p>
            <a:pPr indent="-317500" lvl="1" marL="914400" rtl="0">
              <a:spcBef>
                <a:spcPts val="0"/>
              </a:spcBef>
              <a:buSzPct val="100000"/>
            </a:pPr>
            <a:r>
              <a:rPr lang="en" sz="1400"/>
              <a:t>Additional optical support for devices (OPLink)</a:t>
            </a:r>
          </a:p>
          <a:p>
            <a:pPr indent="-317500" lvl="1" marL="914400" rtl="0">
              <a:spcBef>
                <a:spcPts val="0"/>
              </a:spcBef>
              <a:buSzPct val="100000"/>
            </a:pPr>
            <a:r>
              <a:rPr lang="en" sz="1400"/>
              <a:t>Arista switch support (SKT)</a:t>
            </a:r>
          </a:p>
          <a:p>
            <a:pPr indent="-317500" lvl="1" marL="914400" rtl="0">
              <a:spcBef>
                <a:spcPts val="0"/>
              </a:spcBef>
              <a:buSzPct val="100000"/>
            </a:pPr>
            <a:r>
              <a:rPr lang="en" sz="1400"/>
              <a:t>OSPF and ISIS southbound interfaces (Huawei, Cognizant)</a:t>
            </a:r>
          </a:p>
          <a:p>
            <a:pPr indent="-317500" lvl="1" marL="914400" rtl="0">
              <a:spcBef>
                <a:spcPts val="0"/>
              </a:spcBef>
              <a:buSzPct val="100000"/>
            </a:pPr>
            <a:r>
              <a:rPr lang="en" sz="1400"/>
              <a:t>Cisco IOS port discovery (University of Patras)</a:t>
            </a:r>
          </a:p>
          <a:p>
            <a:pPr indent="-317500" lvl="1" marL="914400">
              <a:spcBef>
                <a:spcPts val="0"/>
              </a:spcBef>
              <a:buSzPct val="100000"/>
            </a:pPr>
            <a:r>
              <a:rPr lang="en" sz="1400"/>
              <a:t>Initial implementation of LISP (POSTECH)</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29" name="Shape 1029"/>
        <p:cNvGrpSpPr/>
        <p:nvPr/>
      </p:nvGrpSpPr>
      <p:grpSpPr>
        <a:xfrm>
          <a:off x="0" y="0"/>
          <a:ext cx="0" cy="0"/>
          <a:chOff x="0" y="0"/>
          <a:chExt cx="0" cy="0"/>
        </a:xfrm>
      </p:grpSpPr>
      <p:sp>
        <p:nvSpPr>
          <p:cNvPr id="1030" name="Shape 1030"/>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Hummingbird Release - Takeaways</a:t>
            </a:r>
          </a:p>
        </p:txBody>
      </p:sp>
      <p:sp>
        <p:nvSpPr>
          <p:cNvPr id="1031" name="Shape 1031"/>
          <p:cNvSpPr txBox="1"/>
          <p:nvPr>
            <p:ph idx="1" type="body"/>
          </p:nvPr>
        </p:nvSpPr>
        <p:spPr>
          <a:xfrm>
            <a:off x="457200" y="1154724"/>
            <a:ext cx="8229600" cy="3768600"/>
          </a:xfrm>
          <a:prstGeom prst="rect">
            <a:avLst/>
          </a:prstGeom>
        </p:spPr>
        <p:txBody>
          <a:bodyPr anchorCtr="0" anchor="t" bIns="91425" lIns="91425" rIns="91425" tIns="91425">
            <a:noAutofit/>
          </a:bodyPr>
          <a:lstStyle/>
          <a:p>
            <a:pPr indent="-355600" lvl="0" marL="457200" marR="0" rtl="0" algn="l">
              <a:lnSpc>
                <a:spcPct val="115000"/>
              </a:lnSpc>
              <a:spcBef>
                <a:spcPts val="0"/>
              </a:spcBef>
              <a:spcAft>
                <a:spcPts val="0"/>
              </a:spcAft>
              <a:buSzPct val="100000"/>
            </a:pPr>
            <a:r>
              <a:rPr b="1" lang="en" sz="2000"/>
              <a:t>ONOS Community is Diverse and Growing Rapidly</a:t>
            </a:r>
          </a:p>
          <a:p>
            <a:pPr lvl="0" marR="0" rtl="0" algn="l">
              <a:lnSpc>
                <a:spcPct val="115000"/>
              </a:lnSpc>
              <a:spcBef>
                <a:spcPts val="0"/>
              </a:spcBef>
              <a:spcAft>
                <a:spcPts val="0"/>
              </a:spcAft>
              <a:buNone/>
            </a:pPr>
            <a:r>
              <a:t/>
            </a:r>
            <a:endParaRPr b="1" sz="2000"/>
          </a:p>
          <a:p>
            <a:pPr indent="-355600" lvl="0" marL="457200" marR="0" rtl="0" algn="l">
              <a:lnSpc>
                <a:spcPct val="115000"/>
              </a:lnSpc>
              <a:spcBef>
                <a:spcPts val="0"/>
              </a:spcBef>
              <a:spcAft>
                <a:spcPts val="0"/>
              </a:spcAft>
              <a:buSzPct val="100000"/>
            </a:pPr>
            <a:r>
              <a:rPr b="1" lang="en" sz="2000"/>
              <a:t>ONOS is the only platform supporting both incremental and true SDN</a:t>
            </a:r>
          </a:p>
          <a:p>
            <a:pPr lvl="0" marR="0" rtl="0" algn="l">
              <a:lnSpc>
                <a:spcPct val="115000"/>
              </a:lnSpc>
              <a:spcBef>
                <a:spcPts val="0"/>
              </a:spcBef>
              <a:spcAft>
                <a:spcPts val="0"/>
              </a:spcAft>
              <a:buNone/>
            </a:pPr>
            <a:r>
              <a:t/>
            </a:r>
            <a:endParaRPr b="1" sz="2000"/>
          </a:p>
          <a:p>
            <a:pPr indent="-355600" lvl="0" marL="457200" marR="0" rtl="0" algn="l">
              <a:lnSpc>
                <a:spcPct val="115000"/>
              </a:lnSpc>
              <a:spcBef>
                <a:spcPts val="0"/>
              </a:spcBef>
              <a:spcAft>
                <a:spcPts val="0"/>
              </a:spcAft>
              <a:buSzPct val="100000"/>
            </a:pPr>
            <a:r>
              <a:rPr b="1" lang="en" sz="2000"/>
              <a:t>ONOS is critical to operator PoCs, Field Trials, Deployments</a:t>
            </a:r>
          </a:p>
          <a:p>
            <a:pPr lvl="0" marR="0" rtl="0" algn="l">
              <a:lnSpc>
                <a:spcPct val="115000"/>
              </a:lnSpc>
              <a:spcBef>
                <a:spcPts val="0"/>
              </a:spcBef>
              <a:spcAft>
                <a:spcPts val="0"/>
              </a:spcAft>
              <a:buNone/>
            </a:pPr>
            <a:r>
              <a:t/>
            </a:r>
            <a:endParaRPr b="1" sz="2000"/>
          </a:p>
          <a:p>
            <a:pPr indent="-355600" lvl="0" marL="457200" marR="0" rtl="0" algn="l">
              <a:lnSpc>
                <a:spcPct val="115000"/>
              </a:lnSpc>
              <a:spcBef>
                <a:spcPts val="0"/>
              </a:spcBef>
              <a:spcAft>
                <a:spcPts val="0"/>
              </a:spcAft>
              <a:buSzPct val="100000"/>
            </a:pPr>
            <a:r>
              <a:rPr b="1" lang="en" sz="2000"/>
              <a:t>Hummingbird</a:t>
            </a:r>
          </a:p>
          <a:p>
            <a:pPr indent="-355600" lvl="1" marL="914400" marR="0" rtl="0" algn="l">
              <a:lnSpc>
                <a:spcPct val="115000"/>
              </a:lnSpc>
              <a:spcBef>
                <a:spcPts val="0"/>
              </a:spcBef>
              <a:spcAft>
                <a:spcPts val="0"/>
              </a:spcAft>
              <a:buSzPct val="100000"/>
            </a:pPr>
            <a:r>
              <a:rPr b="1" lang="en" sz="2000"/>
              <a:t>Automation, Integration and Legacy Enablement</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35" name="Shape 1035"/>
        <p:cNvGrpSpPr/>
        <p:nvPr/>
      </p:nvGrpSpPr>
      <p:grpSpPr>
        <a:xfrm>
          <a:off x="0" y="0"/>
          <a:ext cx="0" cy="0"/>
          <a:chOff x="0" y="0"/>
          <a:chExt cx="0" cy="0"/>
        </a:xfrm>
      </p:grpSpPr>
      <p:sp>
        <p:nvSpPr>
          <p:cNvPr id="1036" name="Shape 1036"/>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sz="3000"/>
              <a:t>Detailed Contributions and Release Content</a:t>
            </a:r>
          </a:p>
        </p:txBody>
      </p:sp>
      <p:sp>
        <p:nvSpPr>
          <p:cNvPr id="1037" name="Shape 1037"/>
          <p:cNvSpPr txBox="1"/>
          <p:nvPr/>
        </p:nvSpPr>
        <p:spPr>
          <a:xfrm>
            <a:off x="1485900" y="2145575"/>
            <a:ext cx="5643300" cy="1645800"/>
          </a:xfrm>
          <a:prstGeom prst="rect">
            <a:avLst/>
          </a:prstGeom>
          <a:noFill/>
          <a:ln>
            <a:noFill/>
          </a:ln>
        </p:spPr>
        <p:txBody>
          <a:bodyPr anchorCtr="0" anchor="t" bIns="91425" lIns="91425" rIns="91425" tIns="91425">
            <a:noAutofit/>
          </a:bodyPr>
          <a:lstStyle/>
          <a:p>
            <a:pPr lvl="0" algn="ctr">
              <a:spcBef>
                <a:spcPts val="0"/>
              </a:spcBef>
              <a:buNone/>
            </a:pPr>
            <a:r>
              <a:rPr lang="en" sz="3000"/>
              <a:t>End of briefing, the rest of slides are for reference</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41" name="Shape 1041"/>
        <p:cNvGrpSpPr/>
        <p:nvPr/>
      </p:nvGrpSpPr>
      <p:grpSpPr>
        <a:xfrm>
          <a:off x="0" y="0"/>
          <a:ext cx="0" cy="0"/>
          <a:chOff x="0" y="0"/>
          <a:chExt cx="0" cy="0"/>
        </a:xfrm>
      </p:grpSpPr>
      <p:sp>
        <p:nvSpPr>
          <p:cNvPr id="1042" name="Shape 1042"/>
          <p:cNvSpPr txBox="1"/>
          <p:nvPr>
            <p:ph type="title"/>
          </p:nvPr>
        </p:nvSpPr>
        <p:spPr>
          <a:xfrm>
            <a:off x="377775" y="70680"/>
            <a:ext cx="8229600" cy="857400"/>
          </a:xfrm>
          <a:prstGeom prst="rect">
            <a:avLst/>
          </a:prstGeom>
        </p:spPr>
        <p:txBody>
          <a:bodyPr anchorCtr="0" anchor="b" bIns="91425" lIns="91425" rIns="91425" tIns="91425">
            <a:noAutofit/>
          </a:bodyPr>
          <a:lstStyle/>
          <a:p>
            <a:pPr lvl="0">
              <a:spcBef>
                <a:spcPts val="0"/>
              </a:spcBef>
              <a:buNone/>
            </a:pPr>
            <a:r>
              <a:rPr lang="en"/>
              <a:t>Hummingbird Primary Contributors*</a:t>
            </a:r>
          </a:p>
        </p:txBody>
      </p:sp>
      <p:pic>
        <p:nvPicPr>
          <p:cNvPr descr="Ciena-logo.jpeg" id="1043" name="Shape 1043"/>
          <p:cNvPicPr preferRelativeResize="0"/>
          <p:nvPr/>
        </p:nvPicPr>
        <p:blipFill rotWithShape="1">
          <a:blip r:embed="rId3">
            <a:alphaModFix/>
          </a:blip>
          <a:srcRect b="0" l="0" r="0" t="0"/>
          <a:stretch/>
        </p:blipFill>
        <p:spPr>
          <a:xfrm>
            <a:off x="5341419" y="1752609"/>
            <a:ext cx="689100" cy="172500"/>
          </a:xfrm>
          <a:prstGeom prst="rect">
            <a:avLst/>
          </a:prstGeom>
          <a:noFill/>
          <a:ln>
            <a:noFill/>
          </a:ln>
        </p:spPr>
      </p:pic>
      <p:pic>
        <p:nvPicPr>
          <p:cNvPr descr="skt.png" id="1044" name="Shape 1044"/>
          <p:cNvPicPr preferRelativeResize="0"/>
          <p:nvPr/>
        </p:nvPicPr>
        <p:blipFill>
          <a:blip r:embed="rId4">
            <a:alphaModFix/>
          </a:blip>
          <a:stretch>
            <a:fillRect/>
          </a:stretch>
        </p:blipFill>
        <p:spPr>
          <a:xfrm>
            <a:off x="1301950" y="3506909"/>
            <a:ext cx="1161940" cy="857399"/>
          </a:xfrm>
          <a:prstGeom prst="rect">
            <a:avLst/>
          </a:prstGeom>
          <a:noFill/>
          <a:ln>
            <a:noFill/>
          </a:ln>
        </p:spPr>
      </p:pic>
      <p:pic>
        <p:nvPicPr>
          <p:cNvPr descr="attoresearch_logo.png" id="1045" name="Shape 1045"/>
          <p:cNvPicPr preferRelativeResize="0"/>
          <p:nvPr/>
        </p:nvPicPr>
        <p:blipFill>
          <a:blip r:embed="rId5">
            <a:alphaModFix/>
          </a:blip>
          <a:stretch>
            <a:fillRect/>
          </a:stretch>
        </p:blipFill>
        <p:spPr>
          <a:xfrm>
            <a:off x="1194962" y="1410156"/>
            <a:ext cx="1161950" cy="857406"/>
          </a:xfrm>
          <a:prstGeom prst="rect">
            <a:avLst/>
          </a:prstGeom>
          <a:noFill/>
          <a:ln>
            <a:noFill/>
          </a:ln>
        </p:spPr>
      </p:pic>
      <p:pic>
        <p:nvPicPr>
          <p:cNvPr descr="TCS_Logo_248.jpg" id="1046" name="Shape 1046"/>
          <p:cNvPicPr preferRelativeResize="0"/>
          <p:nvPr/>
        </p:nvPicPr>
        <p:blipFill>
          <a:blip r:embed="rId6">
            <a:alphaModFix/>
          </a:blip>
          <a:stretch>
            <a:fillRect/>
          </a:stretch>
        </p:blipFill>
        <p:spPr>
          <a:xfrm>
            <a:off x="3996112" y="3480884"/>
            <a:ext cx="1232450" cy="909450"/>
          </a:xfrm>
          <a:prstGeom prst="rect">
            <a:avLst/>
          </a:prstGeom>
          <a:noFill/>
          <a:ln>
            <a:noFill/>
          </a:ln>
        </p:spPr>
      </p:pic>
      <p:pic>
        <p:nvPicPr>
          <p:cNvPr descr="create-net.jpg" id="1047" name="Shape 1047"/>
          <p:cNvPicPr preferRelativeResize="0"/>
          <p:nvPr/>
        </p:nvPicPr>
        <p:blipFill>
          <a:blip r:embed="rId7">
            <a:alphaModFix/>
          </a:blip>
          <a:stretch>
            <a:fillRect/>
          </a:stretch>
        </p:blipFill>
        <p:spPr>
          <a:xfrm>
            <a:off x="7782100" y="1410164"/>
            <a:ext cx="1161950" cy="857391"/>
          </a:xfrm>
          <a:prstGeom prst="rect">
            <a:avLst/>
          </a:prstGeom>
          <a:noFill/>
          <a:ln>
            <a:noFill/>
          </a:ln>
        </p:spPr>
      </p:pic>
      <p:pic>
        <p:nvPicPr>
          <p:cNvPr descr="huawei.jpg" id="1048" name="Shape 1048"/>
          <p:cNvPicPr preferRelativeResize="0"/>
          <p:nvPr/>
        </p:nvPicPr>
        <p:blipFill>
          <a:blip r:embed="rId8">
            <a:alphaModFix/>
          </a:blip>
          <a:stretch>
            <a:fillRect/>
          </a:stretch>
        </p:blipFill>
        <p:spPr>
          <a:xfrm>
            <a:off x="2652400" y="2389912"/>
            <a:ext cx="1075099" cy="793325"/>
          </a:xfrm>
          <a:prstGeom prst="rect">
            <a:avLst/>
          </a:prstGeom>
          <a:noFill/>
          <a:ln>
            <a:noFill/>
          </a:ln>
        </p:spPr>
      </p:pic>
      <p:pic>
        <p:nvPicPr>
          <p:cNvPr descr="TechMahindra.jpg" id="1049" name="Shape 1049"/>
          <p:cNvPicPr preferRelativeResize="0"/>
          <p:nvPr/>
        </p:nvPicPr>
        <p:blipFill>
          <a:blip r:embed="rId9">
            <a:alphaModFix/>
          </a:blip>
          <a:stretch>
            <a:fillRect/>
          </a:stretch>
        </p:blipFill>
        <p:spPr>
          <a:xfrm>
            <a:off x="5299384" y="3506909"/>
            <a:ext cx="1161940" cy="857399"/>
          </a:xfrm>
          <a:prstGeom prst="rect">
            <a:avLst/>
          </a:prstGeom>
          <a:noFill/>
          <a:ln>
            <a:noFill/>
          </a:ln>
        </p:spPr>
      </p:pic>
      <p:pic>
        <p:nvPicPr>
          <p:cNvPr descr="sri-international.jpg" id="1050" name="Shape 1050"/>
          <p:cNvPicPr preferRelativeResize="0"/>
          <p:nvPr/>
        </p:nvPicPr>
        <p:blipFill>
          <a:blip r:embed="rId10">
            <a:alphaModFix/>
          </a:blip>
          <a:stretch>
            <a:fillRect/>
          </a:stretch>
        </p:blipFill>
        <p:spPr>
          <a:xfrm>
            <a:off x="2528093" y="3448221"/>
            <a:ext cx="1321006" cy="974775"/>
          </a:xfrm>
          <a:prstGeom prst="rect">
            <a:avLst/>
          </a:prstGeom>
          <a:noFill/>
          <a:ln>
            <a:noFill/>
          </a:ln>
        </p:spPr>
      </p:pic>
      <p:pic>
        <p:nvPicPr>
          <p:cNvPr descr="BUPT-248x183.png" id="1051" name="Shape 1051"/>
          <p:cNvPicPr preferRelativeResize="0"/>
          <p:nvPr/>
        </p:nvPicPr>
        <p:blipFill>
          <a:blip r:embed="rId11">
            <a:alphaModFix/>
          </a:blip>
          <a:stretch>
            <a:fillRect/>
          </a:stretch>
        </p:blipFill>
        <p:spPr>
          <a:xfrm>
            <a:off x="2527600" y="1351472"/>
            <a:ext cx="1320975" cy="974775"/>
          </a:xfrm>
          <a:prstGeom prst="rect">
            <a:avLst/>
          </a:prstGeom>
          <a:noFill/>
          <a:ln>
            <a:noFill/>
          </a:ln>
        </p:spPr>
      </p:pic>
      <p:pic>
        <p:nvPicPr>
          <p:cNvPr descr="adara-logo-248-183.png" id="1052" name="Shape 1052"/>
          <p:cNvPicPr preferRelativeResize="0"/>
          <p:nvPr/>
        </p:nvPicPr>
        <p:blipFill>
          <a:blip r:embed="rId12">
            <a:alphaModFix/>
          </a:blip>
          <a:stretch>
            <a:fillRect/>
          </a:stretch>
        </p:blipFill>
        <p:spPr>
          <a:xfrm>
            <a:off x="47550" y="1478484"/>
            <a:ext cx="976749" cy="720750"/>
          </a:xfrm>
          <a:prstGeom prst="rect">
            <a:avLst/>
          </a:prstGeom>
          <a:noFill/>
          <a:ln>
            <a:noFill/>
          </a:ln>
        </p:spPr>
      </p:pic>
      <p:pic>
        <p:nvPicPr>
          <p:cNvPr descr="nctu_logo.png" id="1053" name="Shape 1053"/>
          <p:cNvPicPr preferRelativeResize="0"/>
          <p:nvPr/>
        </p:nvPicPr>
        <p:blipFill>
          <a:blip r:embed="rId13">
            <a:alphaModFix/>
          </a:blip>
          <a:stretch>
            <a:fillRect/>
          </a:stretch>
        </p:blipFill>
        <p:spPr>
          <a:xfrm>
            <a:off x="3727487" y="2263912"/>
            <a:ext cx="1416624" cy="1045324"/>
          </a:xfrm>
          <a:prstGeom prst="rect">
            <a:avLst/>
          </a:prstGeom>
          <a:noFill/>
          <a:ln>
            <a:noFill/>
          </a:ln>
        </p:spPr>
      </p:pic>
      <p:pic>
        <p:nvPicPr>
          <p:cNvPr descr="oplink_248.png" id="1054" name="Shape 1054"/>
          <p:cNvPicPr preferRelativeResize="0"/>
          <p:nvPr/>
        </p:nvPicPr>
        <p:blipFill>
          <a:blip r:embed="rId14">
            <a:alphaModFix/>
          </a:blip>
          <a:stretch>
            <a:fillRect/>
          </a:stretch>
        </p:blipFill>
        <p:spPr>
          <a:xfrm>
            <a:off x="6316684" y="2263912"/>
            <a:ext cx="1416615" cy="1045324"/>
          </a:xfrm>
          <a:prstGeom prst="rect">
            <a:avLst/>
          </a:prstGeom>
          <a:noFill/>
          <a:ln>
            <a:noFill/>
          </a:ln>
        </p:spPr>
      </p:pic>
      <p:pic>
        <p:nvPicPr>
          <p:cNvPr descr="calix-logo.png" id="1055" name="Shape 1055"/>
          <p:cNvPicPr preferRelativeResize="0"/>
          <p:nvPr/>
        </p:nvPicPr>
        <p:blipFill>
          <a:blip r:embed="rId15">
            <a:alphaModFix/>
          </a:blip>
          <a:stretch>
            <a:fillRect/>
          </a:stretch>
        </p:blipFill>
        <p:spPr>
          <a:xfrm>
            <a:off x="3821187" y="1384145"/>
            <a:ext cx="1232450" cy="909429"/>
          </a:xfrm>
          <a:prstGeom prst="rect">
            <a:avLst/>
          </a:prstGeom>
          <a:noFill/>
          <a:ln>
            <a:noFill/>
          </a:ln>
        </p:spPr>
      </p:pic>
      <p:pic>
        <p:nvPicPr>
          <p:cNvPr descr="fujitsu.jpg" id="1056" name="Shape 1056"/>
          <p:cNvPicPr preferRelativeResize="0"/>
          <p:nvPr/>
        </p:nvPicPr>
        <p:blipFill>
          <a:blip r:embed="rId16">
            <a:alphaModFix/>
          </a:blip>
          <a:stretch>
            <a:fillRect/>
          </a:stretch>
        </p:blipFill>
        <p:spPr>
          <a:xfrm>
            <a:off x="-152400" y="2263909"/>
            <a:ext cx="1416624" cy="1045332"/>
          </a:xfrm>
          <a:prstGeom prst="rect">
            <a:avLst/>
          </a:prstGeom>
          <a:noFill/>
          <a:ln>
            <a:noFill/>
          </a:ln>
        </p:spPr>
      </p:pic>
      <p:pic>
        <p:nvPicPr>
          <p:cNvPr descr="nec_new_logo.png" id="1057" name="Shape 1057"/>
          <p:cNvPicPr preferRelativeResize="0"/>
          <p:nvPr/>
        </p:nvPicPr>
        <p:blipFill>
          <a:blip r:embed="rId17">
            <a:alphaModFix/>
          </a:blip>
          <a:stretch>
            <a:fillRect/>
          </a:stretch>
        </p:blipFill>
        <p:spPr>
          <a:xfrm>
            <a:off x="5068112" y="2331860"/>
            <a:ext cx="1232450" cy="909429"/>
          </a:xfrm>
          <a:prstGeom prst="rect">
            <a:avLst/>
          </a:prstGeom>
          <a:noFill/>
          <a:ln>
            <a:noFill/>
          </a:ln>
        </p:spPr>
      </p:pic>
      <p:pic>
        <p:nvPicPr>
          <p:cNvPr descr="Screen Shot 2016-09-15 at 1.36.22 PM.png" id="1058" name="Shape 1058"/>
          <p:cNvPicPr preferRelativeResize="0"/>
          <p:nvPr/>
        </p:nvPicPr>
        <p:blipFill>
          <a:blip r:embed="rId18">
            <a:alphaModFix/>
          </a:blip>
          <a:stretch>
            <a:fillRect/>
          </a:stretch>
        </p:blipFill>
        <p:spPr>
          <a:xfrm>
            <a:off x="6689925" y="3438590"/>
            <a:ext cx="976749" cy="994037"/>
          </a:xfrm>
          <a:prstGeom prst="rect">
            <a:avLst/>
          </a:prstGeom>
          <a:noFill/>
          <a:ln>
            <a:noFill/>
          </a:ln>
        </p:spPr>
      </p:pic>
      <p:pic>
        <p:nvPicPr>
          <p:cNvPr descr="verizon_new_logo.png" id="1059" name="Shape 1059"/>
          <p:cNvPicPr preferRelativeResize="0"/>
          <p:nvPr/>
        </p:nvPicPr>
        <p:blipFill>
          <a:blip r:embed="rId19">
            <a:alphaModFix/>
          </a:blip>
          <a:stretch>
            <a:fillRect/>
          </a:stretch>
        </p:blipFill>
        <p:spPr>
          <a:xfrm>
            <a:off x="7965675" y="3575235"/>
            <a:ext cx="976749" cy="720746"/>
          </a:xfrm>
          <a:prstGeom prst="rect">
            <a:avLst/>
          </a:prstGeom>
          <a:noFill/>
          <a:ln>
            <a:noFill/>
          </a:ln>
        </p:spPr>
      </p:pic>
      <p:pic>
        <p:nvPicPr>
          <p:cNvPr descr="upatras_logo.png" id="1060" name="Shape 1060"/>
          <p:cNvPicPr preferRelativeResize="0"/>
          <p:nvPr/>
        </p:nvPicPr>
        <p:blipFill>
          <a:blip r:embed="rId20">
            <a:alphaModFix/>
          </a:blip>
          <a:stretch>
            <a:fillRect/>
          </a:stretch>
        </p:blipFill>
        <p:spPr>
          <a:xfrm>
            <a:off x="7749387" y="2522380"/>
            <a:ext cx="1320975" cy="528389"/>
          </a:xfrm>
          <a:prstGeom prst="rect">
            <a:avLst/>
          </a:prstGeom>
          <a:noFill/>
          <a:ln>
            <a:noFill/>
          </a:ln>
        </p:spPr>
      </p:pic>
      <p:pic>
        <p:nvPicPr>
          <p:cNvPr descr="cognizant-logo.png" id="1061" name="Shape 1061"/>
          <p:cNvPicPr preferRelativeResize="0"/>
          <p:nvPr/>
        </p:nvPicPr>
        <p:blipFill>
          <a:blip r:embed="rId21">
            <a:alphaModFix/>
          </a:blip>
          <a:stretch>
            <a:fillRect/>
          </a:stretch>
        </p:blipFill>
        <p:spPr>
          <a:xfrm>
            <a:off x="6470695" y="1676059"/>
            <a:ext cx="1075099" cy="325601"/>
          </a:xfrm>
          <a:prstGeom prst="rect">
            <a:avLst/>
          </a:prstGeom>
          <a:noFill/>
          <a:ln>
            <a:noFill/>
          </a:ln>
        </p:spPr>
      </p:pic>
      <p:pic>
        <p:nvPicPr>
          <p:cNvPr descr="postech_logo.png" id="1062" name="Shape 1062"/>
          <p:cNvPicPr preferRelativeResize="0"/>
          <p:nvPr/>
        </p:nvPicPr>
        <p:blipFill>
          <a:blip r:embed="rId22">
            <a:alphaModFix/>
          </a:blip>
          <a:stretch>
            <a:fillRect/>
          </a:stretch>
        </p:blipFill>
        <p:spPr>
          <a:xfrm>
            <a:off x="45925" y="3538949"/>
            <a:ext cx="1075099" cy="793319"/>
          </a:xfrm>
          <a:prstGeom prst="rect">
            <a:avLst/>
          </a:prstGeom>
          <a:noFill/>
          <a:ln>
            <a:noFill/>
          </a:ln>
        </p:spPr>
      </p:pic>
      <p:pic>
        <p:nvPicPr>
          <p:cNvPr descr="geant-logo.png" id="1063" name="Shape 1063"/>
          <p:cNvPicPr preferRelativeResize="0"/>
          <p:nvPr/>
        </p:nvPicPr>
        <p:blipFill>
          <a:blip r:embed="rId23">
            <a:alphaModFix/>
          </a:blip>
          <a:stretch>
            <a:fillRect/>
          </a:stretch>
        </p:blipFill>
        <p:spPr>
          <a:xfrm>
            <a:off x="1298475" y="2386638"/>
            <a:ext cx="1075100" cy="799874"/>
          </a:xfrm>
          <a:prstGeom prst="rect">
            <a:avLst/>
          </a:prstGeom>
          <a:noFill/>
          <a:ln>
            <a:noFill/>
          </a:ln>
        </p:spPr>
      </p:pic>
      <p:sp>
        <p:nvSpPr>
          <p:cNvPr id="1064" name="Shape 1064"/>
          <p:cNvSpPr txBox="1"/>
          <p:nvPr/>
        </p:nvSpPr>
        <p:spPr>
          <a:xfrm>
            <a:off x="154075" y="4747700"/>
            <a:ext cx="7512600" cy="660900"/>
          </a:xfrm>
          <a:prstGeom prst="rect">
            <a:avLst/>
          </a:prstGeom>
          <a:noFill/>
          <a:ln>
            <a:noFill/>
          </a:ln>
        </p:spPr>
        <p:txBody>
          <a:bodyPr anchorCtr="0" anchor="t" bIns="91425" lIns="91425" rIns="91425" tIns="91425">
            <a:noAutofit/>
          </a:bodyPr>
          <a:lstStyle/>
          <a:p>
            <a:pPr lvl="0">
              <a:spcBef>
                <a:spcPts val="0"/>
              </a:spcBef>
              <a:buNone/>
            </a:pPr>
            <a:r>
              <a:rPr lang="en" sz="1000"/>
              <a:t>*Software contributors - there are other contributions not shown here (deployments, documentation)</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68" name="Shape 1068"/>
        <p:cNvGrpSpPr/>
        <p:nvPr/>
      </p:nvGrpSpPr>
      <p:grpSpPr>
        <a:xfrm>
          <a:off x="0" y="0"/>
          <a:ext cx="0" cy="0"/>
          <a:chOff x="0" y="0"/>
          <a:chExt cx="0" cy="0"/>
        </a:xfrm>
      </p:grpSpPr>
      <p:sp>
        <p:nvSpPr>
          <p:cNvPr id="1069" name="Shape 1069"/>
          <p:cNvSpPr txBox="1"/>
          <p:nvPr>
            <p:ph type="title"/>
          </p:nvPr>
        </p:nvSpPr>
        <p:spPr>
          <a:xfrm>
            <a:off x="377775" y="2"/>
            <a:ext cx="8229600" cy="857400"/>
          </a:xfrm>
          <a:prstGeom prst="rect">
            <a:avLst/>
          </a:prstGeom>
        </p:spPr>
        <p:txBody>
          <a:bodyPr anchorCtr="0" anchor="b" bIns="91425" lIns="91425" rIns="91425" tIns="91425">
            <a:noAutofit/>
          </a:bodyPr>
          <a:lstStyle/>
          <a:p>
            <a:pPr lvl="0" rtl="0">
              <a:spcBef>
                <a:spcPts val="0"/>
              </a:spcBef>
              <a:buNone/>
            </a:pPr>
            <a:r>
              <a:rPr lang="en"/>
              <a:t>Sample Hummingbird Contributions</a:t>
            </a:r>
          </a:p>
        </p:txBody>
      </p:sp>
      <p:graphicFrame>
        <p:nvGraphicFramePr>
          <p:cNvPr id="1070" name="Shape 1070"/>
          <p:cNvGraphicFramePr/>
          <p:nvPr/>
        </p:nvGraphicFramePr>
        <p:xfrm>
          <a:off x="377775" y="961825"/>
          <a:ext cx="3000000" cy="3000000"/>
        </p:xfrm>
        <a:graphic>
          <a:graphicData uri="http://schemas.openxmlformats.org/drawingml/2006/table">
            <a:tbl>
              <a:tblPr>
                <a:noFill/>
                <a:tableStyleId>{77D80D4C-8B5A-475F-9331-FA072D31F56C}</a:tableStyleId>
              </a:tblPr>
              <a:tblGrid>
                <a:gridCol w="1323300"/>
                <a:gridCol w="4280650"/>
                <a:gridCol w="2884100"/>
              </a:tblGrid>
              <a:tr h="381000">
                <a:tc>
                  <a:txBody>
                    <a:bodyPr>
                      <a:noAutofit/>
                    </a:bodyPr>
                    <a:lstStyle/>
                    <a:p>
                      <a:pPr lvl="0" rtl="0">
                        <a:spcBef>
                          <a:spcPts val="0"/>
                        </a:spcBef>
                        <a:buNone/>
                      </a:pPr>
                      <a:r>
                        <a:rPr lang="en" sz="1000"/>
                        <a:t>Community</a:t>
                      </a:r>
                    </a:p>
                  </a:txBody>
                  <a:tcPr marT="91425" marB="91425" marR="91425" marL="91425"/>
                </a:tc>
                <a:tc>
                  <a:txBody>
                    <a:bodyPr>
                      <a:noAutofit/>
                    </a:bodyPr>
                    <a:lstStyle/>
                    <a:p>
                      <a:pPr lvl="0" rtl="0">
                        <a:spcBef>
                          <a:spcPts val="0"/>
                        </a:spcBef>
                        <a:buNone/>
                      </a:pPr>
                      <a:r>
                        <a:rPr lang="en" sz="1000"/>
                        <a:t>New Collaborators: </a:t>
                      </a:r>
                      <a:r>
                        <a:rPr lang="en" sz="1000">
                          <a:solidFill>
                            <a:schemeClr val="dk1"/>
                          </a:solidFill>
                        </a:rPr>
                        <a:t>Adtran, BII, NCTU</a:t>
                      </a:r>
                    </a:p>
                  </a:txBody>
                  <a:tcPr marT="91425" marB="91425" marR="91425" marL="91425"/>
                </a:tc>
                <a:tc>
                  <a:txBody>
                    <a:bodyPr>
                      <a:noAutofit/>
                    </a:bodyPr>
                    <a:lstStyle/>
                    <a:p>
                      <a:pPr lvl="0" rtl="0">
                        <a:spcBef>
                          <a:spcPts val="0"/>
                        </a:spcBef>
                        <a:buNone/>
                      </a:pPr>
                      <a:r>
                        <a:t/>
                      </a:r>
                      <a:endParaRPr b="1" sz="1000"/>
                    </a:p>
                  </a:txBody>
                  <a:tcPr marT="91425" marB="91425" marR="91425" marL="91425"/>
                </a:tc>
              </a:tr>
              <a:tr h="381000">
                <a:tc>
                  <a:txBody>
                    <a:bodyPr>
                      <a:noAutofit/>
                    </a:bodyPr>
                    <a:lstStyle/>
                    <a:p>
                      <a:pPr lvl="0" rtl="0">
                        <a:spcBef>
                          <a:spcPts val="0"/>
                        </a:spcBef>
                        <a:buNone/>
                      </a:pPr>
                      <a:r>
                        <a:rPr lang="en" sz="1000"/>
                        <a:t>Build/Test Infra</a:t>
                      </a:r>
                    </a:p>
                  </a:txBody>
                  <a:tcPr marT="91425" marB="91425" marR="91425" marL="91425"/>
                </a:tc>
                <a:tc>
                  <a:txBody>
                    <a:bodyPr>
                      <a:noAutofit/>
                    </a:bodyPr>
                    <a:lstStyle/>
                    <a:p>
                      <a:pPr lvl="0">
                        <a:spcBef>
                          <a:spcPts val="0"/>
                        </a:spcBef>
                        <a:buClr>
                          <a:schemeClr val="dk1"/>
                        </a:buClr>
                        <a:buSzPct val="110000"/>
                        <a:buFont typeface="Arial"/>
                        <a:buNone/>
                      </a:pPr>
                      <a:r>
                        <a:rPr lang="en" sz="1000"/>
                        <a:t>ONOS Swagger Plugin</a:t>
                      </a:r>
                    </a:p>
                    <a:p>
                      <a:pPr lvl="0">
                        <a:spcBef>
                          <a:spcPts val="0"/>
                        </a:spcBef>
                        <a:buClr>
                          <a:schemeClr val="dk1"/>
                        </a:buClr>
                        <a:buSzPct val="110000"/>
                        <a:buFont typeface="Arial"/>
                        <a:buNone/>
                      </a:pPr>
                      <a:r>
                        <a:rPr lang="en" sz="1000"/>
                        <a:t>Stabilized STC, greatly improved coverage</a:t>
                      </a:r>
                    </a:p>
                    <a:p>
                      <a:pPr lvl="0" rtl="0">
                        <a:spcBef>
                          <a:spcPts val="0"/>
                        </a:spcBef>
                        <a:buNone/>
                      </a:pPr>
                      <a:r>
                        <a:rPr lang="en" sz="1000"/>
                        <a:t>Mininet scripts for testing ONOS network partitions and dynamic scaling</a:t>
                      </a:r>
                    </a:p>
                  </a:txBody>
                  <a:tcPr marT="91425" marB="91425" marR="91425" marL="91425"/>
                </a:tc>
                <a:tc>
                  <a:txBody>
                    <a:bodyPr>
                      <a:noAutofit/>
                    </a:bodyPr>
                    <a:lstStyle/>
                    <a:p>
                      <a:pPr lvl="0" rtl="0">
                        <a:lnSpc>
                          <a:spcPct val="115000"/>
                        </a:lnSpc>
                        <a:spcBef>
                          <a:spcPts val="0"/>
                        </a:spcBef>
                        <a:buNone/>
                      </a:pPr>
                      <a:r>
                        <a:rPr b="1" lang="en" sz="1000"/>
                        <a:t>Ciena, ON.Lab</a:t>
                      </a:r>
                    </a:p>
                  </a:txBody>
                  <a:tcPr marT="91425" marB="91425" marR="91425" marL="91425"/>
                </a:tc>
              </a:tr>
              <a:tr h="381000">
                <a:tc>
                  <a:txBody>
                    <a:bodyPr>
                      <a:noAutofit/>
                    </a:bodyPr>
                    <a:lstStyle/>
                    <a:p>
                      <a:pPr lvl="0" rtl="0">
                        <a:spcBef>
                          <a:spcPts val="0"/>
                        </a:spcBef>
                        <a:buNone/>
                      </a:pPr>
                      <a:r>
                        <a:rPr lang="en" sz="1000"/>
                        <a:t>Apps</a:t>
                      </a:r>
                    </a:p>
                  </a:txBody>
                  <a:tcPr marT="91425" marB="91425" marR="91425" marL="91425"/>
                </a:tc>
                <a:tc>
                  <a:txBody>
                    <a:bodyPr>
                      <a:noAutofit/>
                    </a:bodyPr>
                    <a:lstStyle/>
                    <a:p>
                      <a:pPr lvl="0">
                        <a:spcBef>
                          <a:spcPts val="0"/>
                        </a:spcBef>
                        <a:buClr>
                          <a:schemeClr val="dk1"/>
                        </a:buClr>
                        <a:buSzPct val="110000"/>
                        <a:buFont typeface="Arial"/>
                        <a:buNone/>
                      </a:pPr>
                      <a:r>
                        <a:rPr lang="en" sz="1000"/>
                        <a:t>Enhancements to ICONA (controller peering)</a:t>
                      </a:r>
                    </a:p>
                    <a:p>
                      <a:pPr lvl="0">
                        <a:spcBef>
                          <a:spcPts val="0"/>
                        </a:spcBef>
                        <a:buClr>
                          <a:schemeClr val="dk1"/>
                        </a:buClr>
                        <a:buSzPct val="110000"/>
                        <a:buFont typeface="Arial"/>
                        <a:buNone/>
                      </a:pPr>
                      <a:r>
                        <a:rPr lang="en" sz="1000"/>
                        <a:t>SONA and Scalable gateway improvements</a:t>
                      </a:r>
                    </a:p>
                    <a:p>
                      <a:pPr lvl="0" rtl="0">
                        <a:spcBef>
                          <a:spcPts val="0"/>
                        </a:spcBef>
                        <a:buNone/>
                      </a:pPr>
                      <a:r>
                        <a:rPr lang="en" sz="1000"/>
                        <a:t>ACTN - Abstraction and Control of Traffic Engineered Networks</a:t>
                      </a:r>
                    </a:p>
                  </a:txBody>
                  <a:tcPr marT="91425" marB="91425" marR="91425" marL="91425"/>
                </a:tc>
                <a:tc>
                  <a:txBody>
                    <a:bodyPr>
                      <a:noAutofit/>
                    </a:bodyPr>
                    <a:lstStyle/>
                    <a:p>
                      <a:pPr lvl="0" rtl="0">
                        <a:lnSpc>
                          <a:spcPct val="115000"/>
                        </a:lnSpc>
                        <a:spcBef>
                          <a:spcPts val="0"/>
                        </a:spcBef>
                        <a:buNone/>
                      </a:pPr>
                      <a:r>
                        <a:rPr b="1" lang="en" sz="1000"/>
                        <a:t>Adara, ATTO Research, BUPT, Create-Net, Huawei, NEC, ON.Lab, SK Telecom, SRI, Tata, Tech-Mahindra</a:t>
                      </a:r>
                    </a:p>
                  </a:txBody>
                  <a:tcPr marT="91425" marB="91425" marR="91425" marL="91425"/>
                </a:tc>
              </a:tr>
              <a:tr h="381000">
                <a:tc>
                  <a:txBody>
                    <a:bodyPr>
                      <a:noAutofit/>
                    </a:bodyPr>
                    <a:lstStyle/>
                    <a:p>
                      <a:pPr lvl="0" rtl="0">
                        <a:spcBef>
                          <a:spcPts val="0"/>
                        </a:spcBef>
                        <a:buNone/>
                      </a:pPr>
                      <a:r>
                        <a:rPr lang="en" sz="1000"/>
                        <a:t>NB</a:t>
                      </a:r>
                    </a:p>
                  </a:txBody>
                  <a:tcPr marT="91425" marB="91425" marR="91425" marL="91425"/>
                </a:tc>
                <a:tc>
                  <a:txBody>
                    <a:bodyPr>
                      <a:noAutofit/>
                    </a:bodyPr>
                    <a:lstStyle/>
                    <a:p>
                      <a:pPr lvl="0">
                        <a:spcBef>
                          <a:spcPts val="0"/>
                        </a:spcBef>
                        <a:buClr>
                          <a:schemeClr val="dk1"/>
                        </a:buClr>
                        <a:buSzPct val="110000"/>
                        <a:buFont typeface="Arial"/>
                        <a:buNone/>
                      </a:pPr>
                      <a:r>
                        <a:rPr lang="en" sz="1000"/>
                        <a:t>Implement PowerConfig for Oplink Devices</a:t>
                      </a:r>
                    </a:p>
                    <a:p>
                      <a:pPr lvl="0">
                        <a:spcBef>
                          <a:spcPts val="0"/>
                        </a:spcBef>
                        <a:buClr>
                          <a:schemeClr val="dk1"/>
                        </a:buClr>
                        <a:buSzPct val="110000"/>
                        <a:buFont typeface="Arial"/>
                        <a:buNone/>
                      </a:pPr>
                      <a:r>
                        <a:rPr lang="en" sz="1000"/>
                        <a:t>RabbitMQ, Kafka message bus integration</a:t>
                      </a:r>
                    </a:p>
                    <a:p>
                      <a:pPr lvl="0">
                        <a:spcBef>
                          <a:spcPts val="0"/>
                        </a:spcBef>
                        <a:buNone/>
                      </a:pPr>
                      <a:r>
                        <a:rPr lang="en" sz="1000"/>
                        <a:t>Add basic error handling to gRPC Device SB service</a:t>
                      </a:r>
                    </a:p>
                    <a:p>
                      <a:pPr lvl="0" rtl="0">
                        <a:spcBef>
                          <a:spcPts val="0"/>
                        </a:spcBef>
                        <a:buNone/>
                      </a:pPr>
                      <a:r>
                        <a:rPr lang="en" sz="1000"/>
                        <a:t>NeMo Intent based abstraction language</a:t>
                      </a:r>
                    </a:p>
                  </a:txBody>
                  <a:tcPr marT="91425" marB="91425" marR="91425" marL="91425"/>
                </a:tc>
                <a:tc>
                  <a:txBody>
                    <a:bodyPr>
                      <a:noAutofit/>
                    </a:bodyPr>
                    <a:lstStyle/>
                    <a:p>
                      <a:pPr lvl="0" rtl="0">
                        <a:lnSpc>
                          <a:spcPct val="115000"/>
                        </a:lnSpc>
                        <a:spcBef>
                          <a:spcPts val="0"/>
                        </a:spcBef>
                        <a:buNone/>
                      </a:pPr>
                      <a:r>
                        <a:rPr b="1" lang="en" sz="1000">
                          <a:solidFill>
                            <a:schemeClr val="dk1"/>
                          </a:solidFill>
                        </a:rPr>
                        <a:t>Calix, Ciena, Fujitsu, Huawei, NEC, ON.Lab, OpLink, Samsung, SK Telecom, Verizon</a:t>
                      </a:r>
                    </a:p>
                  </a:txBody>
                  <a:tcPr marT="91425" marB="91425" marR="91425" marL="91425"/>
                </a:tc>
              </a:tr>
              <a:tr h="381000">
                <a:tc>
                  <a:txBody>
                    <a:bodyPr>
                      <a:noAutofit/>
                    </a:bodyPr>
                    <a:lstStyle/>
                    <a:p>
                      <a:pPr lvl="0" rtl="0">
                        <a:spcBef>
                          <a:spcPts val="0"/>
                        </a:spcBef>
                        <a:buNone/>
                      </a:pPr>
                      <a:r>
                        <a:rPr lang="en" sz="1000"/>
                        <a:t>CORE</a:t>
                      </a:r>
                    </a:p>
                  </a:txBody>
                  <a:tcPr marT="91425" marB="91425" marR="91425" marL="91425"/>
                </a:tc>
                <a:tc>
                  <a:txBody>
                    <a:bodyPr>
                      <a:noAutofit/>
                    </a:bodyPr>
                    <a:lstStyle/>
                    <a:p>
                      <a:pPr lvl="0" rtl="0">
                        <a:lnSpc>
                          <a:spcPct val="115000"/>
                        </a:lnSpc>
                        <a:spcBef>
                          <a:spcPts val="0"/>
                        </a:spcBef>
                        <a:buClr>
                          <a:schemeClr val="dk1"/>
                        </a:buClr>
                        <a:buSzPct val="110000"/>
                        <a:buFont typeface="Arial"/>
                        <a:buNone/>
                      </a:pPr>
                      <a:r>
                        <a:rPr lang="en" sz="1000"/>
                        <a:t>Refactoring of optical information model</a:t>
                      </a:r>
                    </a:p>
                    <a:p>
                      <a:pPr lvl="0" rtl="0">
                        <a:lnSpc>
                          <a:spcPct val="115000"/>
                        </a:lnSpc>
                        <a:spcBef>
                          <a:spcPts val="0"/>
                        </a:spcBef>
                        <a:buClr>
                          <a:schemeClr val="dk1"/>
                        </a:buClr>
                        <a:buSzPct val="110000"/>
                        <a:buFont typeface="Arial"/>
                        <a:buNone/>
                      </a:pPr>
                      <a:r>
                        <a:rPr lang="en" sz="1000"/>
                        <a:t>Initial work on virtualization</a:t>
                      </a:r>
                    </a:p>
                    <a:p>
                      <a:pPr lvl="0" rtl="0">
                        <a:lnSpc>
                          <a:spcPct val="115000"/>
                        </a:lnSpc>
                        <a:spcBef>
                          <a:spcPts val="0"/>
                        </a:spcBef>
                        <a:buNone/>
                      </a:pPr>
                      <a:r>
                        <a:rPr lang="en" sz="1000"/>
                        <a:t>New distributed system primitives</a:t>
                      </a:r>
                    </a:p>
                  </a:txBody>
                  <a:tcPr marT="91425" marB="91425" marR="91425" marL="91425"/>
                </a:tc>
                <a:tc>
                  <a:txBody>
                    <a:bodyPr>
                      <a:noAutofit/>
                    </a:bodyPr>
                    <a:lstStyle/>
                    <a:p>
                      <a:pPr lvl="0" rtl="0">
                        <a:lnSpc>
                          <a:spcPct val="115000"/>
                        </a:lnSpc>
                        <a:spcBef>
                          <a:spcPts val="0"/>
                        </a:spcBef>
                        <a:buNone/>
                      </a:pPr>
                      <a:r>
                        <a:rPr b="1" lang="en" sz="1000"/>
                        <a:t>Ciena, Fujitsu, NEC, ON.Lab</a:t>
                      </a:r>
                    </a:p>
                  </a:txBody>
                  <a:tcPr marT="91425" marB="91425" marR="91425" marL="91425"/>
                </a:tc>
              </a:tr>
              <a:tr h="381000">
                <a:tc>
                  <a:txBody>
                    <a:bodyPr>
                      <a:noAutofit/>
                    </a:bodyPr>
                    <a:lstStyle/>
                    <a:p>
                      <a:pPr lvl="0" rtl="0">
                        <a:spcBef>
                          <a:spcPts val="0"/>
                        </a:spcBef>
                        <a:buNone/>
                      </a:pPr>
                      <a:r>
                        <a:rPr lang="en" sz="1000"/>
                        <a:t>SB</a:t>
                      </a:r>
                    </a:p>
                  </a:txBody>
                  <a:tcPr marT="91425" marB="91425" marR="91425" marL="91425"/>
                </a:tc>
                <a:tc>
                  <a:txBody>
                    <a:bodyPr>
                      <a:noAutofit/>
                    </a:bodyPr>
                    <a:lstStyle/>
                    <a:p>
                      <a:pPr lvl="0">
                        <a:spcBef>
                          <a:spcPts val="0"/>
                        </a:spcBef>
                        <a:buClr>
                          <a:schemeClr val="dk1"/>
                        </a:buClr>
                        <a:buSzPct val="110000"/>
                        <a:buFont typeface="Arial"/>
                        <a:buNone/>
                      </a:pPr>
                      <a:r>
                        <a:rPr lang="en" sz="1000"/>
                        <a:t>LOXI enhancements for optical extensions</a:t>
                      </a:r>
                    </a:p>
                    <a:p>
                      <a:pPr lvl="0">
                        <a:spcBef>
                          <a:spcPts val="0"/>
                        </a:spcBef>
                        <a:buClr>
                          <a:schemeClr val="dk1"/>
                        </a:buClr>
                        <a:buSzPct val="110000"/>
                        <a:buFont typeface="Arial"/>
                        <a:buNone/>
                      </a:pPr>
                      <a:r>
                        <a:rPr lang="en" sz="1000"/>
                        <a:t>New provider for link discovery</a:t>
                      </a:r>
                    </a:p>
                    <a:p>
                      <a:pPr lvl="0" rtl="0">
                        <a:spcBef>
                          <a:spcPts val="0"/>
                        </a:spcBef>
                        <a:buNone/>
                      </a:pPr>
                      <a:r>
                        <a:rPr lang="en" sz="1000"/>
                        <a:t>NETCONF enhancements</a:t>
                      </a:r>
                    </a:p>
                  </a:txBody>
                  <a:tcPr marT="91425" marB="91425" marR="91425" marL="91425"/>
                </a:tc>
                <a:tc>
                  <a:txBody>
                    <a:bodyPr>
                      <a:noAutofit/>
                    </a:bodyPr>
                    <a:lstStyle/>
                    <a:p>
                      <a:pPr lvl="0" rtl="0">
                        <a:lnSpc>
                          <a:spcPct val="115000"/>
                        </a:lnSpc>
                        <a:spcBef>
                          <a:spcPts val="0"/>
                        </a:spcBef>
                        <a:buNone/>
                      </a:pPr>
                      <a:r>
                        <a:rPr b="1" lang="en" sz="1000"/>
                        <a:t>Cognizant, Create-Net, Fujitsu, GEANT, Huawei, NEC, ON.Lab, OpLink, POSTECH, SK Telecom, Tata, University of Patras</a:t>
                      </a:r>
                    </a:p>
                  </a:txBody>
                  <a:tcPr marT="91425" marB="91425" marR="91425" marL="91425"/>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74" name="Shape 1074"/>
        <p:cNvGrpSpPr/>
        <p:nvPr/>
      </p:nvGrpSpPr>
      <p:grpSpPr>
        <a:xfrm>
          <a:off x="0" y="0"/>
          <a:ext cx="0" cy="0"/>
          <a:chOff x="0" y="0"/>
          <a:chExt cx="0" cy="0"/>
        </a:xfrm>
      </p:grpSpPr>
      <p:sp>
        <p:nvSpPr>
          <p:cNvPr id="1075" name="Shape 1075"/>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Release Features</a:t>
            </a:r>
          </a:p>
        </p:txBody>
      </p:sp>
      <p:sp>
        <p:nvSpPr>
          <p:cNvPr id="1076" name="Shape 1076"/>
          <p:cNvSpPr txBox="1"/>
          <p:nvPr/>
        </p:nvSpPr>
        <p:spPr>
          <a:xfrm>
            <a:off x="288375" y="998825"/>
            <a:ext cx="4530000" cy="3051600"/>
          </a:xfrm>
          <a:prstGeom prst="rect">
            <a:avLst/>
          </a:prstGeom>
          <a:noFill/>
          <a:ln>
            <a:noFill/>
          </a:ln>
        </p:spPr>
        <p:txBody>
          <a:bodyPr anchorCtr="0" anchor="t" bIns="91425" lIns="91425" rIns="91425" tIns="91425">
            <a:noAutofit/>
          </a:bodyPr>
          <a:lstStyle/>
          <a:p>
            <a:pPr lvl="0" rtl="0">
              <a:spcBef>
                <a:spcPts val="2000"/>
              </a:spcBef>
              <a:spcAft>
                <a:spcPts val="600"/>
              </a:spcAft>
              <a:buClr>
                <a:schemeClr val="dk1"/>
              </a:buClr>
              <a:buSzPct val="55000"/>
              <a:buFont typeface="Arial"/>
              <a:buNone/>
            </a:pPr>
            <a:r>
              <a:rPr lang="en" sz="2000">
                <a:solidFill>
                  <a:schemeClr val="dk1"/>
                </a:solidFill>
              </a:rPr>
              <a:t>Automated testing, Build environment</a:t>
            </a:r>
          </a:p>
          <a:p>
            <a:pPr indent="-298450" lvl="0" marL="457200" rtl="0">
              <a:lnSpc>
                <a:spcPct val="115000"/>
              </a:lnSpc>
              <a:spcBef>
                <a:spcPts val="0"/>
              </a:spcBef>
              <a:buClr>
                <a:schemeClr val="dk1"/>
              </a:buClr>
              <a:buSzPct val="100000"/>
              <a:buChar char="●"/>
            </a:pPr>
            <a:r>
              <a:rPr b="1" lang="en" sz="1100">
                <a:solidFill>
                  <a:schemeClr val="dk1"/>
                </a:solidFill>
              </a:rPr>
              <a:t>Contributions from ON.Lab and Ciena</a:t>
            </a:r>
          </a:p>
          <a:p>
            <a:pPr indent="-298450" lvl="0" marL="457200" rtl="0">
              <a:lnSpc>
                <a:spcPct val="115000"/>
              </a:lnSpc>
              <a:spcBef>
                <a:spcPts val="0"/>
              </a:spcBef>
              <a:buClr>
                <a:schemeClr val="dk1"/>
              </a:buClr>
              <a:buSzPct val="100000"/>
              <a:buChar char="●"/>
            </a:pPr>
            <a:r>
              <a:rPr lang="en" sz="1100">
                <a:solidFill>
                  <a:schemeClr val="dk1"/>
                </a:solidFill>
              </a:rPr>
              <a:t>Built new ONOS tutorial VM (ON.Lab)</a:t>
            </a:r>
          </a:p>
          <a:p>
            <a:pPr indent="-298450" lvl="0" marL="457200" rtl="0">
              <a:lnSpc>
                <a:spcPct val="115000"/>
              </a:lnSpc>
              <a:spcBef>
                <a:spcPts val="0"/>
              </a:spcBef>
              <a:buClr>
                <a:schemeClr val="dk1"/>
              </a:buClr>
              <a:buSzPct val="100000"/>
              <a:buChar char="●"/>
            </a:pPr>
            <a:r>
              <a:rPr lang="en" sz="1100">
                <a:solidFill>
                  <a:schemeClr val="dk1"/>
                </a:solidFill>
              </a:rPr>
              <a:t>ONOS Swagger Plugin (ON.Lab)</a:t>
            </a:r>
          </a:p>
          <a:p>
            <a:pPr indent="-298450" lvl="0" marL="457200" rtl="0">
              <a:lnSpc>
                <a:spcPct val="115000"/>
              </a:lnSpc>
              <a:spcBef>
                <a:spcPts val="0"/>
              </a:spcBef>
              <a:buClr>
                <a:schemeClr val="dk1"/>
              </a:buClr>
              <a:buSzPct val="100000"/>
              <a:buChar char="●"/>
            </a:pPr>
            <a:r>
              <a:rPr lang="en" sz="1100">
                <a:solidFill>
                  <a:schemeClr val="dk1"/>
                </a:solidFill>
              </a:rPr>
              <a:t>Finished moving to BUCK (ON.Lab)</a:t>
            </a:r>
          </a:p>
          <a:p>
            <a:pPr indent="-298450" lvl="0" marL="457200" rtl="0">
              <a:lnSpc>
                <a:spcPct val="115000"/>
              </a:lnSpc>
              <a:spcBef>
                <a:spcPts val="0"/>
              </a:spcBef>
              <a:buClr>
                <a:schemeClr val="dk1"/>
              </a:buClr>
              <a:buSzPct val="100000"/>
              <a:buChar char="●"/>
            </a:pPr>
            <a:r>
              <a:rPr lang="en" sz="1100">
                <a:solidFill>
                  <a:schemeClr val="dk1"/>
                </a:solidFill>
              </a:rPr>
              <a:t>Stabilized STC, greatly improved coverage (config subsystem, distributed primitives, applications, drivers), added capability to run tests multiple times while unattended (ON.Lab)</a:t>
            </a:r>
          </a:p>
          <a:p>
            <a:pPr indent="-298450" lvl="0" marL="457200" rtl="0">
              <a:lnSpc>
                <a:spcPct val="115000"/>
              </a:lnSpc>
              <a:spcBef>
                <a:spcPts val="0"/>
              </a:spcBef>
              <a:buClr>
                <a:schemeClr val="dk1"/>
              </a:buClr>
              <a:buSzPct val="100000"/>
              <a:buChar char="●"/>
            </a:pPr>
            <a:r>
              <a:rPr lang="en" sz="1100">
                <a:solidFill>
                  <a:schemeClr val="dk1"/>
                </a:solidFill>
              </a:rPr>
              <a:t>Mininet scripts for testing ONOS network partitions and dynamic scaling (Ciena)</a:t>
            </a:r>
          </a:p>
          <a:p>
            <a:pPr lvl="0">
              <a:spcBef>
                <a:spcPts val="0"/>
              </a:spcBef>
              <a:buNone/>
            </a:pPr>
            <a:r>
              <a:t/>
            </a:r>
            <a:endParaRPr sz="1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80" name="Shape 1080"/>
        <p:cNvGrpSpPr/>
        <p:nvPr/>
      </p:nvGrpSpPr>
      <p:grpSpPr>
        <a:xfrm>
          <a:off x="0" y="0"/>
          <a:ext cx="0" cy="0"/>
          <a:chOff x="0" y="0"/>
          <a:chExt cx="0" cy="0"/>
        </a:xfrm>
      </p:grpSpPr>
      <p:sp>
        <p:nvSpPr>
          <p:cNvPr id="1081" name="Shape 1081"/>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Release Features</a:t>
            </a:r>
          </a:p>
        </p:txBody>
      </p:sp>
      <p:sp>
        <p:nvSpPr>
          <p:cNvPr id="1082" name="Shape 1082"/>
          <p:cNvSpPr txBox="1"/>
          <p:nvPr/>
        </p:nvSpPr>
        <p:spPr>
          <a:xfrm>
            <a:off x="288375" y="541625"/>
            <a:ext cx="8415300" cy="4362300"/>
          </a:xfrm>
          <a:prstGeom prst="rect">
            <a:avLst/>
          </a:prstGeom>
          <a:noFill/>
          <a:ln>
            <a:noFill/>
          </a:ln>
        </p:spPr>
        <p:txBody>
          <a:bodyPr anchorCtr="0" anchor="t" bIns="91425" lIns="91425" rIns="91425" tIns="91425">
            <a:noAutofit/>
          </a:bodyPr>
          <a:lstStyle/>
          <a:p>
            <a:pPr lvl="0" rtl="0">
              <a:spcBef>
                <a:spcPts val="2000"/>
              </a:spcBef>
              <a:spcAft>
                <a:spcPts val="600"/>
              </a:spcAft>
              <a:buClr>
                <a:schemeClr val="dk1"/>
              </a:buClr>
              <a:buSzPct val="55000"/>
              <a:buFont typeface="Arial"/>
              <a:buNone/>
            </a:pPr>
            <a:r>
              <a:rPr lang="en" sz="2000">
                <a:solidFill>
                  <a:schemeClr val="dk1"/>
                </a:solidFill>
              </a:rPr>
              <a:t>Applications</a:t>
            </a:r>
          </a:p>
          <a:p>
            <a:pPr indent="-298450" lvl="0" marL="457200" rtl="0">
              <a:lnSpc>
                <a:spcPct val="115000"/>
              </a:lnSpc>
              <a:spcBef>
                <a:spcPts val="0"/>
              </a:spcBef>
              <a:buClr>
                <a:schemeClr val="dk1"/>
              </a:buClr>
              <a:buSzPct val="100000"/>
              <a:buChar char="●"/>
            </a:pPr>
            <a:r>
              <a:rPr b="1" lang="en" sz="1100">
                <a:solidFill>
                  <a:schemeClr val="dk1"/>
                </a:solidFill>
              </a:rPr>
              <a:t>Contributions from Adara, ATTO Research, BUPT, Create-Net, Huawei, NEC, ON.Lab, SK Telecom, SRI, Tata, Tech-Mahindra</a:t>
            </a:r>
          </a:p>
          <a:p>
            <a:pPr indent="-298450" lvl="0" marL="457200" rtl="0">
              <a:lnSpc>
                <a:spcPct val="115000"/>
              </a:lnSpc>
              <a:spcBef>
                <a:spcPts val="0"/>
              </a:spcBef>
              <a:buClr>
                <a:schemeClr val="dk1"/>
              </a:buClr>
              <a:buSzPct val="100000"/>
              <a:buChar char="●"/>
            </a:pPr>
            <a:r>
              <a:rPr lang="en" sz="1100">
                <a:solidFill>
                  <a:schemeClr val="dk1"/>
                </a:solidFill>
              </a:rPr>
              <a:t>Enhancements to ICONA (controller peering) (Create-Net, Tata)</a:t>
            </a:r>
          </a:p>
          <a:p>
            <a:pPr indent="-298450" lvl="0" marL="457200" rtl="0">
              <a:lnSpc>
                <a:spcPct val="115000"/>
              </a:lnSpc>
              <a:spcBef>
                <a:spcPts val="0"/>
              </a:spcBef>
              <a:buClr>
                <a:schemeClr val="dk1"/>
              </a:buClr>
              <a:buSzPct val="100000"/>
              <a:buChar char="●"/>
            </a:pPr>
            <a:r>
              <a:rPr lang="en" sz="1100">
                <a:solidFill>
                  <a:schemeClr val="dk1"/>
                </a:solidFill>
              </a:rPr>
              <a:t>SONA and Scalable gateway improvements (SK Telecom, ATTO Research)</a:t>
            </a:r>
          </a:p>
          <a:p>
            <a:pPr indent="-298450" lvl="0" marL="457200" rtl="0">
              <a:lnSpc>
                <a:spcPct val="115000"/>
              </a:lnSpc>
              <a:spcBef>
                <a:spcPts val="0"/>
              </a:spcBef>
              <a:buClr>
                <a:schemeClr val="dk1"/>
              </a:buClr>
              <a:buSzPct val="100000"/>
              <a:buChar char="●"/>
            </a:pPr>
            <a:r>
              <a:rPr lang="en" sz="1100">
                <a:solidFill>
                  <a:schemeClr val="dk1"/>
                </a:solidFill>
              </a:rPr>
              <a:t>External event dispatching, standard JSON format for events, event registration, integration of events with packet, link, topology events, integration of RabbitMQ (Adara)</a:t>
            </a:r>
          </a:p>
          <a:p>
            <a:pPr indent="-298450" lvl="0" marL="457200" rtl="0">
              <a:lnSpc>
                <a:spcPct val="115000"/>
              </a:lnSpc>
              <a:spcBef>
                <a:spcPts val="0"/>
              </a:spcBef>
              <a:buClr>
                <a:schemeClr val="dk1"/>
              </a:buClr>
              <a:buSzPct val="100000"/>
              <a:buChar char="●"/>
            </a:pPr>
            <a:r>
              <a:rPr lang="en" sz="1100">
                <a:solidFill>
                  <a:schemeClr val="dk1"/>
                </a:solidFill>
              </a:rPr>
              <a:t>New subsystem for anomaly detection (ATHENA) (SRI)</a:t>
            </a:r>
          </a:p>
          <a:p>
            <a:pPr indent="-298450" lvl="0" marL="457200" rtl="0">
              <a:lnSpc>
                <a:spcPct val="115000"/>
              </a:lnSpc>
              <a:spcBef>
                <a:spcPts val="0"/>
              </a:spcBef>
              <a:buClr>
                <a:schemeClr val="dk1"/>
              </a:buClr>
              <a:buSzPct val="100000"/>
              <a:buChar char="●"/>
            </a:pPr>
            <a:r>
              <a:rPr lang="en" sz="1100">
                <a:solidFill>
                  <a:schemeClr val="dk1"/>
                </a:solidFill>
              </a:rPr>
              <a:t>Open Exchange Protocol for inter-controller communication (BUPT)</a:t>
            </a:r>
          </a:p>
          <a:p>
            <a:pPr indent="-298450" lvl="0" marL="457200" rtl="0">
              <a:lnSpc>
                <a:spcPct val="115000"/>
              </a:lnSpc>
              <a:spcBef>
                <a:spcPts val="0"/>
              </a:spcBef>
              <a:buClr>
                <a:schemeClr val="dk1"/>
              </a:buClr>
              <a:buSzPct val="100000"/>
              <a:buChar char="●"/>
            </a:pPr>
            <a:r>
              <a:rPr lang="en" sz="1100">
                <a:solidFill>
                  <a:srgbClr val="222222"/>
                </a:solidFill>
                <a:highlight>
                  <a:srgbClr val="FFFFFF"/>
                </a:highlight>
              </a:rPr>
              <a:t>Added YANG Management System (YMS) application.</a:t>
            </a:r>
            <a:r>
              <a:rPr lang="en" sz="1100">
                <a:solidFill>
                  <a:schemeClr val="dk1"/>
                </a:solidFill>
              </a:rPr>
              <a:t> (Huawei)</a:t>
            </a:r>
          </a:p>
          <a:p>
            <a:pPr indent="-298450" lvl="0" marL="457200" rtl="0">
              <a:lnSpc>
                <a:spcPct val="115000"/>
              </a:lnSpc>
              <a:spcBef>
                <a:spcPts val="0"/>
              </a:spcBef>
              <a:buClr>
                <a:schemeClr val="dk1"/>
              </a:buClr>
              <a:buSzPct val="100000"/>
              <a:buChar char="●"/>
            </a:pPr>
            <a:r>
              <a:rPr lang="en" sz="1100">
                <a:solidFill>
                  <a:srgbClr val="222222"/>
                </a:solidFill>
                <a:highlight>
                  <a:srgbClr val="FFFFFF"/>
                </a:highlight>
              </a:rPr>
              <a:t>YANG Tools enhancements to support complete YANG 1.0 (Huawei)</a:t>
            </a:r>
          </a:p>
          <a:p>
            <a:pPr indent="-298450" lvl="0" marL="457200" rtl="0">
              <a:lnSpc>
                <a:spcPct val="115000"/>
              </a:lnSpc>
              <a:spcBef>
                <a:spcPts val="0"/>
              </a:spcBef>
              <a:buClr>
                <a:schemeClr val="dk1"/>
              </a:buClr>
              <a:buSzPct val="100000"/>
              <a:buChar char="●"/>
            </a:pPr>
            <a:r>
              <a:rPr lang="en" sz="1100">
                <a:solidFill>
                  <a:schemeClr val="dk1"/>
                </a:solidFill>
              </a:rPr>
              <a:t>Added DHCP Relay (Tech-Mahindra)</a:t>
            </a:r>
          </a:p>
          <a:p>
            <a:pPr indent="-298450" lvl="0" marL="457200" rtl="0">
              <a:lnSpc>
                <a:spcPct val="115000"/>
              </a:lnSpc>
              <a:spcBef>
                <a:spcPts val="0"/>
              </a:spcBef>
              <a:buClr>
                <a:schemeClr val="dk1"/>
              </a:buClr>
              <a:buSzPct val="100000"/>
              <a:buChar char="●"/>
            </a:pPr>
            <a:r>
              <a:rPr lang="en" sz="1100">
                <a:solidFill>
                  <a:schemeClr val="dk1"/>
                </a:solidFill>
              </a:rPr>
              <a:t>Improvements to FIB installer (Tech-Mahindra)</a:t>
            </a:r>
          </a:p>
          <a:p>
            <a:pPr indent="-298450" lvl="0" marL="457200" rtl="0">
              <a:lnSpc>
                <a:spcPct val="115000"/>
              </a:lnSpc>
              <a:spcBef>
                <a:spcPts val="0"/>
              </a:spcBef>
              <a:buClr>
                <a:schemeClr val="dk1"/>
              </a:buClr>
              <a:buSzPct val="100000"/>
              <a:buChar char="●"/>
            </a:pPr>
            <a:r>
              <a:rPr lang="en" sz="1100">
                <a:solidFill>
                  <a:schemeClr val="dk1"/>
                </a:solidFill>
              </a:rPr>
              <a:t>Dynamic XConnect support (ON.Lab)</a:t>
            </a:r>
          </a:p>
          <a:p>
            <a:pPr indent="-298450" lvl="0" marL="457200" rtl="0">
              <a:lnSpc>
                <a:spcPct val="115000"/>
              </a:lnSpc>
              <a:spcBef>
                <a:spcPts val="0"/>
              </a:spcBef>
              <a:buClr>
                <a:schemeClr val="dk1"/>
              </a:buClr>
              <a:buSzPct val="100000"/>
              <a:buChar char="●"/>
            </a:pPr>
            <a:r>
              <a:rPr lang="en" sz="1100">
                <a:solidFill>
                  <a:schemeClr val="dk1"/>
                </a:solidFill>
              </a:rPr>
              <a:t>BGP Route policy distribution and flow spec (Huawei)</a:t>
            </a:r>
          </a:p>
          <a:p>
            <a:pPr indent="-298450" lvl="0" marL="457200" rtl="0">
              <a:lnSpc>
                <a:spcPct val="115000"/>
              </a:lnSpc>
              <a:spcBef>
                <a:spcPts val="0"/>
              </a:spcBef>
              <a:buClr>
                <a:schemeClr val="dk1"/>
              </a:buClr>
              <a:buSzPct val="100000"/>
              <a:buChar char="●"/>
            </a:pPr>
            <a:r>
              <a:rPr lang="en" sz="1100">
                <a:solidFill>
                  <a:schemeClr val="dk1"/>
                </a:solidFill>
              </a:rPr>
              <a:t>Added BMv2 demo apps (P4 support) (ON.Lab)</a:t>
            </a:r>
          </a:p>
          <a:p>
            <a:pPr indent="-298450" lvl="0" marL="457200" rtl="0">
              <a:lnSpc>
                <a:spcPct val="115000"/>
              </a:lnSpc>
              <a:spcBef>
                <a:spcPts val="0"/>
              </a:spcBef>
              <a:buClr>
                <a:schemeClr val="dk1"/>
              </a:buClr>
              <a:buSzPct val="100000"/>
              <a:buChar char="●"/>
            </a:pPr>
            <a:r>
              <a:rPr lang="en" sz="1100">
                <a:solidFill>
                  <a:schemeClr val="dk1"/>
                </a:solidFill>
              </a:rPr>
              <a:t>VPLS code refactoring (NCTU)</a:t>
            </a:r>
          </a:p>
          <a:p>
            <a:pPr indent="-298450" lvl="0" marL="457200" rtl="0">
              <a:lnSpc>
                <a:spcPct val="115000"/>
              </a:lnSpc>
              <a:spcBef>
                <a:spcPts val="0"/>
              </a:spcBef>
              <a:buClr>
                <a:schemeClr val="dk1"/>
              </a:buClr>
              <a:buSzPct val="100000"/>
              <a:buChar char="●"/>
            </a:pPr>
            <a:r>
              <a:rPr lang="en" sz="1100">
                <a:solidFill>
                  <a:schemeClr val="dk1"/>
                </a:solidFill>
              </a:rPr>
              <a:t>UI - Separating theme from layout for CSS files, continued work on theming UI (ON.Lab)</a:t>
            </a:r>
          </a:p>
          <a:p>
            <a:pPr indent="-298450" lvl="0" marL="457200" rtl="0">
              <a:lnSpc>
                <a:spcPct val="115000"/>
              </a:lnSpc>
              <a:spcBef>
                <a:spcPts val="0"/>
              </a:spcBef>
              <a:buClr>
                <a:schemeClr val="dk1"/>
              </a:buClr>
              <a:buSzPct val="100000"/>
              <a:buChar char="●"/>
            </a:pPr>
            <a:r>
              <a:rPr lang="en" sz="1100">
                <a:solidFill>
                  <a:schemeClr val="dk1"/>
                </a:solidFill>
                <a:highlight>
                  <a:srgbClr val="FFFFFF"/>
                </a:highlight>
              </a:rPr>
              <a:t>IETF TE Topology Application under ACTN (Huawei)</a:t>
            </a:r>
          </a:p>
          <a:p>
            <a:pPr indent="-298450" lvl="0" marL="457200" rtl="0">
              <a:lnSpc>
                <a:spcPct val="115000"/>
              </a:lnSpc>
              <a:spcBef>
                <a:spcPts val="0"/>
              </a:spcBef>
              <a:buClr>
                <a:schemeClr val="dk1"/>
              </a:buClr>
              <a:buSzPct val="100000"/>
              <a:buChar char="●"/>
            </a:pPr>
            <a:r>
              <a:rPr lang="en" sz="1100">
                <a:solidFill>
                  <a:schemeClr val="dk1"/>
                </a:solidFill>
              </a:rPr>
              <a:t>Carrier Ethernet application for installing EPL/EP-LAN/EP-Tree and EVPL/EVP-LAN/EVP-Tree services (Huawei)</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86" name="Shape 1086"/>
        <p:cNvGrpSpPr/>
        <p:nvPr/>
      </p:nvGrpSpPr>
      <p:grpSpPr>
        <a:xfrm>
          <a:off x="0" y="0"/>
          <a:ext cx="0" cy="0"/>
          <a:chOff x="0" y="0"/>
          <a:chExt cx="0" cy="0"/>
        </a:xfrm>
      </p:grpSpPr>
      <p:sp>
        <p:nvSpPr>
          <p:cNvPr id="1087" name="Shape 1087"/>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Release Features</a:t>
            </a:r>
          </a:p>
        </p:txBody>
      </p:sp>
      <p:sp>
        <p:nvSpPr>
          <p:cNvPr id="1088" name="Shape 1088"/>
          <p:cNvSpPr txBox="1"/>
          <p:nvPr/>
        </p:nvSpPr>
        <p:spPr>
          <a:xfrm>
            <a:off x="296225" y="699950"/>
            <a:ext cx="8407500" cy="4191900"/>
          </a:xfrm>
          <a:prstGeom prst="rect">
            <a:avLst/>
          </a:prstGeom>
          <a:noFill/>
          <a:ln>
            <a:noFill/>
          </a:ln>
        </p:spPr>
        <p:txBody>
          <a:bodyPr anchorCtr="0" anchor="t" bIns="91425" lIns="91425" rIns="91425" tIns="91425">
            <a:noAutofit/>
          </a:bodyPr>
          <a:lstStyle/>
          <a:p>
            <a:pPr lvl="0" rtl="0">
              <a:spcBef>
                <a:spcPts val="2000"/>
              </a:spcBef>
              <a:spcAft>
                <a:spcPts val="600"/>
              </a:spcAft>
              <a:buClr>
                <a:schemeClr val="dk1"/>
              </a:buClr>
              <a:buSzPct val="55000"/>
              <a:buFont typeface="Arial"/>
              <a:buNone/>
            </a:pPr>
            <a:r>
              <a:rPr lang="en" sz="2000">
                <a:solidFill>
                  <a:schemeClr val="dk1"/>
                </a:solidFill>
              </a:rPr>
              <a:t>Northbound</a:t>
            </a:r>
          </a:p>
          <a:p>
            <a:pPr indent="-298450" lvl="0" marL="457200" rtl="0">
              <a:lnSpc>
                <a:spcPct val="115000"/>
              </a:lnSpc>
              <a:spcBef>
                <a:spcPts val="0"/>
              </a:spcBef>
              <a:buClr>
                <a:schemeClr val="dk1"/>
              </a:buClr>
              <a:buSzPct val="100000"/>
              <a:buChar char="●"/>
            </a:pPr>
            <a:r>
              <a:rPr b="1" lang="en" sz="1100">
                <a:solidFill>
                  <a:schemeClr val="dk1"/>
                </a:solidFill>
              </a:rPr>
              <a:t>Contributions from Calix, Ciena, Fujitsu, Huawei, NEC, ON.Lab, OpLink, Samsung, SK Telecom, Verizon</a:t>
            </a:r>
          </a:p>
          <a:p>
            <a:pPr indent="-298450" lvl="0" marL="457200" rtl="0">
              <a:lnSpc>
                <a:spcPct val="115000"/>
              </a:lnSpc>
              <a:spcBef>
                <a:spcPts val="0"/>
              </a:spcBef>
              <a:buClr>
                <a:schemeClr val="dk1"/>
              </a:buClr>
              <a:buSzPct val="100000"/>
              <a:buChar char="●"/>
            </a:pPr>
            <a:r>
              <a:rPr lang="en" sz="1100">
                <a:solidFill>
                  <a:schemeClr val="dk1"/>
                </a:solidFill>
              </a:rPr>
              <a:t>Implement PowerConfig for Oplink Devices, Use LambdaQuery in OpenFlowDeviceProvider to get details for optical ports (OpLink)</a:t>
            </a:r>
          </a:p>
          <a:p>
            <a:pPr indent="-298450" lvl="0" marL="457200" rtl="0">
              <a:lnSpc>
                <a:spcPct val="115000"/>
              </a:lnSpc>
              <a:spcBef>
                <a:spcPts val="0"/>
              </a:spcBef>
              <a:buClr>
                <a:schemeClr val="dk1"/>
              </a:buClr>
              <a:buSzPct val="100000"/>
              <a:buChar char="●"/>
            </a:pPr>
            <a:r>
              <a:rPr lang="en" sz="1100">
                <a:solidFill>
                  <a:schemeClr val="dk1"/>
                </a:solidFill>
              </a:rPr>
              <a:t>Kafka message bus integration (Calix)</a:t>
            </a:r>
          </a:p>
          <a:p>
            <a:pPr indent="-298450" lvl="0" marL="457200" rtl="0">
              <a:lnSpc>
                <a:spcPct val="115000"/>
              </a:lnSpc>
              <a:spcBef>
                <a:spcPts val="0"/>
              </a:spcBef>
              <a:buClr>
                <a:schemeClr val="dk1"/>
              </a:buClr>
              <a:buSzPct val="100000"/>
              <a:buChar char="●"/>
            </a:pPr>
            <a:r>
              <a:rPr lang="en" sz="1100">
                <a:solidFill>
                  <a:schemeClr val="dk1"/>
                </a:solidFill>
              </a:rPr>
              <a:t>decouple optical-model from CLI (NEC)</a:t>
            </a:r>
          </a:p>
          <a:p>
            <a:pPr indent="-298450" lvl="0" marL="457200" rtl="0">
              <a:lnSpc>
                <a:spcPct val="115000"/>
              </a:lnSpc>
              <a:spcBef>
                <a:spcPts val="0"/>
              </a:spcBef>
              <a:buClr>
                <a:schemeClr val="dk1"/>
              </a:buClr>
              <a:buSzPct val="100000"/>
              <a:buChar char="●"/>
            </a:pPr>
            <a:r>
              <a:rPr lang="en" sz="1100">
                <a:solidFill>
                  <a:schemeClr val="dk1"/>
                </a:solidFill>
              </a:rPr>
              <a:t>Add basic error handling to gRPC Device SB service, Add link eviction to gRPC Link SB (NEC)</a:t>
            </a:r>
          </a:p>
          <a:p>
            <a:pPr indent="-298450" lvl="0" marL="457200" rtl="0">
              <a:lnSpc>
                <a:spcPct val="115000"/>
              </a:lnSpc>
              <a:spcBef>
                <a:spcPts val="0"/>
              </a:spcBef>
              <a:buClr>
                <a:schemeClr val="dk1"/>
              </a:buClr>
              <a:buSzPct val="100000"/>
              <a:buChar char="●"/>
            </a:pPr>
            <a:r>
              <a:rPr lang="en" sz="1100">
                <a:solidFill>
                  <a:schemeClr val="dk1"/>
                </a:solidFill>
              </a:rPr>
              <a:t>Initial implementation of Virtual network Intent service (Ciena)</a:t>
            </a:r>
          </a:p>
          <a:p>
            <a:pPr indent="-298450" lvl="0" marL="457200" rtl="0">
              <a:lnSpc>
                <a:spcPct val="115000"/>
              </a:lnSpc>
              <a:spcBef>
                <a:spcPts val="0"/>
              </a:spcBef>
              <a:buClr>
                <a:schemeClr val="dk1"/>
              </a:buClr>
              <a:buSzPct val="100000"/>
              <a:buChar char="●"/>
            </a:pPr>
            <a:r>
              <a:rPr lang="en" sz="1100">
                <a:solidFill>
                  <a:schemeClr val="dk1"/>
                </a:solidFill>
              </a:rPr>
              <a:t>Improve performance of Resource Reservation Service (Fujitsu)</a:t>
            </a:r>
          </a:p>
          <a:p>
            <a:pPr indent="-298450" lvl="0" marL="457200" rtl="0">
              <a:lnSpc>
                <a:spcPct val="115000"/>
              </a:lnSpc>
              <a:spcBef>
                <a:spcPts val="0"/>
              </a:spcBef>
              <a:buClr>
                <a:schemeClr val="dk1"/>
              </a:buClr>
              <a:buSzPct val="100000"/>
              <a:buChar char="●"/>
            </a:pPr>
            <a:r>
              <a:rPr lang="en" sz="1100">
                <a:solidFill>
                  <a:srgbClr val="222222"/>
                </a:solidFill>
                <a:highlight>
                  <a:srgbClr val="FFFFFF"/>
                </a:highlight>
              </a:rPr>
              <a:t>YMS to provide automated CODEC for NBI.</a:t>
            </a:r>
            <a:r>
              <a:rPr lang="en" sz="1100">
                <a:solidFill>
                  <a:schemeClr val="dk1"/>
                </a:solidFill>
              </a:rPr>
              <a:t> (Huawei)</a:t>
            </a:r>
          </a:p>
          <a:p>
            <a:pPr indent="-298450" lvl="0" marL="457200" rtl="0">
              <a:lnSpc>
                <a:spcPct val="115000"/>
              </a:lnSpc>
              <a:spcBef>
                <a:spcPts val="0"/>
              </a:spcBef>
              <a:buClr>
                <a:schemeClr val="dk1"/>
              </a:buClr>
              <a:buSzPct val="100000"/>
              <a:buChar char="●"/>
            </a:pPr>
            <a:r>
              <a:rPr lang="en" sz="1100">
                <a:solidFill>
                  <a:schemeClr val="dk1"/>
                </a:solidFill>
              </a:rPr>
              <a:t>Abstraction and Control of TE Networks (ACTN) implementation (Huawei)</a:t>
            </a:r>
          </a:p>
          <a:p>
            <a:pPr indent="-298450" lvl="0" marL="457200" rtl="0">
              <a:lnSpc>
                <a:spcPct val="115000"/>
              </a:lnSpc>
              <a:spcBef>
                <a:spcPts val="0"/>
              </a:spcBef>
              <a:buClr>
                <a:schemeClr val="dk1"/>
              </a:buClr>
              <a:buSzPct val="100000"/>
              <a:buChar char="●"/>
            </a:pPr>
            <a:r>
              <a:rPr lang="en" sz="1100">
                <a:solidFill>
                  <a:schemeClr val="dk1"/>
                </a:solidFill>
              </a:rPr>
              <a:t>Refactored tunnel and interface config behavior (SK Telecom)</a:t>
            </a:r>
          </a:p>
          <a:p>
            <a:pPr indent="-298450" lvl="0" marL="457200" rtl="0">
              <a:lnSpc>
                <a:spcPct val="115000"/>
              </a:lnSpc>
              <a:spcBef>
                <a:spcPts val="0"/>
              </a:spcBef>
              <a:buClr>
                <a:schemeClr val="dk1"/>
              </a:buClr>
              <a:buSzPct val="100000"/>
              <a:buChar char="●"/>
            </a:pPr>
            <a:r>
              <a:rPr lang="en" sz="1100">
                <a:solidFill>
                  <a:schemeClr val="dk1"/>
                </a:solidFill>
              </a:rPr>
              <a:t>sp2mp intents now modify packets at the egress switch (Verizon)</a:t>
            </a:r>
          </a:p>
          <a:p>
            <a:pPr indent="-298450" lvl="0" marL="457200" rtl="0">
              <a:lnSpc>
                <a:spcPct val="115000"/>
              </a:lnSpc>
              <a:spcBef>
                <a:spcPts val="0"/>
              </a:spcBef>
              <a:buClr>
                <a:schemeClr val="dk1"/>
              </a:buClr>
              <a:buSzPct val="100000"/>
              <a:buChar char="●"/>
            </a:pPr>
            <a:r>
              <a:rPr lang="en" sz="1100">
                <a:solidFill>
                  <a:schemeClr val="dk1"/>
                </a:solidFill>
              </a:rPr>
              <a:t>mp2sp intents now modify packets at the ingress switch (Verizon)</a:t>
            </a:r>
          </a:p>
          <a:p>
            <a:pPr indent="-298450" lvl="0" marL="457200" rtl="0">
              <a:lnSpc>
                <a:spcPct val="115000"/>
              </a:lnSpc>
              <a:spcBef>
                <a:spcPts val="0"/>
              </a:spcBef>
              <a:buClr>
                <a:schemeClr val="dk1"/>
              </a:buClr>
              <a:buSzPct val="100000"/>
              <a:buChar char="●"/>
            </a:pPr>
            <a:r>
              <a:rPr lang="en" sz="1100">
                <a:solidFill>
                  <a:schemeClr val="dk1"/>
                </a:solidFill>
              </a:rPr>
              <a:t>sp2mp intents support multiple treatments (Università Roma Tor Vergata / ON.Lab)</a:t>
            </a:r>
          </a:p>
          <a:p>
            <a:pPr indent="-298450" lvl="0" marL="457200" rtl="0">
              <a:lnSpc>
                <a:spcPct val="115000"/>
              </a:lnSpc>
              <a:spcBef>
                <a:spcPts val="0"/>
              </a:spcBef>
              <a:buClr>
                <a:schemeClr val="dk1"/>
              </a:buClr>
              <a:buSzPct val="100000"/>
              <a:buChar char="●"/>
            </a:pPr>
            <a:r>
              <a:rPr lang="en" sz="1100">
                <a:solidFill>
                  <a:schemeClr val="dk1"/>
                </a:solidFill>
              </a:rPr>
              <a:t>mp2sp intents support multiple selectors (Università Roma Tor Vergata / ON.Lab)</a:t>
            </a:r>
          </a:p>
          <a:p>
            <a:pPr indent="-298450" lvl="0" marL="457200" rtl="0">
              <a:lnSpc>
                <a:spcPct val="115000"/>
              </a:lnSpc>
              <a:spcBef>
                <a:spcPts val="0"/>
              </a:spcBef>
              <a:buClr>
                <a:schemeClr val="dk1"/>
              </a:buClr>
              <a:buSzPct val="100000"/>
              <a:buChar char="●"/>
            </a:pPr>
            <a:r>
              <a:rPr lang="en" sz="1100">
                <a:solidFill>
                  <a:schemeClr val="dk1"/>
                </a:solidFill>
              </a:rPr>
              <a:t>Added back-off mechanism for intent clean-up (ON.Lab)</a:t>
            </a:r>
          </a:p>
          <a:p>
            <a:pPr indent="-298450" lvl="0" marL="457200" rtl="0">
              <a:lnSpc>
                <a:spcPct val="115000"/>
              </a:lnSpc>
              <a:spcBef>
                <a:spcPts val="0"/>
              </a:spcBef>
              <a:buClr>
                <a:schemeClr val="dk1"/>
              </a:buClr>
              <a:buSzPct val="100000"/>
              <a:buChar char="●"/>
            </a:pPr>
            <a:r>
              <a:rPr lang="en" sz="1100">
                <a:solidFill>
                  <a:schemeClr val="dk1"/>
                </a:solidFill>
              </a:rPr>
              <a:t>Added ARP command (ON.Lab)</a:t>
            </a:r>
          </a:p>
          <a:p>
            <a:pPr indent="-298450" lvl="0" marL="457200" rtl="0">
              <a:lnSpc>
                <a:spcPct val="115000"/>
              </a:lnSpc>
              <a:spcBef>
                <a:spcPts val="0"/>
              </a:spcBef>
              <a:buClr>
                <a:schemeClr val="dk1"/>
              </a:buClr>
              <a:buSzPct val="100000"/>
              <a:buChar char="●"/>
            </a:pPr>
            <a:r>
              <a:rPr lang="en" sz="1100">
                <a:solidFill>
                  <a:srgbClr val="222222"/>
                </a:solidFill>
                <a:highlight>
                  <a:srgbClr val="FFFFFF"/>
                </a:highlight>
              </a:rPr>
              <a:t>Support for standard IETF TE YANG models under ACTN (Huawei)</a:t>
            </a:r>
          </a:p>
          <a:p>
            <a:pPr indent="-298450" lvl="0" marL="457200" rtl="0">
              <a:lnSpc>
                <a:spcPct val="115000"/>
              </a:lnSpc>
              <a:spcBef>
                <a:spcPts val="0"/>
              </a:spcBef>
              <a:buClr>
                <a:srgbClr val="222222"/>
              </a:buClr>
              <a:buSzPct val="100000"/>
              <a:buChar char="●"/>
            </a:pPr>
            <a:r>
              <a:rPr lang="en" sz="1100">
                <a:solidFill>
                  <a:srgbClr val="222222"/>
                </a:solidFill>
                <a:highlight>
                  <a:srgbClr val="FFFFFF"/>
                </a:highlight>
              </a:rPr>
              <a:t>New neighbour message subsystem for handling ARP and NDP (ON.Lab)</a:t>
            </a: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92" name="Shape 1092"/>
        <p:cNvGrpSpPr/>
        <p:nvPr/>
      </p:nvGrpSpPr>
      <p:grpSpPr>
        <a:xfrm>
          <a:off x="0" y="0"/>
          <a:ext cx="0" cy="0"/>
          <a:chOff x="0" y="0"/>
          <a:chExt cx="0" cy="0"/>
        </a:xfrm>
      </p:grpSpPr>
      <p:sp>
        <p:nvSpPr>
          <p:cNvPr id="1093" name="Shape 1093"/>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Release Features</a:t>
            </a:r>
          </a:p>
        </p:txBody>
      </p:sp>
      <p:sp>
        <p:nvSpPr>
          <p:cNvPr id="1094" name="Shape 1094"/>
          <p:cNvSpPr txBox="1"/>
          <p:nvPr/>
        </p:nvSpPr>
        <p:spPr>
          <a:xfrm>
            <a:off x="256925" y="605600"/>
            <a:ext cx="4530000" cy="4074000"/>
          </a:xfrm>
          <a:prstGeom prst="rect">
            <a:avLst/>
          </a:prstGeom>
          <a:noFill/>
          <a:ln>
            <a:noFill/>
          </a:ln>
        </p:spPr>
        <p:txBody>
          <a:bodyPr anchorCtr="0" anchor="t" bIns="91425" lIns="91425" rIns="91425" tIns="91425">
            <a:noAutofit/>
          </a:bodyPr>
          <a:lstStyle/>
          <a:p>
            <a:pPr lvl="0" rtl="0">
              <a:spcBef>
                <a:spcPts val="2000"/>
              </a:spcBef>
              <a:spcAft>
                <a:spcPts val="600"/>
              </a:spcAft>
              <a:buClr>
                <a:schemeClr val="dk1"/>
              </a:buClr>
              <a:buSzPct val="55000"/>
              <a:buFont typeface="Arial"/>
              <a:buNone/>
            </a:pPr>
            <a:r>
              <a:rPr lang="en" sz="2000">
                <a:solidFill>
                  <a:schemeClr val="dk1"/>
                </a:solidFill>
              </a:rPr>
              <a:t>Core</a:t>
            </a:r>
          </a:p>
          <a:p>
            <a:pPr indent="-298450" lvl="0" marL="457200" rtl="0">
              <a:lnSpc>
                <a:spcPct val="115000"/>
              </a:lnSpc>
              <a:spcBef>
                <a:spcPts val="0"/>
              </a:spcBef>
              <a:buClr>
                <a:schemeClr val="dk1"/>
              </a:buClr>
              <a:buSzPct val="100000"/>
              <a:buChar char="●"/>
            </a:pPr>
            <a:r>
              <a:rPr b="1" lang="en" sz="1100">
                <a:solidFill>
                  <a:schemeClr val="dk1"/>
                </a:solidFill>
              </a:rPr>
              <a:t>Contributions from Ciena, Fujitsu, NCTU, NEC, ON.Lab</a:t>
            </a:r>
          </a:p>
          <a:p>
            <a:pPr indent="-298450" lvl="0" marL="457200" rtl="0">
              <a:lnSpc>
                <a:spcPct val="115000"/>
              </a:lnSpc>
              <a:spcBef>
                <a:spcPts val="0"/>
              </a:spcBef>
              <a:buClr>
                <a:schemeClr val="dk1"/>
              </a:buClr>
              <a:buSzPct val="100000"/>
              <a:buChar char="●"/>
            </a:pPr>
            <a:r>
              <a:rPr lang="en" sz="1100">
                <a:solidFill>
                  <a:schemeClr val="dk1"/>
                </a:solidFill>
              </a:rPr>
              <a:t>Refactoring of optical information model - Move optical Intent compilers out to optical-model (NEC)</a:t>
            </a:r>
          </a:p>
          <a:p>
            <a:pPr indent="-298450" lvl="0" marL="457200" rtl="0">
              <a:lnSpc>
                <a:spcPct val="115000"/>
              </a:lnSpc>
              <a:spcBef>
                <a:spcPts val="0"/>
              </a:spcBef>
              <a:buClr>
                <a:schemeClr val="dk1"/>
              </a:buClr>
              <a:buSzPct val="100000"/>
              <a:buChar char="●"/>
            </a:pPr>
            <a:r>
              <a:rPr lang="en" sz="1100">
                <a:solidFill>
                  <a:schemeClr val="dk1"/>
                </a:solidFill>
              </a:rPr>
              <a:t>Initial work on virtualization - Virtual Network DeviceService and LinkService to use VirtualNetwork service, virtual network topology provider (Ciena)</a:t>
            </a:r>
          </a:p>
          <a:p>
            <a:pPr indent="-298450" lvl="0" marL="457200" rtl="0">
              <a:lnSpc>
                <a:spcPct val="115000"/>
              </a:lnSpc>
              <a:spcBef>
                <a:spcPts val="0"/>
              </a:spcBef>
              <a:buClr>
                <a:schemeClr val="dk1"/>
              </a:buClr>
              <a:buSzPct val="100000"/>
              <a:buChar char="●"/>
            </a:pPr>
            <a:r>
              <a:rPr lang="en" sz="1100">
                <a:solidFill>
                  <a:schemeClr val="dk1"/>
                </a:solidFill>
              </a:rPr>
              <a:t>New distributed system primitives (AsyncConsistentTreeMap, DistributedTreeMap) (Fujitsu)</a:t>
            </a:r>
          </a:p>
          <a:p>
            <a:pPr indent="-298450" lvl="0" marL="457200" rtl="0">
              <a:lnSpc>
                <a:spcPct val="115000"/>
              </a:lnSpc>
              <a:spcBef>
                <a:spcPts val="0"/>
              </a:spcBef>
              <a:buClr>
                <a:schemeClr val="dk1"/>
              </a:buClr>
              <a:buSzPct val="100000"/>
              <a:buChar char="●"/>
            </a:pPr>
            <a:r>
              <a:rPr lang="en" sz="1100">
                <a:solidFill>
                  <a:schemeClr val="dk1"/>
                </a:solidFill>
              </a:rPr>
              <a:t>Distributed work queue primitive (ON.Lab)</a:t>
            </a:r>
          </a:p>
          <a:p>
            <a:pPr indent="-298450" lvl="0" marL="457200" rtl="0">
              <a:lnSpc>
                <a:spcPct val="115000"/>
              </a:lnSpc>
              <a:spcBef>
                <a:spcPts val="0"/>
              </a:spcBef>
              <a:buClr>
                <a:schemeClr val="dk1"/>
              </a:buClr>
              <a:buSzPct val="100000"/>
              <a:buChar char="●"/>
            </a:pPr>
            <a:r>
              <a:rPr lang="en" sz="1100">
                <a:solidFill>
                  <a:schemeClr val="dk1"/>
                </a:solidFill>
              </a:rPr>
              <a:t>New ApplicationStore that uses a single ConsistentMap to track all app related state (ON.Lab)</a:t>
            </a:r>
          </a:p>
          <a:p>
            <a:pPr indent="-298450" lvl="0" marL="457200" rtl="0">
              <a:lnSpc>
                <a:spcPct val="115000"/>
              </a:lnSpc>
              <a:spcBef>
                <a:spcPts val="0"/>
              </a:spcBef>
              <a:buClr>
                <a:schemeClr val="dk1"/>
              </a:buClr>
              <a:buSzPct val="100000"/>
              <a:buChar char="●"/>
            </a:pPr>
            <a:r>
              <a:rPr lang="en" sz="1100">
                <a:solidFill>
                  <a:schemeClr val="dk1"/>
                </a:solidFill>
              </a:rPr>
              <a:t>NetconfAlarmProvider alerts core about notifications given subscription (ON.Lab)</a:t>
            </a:r>
          </a:p>
          <a:p>
            <a:pPr indent="-298450" lvl="0" marL="457200" rtl="0">
              <a:lnSpc>
                <a:spcPct val="115000"/>
              </a:lnSpc>
              <a:spcBef>
                <a:spcPts val="0"/>
              </a:spcBef>
              <a:buClr>
                <a:schemeClr val="dk1"/>
              </a:buClr>
              <a:buSzPct val="100000"/>
              <a:buChar char="●"/>
            </a:pPr>
            <a:r>
              <a:rPr lang="en" sz="1100">
                <a:solidFill>
                  <a:schemeClr val="dk1"/>
                </a:solidFill>
              </a:rPr>
              <a:t>Implementation of Hybrid Logical Clock Service (ON.Lab)</a:t>
            </a:r>
          </a:p>
          <a:p>
            <a:pPr indent="-298450" lvl="0" marL="457200" rtl="0">
              <a:lnSpc>
                <a:spcPct val="115000"/>
              </a:lnSpc>
              <a:spcBef>
                <a:spcPts val="0"/>
              </a:spcBef>
              <a:buClr>
                <a:schemeClr val="dk1"/>
              </a:buClr>
              <a:buSzPct val="100000"/>
              <a:buChar char="●"/>
            </a:pPr>
            <a:r>
              <a:rPr lang="en" sz="1100">
                <a:solidFill>
                  <a:schemeClr val="dk1"/>
                </a:solidFill>
              </a:rPr>
              <a:t>New ComponentConfigStore that uses a ConsistentMap configured with sequential consistency (ON.Lab)</a:t>
            </a:r>
          </a:p>
          <a:p>
            <a:pPr indent="-298450" lvl="0" marL="457200" rtl="0">
              <a:lnSpc>
                <a:spcPct val="115000"/>
              </a:lnSpc>
              <a:spcBef>
                <a:spcPts val="0"/>
              </a:spcBef>
              <a:buClr>
                <a:schemeClr val="dk1"/>
              </a:buClr>
              <a:buSzPct val="100000"/>
              <a:buChar char="●"/>
            </a:pPr>
            <a:r>
              <a:rPr lang="en" sz="1100">
                <a:solidFill>
                  <a:schemeClr val="dk1"/>
                </a:solidFill>
              </a:rPr>
              <a:t>Support Cluster restart via stc (NCTU)</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98" name="Shape 1098"/>
        <p:cNvGrpSpPr/>
        <p:nvPr/>
      </p:nvGrpSpPr>
      <p:grpSpPr>
        <a:xfrm>
          <a:off x="0" y="0"/>
          <a:ext cx="0" cy="0"/>
          <a:chOff x="0" y="0"/>
          <a:chExt cx="0" cy="0"/>
        </a:xfrm>
      </p:grpSpPr>
      <p:sp>
        <p:nvSpPr>
          <p:cNvPr id="1099" name="Shape 1099"/>
          <p:cNvSpPr txBox="1"/>
          <p:nvPr>
            <p:ph type="title"/>
          </p:nvPr>
        </p:nvSpPr>
        <p:spPr>
          <a:xfrm>
            <a:off x="377775" y="3"/>
            <a:ext cx="8229600" cy="857400"/>
          </a:xfrm>
          <a:prstGeom prst="rect">
            <a:avLst/>
          </a:prstGeom>
        </p:spPr>
        <p:txBody>
          <a:bodyPr anchorCtr="0" anchor="b" bIns="91425" lIns="91425" rIns="91425" tIns="91425">
            <a:noAutofit/>
          </a:bodyPr>
          <a:lstStyle/>
          <a:p>
            <a:pPr lvl="0" rtl="0">
              <a:spcBef>
                <a:spcPts val="0"/>
              </a:spcBef>
              <a:buNone/>
            </a:pPr>
            <a:r>
              <a:rPr lang="en"/>
              <a:t>Release Features</a:t>
            </a:r>
          </a:p>
        </p:txBody>
      </p:sp>
      <p:sp>
        <p:nvSpPr>
          <p:cNvPr id="1100" name="Shape 1100"/>
          <p:cNvSpPr txBox="1"/>
          <p:nvPr/>
        </p:nvSpPr>
        <p:spPr>
          <a:xfrm>
            <a:off x="288375" y="694025"/>
            <a:ext cx="7801800" cy="4050300"/>
          </a:xfrm>
          <a:prstGeom prst="rect">
            <a:avLst/>
          </a:prstGeom>
          <a:noFill/>
          <a:ln>
            <a:noFill/>
          </a:ln>
        </p:spPr>
        <p:txBody>
          <a:bodyPr anchorCtr="0" anchor="t" bIns="91425" lIns="91425" rIns="91425" tIns="91425">
            <a:noAutofit/>
          </a:bodyPr>
          <a:lstStyle/>
          <a:p>
            <a:pPr lvl="0" rtl="0">
              <a:spcBef>
                <a:spcPts val="2000"/>
              </a:spcBef>
              <a:spcAft>
                <a:spcPts val="600"/>
              </a:spcAft>
              <a:buClr>
                <a:schemeClr val="dk1"/>
              </a:buClr>
              <a:buSzPct val="55000"/>
              <a:buFont typeface="Arial"/>
              <a:buNone/>
            </a:pPr>
            <a:r>
              <a:rPr lang="en" sz="2000">
                <a:solidFill>
                  <a:schemeClr val="dk1"/>
                </a:solidFill>
              </a:rPr>
              <a:t>Southbound</a:t>
            </a:r>
          </a:p>
          <a:p>
            <a:pPr indent="-298450" lvl="0" marL="457200" rtl="0">
              <a:lnSpc>
                <a:spcPct val="115000"/>
              </a:lnSpc>
              <a:spcBef>
                <a:spcPts val="0"/>
              </a:spcBef>
              <a:buClr>
                <a:schemeClr val="dk1"/>
              </a:buClr>
              <a:buSzPct val="100000"/>
              <a:buChar char="●"/>
            </a:pPr>
            <a:r>
              <a:rPr b="1" lang="en" sz="1100">
                <a:solidFill>
                  <a:schemeClr val="dk1"/>
                </a:solidFill>
              </a:rPr>
              <a:t>Contributions from Cognizant, Create-Net, Fujitsu, GEANT, Huawei, NEC, ON.Lab, OpLink, POSTECH, SK Telecom, Tata, University of Patras</a:t>
            </a:r>
          </a:p>
          <a:p>
            <a:pPr indent="-298450" lvl="0" marL="457200" rtl="0">
              <a:lnSpc>
                <a:spcPct val="115000"/>
              </a:lnSpc>
              <a:spcBef>
                <a:spcPts val="0"/>
              </a:spcBef>
              <a:buClr>
                <a:schemeClr val="dk1"/>
              </a:buClr>
              <a:buSzPct val="100000"/>
              <a:buChar char="●"/>
            </a:pPr>
            <a:r>
              <a:rPr lang="en" sz="1100">
                <a:solidFill>
                  <a:schemeClr val="dk1"/>
                </a:solidFill>
              </a:rPr>
              <a:t>LOXI enhancements for optical extensions (OpLink)</a:t>
            </a:r>
          </a:p>
          <a:p>
            <a:pPr indent="-298450" lvl="0" marL="457200" rtl="0">
              <a:lnSpc>
                <a:spcPct val="115000"/>
              </a:lnSpc>
              <a:spcBef>
                <a:spcPts val="0"/>
              </a:spcBef>
              <a:buClr>
                <a:schemeClr val="dk1"/>
              </a:buClr>
              <a:buSzPct val="100000"/>
              <a:buChar char="●"/>
            </a:pPr>
            <a:r>
              <a:rPr lang="en" sz="1100">
                <a:solidFill>
                  <a:schemeClr val="dk1"/>
                </a:solidFill>
              </a:rPr>
              <a:t>New provider for link discovery</a:t>
            </a:r>
          </a:p>
          <a:p>
            <a:pPr indent="-298450" lvl="0" marL="457200" rtl="0">
              <a:lnSpc>
                <a:spcPct val="115000"/>
              </a:lnSpc>
              <a:spcBef>
                <a:spcPts val="0"/>
              </a:spcBef>
              <a:buClr>
                <a:schemeClr val="dk1"/>
              </a:buClr>
              <a:buSzPct val="100000"/>
              <a:buChar char="●"/>
            </a:pPr>
            <a:r>
              <a:rPr lang="en" sz="1100">
                <a:solidFill>
                  <a:schemeClr val="dk1"/>
                </a:solidFill>
              </a:rPr>
              <a:t>NETCONF enhancements (Fujitsu)</a:t>
            </a:r>
          </a:p>
          <a:p>
            <a:pPr indent="-298450" lvl="0" marL="457200" rtl="0">
              <a:lnSpc>
                <a:spcPct val="115000"/>
              </a:lnSpc>
              <a:spcBef>
                <a:spcPts val="0"/>
              </a:spcBef>
              <a:buClr>
                <a:schemeClr val="dk1"/>
              </a:buClr>
              <a:buSzPct val="100000"/>
              <a:buChar char="●"/>
            </a:pPr>
            <a:r>
              <a:rPr lang="en" sz="1100">
                <a:solidFill>
                  <a:srgbClr val="222222"/>
                </a:solidFill>
                <a:highlight>
                  <a:srgbClr val="FFFFFF"/>
                </a:highlight>
              </a:rPr>
              <a:t>YMS to provide automated CODEC for SBI (Huawei)</a:t>
            </a:r>
          </a:p>
          <a:p>
            <a:pPr indent="-298450" lvl="0" marL="457200" rtl="0">
              <a:lnSpc>
                <a:spcPct val="115000"/>
              </a:lnSpc>
              <a:spcBef>
                <a:spcPts val="0"/>
              </a:spcBef>
              <a:buClr>
                <a:schemeClr val="dk1"/>
              </a:buClr>
              <a:buSzPct val="100000"/>
              <a:buChar char="●"/>
            </a:pPr>
            <a:r>
              <a:rPr lang="en" sz="1100">
                <a:solidFill>
                  <a:srgbClr val="222222"/>
                </a:solidFill>
                <a:highlight>
                  <a:srgbClr val="FFFFFF"/>
                </a:highlight>
              </a:rPr>
              <a:t>YANG Tools enhancements to support auto code generation for drivers/providers.</a:t>
            </a:r>
            <a:r>
              <a:rPr lang="en" sz="1100">
                <a:solidFill>
                  <a:schemeClr val="dk1"/>
                </a:solidFill>
              </a:rPr>
              <a:t> (Huawei)</a:t>
            </a:r>
          </a:p>
          <a:p>
            <a:pPr indent="-298450" lvl="0" marL="457200" rtl="0">
              <a:lnSpc>
                <a:spcPct val="115000"/>
              </a:lnSpc>
              <a:spcBef>
                <a:spcPts val="0"/>
              </a:spcBef>
              <a:buClr>
                <a:schemeClr val="dk1"/>
              </a:buClr>
              <a:buSzPct val="100000"/>
              <a:buChar char="●"/>
            </a:pPr>
            <a:r>
              <a:rPr lang="en" sz="1100">
                <a:solidFill>
                  <a:schemeClr val="dk1"/>
                </a:solidFill>
              </a:rPr>
              <a:t>Implement the Driver for handling Arista switch (SK Telecom)</a:t>
            </a:r>
          </a:p>
          <a:p>
            <a:pPr indent="-298450" lvl="0" marL="457200" rtl="0">
              <a:lnSpc>
                <a:spcPct val="115000"/>
              </a:lnSpc>
              <a:spcBef>
                <a:spcPts val="0"/>
              </a:spcBef>
              <a:buClr>
                <a:schemeClr val="dk1"/>
              </a:buClr>
              <a:buSzPct val="100000"/>
              <a:buChar char="●"/>
            </a:pPr>
            <a:r>
              <a:rPr lang="en" sz="1100">
                <a:solidFill>
                  <a:schemeClr val="dk1"/>
                </a:solidFill>
              </a:rPr>
              <a:t>Updated NETCONF for Fujitsu OLT devices, Separate optical driver from "default" driver bundle (NEC)</a:t>
            </a:r>
          </a:p>
          <a:p>
            <a:pPr indent="-298450" lvl="0" marL="457200" rtl="0">
              <a:lnSpc>
                <a:spcPct val="115000"/>
              </a:lnSpc>
              <a:spcBef>
                <a:spcPts val="0"/>
              </a:spcBef>
              <a:buClr>
                <a:schemeClr val="dk1"/>
              </a:buClr>
              <a:buSzPct val="100000"/>
              <a:buChar char="●"/>
            </a:pPr>
            <a:r>
              <a:rPr lang="en" sz="1100">
                <a:solidFill>
                  <a:schemeClr val="dk1"/>
                </a:solidFill>
              </a:rPr>
              <a:t>Rate limit on port via NetConf (GEANT)</a:t>
            </a:r>
          </a:p>
          <a:p>
            <a:pPr indent="-298450" lvl="0" marL="457200" rtl="0">
              <a:lnSpc>
                <a:spcPct val="115000"/>
              </a:lnSpc>
              <a:spcBef>
                <a:spcPts val="0"/>
              </a:spcBef>
              <a:buClr>
                <a:schemeClr val="dk1"/>
              </a:buClr>
              <a:buSzPct val="100000"/>
              <a:buChar char="●"/>
            </a:pPr>
            <a:r>
              <a:rPr lang="en" sz="1100">
                <a:solidFill>
                  <a:schemeClr val="dk1"/>
                </a:solidFill>
              </a:rPr>
              <a:t>Cisco IOS Port Discovery (University of Patras)</a:t>
            </a:r>
          </a:p>
          <a:p>
            <a:pPr indent="-298450" lvl="0" marL="457200" rtl="0">
              <a:lnSpc>
                <a:spcPct val="115000"/>
              </a:lnSpc>
              <a:spcBef>
                <a:spcPts val="0"/>
              </a:spcBef>
              <a:buClr>
                <a:schemeClr val="dk1"/>
              </a:buClr>
              <a:buSzPct val="100000"/>
              <a:buChar char="●"/>
            </a:pPr>
            <a:r>
              <a:rPr lang="en" sz="1100">
                <a:solidFill>
                  <a:schemeClr val="dk1"/>
                </a:solidFill>
              </a:rPr>
              <a:t>Initial implementation of  LISP control message objects (POSTECH)</a:t>
            </a:r>
          </a:p>
          <a:p>
            <a:pPr indent="-298450" lvl="0" marL="457200" rtl="0">
              <a:lnSpc>
                <a:spcPct val="115000"/>
              </a:lnSpc>
              <a:spcBef>
                <a:spcPts val="0"/>
              </a:spcBef>
              <a:buClr>
                <a:schemeClr val="dk1"/>
              </a:buClr>
              <a:buSzPct val="100000"/>
              <a:buChar char="●"/>
            </a:pPr>
            <a:r>
              <a:rPr lang="en" sz="1100">
                <a:solidFill>
                  <a:schemeClr val="dk1"/>
                </a:solidFill>
              </a:rPr>
              <a:t>OSPF refactoring to align with ISIS design, ISIS updates (Cognizant)</a:t>
            </a:r>
          </a:p>
          <a:p>
            <a:pPr indent="-298450" lvl="0" marL="457200" rtl="0">
              <a:lnSpc>
                <a:spcPct val="115000"/>
              </a:lnSpc>
              <a:spcBef>
                <a:spcPts val="0"/>
              </a:spcBef>
              <a:buClr>
                <a:schemeClr val="dk1"/>
              </a:buClr>
              <a:buSzPct val="100000"/>
              <a:buChar char="●"/>
            </a:pPr>
            <a:r>
              <a:rPr lang="en" sz="1100">
                <a:solidFill>
                  <a:schemeClr val="dk1"/>
                </a:solidFill>
              </a:rPr>
              <a:t>Major refactoring of the BMv2 protocol module (P4 support) (ON.Lab)</a:t>
            </a:r>
          </a:p>
          <a:p>
            <a:pPr indent="-298450" lvl="0" marL="457200" rtl="0">
              <a:lnSpc>
                <a:spcPct val="115000"/>
              </a:lnSpc>
              <a:spcBef>
                <a:spcPts val="0"/>
              </a:spcBef>
              <a:buClr>
                <a:schemeClr val="dk1"/>
              </a:buClr>
              <a:buSzPct val="100000"/>
              <a:buChar char="●"/>
            </a:pPr>
            <a:r>
              <a:rPr lang="en" sz="1100">
                <a:solidFill>
                  <a:schemeClr val="dk1"/>
                </a:solidFill>
              </a:rPr>
              <a:t>Add support for vlan based intents in the Corsa driver (ON.Lab)</a:t>
            </a:r>
          </a:p>
          <a:p>
            <a:pPr indent="-298450" lvl="0" marL="457200" rtl="0">
              <a:lnSpc>
                <a:spcPct val="115000"/>
              </a:lnSpc>
              <a:spcBef>
                <a:spcPts val="0"/>
              </a:spcBef>
              <a:buClr>
                <a:schemeClr val="dk1"/>
              </a:buClr>
              <a:buSzPct val="100000"/>
              <a:buChar char="●"/>
            </a:pPr>
            <a:r>
              <a:rPr lang="en" sz="1100">
                <a:solidFill>
                  <a:schemeClr val="dk1"/>
                </a:solidFill>
              </a:rPr>
              <a:t>Building alarms from NETCONF notifications (ON.Lab)</a:t>
            </a:r>
          </a:p>
          <a:p>
            <a:pPr indent="-298450" lvl="0" marL="457200" rtl="0">
              <a:lnSpc>
                <a:spcPct val="115000"/>
              </a:lnSpc>
              <a:spcBef>
                <a:spcPts val="0"/>
              </a:spcBef>
              <a:buClr>
                <a:schemeClr val="dk1"/>
              </a:buClr>
              <a:buSzPct val="100000"/>
              <a:buChar char="●"/>
            </a:pPr>
            <a:r>
              <a:rPr lang="en" sz="1100">
                <a:solidFill>
                  <a:srgbClr val="222222"/>
                </a:solidFill>
                <a:highlight>
                  <a:srgbClr val="FFFFFF"/>
                </a:highlight>
              </a:rPr>
              <a:t>RestConf Client Implementation (Huawei)</a:t>
            </a:r>
          </a:p>
          <a:p>
            <a:pPr lvl="0" rtl="0">
              <a:spcBef>
                <a:spcPts val="0"/>
              </a:spcBef>
              <a:buNone/>
            </a:pPr>
            <a:r>
              <a:t/>
            </a:r>
            <a:endParaRPr sz="20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04" name="Shape 1104"/>
        <p:cNvGrpSpPr/>
        <p:nvPr/>
      </p:nvGrpSpPr>
      <p:grpSpPr>
        <a:xfrm>
          <a:off x="0" y="0"/>
          <a:ext cx="0" cy="0"/>
          <a:chOff x="0" y="0"/>
          <a:chExt cx="0" cy="0"/>
        </a:xfrm>
      </p:grpSpPr>
      <p:sp>
        <p:nvSpPr>
          <p:cNvPr id="1105" name="Shape 1105"/>
          <p:cNvSpPr txBox="1"/>
          <p:nvPr>
            <p:ph type="ctrTitle"/>
          </p:nvPr>
        </p:nvSpPr>
        <p:spPr>
          <a:xfrm>
            <a:off x="311734" y="68990"/>
            <a:ext cx="8520539" cy="422998"/>
          </a:xfrm>
          <a:prstGeom prst="rect">
            <a:avLst/>
          </a:prstGeom>
          <a:noFill/>
          <a:ln>
            <a:noFill/>
          </a:ln>
        </p:spPr>
        <p:txBody>
          <a:bodyPr anchorCtr="0" anchor="ctr" bIns="34275" lIns="34275" rIns="34275" tIns="34275">
            <a:noAutofit/>
          </a:bodyPr>
          <a:lstStyle/>
          <a:p>
            <a:pPr indent="0" lvl="0" marL="0" marR="0" rtl="0" algn="l">
              <a:lnSpc>
                <a:spcPct val="100000"/>
              </a:lnSpc>
              <a:spcBef>
                <a:spcPts val="0"/>
              </a:spcBef>
              <a:spcAft>
                <a:spcPts val="0"/>
              </a:spcAft>
              <a:buClr>
                <a:srgbClr val="FFFFFF"/>
              </a:buClr>
              <a:buSzPct val="25000"/>
              <a:buFont typeface="Droid Sans"/>
              <a:buNone/>
            </a:pPr>
            <a:r>
              <a:rPr b="1" i="0" lang="en" sz="2800" u="none" cap="none" strike="noStrike">
                <a:solidFill>
                  <a:srgbClr val="FFFFFF"/>
                </a:solidFill>
                <a:latin typeface="Droid Sans"/>
                <a:ea typeface="Droid Sans"/>
                <a:cs typeface="Droid Sans"/>
                <a:sym typeface="Droid Sans"/>
              </a:rPr>
              <a:t>ADARA’s contribution to Hummingbird Release</a:t>
            </a:r>
          </a:p>
        </p:txBody>
      </p:sp>
      <p:sp>
        <p:nvSpPr>
          <p:cNvPr id="1106" name="Shape 1106"/>
          <p:cNvSpPr txBox="1"/>
          <p:nvPr>
            <p:ph idx="2" type="ctrTitle"/>
          </p:nvPr>
        </p:nvSpPr>
        <p:spPr>
          <a:xfrm>
            <a:off x="311734" y="754789"/>
            <a:ext cx="8520539" cy="4945793"/>
          </a:xfrm>
          <a:prstGeom prst="rect">
            <a:avLst/>
          </a:prstGeom>
          <a:noFill/>
          <a:ln>
            <a:noFill/>
          </a:ln>
        </p:spPr>
        <p:txBody>
          <a:bodyPr anchorCtr="0" anchor="t" bIns="34275" lIns="34275" rIns="34275" tIns="34275">
            <a:noAutofit/>
          </a:bodyPr>
          <a:lstStyle/>
          <a:p>
            <a:pPr indent="0" lvl="0" marL="0" marR="0" rtl="0" algn="l">
              <a:lnSpc>
                <a:spcPct val="100000"/>
              </a:lnSpc>
              <a:spcBef>
                <a:spcPts val="0"/>
              </a:spcBef>
              <a:spcAft>
                <a:spcPts val="0"/>
              </a:spcAft>
              <a:buClr>
                <a:srgbClr val="000000"/>
              </a:buClr>
              <a:buSzPct val="25000"/>
              <a:buFont typeface="Droid Sans"/>
              <a:buNone/>
            </a:pPr>
            <a:r>
              <a:rPr b="0" i="0" lang="en" sz="1400" u="none" cap="none" strike="noStrike">
                <a:solidFill>
                  <a:srgbClr val="000000"/>
                </a:solidFill>
                <a:latin typeface="Droid Sans"/>
                <a:ea typeface="Droid Sans"/>
                <a:cs typeface="Droid Sans"/>
                <a:sym typeface="Droid Sans"/>
              </a:rPr>
              <a:t>The ONOS and Service Provider Developer Community need to be able to develop and deploy non-JAVA Networking Applications --</a:t>
            </a:r>
            <a:br>
              <a:rPr b="0" i="0" lang="en" sz="1400" u="none" cap="none" strike="noStrike">
                <a:solidFill>
                  <a:srgbClr val="000000"/>
                </a:solidFill>
                <a:latin typeface="Droid Sans"/>
                <a:ea typeface="Droid Sans"/>
                <a:cs typeface="Droid Sans"/>
                <a:sym typeface="Droid Sans"/>
              </a:rPr>
            </a:br>
            <a:r>
              <a:rPr b="0" i="0" lang="en" sz="1400" u="none" cap="none" strike="noStrike">
                <a:solidFill>
                  <a:srgbClr val="000000"/>
                </a:solidFill>
                <a:latin typeface="Droid Sans"/>
                <a:ea typeface="Droid Sans"/>
                <a:cs typeface="Droid Sans"/>
                <a:sym typeface="Droid Sans"/>
              </a:rPr>
              <a:t> </a:t>
            </a:r>
            <a:br>
              <a:rPr b="0" i="0" lang="en" sz="1400" u="none" cap="none" strike="noStrike">
                <a:solidFill>
                  <a:srgbClr val="000000"/>
                </a:solidFill>
                <a:latin typeface="Droid Sans"/>
                <a:ea typeface="Droid Sans"/>
                <a:cs typeface="Droid Sans"/>
                <a:sym typeface="Droid Sans"/>
              </a:rPr>
            </a:br>
            <a:r>
              <a:rPr b="0" i="0" lang="en" sz="1400" u="none" cap="none" strike="noStrike">
                <a:solidFill>
                  <a:srgbClr val="000000"/>
                </a:solidFill>
                <a:latin typeface="Droid Sans"/>
                <a:ea typeface="Droid Sans"/>
                <a:cs typeface="Droid Sans"/>
                <a:sym typeface="Droid Sans"/>
              </a:rPr>
              <a:t> - Development in a multitude of languages enables innovative, higher-performing and more flexible networking applications to be created with greater speed to market</a:t>
            </a:r>
            <a:br>
              <a:rPr b="0" i="0" lang="en" sz="1400" u="none" cap="none" strike="noStrike">
                <a:solidFill>
                  <a:srgbClr val="000000"/>
                </a:solidFill>
                <a:latin typeface="Droid Sans"/>
                <a:ea typeface="Droid Sans"/>
                <a:cs typeface="Droid Sans"/>
                <a:sym typeface="Droid Sans"/>
              </a:rPr>
            </a:br>
            <a:r>
              <a:rPr b="0" i="0" lang="en" sz="1400" u="none" cap="none" strike="noStrike">
                <a:solidFill>
                  <a:srgbClr val="000000"/>
                </a:solidFill>
                <a:latin typeface="Droid Sans"/>
                <a:ea typeface="Droid Sans"/>
                <a:cs typeface="Droid Sans"/>
                <a:sym typeface="Droid Sans"/>
              </a:rPr>
              <a:t> - Support of legacy applications with fewer changes would become possible</a:t>
            </a:r>
            <a:br>
              <a:rPr b="0" i="0" lang="en" sz="1400" u="none" cap="none" strike="noStrike">
                <a:solidFill>
                  <a:srgbClr val="000000"/>
                </a:solidFill>
                <a:latin typeface="Droid Sans"/>
                <a:ea typeface="Droid Sans"/>
                <a:cs typeface="Droid Sans"/>
                <a:sym typeface="Droid Sans"/>
              </a:rPr>
            </a:br>
            <a:r>
              <a:rPr b="0" i="0" lang="en" sz="1400" u="none" cap="none" strike="noStrike">
                <a:solidFill>
                  <a:srgbClr val="000000"/>
                </a:solidFill>
                <a:latin typeface="Droid Sans"/>
                <a:ea typeface="Droid Sans"/>
                <a:cs typeface="Droid Sans"/>
                <a:sym typeface="Droid Sans"/>
              </a:rPr>
              <a:t> </a:t>
            </a:r>
            <a:br>
              <a:rPr b="0" i="0" lang="en" sz="1400" u="none" cap="none" strike="noStrike">
                <a:solidFill>
                  <a:srgbClr val="000000"/>
                </a:solidFill>
                <a:latin typeface="Droid Sans"/>
                <a:ea typeface="Droid Sans"/>
                <a:cs typeface="Droid Sans"/>
                <a:sym typeface="Droid Sans"/>
              </a:rPr>
            </a:br>
            <a:r>
              <a:rPr b="0" i="0" lang="en" sz="1400" u="none" cap="none" strike="noStrike">
                <a:solidFill>
                  <a:srgbClr val="000000"/>
                </a:solidFill>
                <a:latin typeface="Droid Sans"/>
                <a:ea typeface="Droid Sans"/>
                <a:cs typeface="Droid Sans"/>
                <a:sym typeface="Droid Sans"/>
              </a:rPr>
              <a:t>ADARA’s contribution for the Hummingbird Software release was developed to give ONOS the ability to support external applications through the Rabbit MQ Framework, rounding out the Software with new and different ways for networking applications to interact with the Northbound protocol through message busses</a:t>
            </a:r>
            <a:br>
              <a:rPr b="0" i="0" lang="en" sz="1400" u="none" cap="none" strike="noStrike">
                <a:solidFill>
                  <a:srgbClr val="000000"/>
                </a:solidFill>
                <a:latin typeface="Droid Sans"/>
                <a:ea typeface="Droid Sans"/>
                <a:cs typeface="Droid Sans"/>
                <a:sym typeface="Droid Sans"/>
              </a:rPr>
            </a:br>
            <a:br>
              <a:rPr b="0" i="0" lang="en" sz="1400" u="none" cap="none" strike="noStrike">
                <a:solidFill>
                  <a:srgbClr val="000000"/>
                </a:solidFill>
                <a:latin typeface="Droid Sans"/>
                <a:ea typeface="Droid Sans"/>
                <a:cs typeface="Droid Sans"/>
                <a:sym typeface="Droid Sans"/>
              </a:rPr>
            </a:br>
            <a:r>
              <a:rPr b="0" i="0" lang="en" sz="1400" u="none" cap="none" strike="noStrike">
                <a:solidFill>
                  <a:srgbClr val="000000"/>
                </a:solidFill>
                <a:latin typeface="Droid Sans"/>
                <a:ea typeface="Droid Sans"/>
                <a:cs typeface="Droid Sans"/>
                <a:sym typeface="Droid Sans"/>
              </a:rPr>
              <a:t>The ADARA contribution extends ONOS’ ability to support Asynchronous notifications of the following events from ONOS to external applications:</a:t>
            </a:r>
            <a:br>
              <a:rPr b="0" i="0" lang="en" sz="1400" u="none" cap="none" strike="noStrike">
                <a:solidFill>
                  <a:srgbClr val="000000"/>
                </a:solidFill>
                <a:latin typeface="Droid Sans"/>
                <a:ea typeface="Droid Sans"/>
                <a:cs typeface="Droid Sans"/>
                <a:sym typeface="Droid Sans"/>
              </a:rPr>
            </a:br>
            <a:r>
              <a:rPr b="0" i="0" lang="en" sz="1400" u="none" cap="none" strike="noStrike">
                <a:solidFill>
                  <a:srgbClr val="000000"/>
                </a:solidFill>
                <a:latin typeface="Droid Sans"/>
                <a:ea typeface="Droid Sans"/>
                <a:cs typeface="Droid Sans"/>
                <a:sym typeface="Droid Sans"/>
              </a:rPr>
              <a:t>	1. Device Event</a:t>
            </a:r>
            <a:br>
              <a:rPr b="0" i="0" lang="en" sz="1400" u="none" cap="none" strike="noStrike">
                <a:solidFill>
                  <a:srgbClr val="000000"/>
                </a:solidFill>
                <a:latin typeface="Droid Sans"/>
                <a:ea typeface="Droid Sans"/>
                <a:cs typeface="Droid Sans"/>
                <a:sym typeface="Droid Sans"/>
              </a:rPr>
            </a:br>
            <a:r>
              <a:rPr b="0" i="0" lang="en" sz="1400" u="none" cap="none" strike="noStrike">
                <a:solidFill>
                  <a:srgbClr val="000000"/>
                </a:solidFill>
                <a:latin typeface="Droid Sans"/>
                <a:ea typeface="Droid Sans"/>
                <a:cs typeface="Droid Sans"/>
                <a:sym typeface="Droid Sans"/>
              </a:rPr>
              <a:t>	2. Link Event</a:t>
            </a:r>
            <a:br>
              <a:rPr b="0" i="0" lang="en" sz="1400" u="none" cap="none" strike="noStrike">
                <a:solidFill>
                  <a:srgbClr val="000000"/>
                </a:solidFill>
                <a:latin typeface="Droid Sans"/>
                <a:ea typeface="Droid Sans"/>
                <a:cs typeface="Droid Sans"/>
                <a:sym typeface="Droid Sans"/>
              </a:rPr>
            </a:br>
            <a:r>
              <a:rPr b="0" i="0" lang="en" sz="1400" u="none" cap="none" strike="noStrike">
                <a:solidFill>
                  <a:srgbClr val="000000"/>
                </a:solidFill>
                <a:latin typeface="Droid Sans"/>
                <a:ea typeface="Droid Sans"/>
                <a:cs typeface="Droid Sans"/>
                <a:sym typeface="Droid Sans"/>
              </a:rPr>
              <a:t>	3. Topology Event</a:t>
            </a:r>
            <a:br>
              <a:rPr b="0" i="0" lang="en" sz="1400" u="none" cap="none" strike="noStrike">
                <a:solidFill>
                  <a:srgbClr val="000000"/>
                </a:solidFill>
                <a:latin typeface="Droid Sans"/>
                <a:ea typeface="Droid Sans"/>
                <a:cs typeface="Droid Sans"/>
                <a:sym typeface="Droid Sans"/>
              </a:rPr>
            </a:br>
            <a:r>
              <a:rPr b="0" i="0" lang="en" sz="1400" u="none" cap="none" strike="noStrike">
                <a:solidFill>
                  <a:srgbClr val="000000"/>
                </a:solidFill>
                <a:latin typeface="Droid Sans"/>
                <a:ea typeface="Droid Sans"/>
                <a:cs typeface="Droid Sans"/>
                <a:sym typeface="Droid Sans"/>
              </a:rPr>
              <a:t>	4. Packet Event</a:t>
            </a:r>
            <a:br>
              <a:rPr b="0" i="0" lang="en" sz="1200" u="none" cap="none" strike="noStrike">
                <a:solidFill>
                  <a:srgbClr val="000000"/>
                </a:solidFill>
                <a:latin typeface="Droid Sans"/>
                <a:ea typeface="Droid Sans"/>
                <a:cs typeface="Droid Sans"/>
                <a:sym typeface="Droid Sans"/>
              </a:rPr>
            </a:br>
            <a:r>
              <a:rPr b="0" i="0" lang="en" sz="1200" u="none" cap="none" strike="noStrike">
                <a:solidFill>
                  <a:srgbClr val="000000"/>
                </a:solidFill>
                <a:latin typeface="Droid Sans"/>
                <a:ea typeface="Droid Sans"/>
                <a:cs typeface="Droid Sans"/>
                <a:sym typeface="Droid Sans"/>
              </a:rPr>
              <a:t> </a:t>
            </a:r>
            <a:br>
              <a:rPr b="0" i="0" lang="en" sz="1200" u="none" cap="none" strike="noStrike">
                <a:solidFill>
                  <a:srgbClr val="000000"/>
                </a:solidFill>
                <a:latin typeface="Droid Sans"/>
                <a:ea typeface="Droid Sans"/>
                <a:cs typeface="Droid Sans"/>
                <a:sym typeface="Droid Sans"/>
              </a:rPr>
            </a:b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10" name="Shape 1110"/>
        <p:cNvGrpSpPr/>
        <p:nvPr/>
      </p:nvGrpSpPr>
      <p:grpSpPr>
        <a:xfrm>
          <a:off x="0" y="0"/>
          <a:ext cx="0" cy="0"/>
          <a:chOff x="0" y="0"/>
          <a:chExt cx="0" cy="0"/>
        </a:xfrm>
      </p:grpSpPr>
      <p:sp>
        <p:nvSpPr>
          <p:cNvPr id="1111" name="Shape 1111"/>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Backup</a:t>
            </a: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15" name="Shape 1115"/>
        <p:cNvGrpSpPr/>
        <p:nvPr/>
      </p:nvGrpSpPr>
      <p:grpSpPr>
        <a:xfrm>
          <a:off x="0" y="0"/>
          <a:ext cx="0" cy="0"/>
          <a:chOff x="0" y="0"/>
          <a:chExt cx="0" cy="0"/>
        </a:xfrm>
      </p:grpSpPr>
      <p:cxnSp>
        <p:nvCxnSpPr>
          <p:cNvPr id="1116" name="Shape 1116"/>
          <p:cNvCxnSpPr/>
          <p:nvPr/>
        </p:nvCxnSpPr>
        <p:spPr>
          <a:xfrm flipH="1" rot="10800000">
            <a:off x="3049950" y="4097053"/>
            <a:ext cx="1164000" cy="6000"/>
          </a:xfrm>
          <a:prstGeom prst="straightConnector1">
            <a:avLst/>
          </a:prstGeom>
          <a:noFill/>
          <a:ln cap="flat" cmpd="sng" w="19050">
            <a:solidFill>
              <a:schemeClr val="dk2"/>
            </a:solidFill>
            <a:prstDash val="solid"/>
            <a:round/>
            <a:headEnd len="med" w="med" type="none"/>
            <a:tailEnd len="med" w="med" type="none"/>
          </a:ln>
        </p:spPr>
      </p:cxnSp>
      <p:cxnSp>
        <p:nvCxnSpPr>
          <p:cNvPr id="1117" name="Shape 1117"/>
          <p:cNvCxnSpPr/>
          <p:nvPr/>
        </p:nvCxnSpPr>
        <p:spPr>
          <a:xfrm>
            <a:off x="4349050" y="4091276"/>
            <a:ext cx="1164000" cy="240900"/>
          </a:xfrm>
          <a:prstGeom prst="straightConnector1">
            <a:avLst/>
          </a:prstGeom>
          <a:noFill/>
          <a:ln cap="flat" cmpd="sng" w="19050">
            <a:solidFill>
              <a:schemeClr val="dk2"/>
            </a:solidFill>
            <a:prstDash val="solid"/>
            <a:round/>
            <a:headEnd len="med" w="med" type="none"/>
            <a:tailEnd len="med" w="med" type="none"/>
          </a:ln>
        </p:spPr>
      </p:cxnSp>
      <p:cxnSp>
        <p:nvCxnSpPr>
          <p:cNvPr id="1118" name="Shape 1118"/>
          <p:cNvCxnSpPr/>
          <p:nvPr/>
        </p:nvCxnSpPr>
        <p:spPr>
          <a:xfrm flipH="1" rot="10800000">
            <a:off x="3091116" y="4102928"/>
            <a:ext cx="1246199" cy="599700"/>
          </a:xfrm>
          <a:prstGeom prst="straightConnector1">
            <a:avLst/>
          </a:prstGeom>
          <a:noFill/>
          <a:ln cap="flat" cmpd="sng" w="19050">
            <a:solidFill>
              <a:schemeClr val="dk2"/>
            </a:solidFill>
            <a:prstDash val="solid"/>
            <a:round/>
            <a:headEnd len="med" w="med" type="none"/>
            <a:tailEnd len="med" w="med" type="none"/>
          </a:ln>
        </p:spPr>
      </p:cxnSp>
      <p:cxnSp>
        <p:nvCxnSpPr>
          <p:cNvPr id="1119" name="Shape 1119"/>
          <p:cNvCxnSpPr/>
          <p:nvPr/>
        </p:nvCxnSpPr>
        <p:spPr>
          <a:xfrm rot="10800000">
            <a:off x="4038598" y="3703327"/>
            <a:ext cx="264600" cy="434999"/>
          </a:xfrm>
          <a:prstGeom prst="straightConnector1">
            <a:avLst/>
          </a:prstGeom>
          <a:noFill/>
          <a:ln cap="flat" cmpd="sng" w="19050">
            <a:solidFill>
              <a:srgbClr val="E06666"/>
            </a:solidFill>
            <a:prstDash val="dash"/>
            <a:round/>
            <a:headEnd len="med" w="med" type="none"/>
            <a:tailEnd len="med" w="med" type="none"/>
          </a:ln>
        </p:spPr>
      </p:cxnSp>
      <p:cxnSp>
        <p:nvCxnSpPr>
          <p:cNvPr id="1120" name="Shape 1120"/>
          <p:cNvCxnSpPr/>
          <p:nvPr/>
        </p:nvCxnSpPr>
        <p:spPr>
          <a:xfrm flipH="1" rot="10800000">
            <a:off x="2926925" y="3691552"/>
            <a:ext cx="411599" cy="434999"/>
          </a:xfrm>
          <a:prstGeom prst="straightConnector1">
            <a:avLst/>
          </a:prstGeom>
          <a:noFill/>
          <a:ln cap="flat" cmpd="sng" w="19050">
            <a:solidFill>
              <a:srgbClr val="E06666"/>
            </a:solidFill>
            <a:prstDash val="dash"/>
            <a:round/>
            <a:headEnd len="med" w="med" type="none"/>
            <a:tailEnd len="med" w="med" type="none"/>
          </a:ln>
        </p:spPr>
      </p:cxnSp>
      <p:cxnSp>
        <p:nvCxnSpPr>
          <p:cNvPr id="1121" name="Shape 1121"/>
          <p:cNvCxnSpPr/>
          <p:nvPr/>
        </p:nvCxnSpPr>
        <p:spPr>
          <a:xfrm rot="10800000">
            <a:off x="3649563" y="3732798"/>
            <a:ext cx="623099" cy="952200"/>
          </a:xfrm>
          <a:prstGeom prst="straightConnector1">
            <a:avLst/>
          </a:prstGeom>
          <a:noFill/>
          <a:ln cap="flat" cmpd="sng" w="19050">
            <a:solidFill>
              <a:srgbClr val="E06666"/>
            </a:solidFill>
            <a:prstDash val="dash"/>
            <a:round/>
            <a:headEnd len="med" w="med" type="none"/>
            <a:tailEnd len="med" w="med" type="none"/>
          </a:ln>
        </p:spPr>
      </p:cxnSp>
      <p:cxnSp>
        <p:nvCxnSpPr>
          <p:cNvPr id="1122" name="Shape 1122"/>
          <p:cNvCxnSpPr/>
          <p:nvPr/>
        </p:nvCxnSpPr>
        <p:spPr>
          <a:xfrm flipH="1" rot="10800000">
            <a:off x="5354250" y="3697326"/>
            <a:ext cx="229199" cy="599700"/>
          </a:xfrm>
          <a:prstGeom prst="straightConnector1">
            <a:avLst/>
          </a:prstGeom>
          <a:noFill/>
          <a:ln cap="flat" cmpd="sng" w="19050">
            <a:solidFill>
              <a:srgbClr val="E06666"/>
            </a:solidFill>
            <a:prstDash val="dash"/>
            <a:round/>
            <a:headEnd len="med" w="med" type="none"/>
            <a:tailEnd len="med" w="med" type="none"/>
          </a:ln>
        </p:spPr>
      </p:cxnSp>
      <p:cxnSp>
        <p:nvCxnSpPr>
          <p:cNvPr id="1123" name="Shape 1123"/>
          <p:cNvCxnSpPr/>
          <p:nvPr/>
        </p:nvCxnSpPr>
        <p:spPr>
          <a:xfrm rot="10800000">
            <a:off x="5908629" y="3732713"/>
            <a:ext cx="527098" cy="940498"/>
          </a:xfrm>
          <a:prstGeom prst="straightConnector1">
            <a:avLst/>
          </a:prstGeom>
          <a:noFill/>
          <a:ln cap="flat" cmpd="sng" w="19050">
            <a:solidFill>
              <a:srgbClr val="E06666"/>
            </a:solidFill>
            <a:prstDash val="dash"/>
            <a:round/>
            <a:headEnd len="med" w="med" type="none"/>
            <a:tailEnd len="med" w="med" type="none"/>
          </a:ln>
        </p:spPr>
      </p:cxnSp>
      <p:pic>
        <p:nvPicPr>
          <p:cNvPr id="1124" name="Shape 1124"/>
          <p:cNvPicPr preferRelativeResize="0"/>
          <p:nvPr/>
        </p:nvPicPr>
        <p:blipFill rotWithShape="1">
          <a:blip r:embed="rId3">
            <a:alphaModFix/>
          </a:blip>
          <a:srcRect b="0" l="0" r="0" t="0"/>
          <a:stretch/>
        </p:blipFill>
        <p:spPr>
          <a:xfrm>
            <a:off x="4031126" y="3898001"/>
            <a:ext cx="769472" cy="482199"/>
          </a:xfrm>
          <a:prstGeom prst="rect">
            <a:avLst/>
          </a:prstGeom>
          <a:noFill/>
          <a:ln>
            <a:noFill/>
          </a:ln>
        </p:spPr>
      </p:pic>
      <p:sp>
        <p:nvSpPr>
          <p:cNvPr id="1125" name="Shape 1125"/>
          <p:cNvSpPr/>
          <p:nvPr/>
        </p:nvSpPr>
        <p:spPr>
          <a:xfrm>
            <a:off x="4959725" y="1069013"/>
            <a:ext cx="1751100" cy="2736899"/>
          </a:xfrm>
          <a:prstGeom prst="rect">
            <a:avLst/>
          </a:prstGeom>
          <a:solidFill>
            <a:srgbClr val="EFEFEF"/>
          </a:solidFill>
          <a:ln cap="flat" cmpd="sng" w="19050">
            <a:solidFill>
              <a:srgbClr val="666666"/>
            </a:solidFill>
            <a:prstDash val="solid"/>
            <a:round/>
            <a:headEnd len="med" w="med" type="none"/>
            <a:tailEnd len="med" w="med" type="none"/>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126" name="Shape 1126"/>
          <p:cNvSpPr/>
          <p:nvPr/>
        </p:nvSpPr>
        <p:spPr>
          <a:xfrm>
            <a:off x="2978525" y="1069013"/>
            <a:ext cx="1751100" cy="2736899"/>
          </a:xfrm>
          <a:prstGeom prst="rect">
            <a:avLst/>
          </a:prstGeom>
          <a:solidFill>
            <a:srgbClr val="EFEFEF"/>
          </a:solidFill>
          <a:ln cap="flat" cmpd="sng" w="19050">
            <a:solidFill>
              <a:srgbClr val="666666"/>
            </a:solidFill>
            <a:prstDash val="solid"/>
            <a:round/>
            <a:headEnd len="med" w="med" type="none"/>
            <a:tailEnd len="med" w="med" type="none"/>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1" i="0" sz="1400" u="none" cap="none" strike="noStrike">
              <a:solidFill>
                <a:srgbClr val="000000"/>
              </a:solidFill>
              <a:latin typeface="Arial"/>
              <a:ea typeface="Arial"/>
              <a:cs typeface="Arial"/>
              <a:sym typeface="Arial"/>
            </a:endParaRPr>
          </a:p>
        </p:txBody>
      </p:sp>
      <p:sp>
        <p:nvSpPr>
          <p:cNvPr id="1127" name="Shape 1127"/>
          <p:cNvSpPr txBox="1"/>
          <p:nvPr>
            <p:ph type="title"/>
          </p:nvPr>
        </p:nvSpPr>
        <p:spPr>
          <a:xfrm>
            <a:off x="116073" y="83079"/>
            <a:ext cx="8903323" cy="857400"/>
          </a:xfrm>
          <a:prstGeom prst="rect">
            <a:avLst/>
          </a:prstGeom>
          <a:no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85200C"/>
              </a:buClr>
              <a:buSzPct val="25000"/>
              <a:buFont typeface="Calibri"/>
              <a:buNone/>
            </a:pPr>
            <a:r>
              <a:rPr b="1" i="0" lang="en" sz="3600" u="none" cap="none" strike="noStrike">
                <a:solidFill>
                  <a:srgbClr val="C0504D"/>
                </a:solidFill>
                <a:latin typeface="Calibri"/>
                <a:ea typeface="Calibri"/>
                <a:cs typeface="Calibri"/>
                <a:sym typeface="Calibri"/>
              </a:rPr>
              <a:t>Scale-Out Design w/ Multiple ONOS Instances</a:t>
            </a:r>
          </a:p>
        </p:txBody>
      </p:sp>
      <p:cxnSp>
        <p:nvCxnSpPr>
          <p:cNvPr id="1128" name="Shape 1128"/>
          <p:cNvCxnSpPr/>
          <p:nvPr/>
        </p:nvCxnSpPr>
        <p:spPr>
          <a:xfrm flipH="1" rot="10800000">
            <a:off x="6876725" y="3673927"/>
            <a:ext cx="599700" cy="405598"/>
          </a:xfrm>
          <a:prstGeom prst="straightConnector1">
            <a:avLst/>
          </a:prstGeom>
          <a:noFill/>
          <a:ln cap="flat" cmpd="sng" w="19050">
            <a:solidFill>
              <a:srgbClr val="E06666"/>
            </a:solidFill>
            <a:prstDash val="dash"/>
            <a:round/>
            <a:headEnd len="med" w="med" type="none"/>
            <a:tailEnd len="med" w="med" type="none"/>
          </a:ln>
        </p:spPr>
      </p:cxnSp>
      <p:cxnSp>
        <p:nvCxnSpPr>
          <p:cNvPr id="1129" name="Shape 1129"/>
          <p:cNvCxnSpPr/>
          <p:nvPr/>
        </p:nvCxnSpPr>
        <p:spPr>
          <a:xfrm rot="10800000">
            <a:off x="7664449" y="3626963"/>
            <a:ext cx="317400" cy="852299"/>
          </a:xfrm>
          <a:prstGeom prst="straightConnector1">
            <a:avLst/>
          </a:prstGeom>
          <a:noFill/>
          <a:ln cap="flat" cmpd="sng" w="19050">
            <a:solidFill>
              <a:srgbClr val="E06666"/>
            </a:solidFill>
            <a:prstDash val="dash"/>
            <a:round/>
            <a:headEnd len="med" w="med" type="none"/>
            <a:tailEnd len="med" w="med" type="none"/>
          </a:ln>
        </p:spPr>
      </p:cxnSp>
      <p:sp>
        <p:nvSpPr>
          <p:cNvPr id="1130" name="Shape 1130"/>
          <p:cNvSpPr/>
          <p:nvPr/>
        </p:nvSpPr>
        <p:spPr>
          <a:xfrm>
            <a:off x="6940925" y="1069013"/>
            <a:ext cx="1751100" cy="2736899"/>
          </a:xfrm>
          <a:prstGeom prst="rect">
            <a:avLst/>
          </a:prstGeom>
          <a:solidFill>
            <a:srgbClr val="EFEFEF"/>
          </a:solidFill>
          <a:ln cap="flat" cmpd="sng" w="19050">
            <a:solidFill>
              <a:srgbClr val="666666"/>
            </a:solidFill>
            <a:prstDash val="solid"/>
            <a:round/>
            <a:headEnd len="med" w="med" type="none"/>
            <a:tailEnd len="med" w="med" type="none"/>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131" name="Shape 1131"/>
          <p:cNvSpPr/>
          <p:nvPr/>
        </p:nvSpPr>
        <p:spPr>
          <a:xfrm>
            <a:off x="3070400" y="1930800"/>
            <a:ext cx="5498700" cy="1028700"/>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132" name="Shape 1132"/>
          <p:cNvSpPr/>
          <p:nvPr/>
        </p:nvSpPr>
        <p:spPr>
          <a:xfrm>
            <a:off x="3044225" y="1909650"/>
            <a:ext cx="5498700" cy="1255109"/>
          </a:xfrm>
          <a:prstGeom prst="rect">
            <a:avLst/>
          </a:prstGeom>
          <a:solidFill>
            <a:srgbClr val="434343"/>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EFEFEF"/>
              </a:buClr>
              <a:buSzPct val="25000"/>
              <a:buFont typeface="Arial"/>
              <a:buNone/>
            </a:pPr>
            <a:r>
              <a:rPr b="0" i="0" lang="en" sz="1400" u="none" cap="none" strike="noStrike">
                <a:solidFill>
                  <a:srgbClr val="EFEFEF"/>
                </a:solidFill>
                <a:latin typeface="Arial"/>
                <a:ea typeface="Arial"/>
                <a:cs typeface="Arial"/>
                <a:sym typeface="Arial"/>
              </a:rPr>
              <a:t>   </a:t>
            </a:r>
            <a:r>
              <a:rPr b="0" i="0" lang="en" sz="1800" u="none" cap="none" strike="noStrike">
                <a:solidFill>
                  <a:srgbClr val="EFEFEF"/>
                </a:solidFill>
                <a:latin typeface="Arial"/>
                <a:ea typeface="Arial"/>
                <a:cs typeface="Arial"/>
                <a:sym typeface="Arial"/>
              </a:rPr>
              <a:t>ONOS</a:t>
            </a:r>
          </a:p>
        </p:txBody>
      </p:sp>
      <p:sp>
        <p:nvSpPr>
          <p:cNvPr id="1133" name="Shape 1133"/>
          <p:cNvSpPr/>
          <p:nvPr/>
        </p:nvSpPr>
        <p:spPr>
          <a:xfrm>
            <a:off x="3079950" y="1329201"/>
            <a:ext cx="5498700" cy="289500"/>
          </a:xfrm>
          <a:prstGeom prst="rect">
            <a:avLst/>
          </a:prstGeom>
          <a:solidFill>
            <a:srgbClr val="999999"/>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Apps</a:t>
            </a:r>
          </a:p>
        </p:txBody>
      </p:sp>
      <p:sp>
        <p:nvSpPr>
          <p:cNvPr id="1134" name="Shape 1134"/>
          <p:cNvSpPr/>
          <p:nvPr/>
        </p:nvSpPr>
        <p:spPr>
          <a:xfrm>
            <a:off x="3058025" y="1179873"/>
            <a:ext cx="5498700" cy="534628"/>
          </a:xfrm>
          <a:prstGeom prst="rect">
            <a:avLst/>
          </a:prstGeom>
          <a:solidFill>
            <a:srgbClr val="1155CC"/>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FFFFFF"/>
              </a:buClr>
              <a:buSzPct val="25000"/>
              <a:buFont typeface="Arial"/>
              <a:buNone/>
            </a:pPr>
            <a:r>
              <a:rPr b="0" i="0" lang="en" sz="1400" u="none" cap="none" strike="noStrike">
                <a:solidFill>
                  <a:srgbClr val="FFFFFF"/>
                </a:solidFill>
                <a:latin typeface="Arial"/>
                <a:ea typeface="Arial"/>
                <a:cs typeface="Arial"/>
                <a:sym typeface="Arial"/>
              </a:rPr>
              <a:t>Apps</a:t>
            </a:r>
          </a:p>
        </p:txBody>
      </p:sp>
      <p:cxnSp>
        <p:nvCxnSpPr>
          <p:cNvPr id="1135" name="Shape 1135"/>
          <p:cNvCxnSpPr/>
          <p:nvPr/>
        </p:nvCxnSpPr>
        <p:spPr>
          <a:xfrm flipH="1" rot="10800000">
            <a:off x="3055866" y="4737963"/>
            <a:ext cx="1298999" cy="11699"/>
          </a:xfrm>
          <a:prstGeom prst="straightConnector1">
            <a:avLst/>
          </a:prstGeom>
          <a:noFill/>
          <a:ln cap="flat" cmpd="sng" w="19050">
            <a:solidFill>
              <a:schemeClr val="dk2"/>
            </a:solidFill>
            <a:prstDash val="solid"/>
            <a:round/>
            <a:headEnd len="med" w="med" type="none"/>
            <a:tailEnd len="med" w="med" type="none"/>
          </a:ln>
        </p:spPr>
      </p:cxnSp>
      <p:cxnSp>
        <p:nvCxnSpPr>
          <p:cNvPr id="1136" name="Shape 1136"/>
          <p:cNvCxnSpPr/>
          <p:nvPr/>
        </p:nvCxnSpPr>
        <p:spPr>
          <a:xfrm rot="10800000">
            <a:off x="6829774" y="4103054"/>
            <a:ext cx="1140300" cy="405598"/>
          </a:xfrm>
          <a:prstGeom prst="straightConnector1">
            <a:avLst/>
          </a:prstGeom>
          <a:noFill/>
          <a:ln cap="flat" cmpd="sng" w="19050">
            <a:solidFill>
              <a:schemeClr val="dk2"/>
            </a:solidFill>
            <a:prstDash val="solid"/>
            <a:round/>
            <a:headEnd len="med" w="med" type="none"/>
            <a:tailEnd len="med" w="med" type="none"/>
          </a:ln>
        </p:spPr>
      </p:cxnSp>
      <p:cxnSp>
        <p:nvCxnSpPr>
          <p:cNvPr id="1137" name="Shape 1137"/>
          <p:cNvCxnSpPr/>
          <p:nvPr/>
        </p:nvCxnSpPr>
        <p:spPr>
          <a:xfrm flipH="1">
            <a:off x="6606274" y="4508655"/>
            <a:ext cx="1363800" cy="217499"/>
          </a:xfrm>
          <a:prstGeom prst="straightConnector1">
            <a:avLst/>
          </a:prstGeom>
          <a:noFill/>
          <a:ln cap="flat" cmpd="sng" w="19050">
            <a:solidFill>
              <a:schemeClr val="dk2"/>
            </a:solidFill>
            <a:prstDash val="solid"/>
            <a:round/>
            <a:headEnd len="med" w="med" type="none"/>
            <a:tailEnd len="med" w="med" type="none"/>
          </a:ln>
        </p:spPr>
      </p:cxnSp>
      <p:cxnSp>
        <p:nvCxnSpPr>
          <p:cNvPr id="1138" name="Shape 1138"/>
          <p:cNvCxnSpPr/>
          <p:nvPr/>
        </p:nvCxnSpPr>
        <p:spPr>
          <a:xfrm flipH="1">
            <a:off x="6547399" y="4097175"/>
            <a:ext cx="311700" cy="629100"/>
          </a:xfrm>
          <a:prstGeom prst="straightConnector1">
            <a:avLst/>
          </a:prstGeom>
          <a:noFill/>
          <a:ln cap="flat" cmpd="sng" w="19050">
            <a:solidFill>
              <a:schemeClr val="dk2"/>
            </a:solidFill>
            <a:prstDash val="solid"/>
            <a:round/>
            <a:headEnd len="med" w="med" type="none"/>
            <a:tailEnd len="med" w="med" type="none"/>
          </a:ln>
        </p:spPr>
      </p:cxnSp>
      <p:cxnSp>
        <p:nvCxnSpPr>
          <p:cNvPr id="1139" name="Shape 1139"/>
          <p:cNvCxnSpPr/>
          <p:nvPr/>
        </p:nvCxnSpPr>
        <p:spPr>
          <a:xfrm rot="10800000">
            <a:off x="5566023" y="4344003"/>
            <a:ext cx="875700" cy="393900"/>
          </a:xfrm>
          <a:prstGeom prst="straightConnector1">
            <a:avLst/>
          </a:prstGeom>
          <a:noFill/>
          <a:ln cap="flat" cmpd="sng" w="19050">
            <a:solidFill>
              <a:schemeClr val="dk2"/>
            </a:solidFill>
            <a:prstDash val="solid"/>
            <a:round/>
            <a:headEnd len="med" w="med" type="none"/>
            <a:tailEnd len="med" w="med" type="none"/>
          </a:ln>
        </p:spPr>
      </p:cxnSp>
      <p:cxnSp>
        <p:nvCxnSpPr>
          <p:cNvPr id="1140" name="Shape 1140"/>
          <p:cNvCxnSpPr/>
          <p:nvPr/>
        </p:nvCxnSpPr>
        <p:spPr>
          <a:xfrm flipH="1" rot="10800000">
            <a:off x="4384325" y="4332298"/>
            <a:ext cx="1087500" cy="376200"/>
          </a:xfrm>
          <a:prstGeom prst="straightConnector1">
            <a:avLst/>
          </a:prstGeom>
          <a:noFill/>
          <a:ln cap="flat" cmpd="sng" w="19050">
            <a:solidFill>
              <a:schemeClr val="dk2"/>
            </a:solidFill>
            <a:prstDash val="solid"/>
            <a:round/>
            <a:headEnd len="med" w="med" type="none"/>
            <a:tailEnd len="med" w="med" type="none"/>
          </a:ln>
        </p:spPr>
      </p:cxnSp>
      <p:cxnSp>
        <p:nvCxnSpPr>
          <p:cNvPr id="1141" name="Shape 1141"/>
          <p:cNvCxnSpPr/>
          <p:nvPr/>
        </p:nvCxnSpPr>
        <p:spPr>
          <a:xfrm flipH="1">
            <a:off x="5489390" y="4097178"/>
            <a:ext cx="1263898" cy="223500"/>
          </a:xfrm>
          <a:prstGeom prst="straightConnector1">
            <a:avLst/>
          </a:prstGeom>
          <a:noFill/>
          <a:ln cap="flat" cmpd="sng" w="19050">
            <a:solidFill>
              <a:schemeClr val="dk2"/>
            </a:solidFill>
            <a:prstDash val="solid"/>
            <a:round/>
            <a:headEnd len="med" w="med" type="none"/>
            <a:tailEnd len="med" w="med" type="none"/>
          </a:ln>
        </p:spPr>
      </p:cxnSp>
      <p:cxnSp>
        <p:nvCxnSpPr>
          <p:cNvPr id="1142" name="Shape 1142"/>
          <p:cNvCxnSpPr/>
          <p:nvPr/>
        </p:nvCxnSpPr>
        <p:spPr>
          <a:xfrm>
            <a:off x="4472516" y="4726153"/>
            <a:ext cx="2010299" cy="17700"/>
          </a:xfrm>
          <a:prstGeom prst="straightConnector1">
            <a:avLst/>
          </a:prstGeom>
          <a:noFill/>
          <a:ln cap="flat" cmpd="sng" w="19050">
            <a:solidFill>
              <a:schemeClr val="dk2"/>
            </a:solidFill>
            <a:prstDash val="solid"/>
            <a:round/>
            <a:headEnd len="med" w="med" type="none"/>
            <a:tailEnd len="med" w="med" type="none"/>
          </a:ln>
        </p:spPr>
      </p:cxnSp>
      <p:pic>
        <p:nvPicPr>
          <p:cNvPr id="1143" name="Shape 1143"/>
          <p:cNvPicPr preferRelativeResize="0"/>
          <p:nvPr/>
        </p:nvPicPr>
        <p:blipFill rotWithShape="1">
          <a:blip r:embed="rId3">
            <a:alphaModFix/>
          </a:blip>
          <a:srcRect b="0" l="0" r="0" t="0"/>
          <a:stretch/>
        </p:blipFill>
        <p:spPr>
          <a:xfrm>
            <a:off x="7619252" y="4279001"/>
            <a:ext cx="769472" cy="482199"/>
          </a:xfrm>
          <a:prstGeom prst="rect">
            <a:avLst/>
          </a:prstGeom>
          <a:noFill/>
          <a:ln>
            <a:noFill/>
          </a:ln>
        </p:spPr>
      </p:pic>
      <p:pic>
        <p:nvPicPr>
          <p:cNvPr id="1144" name="Shape 1144"/>
          <p:cNvPicPr preferRelativeResize="0"/>
          <p:nvPr/>
        </p:nvPicPr>
        <p:blipFill rotWithShape="1">
          <a:blip r:embed="rId3">
            <a:alphaModFix/>
          </a:blip>
          <a:srcRect b="0" l="0" r="0" t="0"/>
          <a:stretch/>
        </p:blipFill>
        <p:spPr>
          <a:xfrm>
            <a:off x="6552451" y="3898001"/>
            <a:ext cx="769472" cy="482199"/>
          </a:xfrm>
          <a:prstGeom prst="rect">
            <a:avLst/>
          </a:prstGeom>
          <a:noFill/>
          <a:ln>
            <a:noFill/>
          </a:ln>
        </p:spPr>
      </p:pic>
      <p:pic>
        <p:nvPicPr>
          <p:cNvPr id="1145" name="Shape 1145"/>
          <p:cNvPicPr preferRelativeResize="0"/>
          <p:nvPr/>
        </p:nvPicPr>
        <p:blipFill rotWithShape="1">
          <a:blip r:embed="rId3">
            <a:alphaModFix/>
          </a:blip>
          <a:srcRect b="0" l="0" r="0" t="0"/>
          <a:stretch/>
        </p:blipFill>
        <p:spPr>
          <a:xfrm>
            <a:off x="6171451" y="4507601"/>
            <a:ext cx="769472" cy="482199"/>
          </a:xfrm>
          <a:prstGeom prst="rect">
            <a:avLst/>
          </a:prstGeom>
          <a:noFill/>
          <a:ln>
            <a:noFill/>
          </a:ln>
        </p:spPr>
      </p:pic>
      <p:pic>
        <p:nvPicPr>
          <p:cNvPr id="1146" name="Shape 1146"/>
          <p:cNvPicPr preferRelativeResize="0"/>
          <p:nvPr/>
        </p:nvPicPr>
        <p:blipFill rotWithShape="1">
          <a:blip r:embed="rId3">
            <a:alphaModFix/>
          </a:blip>
          <a:srcRect b="0" l="0" r="0" t="0"/>
          <a:stretch/>
        </p:blipFill>
        <p:spPr>
          <a:xfrm>
            <a:off x="5180851" y="4126601"/>
            <a:ext cx="769472" cy="482199"/>
          </a:xfrm>
          <a:prstGeom prst="rect">
            <a:avLst/>
          </a:prstGeom>
          <a:noFill/>
          <a:ln>
            <a:noFill/>
          </a:ln>
        </p:spPr>
      </p:pic>
      <p:cxnSp>
        <p:nvCxnSpPr>
          <p:cNvPr id="1147" name="Shape 1147"/>
          <p:cNvCxnSpPr/>
          <p:nvPr/>
        </p:nvCxnSpPr>
        <p:spPr>
          <a:xfrm>
            <a:off x="2991175" y="4132426"/>
            <a:ext cx="1363800" cy="611398"/>
          </a:xfrm>
          <a:prstGeom prst="straightConnector1">
            <a:avLst/>
          </a:prstGeom>
          <a:noFill/>
          <a:ln cap="flat" cmpd="sng" w="19050">
            <a:solidFill>
              <a:schemeClr val="dk2"/>
            </a:solidFill>
            <a:prstDash val="solid"/>
            <a:round/>
            <a:headEnd len="med" w="med" type="none"/>
            <a:tailEnd len="med" w="med" type="none"/>
          </a:ln>
        </p:spPr>
      </p:cxnSp>
      <p:pic>
        <p:nvPicPr>
          <p:cNvPr id="1148" name="Shape 1148"/>
          <p:cNvPicPr preferRelativeResize="0"/>
          <p:nvPr/>
        </p:nvPicPr>
        <p:blipFill rotWithShape="1">
          <a:blip r:embed="rId3">
            <a:alphaModFix/>
          </a:blip>
          <a:srcRect b="0" l="0" r="0" t="0"/>
          <a:stretch/>
        </p:blipFill>
        <p:spPr>
          <a:xfrm>
            <a:off x="2596026" y="3915651"/>
            <a:ext cx="769472" cy="482199"/>
          </a:xfrm>
          <a:prstGeom prst="rect">
            <a:avLst/>
          </a:prstGeom>
          <a:noFill/>
          <a:ln>
            <a:noFill/>
          </a:ln>
        </p:spPr>
      </p:pic>
      <p:pic>
        <p:nvPicPr>
          <p:cNvPr id="1149" name="Shape 1149"/>
          <p:cNvPicPr preferRelativeResize="0"/>
          <p:nvPr/>
        </p:nvPicPr>
        <p:blipFill rotWithShape="1">
          <a:blip r:embed="rId3">
            <a:alphaModFix/>
          </a:blip>
          <a:srcRect b="0" l="0" r="0" t="0"/>
          <a:stretch/>
        </p:blipFill>
        <p:spPr>
          <a:xfrm>
            <a:off x="4037851" y="4507601"/>
            <a:ext cx="769472" cy="482199"/>
          </a:xfrm>
          <a:prstGeom prst="rect">
            <a:avLst/>
          </a:prstGeom>
          <a:noFill/>
          <a:ln>
            <a:noFill/>
          </a:ln>
        </p:spPr>
      </p:pic>
      <p:sp>
        <p:nvSpPr>
          <p:cNvPr id="1150" name="Shape 1150"/>
          <p:cNvSpPr/>
          <p:nvPr/>
        </p:nvSpPr>
        <p:spPr>
          <a:xfrm>
            <a:off x="4131816" y="2276709"/>
            <a:ext cx="4163099" cy="558598"/>
          </a:xfrm>
          <a:prstGeom prst="rect">
            <a:avLst/>
          </a:prstGeom>
          <a:solidFill>
            <a:srgbClr val="999999"/>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800" u="none" cap="none" strike="noStrike">
                <a:solidFill>
                  <a:srgbClr val="EFEFEF"/>
                </a:solidFill>
                <a:latin typeface="Arial"/>
                <a:ea typeface="Arial"/>
                <a:cs typeface="Arial"/>
                <a:sym typeface="Arial"/>
              </a:rPr>
              <a:t>Global Network View / State</a:t>
            </a:r>
          </a:p>
        </p:txBody>
      </p:sp>
      <p:sp>
        <p:nvSpPr>
          <p:cNvPr id="1151" name="Shape 1151"/>
          <p:cNvSpPr/>
          <p:nvPr/>
        </p:nvSpPr>
        <p:spPr>
          <a:xfrm>
            <a:off x="4114800" y="2249332"/>
            <a:ext cx="4162500" cy="562800"/>
          </a:xfrm>
          <a:prstGeom prst="rect">
            <a:avLst/>
          </a:prstGeom>
          <a:solidFill>
            <a:srgbClr val="38761D"/>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800" u="none" cap="none" strike="noStrike">
                <a:solidFill>
                  <a:srgbClr val="EFEFEF"/>
                </a:solidFill>
                <a:latin typeface="Arial"/>
                <a:ea typeface="Arial"/>
                <a:cs typeface="Arial"/>
                <a:sym typeface="Arial"/>
              </a:rPr>
              <a:t>Global Network View / State</a:t>
            </a:r>
          </a:p>
        </p:txBody>
      </p:sp>
      <p:sp>
        <p:nvSpPr>
          <p:cNvPr id="1152" name="Shape 1152"/>
          <p:cNvSpPr txBox="1"/>
          <p:nvPr/>
        </p:nvSpPr>
        <p:spPr>
          <a:xfrm>
            <a:off x="177519" y="1251158"/>
            <a:ext cx="2767967" cy="2358299"/>
          </a:xfrm>
          <a:prstGeom prst="rect">
            <a:avLst/>
          </a:prstGeom>
          <a:noFill/>
          <a:ln>
            <a:noFill/>
          </a:ln>
        </p:spPr>
        <p:txBody>
          <a:bodyPr anchorCtr="0" anchor="t" bIns="91400" lIns="91400" rIns="91400" tIns="91400">
            <a:noAutofit/>
          </a:bodyPr>
          <a:lstStyle/>
          <a:p>
            <a:pPr indent="0" lvl="0" marL="0" marR="0" rtl="0" algn="l">
              <a:lnSpc>
                <a:spcPct val="13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Each instance is identical </a:t>
            </a:r>
          </a:p>
          <a:p>
            <a:pPr indent="0" lvl="0" marL="0" marR="0" rtl="0" algn="l">
              <a:lnSpc>
                <a:spcPct val="130000"/>
              </a:lnSpc>
              <a:spcBef>
                <a:spcPts val="100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One can add and remove instances seamlessly </a:t>
            </a:r>
          </a:p>
          <a:p>
            <a:pPr indent="0" lvl="0" marL="0" marR="0" rtl="0" algn="l">
              <a:lnSpc>
                <a:spcPct val="130000"/>
              </a:lnSpc>
              <a:spcBef>
                <a:spcPts val="100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Each instance is a master for a sub-set of switches </a:t>
            </a:r>
          </a:p>
          <a:p>
            <a:pPr indent="0" lvl="0" marL="0" marR="0" rtl="0" algn="l">
              <a:lnSpc>
                <a:spcPct val="130000"/>
              </a:lnSpc>
              <a:spcBef>
                <a:spcPts val="100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It works like a single system for apps and network devices  </a:t>
            </a:r>
          </a:p>
        </p:txBody>
      </p:sp>
      <p:grpSp>
        <p:nvGrpSpPr>
          <p:cNvPr id="1153" name="Shape 1153"/>
          <p:cNvGrpSpPr/>
          <p:nvPr/>
        </p:nvGrpSpPr>
        <p:grpSpPr>
          <a:xfrm>
            <a:off x="7426616" y="1827351"/>
            <a:ext cx="1158239" cy="410440"/>
            <a:chOff x="5257800" y="3124200"/>
            <a:chExt cx="1158239" cy="547255"/>
          </a:xfrm>
        </p:grpSpPr>
        <p:sp>
          <p:nvSpPr>
            <p:cNvPr id="1154" name="Shape 1154"/>
            <p:cNvSpPr/>
            <p:nvPr/>
          </p:nvSpPr>
          <p:spPr>
            <a:xfrm>
              <a:off x="5257800" y="33528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sp>
          <p:nvSpPr>
            <p:cNvPr id="1155" name="Shape 1155"/>
            <p:cNvSpPr/>
            <p:nvPr/>
          </p:nvSpPr>
          <p:spPr>
            <a:xfrm>
              <a:off x="5562600" y="31242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sp>
          <p:nvSpPr>
            <p:cNvPr id="1156" name="Shape 1156"/>
            <p:cNvSpPr/>
            <p:nvPr/>
          </p:nvSpPr>
          <p:spPr>
            <a:xfrm>
              <a:off x="5943600" y="33528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sp>
          <p:nvSpPr>
            <p:cNvPr id="1157" name="Shape 1157"/>
            <p:cNvSpPr/>
            <p:nvPr/>
          </p:nvSpPr>
          <p:spPr>
            <a:xfrm>
              <a:off x="6248400" y="32004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sp>
          <p:nvSpPr>
            <p:cNvPr id="1158" name="Shape 1158"/>
            <p:cNvSpPr/>
            <p:nvPr/>
          </p:nvSpPr>
          <p:spPr>
            <a:xfrm>
              <a:off x="5638800" y="35052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cxnSp>
          <p:nvCxnSpPr>
            <p:cNvPr id="1159" name="Shape 1159"/>
            <p:cNvCxnSpPr>
              <a:stCxn id="1154" idx="7"/>
              <a:endCxn id="1155" idx="3"/>
            </p:cNvCxnSpPr>
            <p:nvPr/>
          </p:nvCxnSpPr>
          <p:spPr>
            <a:xfrm flipH="1" rot="10800000">
              <a:off x="5400889" y="3265847"/>
              <a:ext cx="186300" cy="1113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1160" name="Shape 1160"/>
            <p:cNvCxnSpPr>
              <a:stCxn id="1158" idx="2"/>
              <a:endCxn id="1154" idx="5"/>
            </p:cNvCxnSpPr>
            <p:nvPr/>
          </p:nvCxnSpPr>
          <p:spPr>
            <a:xfrm rot="10800000">
              <a:off x="5400900" y="3494727"/>
              <a:ext cx="237900" cy="936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1161" name="Shape 1161"/>
            <p:cNvCxnSpPr>
              <a:stCxn id="1156" idx="1"/>
              <a:endCxn id="1155" idx="5"/>
            </p:cNvCxnSpPr>
            <p:nvPr/>
          </p:nvCxnSpPr>
          <p:spPr>
            <a:xfrm rot="10800000">
              <a:off x="5705650" y="3265847"/>
              <a:ext cx="262500" cy="1113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1162" name="Shape 1162"/>
            <p:cNvCxnSpPr>
              <a:stCxn id="1158" idx="6"/>
              <a:endCxn id="1156" idx="3"/>
            </p:cNvCxnSpPr>
            <p:nvPr/>
          </p:nvCxnSpPr>
          <p:spPr>
            <a:xfrm flipH="1" rot="10800000">
              <a:off x="5806439" y="3494727"/>
              <a:ext cx="161700" cy="936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1163" name="Shape 1163"/>
            <p:cNvCxnSpPr>
              <a:stCxn id="1156" idx="6"/>
              <a:endCxn id="1157" idx="3"/>
            </p:cNvCxnSpPr>
            <p:nvPr/>
          </p:nvCxnSpPr>
          <p:spPr>
            <a:xfrm flipH="1" rot="10800000">
              <a:off x="6111239" y="3342327"/>
              <a:ext cx="161700" cy="93600"/>
            </a:xfrm>
            <a:prstGeom prst="straightConnector1">
              <a:avLst/>
            </a:prstGeom>
            <a:solidFill>
              <a:schemeClr val="lt1"/>
            </a:solidFill>
            <a:ln cap="flat" cmpd="sng" w="25400">
              <a:solidFill>
                <a:srgbClr val="FF0000"/>
              </a:solidFill>
              <a:prstDash val="solid"/>
              <a:round/>
              <a:headEnd len="med" w="med" type="none"/>
              <a:tailEnd len="med" w="med" type="none"/>
            </a:ln>
          </p:spPr>
        </p:cxnSp>
      </p:grpSp>
      <p:sp>
        <p:nvSpPr>
          <p:cNvPr id="1164" name="Shape 1164"/>
          <p:cNvSpPr txBox="1"/>
          <p:nvPr/>
        </p:nvSpPr>
        <p:spPr>
          <a:xfrm>
            <a:off x="3070401" y="3332460"/>
            <a:ext cx="1591677" cy="307777"/>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ONOS Instance 1</a:t>
            </a:r>
          </a:p>
        </p:txBody>
      </p:sp>
      <p:sp>
        <p:nvSpPr>
          <p:cNvPr id="1165" name="Shape 1165"/>
          <p:cNvSpPr txBox="1"/>
          <p:nvPr/>
        </p:nvSpPr>
        <p:spPr>
          <a:xfrm>
            <a:off x="5002333" y="3332460"/>
            <a:ext cx="1591677" cy="307777"/>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ONOS Instance 2</a:t>
            </a:r>
          </a:p>
        </p:txBody>
      </p:sp>
      <p:sp>
        <p:nvSpPr>
          <p:cNvPr id="1166" name="Shape 1166"/>
          <p:cNvSpPr txBox="1"/>
          <p:nvPr/>
        </p:nvSpPr>
        <p:spPr>
          <a:xfrm>
            <a:off x="7011779" y="3332460"/>
            <a:ext cx="1591677" cy="307777"/>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ONOS Instance 3</a:t>
            </a:r>
          </a:p>
        </p:txBody>
      </p:sp>
      <p:cxnSp>
        <p:nvCxnSpPr>
          <p:cNvPr id="1167" name="Shape 1167"/>
          <p:cNvCxnSpPr/>
          <p:nvPr/>
        </p:nvCxnSpPr>
        <p:spPr>
          <a:xfrm flipH="1" rot="10800000">
            <a:off x="2903300" y="3808075"/>
            <a:ext cx="487200" cy="975300"/>
          </a:xfrm>
          <a:prstGeom prst="straightConnector1">
            <a:avLst/>
          </a:prstGeom>
          <a:noFill/>
          <a:ln cap="flat" cmpd="sng" w="19050">
            <a:solidFill>
              <a:srgbClr val="E06666"/>
            </a:solidFill>
            <a:prstDash val="dash"/>
            <a:round/>
            <a:headEnd len="med" w="med" type="none"/>
            <a:tailEnd len="med" w="med" type="none"/>
          </a:ln>
        </p:spPr>
      </p:cxnSp>
      <p:pic>
        <p:nvPicPr>
          <p:cNvPr id="1168" name="Shape 1168"/>
          <p:cNvPicPr preferRelativeResize="0"/>
          <p:nvPr/>
        </p:nvPicPr>
        <p:blipFill rotWithShape="1">
          <a:blip r:embed="rId3">
            <a:alphaModFix/>
          </a:blip>
          <a:srcRect b="0" l="0" r="0" t="0"/>
          <a:stretch/>
        </p:blipFill>
        <p:spPr>
          <a:xfrm>
            <a:off x="2666251" y="4507601"/>
            <a:ext cx="769472" cy="482199"/>
          </a:xfrm>
          <a:prstGeom prst="rect">
            <a:avLst/>
          </a:prstGeom>
          <a:noFill/>
          <a:ln>
            <a:noFill/>
          </a:ln>
        </p:spPr>
      </p:pic>
    </p:spTree>
  </p:cSld>
  <p:clrMapOvr>
    <a:masterClrMapping/>
  </p:clrMapOvr>
  <p:transition spd="slow">
    <p:fade/>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72" name="Shape 1172"/>
        <p:cNvGrpSpPr/>
        <p:nvPr/>
      </p:nvGrpSpPr>
      <p:grpSpPr>
        <a:xfrm>
          <a:off x="0" y="0"/>
          <a:ext cx="0" cy="0"/>
          <a:chOff x="0" y="0"/>
          <a:chExt cx="0" cy="0"/>
        </a:xfrm>
      </p:grpSpPr>
      <p:cxnSp>
        <p:nvCxnSpPr>
          <p:cNvPr id="1173" name="Shape 1173"/>
          <p:cNvCxnSpPr/>
          <p:nvPr/>
        </p:nvCxnSpPr>
        <p:spPr>
          <a:xfrm flipH="1" rot="10800000">
            <a:off x="3003135" y="3788311"/>
            <a:ext cx="411599" cy="434999"/>
          </a:xfrm>
          <a:prstGeom prst="straightConnector1">
            <a:avLst/>
          </a:prstGeom>
          <a:noFill/>
          <a:ln cap="flat" cmpd="sng" w="19050">
            <a:solidFill>
              <a:srgbClr val="E06666"/>
            </a:solidFill>
            <a:prstDash val="dash"/>
            <a:round/>
            <a:headEnd len="med" w="med" type="none"/>
            <a:tailEnd len="med" w="med" type="none"/>
          </a:ln>
        </p:spPr>
      </p:cxnSp>
      <p:cxnSp>
        <p:nvCxnSpPr>
          <p:cNvPr id="1174" name="Shape 1174"/>
          <p:cNvCxnSpPr/>
          <p:nvPr/>
        </p:nvCxnSpPr>
        <p:spPr>
          <a:xfrm rot="10800000">
            <a:off x="3966673" y="3800086"/>
            <a:ext cx="264600" cy="434999"/>
          </a:xfrm>
          <a:prstGeom prst="straightConnector1">
            <a:avLst/>
          </a:prstGeom>
          <a:noFill/>
          <a:ln cap="flat" cmpd="sng" w="19050">
            <a:solidFill>
              <a:srgbClr val="E06666"/>
            </a:solidFill>
            <a:prstDash val="dash"/>
            <a:round/>
            <a:headEnd len="med" w="med" type="none"/>
            <a:tailEnd len="med" w="med" type="none"/>
          </a:ln>
        </p:spPr>
      </p:cxnSp>
      <p:cxnSp>
        <p:nvCxnSpPr>
          <p:cNvPr id="1175" name="Shape 1175"/>
          <p:cNvCxnSpPr/>
          <p:nvPr/>
        </p:nvCxnSpPr>
        <p:spPr>
          <a:xfrm rot="10800000">
            <a:off x="3725765" y="3829558"/>
            <a:ext cx="623099" cy="952200"/>
          </a:xfrm>
          <a:prstGeom prst="straightConnector1">
            <a:avLst/>
          </a:prstGeom>
          <a:noFill/>
          <a:ln cap="flat" cmpd="sng" w="19050">
            <a:solidFill>
              <a:srgbClr val="E06666"/>
            </a:solidFill>
            <a:prstDash val="dash"/>
            <a:round/>
            <a:headEnd len="med" w="med" type="none"/>
            <a:tailEnd len="med" w="med" type="none"/>
          </a:ln>
        </p:spPr>
      </p:cxnSp>
      <p:cxnSp>
        <p:nvCxnSpPr>
          <p:cNvPr id="1176" name="Shape 1176"/>
          <p:cNvCxnSpPr/>
          <p:nvPr/>
        </p:nvCxnSpPr>
        <p:spPr>
          <a:xfrm flipH="1" rot="10800000">
            <a:off x="5430460" y="3794085"/>
            <a:ext cx="229199" cy="599700"/>
          </a:xfrm>
          <a:prstGeom prst="straightConnector1">
            <a:avLst/>
          </a:prstGeom>
          <a:noFill/>
          <a:ln cap="flat" cmpd="sng" w="19050">
            <a:solidFill>
              <a:srgbClr val="E06666"/>
            </a:solidFill>
            <a:prstDash val="dash"/>
            <a:round/>
            <a:headEnd len="med" w="med" type="none"/>
            <a:tailEnd len="med" w="med" type="none"/>
          </a:ln>
        </p:spPr>
      </p:cxnSp>
      <p:cxnSp>
        <p:nvCxnSpPr>
          <p:cNvPr id="1177" name="Shape 1177"/>
          <p:cNvCxnSpPr/>
          <p:nvPr/>
        </p:nvCxnSpPr>
        <p:spPr>
          <a:xfrm rot="10800000">
            <a:off x="5984824" y="3829472"/>
            <a:ext cx="527098" cy="940498"/>
          </a:xfrm>
          <a:prstGeom prst="straightConnector1">
            <a:avLst/>
          </a:prstGeom>
          <a:noFill/>
          <a:ln cap="flat" cmpd="sng" w="19050">
            <a:solidFill>
              <a:srgbClr val="E06666"/>
            </a:solidFill>
            <a:prstDash val="dash"/>
            <a:round/>
            <a:headEnd len="med" w="med" type="none"/>
            <a:tailEnd len="med" w="med" type="none"/>
          </a:ln>
        </p:spPr>
      </p:cxnSp>
      <p:cxnSp>
        <p:nvCxnSpPr>
          <p:cNvPr id="1178" name="Shape 1178"/>
          <p:cNvCxnSpPr/>
          <p:nvPr/>
        </p:nvCxnSpPr>
        <p:spPr>
          <a:xfrm flipH="1" rot="10800000">
            <a:off x="6952925" y="3770686"/>
            <a:ext cx="599700" cy="405598"/>
          </a:xfrm>
          <a:prstGeom prst="straightConnector1">
            <a:avLst/>
          </a:prstGeom>
          <a:noFill/>
          <a:ln cap="flat" cmpd="sng" w="19050">
            <a:solidFill>
              <a:srgbClr val="E06666"/>
            </a:solidFill>
            <a:prstDash val="dash"/>
            <a:round/>
            <a:headEnd len="med" w="med" type="none"/>
            <a:tailEnd len="med" w="med" type="none"/>
          </a:ln>
        </p:spPr>
      </p:cxnSp>
      <p:cxnSp>
        <p:nvCxnSpPr>
          <p:cNvPr id="1179" name="Shape 1179"/>
          <p:cNvCxnSpPr/>
          <p:nvPr/>
        </p:nvCxnSpPr>
        <p:spPr>
          <a:xfrm rot="10800000">
            <a:off x="7740649" y="3723722"/>
            <a:ext cx="317400" cy="852299"/>
          </a:xfrm>
          <a:prstGeom prst="straightConnector1">
            <a:avLst/>
          </a:prstGeom>
          <a:noFill/>
          <a:ln cap="flat" cmpd="sng" w="19050">
            <a:solidFill>
              <a:srgbClr val="E06666"/>
            </a:solidFill>
            <a:prstDash val="dash"/>
            <a:round/>
            <a:headEnd len="med" w="med" type="none"/>
            <a:tailEnd len="med" w="med" type="none"/>
          </a:ln>
        </p:spPr>
      </p:cxnSp>
      <p:sp>
        <p:nvSpPr>
          <p:cNvPr id="1180" name="Shape 1180"/>
          <p:cNvSpPr/>
          <p:nvPr/>
        </p:nvSpPr>
        <p:spPr>
          <a:xfrm>
            <a:off x="2555525" y="1165774"/>
            <a:ext cx="6131400" cy="2736899"/>
          </a:xfrm>
          <a:prstGeom prst="rect">
            <a:avLst/>
          </a:prstGeom>
          <a:solidFill>
            <a:srgbClr val="EFEFEF"/>
          </a:solidFill>
          <a:ln cap="flat" cmpd="sng" w="19050">
            <a:solidFill>
              <a:srgbClr val="666666"/>
            </a:solidFill>
            <a:prstDash val="solid"/>
            <a:round/>
            <a:headEnd len="med" w="med" type="none"/>
            <a:tailEnd len="med" w="med" type="none"/>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181" name="Shape 1181"/>
          <p:cNvSpPr txBox="1"/>
          <p:nvPr>
            <p:ph type="title"/>
          </p:nvPr>
        </p:nvSpPr>
        <p:spPr>
          <a:xfrm>
            <a:off x="457200" y="205978"/>
            <a:ext cx="8229600" cy="857400"/>
          </a:xfrm>
          <a:prstGeom prst="rect">
            <a:avLst/>
          </a:prstGeom>
          <a:noFill/>
          <a:ln>
            <a:noFill/>
          </a:ln>
        </p:spPr>
        <p:txBody>
          <a:bodyPr anchorCtr="0" anchor="ctr" bIns="91400" lIns="91400" rIns="91400" tIns="91400">
            <a:noAutofit/>
          </a:bodyPr>
          <a:lstStyle/>
          <a:p>
            <a:pPr indent="0" lvl="0" marL="0" marR="0" rtl="0" algn="ctr">
              <a:spcBef>
                <a:spcPts val="0"/>
              </a:spcBef>
              <a:buClr>
                <a:srgbClr val="C0504D"/>
              </a:buClr>
              <a:buSzPct val="25000"/>
              <a:buFont typeface="Calibri"/>
              <a:buNone/>
            </a:pPr>
            <a:r>
              <a:rPr b="0" i="0" lang="en" sz="3600" u="none" cap="none" strike="noStrike">
                <a:solidFill>
                  <a:srgbClr val="C0504D"/>
                </a:solidFill>
                <a:latin typeface="Calibri"/>
                <a:ea typeface="Calibri"/>
                <a:cs typeface="Calibri"/>
                <a:sym typeface="Calibri"/>
              </a:rPr>
              <a:t>ONOS Architecture Tiers</a:t>
            </a:r>
          </a:p>
        </p:txBody>
      </p:sp>
      <p:sp>
        <p:nvSpPr>
          <p:cNvPr id="1182" name="Shape 1182"/>
          <p:cNvSpPr/>
          <p:nvPr/>
        </p:nvSpPr>
        <p:spPr>
          <a:xfrm>
            <a:off x="2600950" y="1793851"/>
            <a:ext cx="6045900" cy="470100"/>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183" name="Shape 1183"/>
          <p:cNvSpPr/>
          <p:nvPr/>
        </p:nvSpPr>
        <p:spPr>
          <a:xfrm>
            <a:off x="2587035" y="1774610"/>
            <a:ext cx="6032099" cy="470100"/>
          </a:xfrm>
          <a:prstGeom prst="rect">
            <a:avLst/>
          </a:prstGeom>
          <a:solidFill>
            <a:srgbClr val="FF9900"/>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FFFFFF"/>
              </a:buClr>
              <a:buSzPct val="25000"/>
              <a:buFont typeface="Arial"/>
              <a:buNone/>
            </a:pPr>
            <a:r>
              <a:rPr b="0" i="0" lang="en" sz="1400" u="none" cap="none" strike="noStrike">
                <a:solidFill>
                  <a:srgbClr val="FFFFFF"/>
                </a:solidFill>
                <a:latin typeface="Arial"/>
                <a:ea typeface="Arial"/>
                <a:cs typeface="Arial"/>
                <a:sym typeface="Arial"/>
              </a:rPr>
              <a:t>Northbound - Application Intent Framework</a:t>
            </a:r>
          </a:p>
          <a:p>
            <a:pPr indent="0" lvl="0" marL="0" marR="0" rtl="0" algn="ctr">
              <a:lnSpc>
                <a:spcPct val="100000"/>
              </a:lnSpc>
              <a:spcBef>
                <a:spcPts val="0"/>
              </a:spcBef>
              <a:spcAft>
                <a:spcPts val="0"/>
              </a:spcAft>
              <a:buClr>
                <a:srgbClr val="FFFFFF"/>
              </a:buClr>
              <a:buSzPct val="25000"/>
              <a:buFont typeface="Arial"/>
              <a:buNone/>
            </a:pPr>
            <a:r>
              <a:rPr b="0" i="1" lang="en" sz="1200" u="none" cap="none" strike="noStrike">
                <a:solidFill>
                  <a:srgbClr val="FFFFFF"/>
                </a:solidFill>
                <a:latin typeface="Arial"/>
                <a:ea typeface="Arial"/>
                <a:cs typeface="Arial"/>
                <a:sym typeface="Arial"/>
              </a:rPr>
              <a:t>(policy enforcement, conflict resolution, virtualization, slicing)</a:t>
            </a:r>
          </a:p>
        </p:txBody>
      </p:sp>
      <p:sp>
        <p:nvSpPr>
          <p:cNvPr id="1184" name="Shape 1184"/>
          <p:cNvSpPr/>
          <p:nvPr/>
        </p:nvSpPr>
        <p:spPr>
          <a:xfrm>
            <a:off x="2613289" y="2378748"/>
            <a:ext cx="6032099" cy="586500"/>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185" name="Shape 1185"/>
          <p:cNvSpPr/>
          <p:nvPr/>
        </p:nvSpPr>
        <p:spPr>
          <a:xfrm>
            <a:off x="2614450" y="3608348"/>
            <a:ext cx="1766400" cy="240298"/>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186" name="Shape 1186"/>
          <p:cNvSpPr/>
          <p:nvPr/>
        </p:nvSpPr>
        <p:spPr>
          <a:xfrm>
            <a:off x="2587025" y="3589173"/>
            <a:ext cx="1766400" cy="240298"/>
          </a:xfrm>
          <a:prstGeom prst="rect">
            <a:avLst/>
          </a:prstGeom>
          <a:solidFill>
            <a:srgbClr val="990000"/>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200" u="none" cap="none" strike="noStrike">
                <a:solidFill>
                  <a:srgbClr val="EFEFEF"/>
                </a:solidFill>
                <a:latin typeface="Arial"/>
                <a:ea typeface="Arial"/>
                <a:cs typeface="Arial"/>
                <a:sym typeface="Arial"/>
              </a:rPr>
              <a:t>OpenFlow</a:t>
            </a:r>
          </a:p>
        </p:txBody>
      </p:sp>
      <p:sp>
        <p:nvSpPr>
          <p:cNvPr id="1187" name="Shape 1187"/>
          <p:cNvSpPr/>
          <p:nvPr/>
        </p:nvSpPr>
        <p:spPr>
          <a:xfrm>
            <a:off x="4748050" y="3608348"/>
            <a:ext cx="1766400" cy="240298"/>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188" name="Shape 1188"/>
          <p:cNvSpPr/>
          <p:nvPr/>
        </p:nvSpPr>
        <p:spPr>
          <a:xfrm>
            <a:off x="4720625" y="3589173"/>
            <a:ext cx="1766400" cy="240298"/>
          </a:xfrm>
          <a:prstGeom prst="rect">
            <a:avLst/>
          </a:prstGeom>
          <a:solidFill>
            <a:srgbClr val="990000"/>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200" u="none" cap="none" strike="noStrike">
                <a:solidFill>
                  <a:srgbClr val="EFEFEF"/>
                </a:solidFill>
                <a:latin typeface="Arial"/>
                <a:ea typeface="Arial"/>
                <a:cs typeface="Arial"/>
                <a:sym typeface="Arial"/>
              </a:rPr>
              <a:t>NetConf</a:t>
            </a:r>
          </a:p>
        </p:txBody>
      </p:sp>
      <p:sp>
        <p:nvSpPr>
          <p:cNvPr id="1189" name="Shape 1189"/>
          <p:cNvSpPr/>
          <p:nvPr/>
        </p:nvSpPr>
        <p:spPr>
          <a:xfrm>
            <a:off x="6881650" y="3608348"/>
            <a:ext cx="1766400" cy="240298"/>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190" name="Shape 1190"/>
          <p:cNvSpPr/>
          <p:nvPr/>
        </p:nvSpPr>
        <p:spPr>
          <a:xfrm>
            <a:off x="6854225" y="3589173"/>
            <a:ext cx="1766400" cy="240298"/>
          </a:xfrm>
          <a:prstGeom prst="rect">
            <a:avLst/>
          </a:prstGeom>
          <a:solidFill>
            <a:srgbClr val="990000"/>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200" u="none" cap="none" strike="noStrike">
                <a:solidFill>
                  <a:srgbClr val="EFEFEF"/>
                </a:solidFill>
                <a:latin typeface="Arial"/>
                <a:ea typeface="Arial"/>
                <a:cs typeface="Arial"/>
                <a:sym typeface="Arial"/>
              </a:rPr>
              <a:t>. . .</a:t>
            </a:r>
          </a:p>
        </p:txBody>
      </p:sp>
      <p:sp>
        <p:nvSpPr>
          <p:cNvPr id="1191" name="Shape 1191"/>
          <p:cNvSpPr/>
          <p:nvPr/>
        </p:nvSpPr>
        <p:spPr>
          <a:xfrm>
            <a:off x="2608965" y="1273565"/>
            <a:ext cx="6032099" cy="393900"/>
          </a:xfrm>
          <a:prstGeom prst="rect">
            <a:avLst/>
          </a:prstGeom>
          <a:solidFill>
            <a:srgbClr val="999999"/>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Apps</a:t>
            </a:r>
          </a:p>
        </p:txBody>
      </p:sp>
      <p:sp>
        <p:nvSpPr>
          <p:cNvPr id="1192" name="Shape 1192"/>
          <p:cNvSpPr/>
          <p:nvPr/>
        </p:nvSpPr>
        <p:spPr>
          <a:xfrm>
            <a:off x="2594691" y="1264359"/>
            <a:ext cx="6032099" cy="376200"/>
          </a:xfrm>
          <a:prstGeom prst="rect">
            <a:avLst/>
          </a:prstGeom>
          <a:solidFill>
            <a:srgbClr val="1155CC"/>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FFFFFF"/>
              </a:buClr>
              <a:buSzPct val="25000"/>
              <a:buFont typeface="Arial"/>
              <a:buNone/>
            </a:pPr>
            <a:r>
              <a:rPr b="0" i="0" lang="en" sz="1400" u="none" cap="none" strike="noStrike">
                <a:solidFill>
                  <a:srgbClr val="FFFFFF"/>
                </a:solidFill>
                <a:latin typeface="Arial"/>
                <a:ea typeface="Arial"/>
                <a:cs typeface="Arial"/>
                <a:sym typeface="Arial"/>
              </a:rPr>
              <a:t>Apps</a:t>
            </a:r>
          </a:p>
        </p:txBody>
      </p:sp>
      <p:cxnSp>
        <p:nvCxnSpPr>
          <p:cNvPr id="1193" name="Shape 1193"/>
          <p:cNvCxnSpPr/>
          <p:nvPr/>
        </p:nvCxnSpPr>
        <p:spPr>
          <a:xfrm flipH="1" rot="10800000">
            <a:off x="3126150" y="4193814"/>
            <a:ext cx="1164000" cy="6000"/>
          </a:xfrm>
          <a:prstGeom prst="straightConnector1">
            <a:avLst/>
          </a:prstGeom>
          <a:noFill/>
          <a:ln cap="flat" cmpd="sng" w="19050">
            <a:solidFill>
              <a:schemeClr val="dk2"/>
            </a:solidFill>
            <a:prstDash val="solid"/>
            <a:round/>
            <a:headEnd len="med" w="med" type="none"/>
            <a:tailEnd len="med" w="med" type="none"/>
          </a:ln>
        </p:spPr>
      </p:cxnSp>
      <p:cxnSp>
        <p:nvCxnSpPr>
          <p:cNvPr id="1194" name="Shape 1194"/>
          <p:cNvCxnSpPr/>
          <p:nvPr/>
        </p:nvCxnSpPr>
        <p:spPr>
          <a:xfrm flipH="1" rot="10800000">
            <a:off x="3132066" y="4834724"/>
            <a:ext cx="1298999" cy="11699"/>
          </a:xfrm>
          <a:prstGeom prst="straightConnector1">
            <a:avLst/>
          </a:prstGeom>
          <a:noFill/>
          <a:ln cap="flat" cmpd="sng" w="19050">
            <a:solidFill>
              <a:schemeClr val="dk2"/>
            </a:solidFill>
            <a:prstDash val="solid"/>
            <a:round/>
            <a:headEnd len="med" w="med" type="none"/>
            <a:tailEnd len="med" w="med" type="none"/>
          </a:ln>
        </p:spPr>
      </p:cxnSp>
      <p:cxnSp>
        <p:nvCxnSpPr>
          <p:cNvPr id="1195" name="Shape 1195"/>
          <p:cNvCxnSpPr/>
          <p:nvPr/>
        </p:nvCxnSpPr>
        <p:spPr>
          <a:xfrm>
            <a:off x="4425250" y="4188035"/>
            <a:ext cx="1164000" cy="240900"/>
          </a:xfrm>
          <a:prstGeom prst="straightConnector1">
            <a:avLst/>
          </a:prstGeom>
          <a:noFill/>
          <a:ln cap="flat" cmpd="sng" w="19050">
            <a:solidFill>
              <a:schemeClr val="dk2"/>
            </a:solidFill>
            <a:prstDash val="solid"/>
            <a:round/>
            <a:headEnd len="med" w="med" type="none"/>
            <a:tailEnd len="med" w="med" type="none"/>
          </a:ln>
        </p:spPr>
      </p:cxnSp>
      <p:cxnSp>
        <p:nvCxnSpPr>
          <p:cNvPr id="1196" name="Shape 1196"/>
          <p:cNvCxnSpPr/>
          <p:nvPr/>
        </p:nvCxnSpPr>
        <p:spPr>
          <a:xfrm rot="10800000">
            <a:off x="6905974" y="4199815"/>
            <a:ext cx="1140300" cy="405598"/>
          </a:xfrm>
          <a:prstGeom prst="straightConnector1">
            <a:avLst/>
          </a:prstGeom>
          <a:noFill/>
          <a:ln cap="flat" cmpd="sng" w="19050">
            <a:solidFill>
              <a:schemeClr val="dk2"/>
            </a:solidFill>
            <a:prstDash val="solid"/>
            <a:round/>
            <a:headEnd len="med" w="med" type="none"/>
            <a:tailEnd len="med" w="med" type="none"/>
          </a:ln>
        </p:spPr>
      </p:cxnSp>
      <p:cxnSp>
        <p:nvCxnSpPr>
          <p:cNvPr id="1197" name="Shape 1197"/>
          <p:cNvCxnSpPr/>
          <p:nvPr/>
        </p:nvCxnSpPr>
        <p:spPr>
          <a:xfrm flipH="1">
            <a:off x="6682474" y="4605416"/>
            <a:ext cx="1363800" cy="217499"/>
          </a:xfrm>
          <a:prstGeom prst="straightConnector1">
            <a:avLst/>
          </a:prstGeom>
          <a:noFill/>
          <a:ln cap="flat" cmpd="sng" w="19050">
            <a:solidFill>
              <a:schemeClr val="dk2"/>
            </a:solidFill>
            <a:prstDash val="solid"/>
            <a:round/>
            <a:headEnd len="med" w="med" type="none"/>
            <a:tailEnd len="med" w="med" type="none"/>
          </a:ln>
        </p:spPr>
      </p:cxnSp>
      <p:cxnSp>
        <p:nvCxnSpPr>
          <p:cNvPr id="1198" name="Shape 1198"/>
          <p:cNvCxnSpPr/>
          <p:nvPr/>
        </p:nvCxnSpPr>
        <p:spPr>
          <a:xfrm flipH="1">
            <a:off x="6623599" y="4193935"/>
            <a:ext cx="311700" cy="629100"/>
          </a:xfrm>
          <a:prstGeom prst="straightConnector1">
            <a:avLst/>
          </a:prstGeom>
          <a:noFill/>
          <a:ln cap="flat" cmpd="sng" w="19050">
            <a:solidFill>
              <a:schemeClr val="dk2"/>
            </a:solidFill>
            <a:prstDash val="solid"/>
            <a:round/>
            <a:headEnd len="med" w="med" type="none"/>
            <a:tailEnd len="med" w="med" type="none"/>
          </a:ln>
        </p:spPr>
      </p:cxnSp>
      <p:cxnSp>
        <p:nvCxnSpPr>
          <p:cNvPr id="1199" name="Shape 1199"/>
          <p:cNvCxnSpPr/>
          <p:nvPr/>
        </p:nvCxnSpPr>
        <p:spPr>
          <a:xfrm rot="10800000">
            <a:off x="5642223" y="4440764"/>
            <a:ext cx="875700" cy="393900"/>
          </a:xfrm>
          <a:prstGeom prst="straightConnector1">
            <a:avLst/>
          </a:prstGeom>
          <a:noFill/>
          <a:ln cap="flat" cmpd="sng" w="19050">
            <a:solidFill>
              <a:schemeClr val="dk2"/>
            </a:solidFill>
            <a:prstDash val="solid"/>
            <a:round/>
            <a:headEnd len="med" w="med" type="none"/>
            <a:tailEnd len="med" w="med" type="none"/>
          </a:ln>
        </p:spPr>
      </p:cxnSp>
      <p:cxnSp>
        <p:nvCxnSpPr>
          <p:cNvPr id="1200" name="Shape 1200"/>
          <p:cNvCxnSpPr/>
          <p:nvPr/>
        </p:nvCxnSpPr>
        <p:spPr>
          <a:xfrm flipH="1" rot="10800000">
            <a:off x="4460525" y="4429058"/>
            <a:ext cx="1087500" cy="376200"/>
          </a:xfrm>
          <a:prstGeom prst="straightConnector1">
            <a:avLst/>
          </a:prstGeom>
          <a:noFill/>
          <a:ln cap="flat" cmpd="sng" w="19050">
            <a:solidFill>
              <a:schemeClr val="dk2"/>
            </a:solidFill>
            <a:prstDash val="solid"/>
            <a:round/>
            <a:headEnd len="med" w="med" type="none"/>
            <a:tailEnd len="med" w="med" type="none"/>
          </a:ln>
        </p:spPr>
      </p:cxnSp>
      <p:cxnSp>
        <p:nvCxnSpPr>
          <p:cNvPr id="1201" name="Shape 1201"/>
          <p:cNvCxnSpPr/>
          <p:nvPr/>
        </p:nvCxnSpPr>
        <p:spPr>
          <a:xfrm flipH="1" rot="10800000">
            <a:off x="3167316" y="4199687"/>
            <a:ext cx="1246199" cy="599700"/>
          </a:xfrm>
          <a:prstGeom prst="straightConnector1">
            <a:avLst/>
          </a:prstGeom>
          <a:noFill/>
          <a:ln cap="flat" cmpd="sng" w="19050">
            <a:solidFill>
              <a:schemeClr val="dk2"/>
            </a:solidFill>
            <a:prstDash val="solid"/>
            <a:round/>
            <a:headEnd len="med" w="med" type="none"/>
            <a:tailEnd len="med" w="med" type="none"/>
          </a:ln>
        </p:spPr>
      </p:cxnSp>
      <p:cxnSp>
        <p:nvCxnSpPr>
          <p:cNvPr id="1202" name="Shape 1202"/>
          <p:cNvCxnSpPr/>
          <p:nvPr/>
        </p:nvCxnSpPr>
        <p:spPr>
          <a:xfrm flipH="1">
            <a:off x="5565575" y="4193937"/>
            <a:ext cx="1263898" cy="223500"/>
          </a:xfrm>
          <a:prstGeom prst="straightConnector1">
            <a:avLst/>
          </a:prstGeom>
          <a:noFill/>
          <a:ln cap="flat" cmpd="sng" w="19050">
            <a:solidFill>
              <a:schemeClr val="dk2"/>
            </a:solidFill>
            <a:prstDash val="solid"/>
            <a:round/>
            <a:headEnd len="med" w="med" type="none"/>
            <a:tailEnd len="med" w="med" type="none"/>
          </a:ln>
        </p:spPr>
      </p:cxnSp>
      <p:cxnSp>
        <p:nvCxnSpPr>
          <p:cNvPr id="1203" name="Shape 1203"/>
          <p:cNvCxnSpPr/>
          <p:nvPr/>
        </p:nvCxnSpPr>
        <p:spPr>
          <a:xfrm>
            <a:off x="4548716" y="4822914"/>
            <a:ext cx="2010299" cy="17700"/>
          </a:xfrm>
          <a:prstGeom prst="straightConnector1">
            <a:avLst/>
          </a:prstGeom>
          <a:noFill/>
          <a:ln cap="flat" cmpd="sng" w="19050">
            <a:solidFill>
              <a:schemeClr val="dk2"/>
            </a:solidFill>
            <a:prstDash val="solid"/>
            <a:round/>
            <a:headEnd len="med" w="med" type="none"/>
            <a:tailEnd len="med" w="med" type="none"/>
          </a:ln>
        </p:spPr>
      </p:cxnSp>
      <p:pic>
        <p:nvPicPr>
          <p:cNvPr id="1204" name="Shape 1204"/>
          <p:cNvPicPr preferRelativeResize="0"/>
          <p:nvPr/>
        </p:nvPicPr>
        <p:blipFill rotWithShape="1">
          <a:blip r:embed="rId3">
            <a:alphaModFix/>
          </a:blip>
          <a:srcRect b="0" l="0" r="0" t="0"/>
          <a:stretch/>
        </p:blipFill>
        <p:spPr>
          <a:xfrm>
            <a:off x="2742451" y="4604362"/>
            <a:ext cx="769472" cy="482199"/>
          </a:xfrm>
          <a:prstGeom prst="rect">
            <a:avLst/>
          </a:prstGeom>
          <a:noFill/>
          <a:ln>
            <a:noFill/>
          </a:ln>
        </p:spPr>
      </p:pic>
      <p:pic>
        <p:nvPicPr>
          <p:cNvPr id="1205" name="Shape 1205"/>
          <p:cNvPicPr preferRelativeResize="0"/>
          <p:nvPr/>
        </p:nvPicPr>
        <p:blipFill rotWithShape="1">
          <a:blip r:embed="rId3">
            <a:alphaModFix/>
          </a:blip>
          <a:srcRect b="0" l="0" r="0" t="0"/>
          <a:stretch/>
        </p:blipFill>
        <p:spPr>
          <a:xfrm>
            <a:off x="7695452" y="4375762"/>
            <a:ext cx="769472" cy="482199"/>
          </a:xfrm>
          <a:prstGeom prst="rect">
            <a:avLst/>
          </a:prstGeom>
          <a:noFill/>
          <a:ln>
            <a:noFill/>
          </a:ln>
        </p:spPr>
      </p:pic>
      <p:pic>
        <p:nvPicPr>
          <p:cNvPr id="1206" name="Shape 1206"/>
          <p:cNvPicPr preferRelativeResize="0"/>
          <p:nvPr/>
        </p:nvPicPr>
        <p:blipFill rotWithShape="1">
          <a:blip r:embed="rId3">
            <a:alphaModFix/>
          </a:blip>
          <a:srcRect b="0" l="0" r="0" t="0"/>
          <a:stretch/>
        </p:blipFill>
        <p:spPr>
          <a:xfrm>
            <a:off x="6628652" y="3994762"/>
            <a:ext cx="769472" cy="482199"/>
          </a:xfrm>
          <a:prstGeom prst="rect">
            <a:avLst/>
          </a:prstGeom>
          <a:noFill/>
          <a:ln>
            <a:noFill/>
          </a:ln>
        </p:spPr>
      </p:pic>
      <p:pic>
        <p:nvPicPr>
          <p:cNvPr id="1207" name="Shape 1207"/>
          <p:cNvPicPr preferRelativeResize="0"/>
          <p:nvPr/>
        </p:nvPicPr>
        <p:blipFill rotWithShape="1">
          <a:blip r:embed="rId3">
            <a:alphaModFix/>
          </a:blip>
          <a:srcRect b="0" l="0" r="0" t="0"/>
          <a:stretch/>
        </p:blipFill>
        <p:spPr>
          <a:xfrm>
            <a:off x="6247651" y="4604362"/>
            <a:ext cx="769472" cy="482199"/>
          </a:xfrm>
          <a:prstGeom prst="rect">
            <a:avLst/>
          </a:prstGeom>
          <a:noFill/>
          <a:ln>
            <a:noFill/>
          </a:ln>
        </p:spPr>
      </p:pic>
      <p:pic>
        <p:nvPicPr>
          <p:cNvPr id="1208" name="Shape 1208"/>
          <p:cNvPicPr preferRelativeResize="0"/>
          <p:nvPr/>
        </p:nvPicPr>
        <p:blipFill rotWithShape="1">
          <a:blip r:embed="rId3">
            <a:alphaModFix/>
          </a:blip>
          <a:srcRect b="0" l="0" r="0" t="0"/>
          <a:stretch/>
        </p:blipFill>
        <p:spPr>
          <a:xfrm>
            <a:off x="5257051" y="4223362"/>
            <a:ext cx="769472" cy="482199"/>
          </a:xfrm>
          <a:prstGeom prst="rect">
            <a:avLst/>
          </a:prstGeom>
          <a:noFill/>
          <a:ln>
            <a:noFill/>
          </a:ln>
        </p:spPr>
      </p:pic>
      <p:pic>
        <p:nvPicPr>
          <p:cNvPr id="1209" name="Shape 1209"/>
          <p:cNvPicPr preferRelativeResize="0"/>
          <p:nvPr/>
        </p:nvPicPr>
        <p:blipFill rotWithShape="1">
          <a:blip r:embed="rId3">
            <a:alphaModFix/>
          </a:blip>
          <a:srcRect b="0" l="0" r="0" t="0"/>
          <a:stretch/>
        </p:blipFill>
        <p:spPr>
          <a:xfrm>
            <a:off x="4037851" y="3994762"/>
            <a:ext cx="769472" cy="482199"/>
          </a:xfrm>
          <a:prstGeom prst="rect">
            <a:avLst/>
          </a:prstGeom>
          <a:noFill/>
          <a:ln>
            <a:noFill/>
          </a:ln>
        </p:spPr>
      </p:pic>
      <p:cxnSp>
        <p:nvCxnSpPr>
          <p:cNvPr id="1210" name="Shape 1210"/>
          <p:cNvCxnSpPr/>
          <p:nvPr/>
        </p:nvCxnSpPr>
        <p:spPr>
          <a:xfrm>
            <a:off x="3067375" y="4229187"/>
            <a:ext cx="1363800" cy="611398"/>
          </a:xfrm>
          <a:prstGeom prst="straightConnector1">
            <a:avLst/>
          </a:prstGeom>
          <a:noFill/>
          <a:ln cap="flat" cmpd="sng" w="19050">
            <a:solidFill>
              <a:schemeClr val="dk2"/>
            </a:solidFill>
            <a:prstDash val="solid"/>
            <a:round/>
            <a:headEnd len="med" w="med" type="none"/>
            <a:tailEnd len="med" w="med" type="none"/>
          </a:ln>
        </p:spPr>
      </p:cxnSp>
      <p:pic>
        <p:nvPicPr>
          <p:cNvPr id="1211" name="Shape 1211"/>
          <p:cNvPicPr preferRelativeResize="0"/>
          <p:nvPr/>
        </p:nvPicPr>
        <p:blipFill rotWithShape="1">
          <a:blip r:embed="rId3">
            <a:alphaModFix/>
          </a:blip>
          <a:srcRect b="0" l="0" r="0" t="0"/>
          <a:stretch/>
        </p:blipFill>
        <p:spPr>
          <a:xfrm>
            <a:off x="2672226" y="4012410"/>
            <a:ext cx="769472" cy="482199"/>
          </a:xfrm>
          <a:prstGeom prst="rect">
            <a:avLst/>
          </a:prstGeom>
          <a:noFill/>
          <a:ln>
            <a:noFill/>
          </a:ln>
        </p:spPr>
      </p:pic>
      <p:pic>
        <p:nvPicPr>
          <p:cNvPr id="1212" name="Shape 1212"/>
          <p:cNvPicPr preferRelativeResize="0"/>
          <p:nvPr/>
        </p:nvPicPr>
        <p:blipFill rotWithShape="1">
          <a:blip r:embed="rId3">
            <a:alphaModFix/>
          </a:blip>
          <a:srcRect b="0" l="0" r="0" t="0"/>
          <a:stretch/>
        </p:blipFill>
        <p:spPr>
          <a:xfrm>
            <a:off x="4114051" y="4604362"/>
            <a:ext cx="769472" cy="482199"/>
          </a:xfrm>
          <a:prstGeom prst="rect">
            <a:avLst/>
          </a:prstGeom>
          <a:noFill/>
          <a:ln>
            <a:noFill/>
          </a:ln>
        </p:spPr>
      </p:pic>
      <p:sp>
        <p:nvSpPr>
          <p:cNvPr id="1213" name="Shape 1213"/>
          <p:cNvSpPr/>
          <p:nvPr/>
        </p:nvSpPr>
        <p:spPr>
          <a:xfrm>
            <a:off x="2587066" y="2357660"/>
            <a:ext cx="6032099" cy="586500"/>
          </a:xfrm>
          <a:prstGeom prst="rect">
            <a:avLst/>
          </a:prstGeom>
          <a:solidFill>
            <a:srgbClr val="434343"/>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400" u="none" cap="none" strike="noStrike">
                <a:solidFill>
                  <a:srgbClr val="EFEFEF"/>
                </a:solidFill>
                <a:latin typeface="Arial"/>
                <a:ea typeface="Arial"/>
                <a:cs typeface="Arial"/>
                <a:sym typeface="Arial"/>
              </a:rPr>
              <a:t>Distributed Core</a:t>
            </a:r>
          </a:p>
          <a:p>
            <a:pPr indent="0" lvl="0" marL="0" marR="0" rtl="0" algn="ctr">
              <a:lnSpc>
                <a:spcPct val="100000"/>
              </a:lnSpc>
              <a:spcBef>
                <a:spcPts val="0"/>
              </a:spcBef>
              <a:spcAft>
                <a:spcPts val="0"/>
              </a:spcAft>
              <a:buClr>
                <a:srgbClr val="EFEFEF"/>
              </a:buClr>
              <a:buSzPct val="25000"/>
              <a:buFont typeface="Arial"/>
              <a:buNone/>
            </a:pPr>
            <a:r>
              <a:rPr b="0" i="1" lang="en" sz="1200" u="none" cap="none" strike="noStrike">
                <a:solidFill>
                  <a:srgbClr val="EFEFEF"/>
                </a:solidFill>
                <a:latin typeface="Arial"/>
                <a:ea typeface="Arial"/>
                <a:cs typeface="Arial"/>
                <a:sym typeface="Arial"/>
              </a:rPr>
              <a:t>(scalability, availability, performance, persistence)</a:t>
            </a:r>
          </a:p>
        </p:txBody>
      </p:sp>
      <p:sp>
        <p:nvSpPr>
          <p:cNvPr id="1214" name="Shape 1214"/>
          <p:cNvSpPr/>
          <p:nvPr/>
        </p:nvSpPr>
        <p:spPr>
          <a:xfrm>
            <a:off x="2614633" y="3072191"/>
            <a:ext cx="6032099" cy="434999"/>
          </a:xfrm>
          <a:prstGeom prst="rect">
            <a:avLst/>
          </a:prstGeom>
          <a:solidFill>
            <a:srgbClr val="999999"/>
          </a:solidFill>
          <a:ln>
            <a:noFill/>
          </a:ln>
        </p:spPr>
        <p:txBody>
          <a:bodyPr anchorCtr="0" anchor="ctr" bIns="91400" lIns="91400" rIns="91400" tIns="914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215" name="Shape 1215"/>
          <p:cNvSpPr/>
          <p:nvPr/>
        </p:nvSpPr>
        <p:spPr>
          <a:xfrm>
            <a:off x="2587186" y="3053011"/>
            <a:ext cx="6032099" cy="434999"/>
          </a:xfrm>
          <a:prstGeom prst="rect">
            <a:avLst/>
          </a:prstGeom>
          <a:solidFill>
            <a:srgbClr val="38761D"/>
          </a:solidFill>
          <a:ln>
            <a:noFill/>
          </a:ln>
        </p:spPr>
        <p:txBody>
          <a:bodyPr anchorCtr="0" anchor="ctr" bIns="91400" lIns="91400" rIns="91400" tIns="91400">
            <a:noAutofit/>
          </a:bodyPr>
          <a:lstStyle/>
          <a:p>
            <a:pPr indent="0" lvl="0" marL="0" marR="0" rtl="0" algn="ctr">
              <a:lnSpc>
                <a:spcPct val="100000"/>
              </a:lnSpc>
              <a:spcBef>
                <a:spcPts val="0"/>
              </a:spcBef>
              <a:spcAft>
                <a:spcPts val="0"/>
              </a:spcAft>
              <a:buClr>
                <a:srgbClr val="EFEFEF"/>
              </a:buClr>
              <a:buSzPct val="25000"/>
              <a:buFont typeface="Arial"/>
              <a:buNone/>
            </a:pPr>
            <a:r>
              <a:rPr b="0" i="0" lang="en" sz="1400" u="none" cap="none" strike="noStrike">
                <a:solidFill>
                  <a:srgbClr val="EFEFEF"/>
                </a:solidFill>
                <a:latin typeface="Arial"/>
                <a:ea typeface="Arial"/>
                <a:cs typeface="Arial"/>
                <a:sym typeface="Arial"/>
              </a:rPr>
              <a:t>Southbound</a:t>
            </a:r>
          </a:p>
          <a:p>
            <a:pPr indent="0" lvl="0" marL="0" marR="0" rtl="0" algn="ctr">
              <a:lnSpc>
                <a:spcPct val="100000"/>
              </a:lnSpc>
              <a:spcBef>
                <a:spcPts val="0"/>
              </a:spcBef>
              <a:spcAft>
                <a:spcPts val="0"/>
              </a:spcAft>
              <a:buClr>
                <a:srgbClr val="EFEFEF"/>
              </a:buClr>
              <a:buSzPct val="25000"/>
              <a:buFont typeface="Arial"/>
              <a:buNone/>
            </a:pPr>
            <a:r>
              <a:rPr b="0" i="1" lang="en" sz="1200" u="none" cap="none" strike="noStrike">
                <a:solidFill>
                  <a:srgbClr val="EFEFEF"/>
                </a:solidFill>
                <a:latin typeface="Arial"/>
                <a:ea typeface="Arial"/>
                <a:cs typeface="Arial"/>
                <a:sym typeface="Arial"/>
              </a:rPr>
              <a:t>(discover, observe, program, configure)</a:t>
            </a:r>
          </a:p>
        </p:txBody>
      </p:sp>
      <p:sp>
        <p:nvSpPr>
          <p:cNvPr id="1216" name="Shape 1216"/>
          <p:cNvSpPr txBox="1"/>
          <p:nvPr/>
        </p:nvSpPr>
        <p:spPr>
          <a:xfrm>
            <a:off x="343588" y="1523709"/>
            <a:ext cx="2211899" cy="2378700"/>
          </a:xfrm>
          <a:prstGeom prst="rect">
            <a:avLst/>
          </a:prstGeom>
          <a:noFill/>
          <a:ln>
            <a:noFill/>
          </a:ln>
        </p:spPr>
        <p:txBody>
          <a:bodyPr anchorCtr="0" anchor="t" bIns="91400" lIns="91400" rIns="91400" tIns="91400">
            <a:noAutofit/>
          </a:bodyPr>
          <a:lstStyle/>
          <a:p>
            <a:pPr indent="0" lvl="0" marL="0" marR="0" rtl="0" algn="l">
              <a:lnSpc>
                <a:spcPct val="10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Northbound Abstraction:</a:t>
            </a:r>
          </a:p>
          <a:p>
            <a:pPr indent="0" lvl="0" marL="0" marR="0" rtl="0" algn="l">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 - network graph</a:t>
            </a:r>
          </a:p>
          <a:p>
            <a:pPr indent="0" lvl="0" marL="0" marR="0" rtl="0" algn="l">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 - application intents</a:t>
            </a:r>
          </a:p>
          <a:p>
            <a:pPr indent="0" lvl="0" marL="0" marR="0" rtl="0" algn="l">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 - virtualization &amp; slicing </a:t>
            </a:r>
          </a:p>
          <a:p>
            <a:pPr indent="0" lvl="0" marL="0" marR="0" rtl="0" algn="l">
              <a:lnSpc>
                <a:spcPct val="100000"/>
              </a:lnSpc>
              <a:spcBef>
                <a:spcPts val="0"/>
              </a:spcBef>
              <a:spcAft>
                <a:spcPts val="0"/>
              </a:spcAft>
              <a:buClr>
                <a:srgbClr val="000000"/>
              </a:buClr>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Core:</a:t>
            </a:r>
          </a:p>
          <a:p>
            <a:pPr indent="0" lvl="0" marL="0" marR="0" rtl="0" algn="l">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 - distributed</a:t>
            </a:r>
          </a:p>
          <a:p>
            <a:pPr indent="0" lvl="0" marL="0" marR="0" rtl="0" algn="l">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 - protocol independent</a:t>
            </a:r>
          </a:p>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25000"/>
              <a:buFont typeface="Arial"/>
              <a:buNone/>
            </a:pPr>
            <a:r>
              <a:rPr b="0" i="0" lang="en" sz="1400" u="none" cap="none" strike="noStrike">
                <a:solidFill>
                  <a:srgbClr val="000000"/>
                </a:solidFill>
                <a:latin typeface="Arial"/>
                <a:ea typeface="Arial"/>
                <a:cs typeface="Arial"/>
                <a:sym typeface="Arial"/>
              </a:rPr>
              <a:t>Southbound Abstraction:</a:t>
            </a:r>
          </a:p>
          <a:p>
            <a:pPr indent="0" lvl="0" marL="0" marR="0" rtl="0" algn="l">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 - generalized OpenFlow</a:t>
            </a:r>
          </a:p>
          <a:p>
            <a:pPr indent="0" lvl="0" marL="0" marR="0" rtl="0" algn="l">
              <a:lnSpc>
                <a:spcPct val="100000"/>
              </a:lnSpc>
              <a:spcBef>
                <a:spcPts val="0"/>
              </a:spcBef>
              <a:spcAft>
                <a:spcPts val="0"/>
              </a:spcAft>
              <a:buClr>
                <a:srgbClr val="000000"/>
              </a:buClr>
              <a:buSzPct val="25000"/>
              <a:buFont typeface="Arial"/>
              <a:buNone/>
            </a:pPr>
            <a:r>
              <a:rPr b="0" i="0" lang="en" sz="1200" u="none" cap="none" strike="noStrike">
                <a:solidFill>
                  <a:srgbClr val="000000"/>
                </a:solidFill>
                <a:latin typeface="Arial"/>
                <a:ea typeface="Arial"/>
                <a:cs typeface="Arial"/>
                <a:sym typeface="Arial"/>
              </a:rPr>
              <a:t> - pluggable &amp; extensible</a:t>
            </a:r>
          </a:p>
        </p:txBody>
      </p:sp>
      <p:grpSp>
        <p:nvGrpSpPr>
          <p:cNvPr id="1217" name="Shape 1217"/>
          <p:cNvGrpSpPr/>
          <p:nvPr/>
        </p:nvGrpSpPr>
        <p:grpSpPr>
          <a:xfrm>
            <a:off x="7413633" y="2103610"/>
            <a:ext cx="1158239" cy="410440"/>
            <a:chOff x="5257800" y="3124200"/>
            <a:chExt cx="1158239" cy="547255"/>
          </a:xfrm>
        </p:grpSpPr>
        <p:sp>
          <p:nvSpPr>
            <p:cNvPr id="1218" name="Shape 1218"/>
            <p:cNvSpPr/>
            <p:nvPr/>
          </p:nvSpPr>
          <p:spPr>
            <a:xfrm>
              <a:off x="5257800" y="33528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sp>
          <p:nvSpPr>
            <p:cNvPr id="1219" name="Shape 1219"/>
            <p:cNvSpPr/>
            <p:nvPr/>
          </p:nvSpPr>
          <p:spPr>
            <a:xfrm>
              <a:off x="5562600" y="31242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sp>
          <p:nvSpPr>
            <p:cNvPr id="1220" name="Shape 1220"/>
            <p:cNvSpPr/>
            <p:nvPr/>
          </p:nvSpPr>
          <p:spPr>
            <a:xfrm>
              <a:off x="5943600" y="33528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sp>
          <p:nvSpPr>
            <p:cNvPr id="1221" name="Shape 1221"/>
            <p:cNvSpPr/>
            <p:nvPr/>
          </p:nvSpPr>
          <p:spPr>
            <a:xfrm>
              <a:off x="6248400" y="32004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sp>
          <p:nvSpPr>
            <p:cNvPr id="1222" name="Shape 1222"/>
            <p:cNvSpPr/>
            <p:nvPr/>
          </p:nvSpPr>
          <p:spPr>
            <a:xfrm>
              <a:off x="5638800" y="3505200"/>
              <a:ext cx="167639" cy="166255"/>
            </a:xfrm>
            <a:prstGeom prst="ellipse">
              <a:avLst/>
            </a:prstGeom>
            <a:solidFill>
              <a:srgbClr val="FFFF00"/>
            </a:solidFill>
            <a:ln cap="flat" cmpd="sng" w="9525">
              <a:solidFill>
                <a:srgbClr val="FF0000"/>
              </a:solidFill>
              <a:prstDash val="solid"/>
              <a:round/>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lt1"/>
                </a:buClr>
                <a:buFont typeface="Arial"/>
                <a:buNone/>
              </a:pPr>
              <a:r>
                <a:t/>
              </a:r>
              <a:endParaRPr b="0" i="0" sz="1200" u="none" cap="none" strike="noStrike">
                <a:solidFill>
                  <a:srgbClr val="FFFFFF"/>
                </a:solidFill>
                <a:latin typeface="Calibri"/>
                <a:ea typeface="Calibri"/>
                <a:cs typeface="Calibri"/>
                <a:sym typeface="Calibri"/>
              </a:endParaRPr>
            </a:p>
          </p:txBody>
        </p:sp>
        <p:cxnSp>
          <p:nvCxnSpPr>
            <p:cNvPr id="1223" name="Shape 1223"/>
            <p:cNvCxnSpPr>
              <a:stCxn id="1218" idx="7"/>
              <a:endCxn id="1219" idx="3"/>
            </p:cNvCxnSpPr>
            <p:nvPr/>
          </p:nvCxnSpPr>
          <p:spPr>
            <a:xfrm flipH="1" rot="10800000">
              <a:off x="5400889" y="3265847"/>
              <a:ext cx="186300" cy="1113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1224" name="Shape 1224"/>
            <p:cNvCxnSpPr>
              <a:stCxn id="1222" idx="2"/>
              <a:endCxn id="1218" idx="5"/>
            </p:cNvCxnSpPr>
            <p:nvPr/>
          </p:nvCxnSpPr>
          <p:spPr>
            <a:xfrm rot="10800000">
              <a:off x="5400900" y="3494727"/>
              <a:ext cx="237900" cy="936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1225" name="Shape 1225"/>
            <p:cNvCxnSpPr>
              <a:stCxn id="1220" idx="1"/>
              <a:endCxn id="1219" idx="5"/>
            </p:cNvCxnSpPr>
            <p:nvPr/>
          </p:nvCxnSpPr>
          <p:spPr>
            <a:xfrm rot="10800000">
              <a:off x="5705650" y="3265847"/>
              <a:ext cx="262500" cy="1113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1226" name="Shape 1226"/>
            <p:cNvCxnSpPr>
              <a:stCxn id="1222" idx="6"/>
              <a:endCxn id="1220" idx="3"/>
            </p:cNvCxnSpPr>
            <p:nvPr/>
          </p:nvCxnSpPr>
          <p:spPr>
            <a:xfrm flipH="1" rot="10800000">
              <a:off x="5806439" y="3494727"/>
              <a:ext cx="161700" cy="93600"/>
            </a:xfrm>
            <a:prstGeom prst="straightConnector1">
              <a:avLst/>
            </a:prstGeom>
            <a:solidFill>
              <a:schemeClr val="lt1"/>
            </a:solidFill>
            <a:ln cap="flat" cmpd="sng" w="25400">
              <a:solidFill>
                <a:srgbClr val="FF0000"/>
              </a:solidFill>
              <a:prstDash val="solid"/>
              <a:round/>
              <a:headEnd len="med" w="med" type="none"/>
              <a:tailEnd len="med" w="med" type="none"/>
            </a:ln>
          </p:spPr>
        </p:cxnSp>
        <p:cxnSp>
          <p:nvCxnSpPr>
            <p:cNvPr id="1227" name="Shape 1227"/>
            <p:cNvCxnSpPr>
              <a:stCxn id="1220" idx="6"/>
              <a:endCxn id="1221" idx="3"/>
            </p:cNvCxnSpPr>
            <p:nvPr/>
          </p:nvCxnSpPr>
          <p:spPr>
            <a:xfrm flipH="1" rot="10800000">
              <a:off x="6111239" y="3342327"/>
              <a:ext cx="161700" cy="93600"/>
            </a:xfrm>
            <a:prstGeom prst="straightConnector1">
              <a:avLst/>
            </a:prstGeom>
            <a:solidFill>
              <a:schemeClr val="lt1"/>
            </a:solidFill>
            <a:ln cap="flat" cmpd="sng" w="25400">
              <a:solidFill>
                <a:srgbClr val="FF0000"/>
              </a:solidFill>
              <a:prstDash val="solid"/>
              <a:round/>
              <a:headEnd len="med" w="med" type="none"/>
              <a:tailEnd len="med" w="med" type="none"/>
            </a:ln>
          </p:spPr>
        </p:cxnSp>
      </p:grpSp>
      <p:cxnSp>
        <p:nvCxnSpPr>
          <p:cNvPr id="1228" name="Shape 1228"/>
          <p:cNvCxnSpPr/>
          <p:nvPr/>
        </p:nvCxnSpPr>
        <p:spPr>
          <a:xfrm flipH="1" rot="10800000">
            <a:off x="3165050" y="3904650"/>
            <a:ext cx="470700" cy="834900"/>
          </a:xfrm>
          <a:prstGeom prst="straightConnector1">
            <a:avLst/>
          </a:prstGeom>
          <a:noFill/>
          <a:ln cap="flat" cmpd="sng" w="19050">
            <a:solidFill>
              <a:srgbClr val="E06666"/>
            </a:solidFill>
            <a:prstDash val="dash"/>
            <a:round/>
            <a:headEnd len="med" w="med" type="none"/>
            <a:tailEnd len="med" w="med" type="none"/>
          </a:ln>
        </p:spPr>
      </p:cxnSp>
    </p:spTree>
  </p:cSld>
  <p:clrMapOvr>
    <a:masterClrMapping/>
  </p:clrMapOvr>
  <p:transition spd="slow">
    <p:fade/>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32" name="Shape 1232"/>
        <p:cNvGrpSpPr/>
        <p:nvPr/>
      </p:nvGrpSpPr>
      <p:grpSpPr>
        <a:xfrm>
          <a:off x="0" y="0"/>
          <a:ext cx="0" cy="0"/>
          <a:chOff x="0" y="0"/>
          <a:chExt cx="0" cy="0"/>
        </a:xfrm>
      </p:grpSpPr>
      <p:cxnSp>
        <p:nvCxnSpPr>
          <p:cNvPr id="1233" name="Shape 1233"/>
          <p:cNvCxnSpPr/>
          <p:nvPr/>
        </p:nvCxnSpPr>
        <p:spPr>
          <a:xfrm flipH="1" rot="10800000">
            <a:off x="3391987" y="3692129"/>
            <a:ext cx="411163" cy="434577"/>
          </a:xfrm>
          <a:prstGeom prst="straightConnector1">
            <a:avLst/>
          </a:prstGeom>
          <a:noFill/>
          <a:ln cap="flat" cmpd="sng" w="19050">
            <a:solidFill>
              <a:srgbClr val="E06666"/>
            </a:solidFill>
            <a:prstDash val="dash"/>
            <a:round/>
            <a:headEnd len="med" w="med" type="none"/>
            <a:tailEnd len="med" w="med" type="none"/>
          </a:ln>
        </p:spPr>
      </p:cxnSp>
      <p:cxnSp>
        <p:nvCxnSpPr>
          <p:cNvPr id="1234" name="Shape 1234"/>
          <p:cNvCxnSpPr/>
          <p:nvPr/>
        </p:nvCxnSpPr>
        <p:spPr>
          <a:xfrm rot="10800000">
            <a:off x="4355569" y="3702846"/>
            <a:ext cx="263525" cy="435769"/>
          </a:xfrm>
          <a:prstGeom prst="straightConnector1">
            <a:avLst/>
          </a:prstGeom>
          <a:noFill/>
          <a:ln cap="flat" cmpd="sng" w="19050">
            <a:solidFill>
              <a:srgbClr val="E06666"/>
            </a:solidFill>
            <a:prstDash val="dash"/>
            <a:round/>
            <a:headEnd len="med" w="med" type="none"/>
            <a:tailEnd len="med" w="med" type="none"/>
          </a:ln>
        </p:spPr>
      </p:cxnSp>
      <p:cxnSp>
        <p:nvCxnSpPr>
          <p:cNvPr id="1235" name="Shape 1235"/>
          <p:cNvCxnSpPr/>
          <p:nvPr/>
        </p:nvCxnSpPr>
        <p:spPr>
          <a:xfrm rot="10800000">
            <a:off x="4114257" y="3732614"/>
            <a:ext cx="622299" cy="952499"/>
          </a:xfrm>
          <a:prstGeom prst="straightConnector1">
            <a:avLst/>
          </a:prstGeom>
          <a:noFill/>
          <a:ln cap="flat" cmpd="sng" w="19050">
            <a:solidFill>
              <a:srgbClr val="E06666"/>
            </a:solidFill>
            <a:prstDash val="dash"/>
            <a:round/>
            <a:headEnd len="med" w="med" type="none"/>
            <a:tailEnd len="med" w="med" type="none"/>
          </a:ln>
        </p:spPr>
      </p:cxnSp>
      <p:cxnSp>
        <p:nvCxnSpPr>
          <p:cNvPr id="1236" name="Shape 1236"/>
          <p:cNvCxnSpPr/>
          <p:nvPr/>
        </p:nvCxnSpPr>
        <p:spPr>
          <a:xfrm flipH="1" rot="10800000">
            <a:off x="5819232" y="3696891"/>
            <a:ext cx="228600" cy="600074"/>
          </a:xfrm>
          <a:prstGeom prst="straightConnector1">
            <a:avLst/>
          </a:prstGeom>
          <a:noFill/>
          <a:ln cap="flat" cmpd="sng" w="19050">
            <a:solidFill>
              <a:srgbClr val="E06666"/>
            </a:solidFill>
            <a:prstDash val="dash"/>
            <a:round/>
            <a:headEnd len="med" w="med" type="none"/>
            <a:tailEnd len="med" w="med" type="none"/>
          </a:ln>
        </p:spPr>
      </p:cxnSp>
      <p:cxnSp>
        <p:nvCxnSpPr>
          <p:cNvPr id="1237" name="Shape 1237"/>
          <p:cNvCxnSpPr/>
          <p:nvPr/>
        </p:nvCxnSpPr>
        <p:spPr>
          <a:xfrm rot="10800000">
            <a:off x="6373270" y="3732611"/>
            <a:ext cx="527050" cy="940593"/>
          </a:xfrm>
          <a:prstGeom prst="straightConnector1">
            <a:avLst/>
          </a:prstGeom>
          <a:noFill/>
          <a:ln cap="flat" cmpd="sng" w="19050">
            <a:solidFill>
              <a:srgbClr val="E06666"/>
            </a:solidFill>
            <a:prstDash val="dash"/>
            <a:round/>
            <a:headEnd len="med" w="med" type="none"/>
            <a:tailEnd len="med" w="med" type="none"/>
          </a:ln>
        </p:spPr>
      </p:cxnSp>
      <p:cxnSp>
        <p:nvCxnSpPr>
          <p:cNvPr id="1238" name="Shape 1238"/>
          <p:cNvCxnSpPr/>
          <p:nvPr/>
        </p:nvCxnSpPr>
        <p:spPr>
          <a:xfrm flipH="1" rot="10800000">
            <a:off x="7341657" y="3674271"/>
            <a:ext cx="600075" cy="404812"/>
          </a:xfrm>
          <a:prstGeom prst="straightConnector1">
            <a:avLst/>
          </a:prstGeom>
          <a:noFill/>
          <a:ln cap="flat" cmpd="sng" w="19050">
            <a:solidFill>
              <a:srgbClr val="E06666"/>
            </a:solidFill>
            <a:prstDash val="dash"/>
            <a:round/>
            <a:headEnd len="med" w="med" type="none"/>
            <a:tailEnd len="med" w="med" type="none"/>
          </a:ln>
        </p:spPr>
      </p:cxnSp>
      <p:cxnSp>
        <p:nvCxnSpPr>
          <p:cNvPr id="1239" name="Shape 1239"/>
          <p:cNvCxnSpPr/>
          <p:nvPr/>
        </p:nvCxnSpPr>
        <p:spPr>
          <a:xfrm rot="10800000">
            <a:off x="8129045" y="3626646"/>
            <a:ext cx="317500" cy="852487"/>
          </a:xfrm>
          <a:prstGeom prst="straightConnector1">
            <a:avLst/>
          </a:prstGeom>
          <a:noFill/>
          <a:ln cap="flat" cmpd="sng" w="19050">
            <a:solidFill>
              <a:srgbClr val="E06666"/>
            </a:solidFill>
            <a:prstDash val="dash"/>
            <a:round/>
            <a:headEnd len="med" w="med" type="none"/>
            <a:tailEnd len="med" w="med" type="none"/>
          </a:ln>
        </p:spPr>
      </p:cxnSp>
      <p:sp>
        <p:nvSpPr>
          <p:cNvPr id="1240" name="Shape 1240"/>
          <p:cNvSpPr/>
          <p:nvPr/>
        </p:nvSpPr>
        <p:spPr>
          <a:xfrm>
            <a:off x="2944283" y="1069181"/>
            <a:ext cx="6130924" cy="2737247"/>
          </a:xfrm>
          <a:prstGeom prst="rect">
            <a:avLst/>
          </a:prstGeom>
          <a:solidFill>
            <a:srgbClr val="EFEFEF"/>
          </a:solidFill>
          <a:ln cap="flat" cmpd="sng" w="19050">
            <a:solidFill>
              <a:srgbClr val="666666"/>
            </a:solidFill>
            <a:prstDash val="solid"/>
            <a:round/>
            <a:headEnd len="med" w="med" type="none"/>
            <a:tailEnd len="med" w="med" type="none"/>
          </a:ln>
        </p:spPr>
        <p:txBody>
          <a:bodyPr anchorCtr="0" anchor="ctr" bIns="91275" lIns="91275" rIns="91275" tIns="91275">
            <a:noAutofit/>
          </a:bodyPr>
          <a:lstStyle/>
          <a:p>
            <a:pPr indent="0" lvl="0" marL="0" marR="0" rtl="0" algn="l">
              <a:spcBef>
                <a:spcPts val="0"/>
              </a:spcBef>
              <a:buNone/>
            </a:pPr>
            <a:r>
              <a:t/>
            </a:r>
            <a:endParaRPr sz="1400">
              <a:solidFill>
                <a:srgbClr val="000000"/>
              </a:solidFill>
              <a:latin typeface="Arial"/>
              <a:ea typeface="Arial"/>
              <a:cs typeface="Arial"/>
              <a:sym typeface="Arial"/>
            </a:endParaRPr>
          </a:p>
        </p:txBody>
      </p:sp>
      <p:sp>
        <p:nvSpPr>
          <p:cNvPr id="1241" name="Shape 1241"/>
          <p:cNvSpPr txBox="1"/>
          <p:nvPr>
            <p:ph type="title"/>
          </p:nvPr>
        </p:nvSpPr>
        <p:spPr>
          <a:xfrm>
            <a:off x="457200" y="2381"/>
            <a:ext cx="8229600" cy="857249"/>
          </a:xfrm>
          <a:prstGeom prst="rect">
            <a:avLst/>
          </a:prstGeom>
          <a:noFill/>
          <a:ln>
            <a:noFill/>
          </a:ln>
        </p:spPr>
        <p:txBody>
          <a:bodyPr anchorCtr="0" anchor="ctr" bIns="91275" lIns="91275" rIns="91275" tIns="91275">
            <a:noAutofit/>
          </a:bodyPr>
          <a:lstStyle/>
          <a:p>
            <a:pPr indent="0" lvl="0" marL="0" marR="0" rtl="0" algn="ctr">
              <a:spcBef>
                <a:spcPts val="0"/>
              </a:spcBef>
              <a:buClr>
                <a:srgbClr val="BA071F"/>
              </a:buClr>
              <a:buSzPct val="25000"/>
              <a:buFont typeface="Arial"/>
              <a:buNone/>
            </a:pPr>
            <a:r>
              <a:rPr b="0" i="0" lang="en" sz="3240" u="none" cap="none" strike="noStrike">
                <a:solidFill>
                  <a:srgbClr val="BA071F"/>
                </a:solidFill>
                <a:latin typeface="Arial"/>
                <a:ea typeface="Arial"/>
                <a:cs typeface="Arial"/>
                <a:sym typeface="Arial"/>
              </a:rPr>
              <a:t>ONOS Performance</a:t>
            </a:r>
            <a:br>
              <a:rPr b="0" i="0" lang="en" sz="3240" u="none" cap="none" strike="noStrike">
                <a:solidFill>
                  <a:srgbClr val="BA071F"/>
                </a:solidFill>
                <a:latin typeface="Arial"/>
                <a:ea typeface="Arial"/>
                <a:cs typeface="Arial"/>
                <a:sym typeface="Arial"/>
              </a:rPr>
            </a:br>
            <a:r>
              <a:rPr b="0" i="1" lang="en" sz="2160" u="none" cap="none" strike="noStrike">
                <a:solidFill>
                  <a:srgbClr val="BA071F"/>
                </a:solidFill>
                <a:latin typeface="Arial"/>
                <a:ea typeface="Arial"/>
                <a:cs typeface="Arial"/>
                <a:sym typeface="Arial"/>
              </a:rPr>
              <a:t>Industry leading framework and results</a:t>
            </a:r>
          </a:p>
        </p:txBody>
      </p:sp>
      <p:sp>
        <p:nvSpPr>
          <p:cNvPr id="1242" name="Shape 1242"/>
          <p:cNvSpPr/>
          <p:nvPr/>
        </p:nvSpPr>
        <p:spPr>
          <a:xfrm>
            <a:off x="2976061" y="1478762"/>
            <a:ext cx="6030913" cy="470297"/>
          </a:xfrm>
          <a:prstGeom prst="rect">
            <a:avLst/>
          </a:prstGeom>
          <a:solidFill>
            <a:srgbClr val="FF9900"/>
          </a:solidFill>
          <a:ln>
            <a:noFill/>
          </a:ln>
        </p:spPr>
        <p:txBody>
          <a:bodyPr anchorCtr="0" anchor="ctr" bIns="91275" lIns="91275" rIns="91275" tIns="91275">
            <a:noAutofit/>
          </a:bodyPr>
          <a:lstStyle/>
          <a:p>
            <a:pPr indent="0" lvl="0" marL="0" marR="0" rtl="0" algn="ctr">
              <a:spcBef>
                <a:spcPts val="0"/>
              </a:spcBef>
              <a:buSzPct val="25000"/>
              <a:buNone/>
            </a:pPr>
            <a:r>
              <a:rPr lang="en" sz="1400">
                <a:solidFill>
                  <a:srgbClr val="FFFFFF"/>
                </a:solidFill>
                <a:latin typeface="Arial"/>
                <a:ea typeface="Arial"/>
                <a:cs typeface="Arial"/>
                <a:sym typeface="Arial"/>
              </a:rPr>
              <a:t>Northbound - Application Intent Framework</a:t>
            </a:r>
          </a:p>
          <a:p>
            <a:pPr indent="0" lvl="0" marL="0" marR="0" rtl="0" algn="ctr">
              <a:spcBef>
                <a:spcPts val="0"/>
              </a:spcBef>
              <a:buSzPct val="25000"/>
              <a:buNone/>
            </a:pPr>
            <a:r>
              <a:rPr i="1" lang="en" sz="1200">
                <a:solidFill>
                  <a:srgbClr val="FFFFFF"/>
                </a:solidFill>
                <a:latin typeface="Arial"/>
                <a:ea typeface="Arial"/>
                <a:cs typeface="Arial"/>
                <a:sym typeface="Arial"/>
              </a:rPr>
              <a:t>(policy enforcement, conflict resolution)</a:t>
            </a:r>
          </a:p>
        </p:txBody>
      </p:sp>
      <p:sp>
        <p:nvSpPr>
          <p:cNvPr id="1243" name="Shape 1243"/>
          <p:cNvSpPr/>
          <p:nvPr/>
        </p:nvSpPr>
        <p:spPr>
          <a:xfrm>
            <a:off x="3003050" y="3511156"/>
            <a:ext cx="1766886" cy="240506"/>
          </a:xfrm>
          <a:prstGeom prst="rect">
            <a:avLst/>
          </a:prstGeom>
          <a:solidFill>
            <a:srgbClr val="999999"/>
          </a:solidFill>
          <a:ln>
            <a:noFill/>
          </a:ln>
        </p:spPr>
        <p:txBody>
          <a:bodyPr anchorCtr="0" anchor="ctr" bIns="91275" lIns="91275" rIns="91275" tIns="91275">
            <a:noAutofit/>
          </a:bodyPr>
          <a:lstStyle/>
          <a:p>
            <a:pPr indent="0" lvl="0" marL="0" marR="0" rtl="0" algn="l">
              <a:spcBef>
                <a:spcPts val="0"/>
              </a:spcBef>
              <a:buNone/>
            </a:pPr>
            <a:r>
              <a:t/>
            </a:r>
            <a:endParaRPr sz="1400">
              <a:solidFill>
                <a:srgbClr val="000000"/>
              </a:solidFill>
              <a:latin typeface="Arial"/>
              <a:ea typeface="Arial"/>
              <a:cs typeface="Arial"/>
              <a:sym typeface="Arial"/>
            </a:endParaRPr>
          </a:p>
        </p:txBody>
      </p:sp>
      <p:sp>
        <p:nvSpPr>
          <p:cNvPr id="1244" name="Shape 1244"/>
          <p:cNvSpPr/>
          <p:nvPr/>
        </p:nvSpPr>
        <p:spPr>
          <a:xfrm>
            <a:off x="2976019" y="3536158"/>
            <a:ext cx="1765299" cy="240506"/>
          </a:xfrm>
          <a:prstGeom prst="rect">
            <a:avLst/>
          </a:prstGeom>
          <a:solidFill>
            <a:srgbClr val="990000"/>
          </a:solidFill>
          <a:ln>
            <a:noFill/>
          </a:ln>
        </p:spPr>
        <p:txBody>
          <a:bodyPr anchorCtr="0" anchor="ctr" bIns="91275" lIns="91275" rIns="91275" tIns="91275">
            <a:noAutofit/>
          </a:bodyPr>
          <a:lstStyle/>
          <a:p>
            <a:pPr indent="0" lvl="0" marL="0" marR="0" rtl="0" algn="ctr">
              <a:spcBef>
                <a:spcPts val="0"/>
              </a:spcBef>
              <a:buSzPct val="25000"/>
              <a:buNone/>
            </a:pPr>
            <a:r>
              <a:rPr lang="en" sz="1200">
                <a:solidFill>
                  <a:srgbClr val="EFEFEF"/>
                </a:solidFill>
                <a:latin typeface="Arial"/>
                <a:ea typeface="Arial"/>
                <a:cs typeface="Arial"/>
                <a:sym typeface="Arial"/>
              </a:rPr>
              <a:t>OpenFlow</a:t>
            </a:r>
          </a:p>
        </p:txBody>
      </p:sp>
      <p:sp>
        <p:nvSpPr>
          <p:cNvPr id="1245" name="Shape 1245"/>
          <p:cNvSpPr/>
          <p:nvPr/>
        </p:nvSpPr>
        <p:spPr>
          <a:xfrm>
            <a:off x="5136650" y="3511156"/>
            <a:ext cx="1766886" cy="240506"/>
          </a:xfrm>
          <a:prstGeom prst="rect">
            <a:avLst/>
          </a:prstGeom>
          <a:solidFill>
            <a:srgbClr val="999999"/>
          </a:solidFill>
          <a:ln>
            <a:noFill/>
          </a:ln>
        </p:spPr>
        <p:txBody>
          <a:bodyPr anchorCtr="0" anchor="ctr" bIns="91275" lIns="91275" rIns="91275" tIns="91275">
            <a:noAutofit/>
          </a:bodyPr>
          <a:lstStyle/>
          <a:p>
            <a:pPr indent="0" lvl="0" marL="0" marR="0" rtl="0" algn="l">
              <a:spcBef>
                <a:spcPts val="0"/>
              </a:spcBef>
              <a:buNone/>
            </a:pPr>
            <a:r>
              <a:t/>
            </a:r>
            <a:endParaRPr sz="1400">
              <a:solidFill>
                <a:srgbClr val="000000"/>
              </a:solidFill>
              <a:latin typeface="Arial"/>
              <a:ea typeface="Arial"/>
              <a:cs typeface="Arial"/>
              <a:sym typeface="Arial"/>
            </a:endParaRPr>
          </a:p>
        </p:txBody>
      </p:sp>
      <p:sp>
        <p:nvSpPr>
          <p:cNvPr id="1246" name="Shape 1246"/>
          <p:cNvSpPr/>
          <p:nvPr/>
        </p:nvSpPr>
        <p:spPr>
          <a:xfrm>
            <a:off x="5109619" y="3536158"/>
            <a:ext cx="1765299" cy="240506"/>
          </a:xfrm>
          <a:prstGeom prst="rect">
            <a:avLst/>
          </a:prstGeom>
          <a:solidFill>
            <a:srgbClr val="990000"/>
          </a:solidFill>
          <a:ln>
            <a:noFill/>
          </a:ln>
        </p:spPr>
        <p:txBody>
          <a:bodyPr anchorCtr="0" anchor="ctr" bIns="91275" lIns="91275" rIns="91275" tIns="91275">
            <a:noAutofit/>
          </a:bodyPr>
          <a:lstStyle/>
          <a:p>
            <a:pPr indent="0" lvl="0" marL="0" marR="0" rtl="0" algn="ctr">
              <a:spcBef>
                <a:spcPts val="0"/>
              </a:spcBef>
              <a:buSzPct val="25000"/>
              <a:buNone/>
            </a:pPr>
            <a:r>
              <a:rPr lang="en" sz="1200">
                <a:solidFill>
                  <a:srgbClr val="EFEFEF"/>
                </a:solidFill>
                <a:latin typeface="Arial"/>
                <a:ea typeface="Arial"/>
                <a:cs typeface="Arial"/>
                <a:sym typeface="Arial"/>
              </a:rPr>
              <a:t>NetConf</a:t>
            </a:r>
          </a:p>
        </p:txBody>
      </p:sp>
      <p:sp>
        <p:nvSpPr>
          <p:cNvPr id="1247" name="Shape 1247"/>
          <p:cNvSpPr/>
          <p:nvPr/>
        </p:nvSpPr>
        <p:spPr>
          <a:xfrm>
            <a:off x="7270243" y="3511156"/>
            <a:ext cx="1766886" cy="240506"/>
          </a:xfrm>
          <a:prstGeom prst="rect">
            <a:avLst/>
          </a:prstGeom>
          <a:solidFill>
            <a:srgbClr val="999999"/>
          </a:solidFill>
          <a:ln>
            <a:noFill/>
          </a:ln>
        </p:spPr>
        <p:txBody>
          <a:bodyPr anchorCtr="0" anchor="ctr" bIns="91275" lIns="91275" rIns="91275" tIns="91275">
            <a:noAutofit/>
          </a:bodyPr>
          <a:lstStyle/>
          <a:p>
            <a:pPr indent="0" lvl="0" marL="0" marR="0" rtl="0" algn="l">
              <a:spcBef>
                <a:spcPts val="0"/>
              </a:spcBef>
              <a:buNone/>
            </a:pPr>
            <a:r>
              <a:t/>
            </a:r>
            <a:endParaRPr sz="1400">
              <a:solidFill>
                <a:srgbClr val="000000"/>
              </a:solidFill>
              <a:latin typeface="Arial"/>
              <a:ea typeface="Arial"/>
              <a:cs typeface="Arial"/>
              <a:sym typeface="Arial"/>
            </a:endParaRPr>
          </a:p>
        </p:txBody>
      </p:sp>
      <p:sp>
        <p:nvSpPr>
          <p:cNvPr id="1248" name="Shape 1248"/>
          <p:cNvSpPr/>
          <p:nvPr/>
        </p:nvSpPr>
        <p:spPr>
          <a:xfrm>
            <a:off x="7243220" y="3536158"/>
            <a:ext cx="1765299" cy="240506"/>
          </a:xfrm>
          <a:prstGeom prst="rect">
            <a:avLst/>
          </a:prstGeom>
          <a:solidFill>
            <a:srgbClr val="990000"/>
          </a:solidFill>
          <a:ln>
            <a:noFill/>
          </a:ln>
        </p:spPr>
        <p:txBody>
          <a:bodyPr anchorCtr="0" anchor="ctr" bIns="91275" lIns="91275" rIns="91275" tIns="91275">
            <a:noAutofit/>
          </a:bodyPr>
          <a:lstStyle/>
          <a:p>
            <a:pPr indent="0" lvl="0" marL="0" marR="0" rtl="0" algn="ctr">
              <a:spcBef>
                <a:spcPts val="0"/>
              </a:spcBef>
              <a:buSzPct val="25000"/>
              <a:buNone/>
            </a:pPr>
            <a:r>
              <a:rPr lang="en" sz="1200">
                <a:solidFill>
                  <a:srgbClr val="EFEFEF"/>
                </a:solidFill>
                <a:latin typeface="Arial"/>
                <a:ea typeface="Arial"/>
                <a:cs typeface="Arial"/>
                <a:sym typeface="Arial"/>
              </a:rPr>
              <a:t>. . .</a:t>
            </a:r>
          </a:p>
        </p:txBody>
      </p:sp>
      <p:sp>
        <p:nvSpPr>
          <p:cNvPr id="1249" name="Shape 1249"/>
          <p:cNvSpPr/>
          <p:nvPr/>
        </p:nvSpPr>
        <p:spPr>
          <a:xfrm>
            <a:off x="2982369" y="1168006"/>
            <a:ext cx="6032499" cy="257175"/>
          </a:xfrm>
          <a:prstGeom prst="rect">
            <a:avLst/>
          </a:prstGeom>
          <a:solidFill>
            <a:srgbClr val="1155CC"/>
          </a:solidFill>
          <a:ln>
            <a:noFill/>
          </a:ln>
        </p:spPr>
        <p:txBody>
          <a:bodyPr anchorCtr="0" anchor="ctr" bIns="91275" lIns="91275" rIns="91275" tIns="91275">
            <a:noAutofit/>
          </a:bodyPr>
          <a:lstStyle/>
          <a:p>
            <a:pPr indent="0" lvl="0" marL="0" marR="0" rtl="0" algn="ctr">
              <a:spcBef>
                <a:spcPts val="0"/>
              </a:spcBef>
              <a:buSzPct val="25000"/>
              <a:buNone/>
            </a:pPr>
            <a:r>
              <a:rPr lang="en" sz="1400">
                <a:solidFill>
                  <a:srgbClr val="FFFFFF"/>
                </a:solidFill>
                <a:latin typeface="Arial"/>
                <a:ea typeface="Arial"/>
                <a:cs typeface="Arial"/>
                <a:sym typeface="Arial"/>
              </a:rPr>
              <a:t>Apps</a:t>
            </a:r>
          </a:p>
        </p:txBody>
      </p:sp>
      <p:cxnSp>
        <p:nvCxnSpPr>
          <p:cNvPr id="1250" name="Shape 1250"/>
          <p:cNvCxnSpPr/>
          <p:nvPr/>
        </p:nvCxnSpPr>
        <p:spPr>
          <a:xfrm flipH="1" rot="10800000">
            <a:off x="3514225" y="4096941"/>
            <a:ext cx="1163637" cy="5952"/>
          </a:xfrm>
          <a:prstGeom prst="straightConnector1">
            <a:avLst/>
          </a:prstGeom>
          <a:noFill/>
          <a:ln cap="flat" cmpd="sng" w="19050">
            <a:solidFill>
              <a:schemeClr val="dk2"/>
            </a:solidFill>
            <a:prstDash val="solid"/>
            <a:round/>
            <a:headEnd len="med" w="med" type="none"/>
            <a:tailEnd len="med" w="med" type="none"/>
          </a:ln>
        </p:spPr>
      </p:cxnSp>
      <p:cxnSp>
        <p:nvCxnSpPr>
          <p:cNvPr id="1251" name="Shape 1251"/>
          <p:cNvCxnSpPr/>
          <p:nvPr/>
        </p:nvCxnSpPr>
        <p:spPr>
          <a:xfrm flipH="1" rot="10800000">
            <a:off x="3520544" y="4737502"/>
            <a:ext cx="1298575" cy="11906"/>
          </a:xfrm>
          <a:prstGeom prst="straightConnector1">
            <a:avLst/>
          </a:prstGeom>
          <a:noFill/>
          <a:ln cap="flat" cmpd="sng" w="19050">
            <a:solidFill>
              <a:schemeClr val="dk2"/>
            </a:solidFill>
            <a:prstDash val="solid"/>
            <a:round/>
            <a:headEnd len="med" w="med" type="none"/>
            <a:tailEnd len="med" w="med" type="none"/>
          </a:ln>
        </p:spPr>
      </p:cxnSp>
      <p:cxnSp>
        <p:nvCxnSpPr>
          <p:cNvPr id="1252" name="Shape 1252"/>
          <p:cNvCxnSpPr/>
          <p:nvPr/>
        </p:nvCxnSpPr>
        <p:spPr>
          <a:xfrm>
            <a:off x="4814344" y="4090989"/>
            <a:ext cx="1163638" cy="241697"/>
          </a:xfrm>
          <a:prstGeom prst="straightConnector1">
            <a:avLst/>
          </a:prstGeom>
          <a:noFill/>
          <a:ln cap="flat" cmpd="sng" w="19050">
            <a:solidFill>
              <a:schemeClr val="dk2"/>
            </a:solidFill>
            <a:prstDash val="solid"/>
            <a:round/>
            <a:headEnd len="med" w="med" type="none"/>
            <a:tailEnd len="med" w="med" type="none"/>
          </a:ln>
        </p:spPr>
      </p:cxnSp>
      <p:cxnSp>
        <p:nvCxnSpPr>
          <p:cNvPr id="1253" name="Shape 1253"/>
          <p:cNvCxnSpPr/>
          <p:nvPr/>
        </p:nvCxnSpPr>
        <p:spPr>
          <a:xfrm rot="10800000">
            <a:off x="7294062" y="4102894"/>
            <a:ext cx="1141412" cy="406004"/>
          </a:xfrm>
          <a:prstGeom prst="straightConnector1">
            <a:avLst/>
          </a:prstGeom>
          <a:noFill/>
          <a:ln cap="flat" cmpd="sng" w="19050">
            <a:solidFill>
              <a:schemeClr val="dk2"/>
            </a:solidFill>
            <a:prstDash val="solid"/>
            <a:round/>
            <a:headEnd len="med" w="med" type="none"/>
            <a:tailEnd len="med" w="med" type="none"/>
          </a:ln>
        </p:spPr>
      </p:cxnSp>
      <p:cxnSp>
        <p:nvCxnSpPr>
          <p:cNvPr id="1254" name="Shape 1254"/>
          <p:cNvCxnSpPr/>
          <p:nvPr/>
        </p:nvCxnSpPr>
        <p:spPr>
          <a:xfrm flipH="1">
            <a:off x="7070182" y="4508902"/>
            <a:ext cx="1365250" cy="216693"/>
          </a:xfrm>
          <a:prstGeom prst="straightConnector1">
            <a:avLst/>
          </a:prstGeom>
          <a:noFill/>
          <a:ln cap="flat" cmpd="sng" w="19050">
            <a:solidFill>
              <a:schemeClr val="dk2"/>
            </a:solidFill>
            <a:prstDash val="solid"/>
            <a:round/>
            <a:headEnd len="med" w="med" type="none"/>
            <a:tailEnd len="med" w="med" type="none"/>
          </a:ln>
        </p:spPr>
      </p:cxnSp>
      <p:cxnSp>
        <p:nvCxnSpPr>
          <p:cNvPr id="1255" name="Shape 1255"/>
          <p:cNvCxnSpPr/>
          <p:nvPr/>
        </p:nvCxnSpPr>
        <p:spPr>
          <a:xfrm flipH="1">
            <a:off x="7011444" y="4096974"/>
            <a:ext cx="312737" cy="629840"/>
          </a:xfrm>
          <a:prstGeom prst="straightConnector1">
            <a:avLst/>
          </a:prstGeom>
          <a:noFill/>
          <a:ln cap="flat" cmpd="sng" w="19050">
            <a:solidFill>
              <a:schemeClr val="dk2"/>
            </a:solidFill>
            <a:prstDash val="solid"/>
            <a:round/>
            <a:headEnd len="med" w="med" type="none"/>
            <a:tailEnd len="med" w="med" type="none"/>
          </a:ln>
        </p:spPr>
      </p:cxnSp>
      <p:cxnSp>
        <p:nvCxnSpPr>
          <p:cNvPr id="1256" name="Shape 1256"/>
          <p:cNvCxnSpPr/>
          <p:nvPr/>
        </p:nvCxnSpPr>
        <p:spPr>
          <a:xfrm rot="10800000">
            <a:off x="6030370" y="4344622"/>
            <a:ext cx="876300" cy="392906"/>
          </a:xfrm>
          <a:prstGeom prst="straightConnector1">
            <a:avLst/>
          </a:prstGeom>
          <a:noFill/>
          <a:ln cap="flat" cmpd="sng" w="19050">
            <a:solidFill>
              <a:schemeClr val="dk2"/>
            </a:solidFill>
            <a:prstDash val="solid"/>
            <a:round/>
            <a:headEnd len="med" w="med" type="none"/>
            <a:tailEnd len="med" w="med" type="none"/>
          </a:ln>
        </p:spPr>
      </p:cxnSp>
      <p:cxnSp>
        <p:nvCxnSpPr>
          <p:cNvPr id="1257" name="Shape 1257"/>
          <p:cNvCxnSpPr/>
          <p:nvPr/>
        </p:nvCxnSpPr>
        <p:spPr>
          <a:xfrm flipH="1" rot="10800000">
            <a:off x="4849269" y="4332685"/>
            <a:ext cx="1087437" cy="376237"/>
          </a:xfrm>
          <a:prstGeom prst="straightConnector1">
            <a:avLst/>
          </a:prstGeom>
          <a:noFill/>
          <a:ln cap="flat" cmpd="sng" w="19050">
            <a:solidFill>
              <a:schemeClr val="dk2"/>
            </a:solidFill>
            <a:prstDash val="solid"/>
            <a:round/>
            <a:headEnd len="med" w="med" type="none"/>
            <a:tailEnd len="med" w="med" type="none"/>
          </a:ln>
        </p:spPr>
      </p:cxnSp>
      <p:cxnSp>
        <p:nvCxnSpPr>
          <p:cNvPr id="1258" name="Shape 1258"/>
          <p:cNvCxnSpPr/>
          <p:nvPr/>
        </p:nvCxnSpPr>
        <p:spPr>
          <a:xfrm flipH="1" rot="10800000">
            <a:off x="3555500" y="4102896"/>
            <a:ext cx="1246187" cy="600074"/>
          </a:xfrm>
          <a:prstGeom prst="straightConnector1">
            <a:avLst/>
          </a:prstGeom>
          <a:noFill/>
          <a:ln cap="flat" cmpd="sng" w="19050">
            <a:solidFill>
              <a:schemeClr val="dk2"/>
            </a:solidFill>
            <a:prstDash val="solid"/>
            <a:round/>
            <a:headEnd len="med" w="med" type="none"/>
            <a:tailEnd len="med" w="med" type="none"/>
          </a:ln>
        </p:spPr>
      </p:cxnSp>
      <p:cxnSp>
        <p:nvCxnSpPr>
          <p:cNvPr id="1259" name="Shape 1259"/>
          <p:cNvCxnSpPr/>
          <p:nvPr/>
        </p:nvCxnSpPr>
        <p:spPr>
          <a:xfrm flipH="1">
            <a:off x="5954170" y="4096941"/>
            <a:ext cx="1263650" cy="223837"/>
          </a:xfrm>
          <a:prstGeom prst="straightConnector1">
            <a:avLst/>
          </a:prstGeom>
          <a:noFill/>
          <a:ln cap="flat" cmpd="sng" w="19050">
            <a:solidFill>
              <a:schemeClr val="dk2"/>
            </a:solidFill>
            <a:prstDash val="solid"/>
            <a:round/>
            <a:headEnd len="med" w="med" type="none"/>
            <a:tailEnd len="med" w="med" type="none"/>
          </a:ln>
        </p:spPr>
      </p:cxnSp>
      <p:cxnSp>
        <p:nvCxnSpPr>
          <p:cNvPr id="1260" name="Shape 1260"/>
          <p:cNvCxnSpPr/>
          <p:nvPr/>
        </p:nvCxnSpPr>
        <p:spPr>
          <a:xfrm>
            <a:off x="4936582" y="4725597"/>
            <a:ext cx="2011362" cy="17858"/>
          </a:xfrm>
          <a:prstGeom prst="straightConnector1">
            <a:avLst/>
          </a:prstGeom>
          <a:noFill/>
          <a:ln cap="flat" cmpd="sng" w="19050">
            <a:solidFill>
              <a:schemeClr val="dk2"/>
            </a:solidFill>
            <a:prstDash val="solid"/>
            <a:round/>
            <a:headEnd len="med" w="med" type="none"/>
            <a:tailEnd len="med" w="med" type="none"/>
          </a:ln>
        </p:spPr>
      </p:cxnSp>
      <p:pic>
        <p:nvPicPr>
          <p:cNvPr id="1261" name="Shape 1261"/>
          <p:cNvPicPr preferRelativeResize="0"/>
          <p:nvPr/>
        </p:nvPicPr>
        <p:blipFill rotWithShape="1">
          <a:blip r:embed="rId3">
            <a:alphaModFix/>
          </a:blip>
          <a:srcRect b="0" l="0" r="0" t="0"/>
          <a:stretch/>
        </p:blipFill>
        <p:spPr>
          <a:xfrm>
            <a:off x="3131594" y="4507705"/>
            <a:ext cx="768349" cy="482203"/>
          </a:xfrm>
          <a:prstGeom prst="rect">
            <a:avLst/>
          </a:prstGeom>
          <a:noFill/>
          <a:ln>
            <a:noFill/>
          </a:ln>
        </p:spPr>
      </p:pic>
      <p:pic>
        <p:nvPicPr>
          <p:cNvPr id="1262" name="Shape 1262"/>
          <p:cNvPicPr preferRelativeResize="0"/>
          <p:nvPr/>
        </p:nvPicPr>
        <p:blipFill rotWithShape="1">
          <a:blip r:embed="rId3">
            <a:alphaModFix/>
          </a:blip>
          <a:srcRect b="0" l="0" r="0" t="0"/>
          <a:stretch/>
        </p:blipFill>
        <p:spPr>
          <a:xfrm>
            <a:off x="8084595" y="4279105"/>
            <a:ext cx="768349" cy="482203"/>
          </a:xfrm>
          <a:prstGeom prst="rect">
            <a:avLst/>
          </a:prstGeom>
          <a:noFill/>
          <a:ln>
            <a:noFill/>
          </a:ln>
        </p:spPr>
      </p:pic>
      <p:pic>
        <p:nvPicPr>
          <p:cNvPr id="1263" name="Shape 1263"/>
          <p:cNvPicPr preferRelativeResize="0"/>
          <p:nvPr/>
        </p:nvPicPr>
        <p:blipFill rotWithShape="1">
          <a:blip r:embed="rId3">
            <a:alphaModFix/>
          </a:blip>
          <a:srcRect b="0" l="0" r="0" t="0"/>
          <a:stretch/>
        </p:blipFill>
        <p:spPr>
          <a:xfrm>
            <a:off x="7017795" y="3898106"/>
            <a:ext cx="768349" cy="482203"/>
          </a:xfrm>
          <a:prstGeom prst="rect">
            <a:avLst/>
          </a:prstGeom>
          <a:noFill/>
          <a:ln>
            <a:noFill/>
          </a:ln>
        </p:spPr>
      </p:pic>
      <p:pic>
        <p:nvPicPr>
          <p:cNvPr id="1264" name="Shape 1264"/>
          <p:cNvPicPr preferRelativeResize="0"/>
          <p:nvPr/>
        </p:nvPicPr>
        <p:blipFill rotWithShape="1">
          <a:blip r:embed="rId3">
            <a:alphaModFix/>
          </a:blip>
          <a:srcRect b="0" l="0" r="0" t="0"/>
          <a:stretch/>
        </p:blipFill>
        <p:spPr>
          <a:xfrm>
            <a:off x="6636795" y="4507705"/>
            <a:ext cx="768349" cy="482203"/>
          </a:xfrm>
          <a:prstGeom prst="rect">
            <a:avLst/>
          </a:prstGeom>
          <a:noFill/>
          <a:ln>
            <a:noFill/>
          </a:ln>
        </p:spPr>
      </p:pic>
      <p:pic>
        <p:nvPicPr>
          <p:cNvPr id="1265" name="Shape 1265"/>
          <p:cNvPicPr preferRelativeResize="0"/>
          <p:nvPr/>
        </p:nvPicPr>
        <p:blipFill rotWithShape="1">
          <a:blip r:embed="rId3">
            <a:alphaModFix/>
          </a:blip>
          <a:srcRect b="0" l="0" r="0" t="0"/>
          <a:stretch/>
        </p:blipFill>
        <p:spPr>
          <a:xfrm>
            <a:off x="5646194" y="4126706"/>
            <a:ext cx="768349" cy="482203"/>
          </a:xfrm>
          <a:prstGeom prst="rect">
            <a:avLst/>
          </a:prstGeom>
          <a:noFill/>
          <a:ln>
            <a:noFill/>
          </a:ln>
        </p:spPr>
      </p:pic>
      <p:pic>
        <p:nvPicPr>
          <p:cNvPr id="1266" name="Shape 1266"/>
          <p:cNvPicPr preferRelativeResize="0"/>
          <p:nvPr/>
        </p:nvPicPr>
        <p:blipFill rotWithShape="1">
          <a:blip r:embed="rId3">
            <a:alphaModFix/>
          </a:blip>
          <a:srcRect b="0" l="0" r="0" t="0"/>
          <a:stretch/>
        </p:blipFill>
        <p:spPr>
          <a:xfrm>
            <a:off x="4426994" y="3898106"/>
            <a:ext cx="768349" cy="482203"/>
          </a:xfrm>
          <a:prstGeom prst="rect">
            <a:avLst/>
          </a:prstGeom>
          <a:noFill/>
          <a:ln>
            <a:noFill/>
          </a:ln>
        </p:spPr>
      </p:pic>
      <p:cxnSp>
        <p:nvCxnSpPr>
          <p:cNvPr id="1267" name="Shape 1267"/>
          <p:cNvCxnSpPr/>
          <p:nvPr/>
        </p:nvCxnSpPr>
        <p:spPr>
          <a:xfrm>
            <a:off x="3455485" y="4132661"/>
            <a:ext cx="1363662" cy="610790"/>
          </a:xfrm>
          <a:prstGeom prst="straightConnector1">
            <a:avLst/>
          </a:prstGeom>
          <a:noFill/>
          <a:ln cap="flat" cmpd="sng" w="19050">
            <a:solidFill>
              <a:schemeClr val="dk2"/>
            </a:solidFill>
            <a:prstDash val="solid"/>
            <a:round/>
            <a:headEnd len="med" w="med" type="none"/>
            <a:tailEnd len="med" w="med" type="none"/>
          </a:ln>
        </p:spPr>
      </p:cxnSp>
      <p:pic>
        <p:nvPicPr>
          <p:cNvPr id="1268" name="Shape 1268"/>
          <p:cNvPicPr preferRelativeResize="0"/>
          <p:nvPr/>
        </p:nvPicPr>
        <p:blipFill rotWithShape="1">
          <a:blip r:embed="rId3">
            <a:alphaModFix/>
          </a:blip>
          <a:srcRect b="0" l="0" r="0" t="0"/>
          <a:stretch/>
        </p:blipFill>
        <p:spPr>
          <a:xfrm>
            <a:off x="3060197" y="3915999"/>
            <a:ext cx="769937" cy="482202"/>
          </a:xfrm>
          <a:prstGeom prst="rect">
            <a:avLst/>
          </a:prstGeom>
          <a:noFill/>
          <a:ln>
            <a:noFill/>
          </a:ln>
        </p:spPr>
      </p:pic>
      <p:pic>
        <p:nvPicPr>
          <p:cNvPr id="1269" name="Shape 1269"/>
          <p:cNvPicPr preferRelativeResize="0"/>
          <p:nvPr/>
        </p:nvPicPr>
        <p:blipFill rotWithShape="1">
          <a:blip r:embed="rId3">
            <a:alphaModFix/>
          </a:blip>
          <a:srcRect b="0" l="0" r="0" t="0"/>
          <a:stretch/>
        </p:blipFill>
        <p:spPr>
          <a:xfrm>
            <a:off x="4503194" y="4507705"/>
            <a:ext cx="768349" cy="482203"/>
          </a:xfrm>
          <a:prstGeom prst="rect">
            <a:avLst/>
          </a:prstGeom>
          <a:noFill/>
          <a:ln>
            <a:noFill/>
          </a:ln>
        </p:spPr>
      </p:pic>
      <p:sp>
        <p:nvSpPr>
          <p:cNvPr id="1270" name="Shape 1270"/>
          <p:cNvSpPr/>
          <p:nvPr/>
        </p:nvSpPr>
        <p:spPr>
          <a:xfrm>
            <a:off x="2976061" y="2260997"/>
            <a:ext cx="6030913" cy="586978"/>
          </a:xfrm>
          <a:prstGeom prst="rect">
            <a:avLst/>
          </a:prstGeom>
          <a:solidFill>
            <a:srgbClr val="434343"/>
          </a:solidFill>
          <a:ln>
            <a:noFill/>
          </a:ln>
        </p:spPr>
        <p:txBody>
          <a:bodyPr anchorCtr="0" anchor="ctr" bIns="91275" lIns="91275" rIns="91275" tIns="91275">
            <a:noAutofit/>
          </a:bodyPr>
          <a:lstStyle/>
          <a:p>
            <a:pPr indent="0" lvl="0" marL="0" marR="0" rtl="0" algn="ctr">
              <a:spcBef>
                <a:spcPts val="0"/>
              </a:spcBef>
              <a:buSzPct val="25000"/>
              <a:buNone/>
            </a:pPr>
            <a:r>
              <a:rPr lang="en" sz="1400">
                <a:solidFill>
                  <a:srgbClr val="EFEFEF"/>
                </a:solidFill>
                <a:latin typeface="Arial"/>
                <a:ea typeface="Arial"/>
                <a:cs typeface="Arial"/>
                <a:sym typeface="Arial"/>
              </a:rPr>
              <a:t>Distributed Core</a:t>
            </a:r>
          </a:p>
          <a:p>
            <a:pPr indent="0" lvl="0" marL="0" marR="0" rtl="0" algn="ctr">
              <a:spcBef>
                <a:spcPts val="0"/>
              </a:spcBef>
              <a:buSzPct val="25000"/>
              <a:buNone/>
            </a:pPr>
            <a:r>
              <a:rPr i="1" lang="en" sz="1200">
                <a:solidFill>
                  <a:srgbClr val="EFEFEF"/>
                </a:solidFill>
                <a:latin typeface="Arial"/>
                <a:ea typeface="Arial"/>
                <a:cs typeface="Arial"/>
                <a:sym typeface="Arial"/>
              </a:rPr>
              <a:t>(scalability, availability, performance, persistence)</a:t>
            </a:r>
          </a:p>
        </p:txBody>
      </p:sp>
      <p:sp>
        <p:nvSpPr>
          <p:cNvPr id="1271" name="Shape 1271"/>
          <p:cNvSpPr/>
          <p:nvPr/>
        </p:nvSpPr>
        <p:spPr>
          <a:xfrm>
            <a:off x="2976061" y="2882506"/>
            <a:ext cx="6030913" cy="329803"/>
          </a:xfrm>
          <a:prstGeom prst="rect">
            <a:avLst/>
          </a:prstGeom>
          <a:solidFill>
            <a:srgbClr val="38761D"/>
          </a:solidFill>
          <a:ln>
            <a:noFill/>
          </a:ln>
        </p:spPr>
        <p:txBody>
          <a:bodyPr anchorCtr="0" anchor="ctr" bIns="91275" lIns="91275" rIns="91275" tIns="91275">
            <a:noAutofit/>
          </a:bodyPr>
          <a:lstStyle/>
          <a:p>
            <a:pPr indent="0" lvl="0" marL="0" marR="0" rtl="0" algn="ctr">
              <a:spcBef>
                <a:spcPts val="0"/>
              </a:spcBef>
              <a:buSzPct val="25000"/>
              <a:buNone/>
            </a:pPr>
            <a:r>
              <a:rPr lang="en" sz="1400">
                <a:solidFill>
                  <a:srgbClr val="EFEFEF"/>
                </a:solidFill>
                <a:latin typeface="Arial"/>
                <a:ea typeface="Arial"/>
                <a:cs typeface="Arial"/>
                <a:sym typeface="Arial"/>
              </a:rPr>
              <a:t>Southbound</a:t>
            </a:r>
          </a:p>
          <a:p>
            <a:pPr indent="0" lvl="0" marL="0" marR="0" rtl="0" algn="ctr">
              <a:spcBef>
                <a:spcPts val="0"/>
              </a:spcBef>
              <a:buSzPct val="25000"/>
              <a:buNone/>
            </a:pPr>
            <a:r>
              <a:rPr i="1" lang="en" sz="1200">
                <a:solidFill>
                  <a:srgbClr val="EFEFEF"/>
                </a:solidFill>
                <a:latin typeface="Arial"/>
                <a:ea typeface="Arial"/>
                <a:cs typeface="Arial"/>
                <a:sym typeface="Arial"/>
              </a:rPr>
              <a:t>(discover, observe, program, configure)</a:t>
            </a:r>
          </a:p>
        </p:txBody>
      </p:sp>
      <p:sp>
        <p:nvSpPr>
          <p:cNvPr id="1272" name="Shape 1272"/>
          <p:cNvSpPr txBox="1"/>
          <p:nvPr/>
        </p:nvSpPr>
        <p:spPr>
          <a:xfrm>
            <a:off x="35875" y="1116376"/>
            <a:ext cx="2865600" cy="1033800"/>
          </a:xfrm>
          <a:prstGeom prst="rect">
            <a:avLst/>
          </a:prstGeom>
          <a:noFill/>
          <a:ln>
            <a:noFill/>
          </a:ln>
        </p:spPr>
        <p:txBody>
          <a:bodyPr anchorCtr="0" anchor="t" bIns="91275" lIns="91275" rIns="91275" tIns="91275">
            <a:noAutofit/>
          </a:bodyPr>
          <a:lstStyle/>
          <a:p>
            <a:pPr indent="0" lvl="0" marL="0" marR="0" rtl="0" algn="l">
              <a:spcBef>
                <a:spcPts val="0"/>
              </a:spcBef>
              <a:buSzPct val="25000"/>
              <a:buNone/>
            </a:pPr>
            <a:r>
              <a:rPr b="1" lang="en" sz="1600">
                <a:solidFill>
                  <a:srgbClr val="000000"/>
                </a:solidFill>
                <a:latin typeface="Arial"/>
                <a:ea typeface="Arial"/>
                <a:cs typeface="Arial"/>
                <a:sym typeface="Arial"/>
              </a:rPr>
              <a:t>A. Device and Link Sensing</a:t>
            </a:r>
          </a:p>
          <a:p>
            <a:pPr indent="-285405" lvl="0" marL="285405" marR="0" rtl="0" algn="l">
              <a:spcBef>
                <a:spcPts val="0"/>
              </a:spcBef>
              <a:buClr>
                <a:srgbClr val="000000"/>
              </a:buClr>
              <a:buSzPct val="100000"/>
              <a:buFont typeface="Arial"/>
              <a:buChar char="•"/>
            </a:pPr>
            <a:r>
              <a:rPr lang="en" sz="1600">
                <a:solidFill>
                  <a:srgbClr val="000000"/>
                </a:solidFill>
                <a:latin typeface="Arial"/>
                <a:ea typeface="Arial"/>
                <a:cs typeface="Arial"/>
                <a:sym typeface="Arial"/>
              </a:rPr>
              <a:t>&lt; 100ms</a:t>
            </a:r>
          </a:p>
          <a:p>
            <a:pPr indent="-285404" lvl="0" marL="285404" marR="0" rtl="0" algn="l">
              <a:spcBef>
                <a:spcPts val="0"/>
              </a:spcBef>
              <a:buClr>
                <a:srgbClr val="000000"/>
              </a:buClr>
              <a:buSzPct val="100000"/>
              <a:buFont typeface="Arial"/>
              <a:buChar char="•"/>
            </a:pPr>
            <a:r>
              <a:rPr lang="en" sz="1600">
                <a:solidFill>
                  <a:srgbClr val="000000"/>
                </a:solidFill>
                <a:latin typeface="Arial"/>
                <a:ea typeface="Arial"/>
                <a:cs typeface="Arial"/>
                <a:sym typeface="Arial"/>
              </a:rPr>
              <a:t>ONOS part &lt;10ms</a:t>
            </a:r>
          </a:p>
        </p:txBody>
      </p:sp>
      <p:sp>
        <p:nvSpPr>
          <p:cNvPr id="1273" name="Shape 1273"/>
          <p:cNvSpPr/>
          <p:nvPr/>
        </p:nvSpPr>
        <p:spPr>
          <a:xfrm>
            <a:off x="2982369" y="1962150"/>
            <a:ext cx="6032499" cy="255985"/>
          </a:xfrm>
          <a:prstGeom prst="rect">
            <a:avLst/>
          </a:prstGeom>
          <a:solidFill>
            <a:srgbClr val="E36C09"/>
          </a:solidFill>
          <a:ln>
            <a:noFill/>
          </a:ln>
        </p:spPr>
        <p:txBody>
          <a:bodyPr anchorCtr="0" anchor="ctr" bIns="91275" lIns="91275" rIns="91275" tIns="91275">
            <a:noAutofit/>
          </a:bodyPr>
          <a:lstStyle/>
          <a:p>
            <a:pPr indent="0" lvl="0" marL="0" marR="0" rtl="0" algn="ctr">
              <a:spcBef>
                <a:spcPts val="0"/>
              </a:spcBef>
              <a:buSzPct val="25000"/>
              <a:buNone/>
            </a:pPr>
            <a:r>
              <a:rPr lang="en" sz="1400">
                <a:solidFill>
                  <a:srgbClr val="FFFFFF"/>
                </a:solidFill>
                <a:latin typeface="Arial"/>
                <a:ea typeface="Arial"/>
                <a:cs typeface="Arial"/>
                <a:sym typeface="Arial"/>
              </a:rPr>
              <a:t>Flow rule subsystem</a:t>
            </a:r>
          </a:p>
        </p:txBody>
      </p:sp>
      <p:sp>
        <p:nvSpPr>
          <p:cNvPr id="1274" name="Shape 1274"/>
          <p:cNvSpPr/>
          <p:nvPr/>
        </p:nvSpPr>
        <p:spPr>
          <a:xfrm>
            <a:off x="2980783" y="3244457"/>
            <a:ext cx="1765299" cy="240506"/>
          </a:xfrm>
          <a:prstGeom prst="rect">
            <a:avLst/>
          </a:prstGeom>
          <a:solidFill>
            <a:srgbClr val="BA071F"/>
          </a:solidFill>
          <a:ln>
            <a:noFill/>
          </a:ln>
        </p:spPr>
        <p:txBody>
          <a:bodyPr anchorCtr="0" anchor="ctr" bIns="91275" lIns="91275" rIns="91275" tIns="91275">
            <a:noAutofit/>
          </a:bodyPr>
          <a:lstStyle/>
          <a:p>
            <a:pPr indent="0" lvl="0" marL="0" marR="0" rtl="0" algn="ctr">
              <a:spcBef>
                <a:spcPts val="0"/>
              </a:spcBef>
              <a:buSzPct val="25000"/>
              <a:buNone/>
            </a:pPr>
            <a:r>
              <a:rPr lang="en" sz="1200">
                <a:solidFill>
                  <a:srgbClr val="EFEFEF"/>
                </a:solidFill>
                <a:latin typeface="Arial"/>
                <a:ea typeface="Arial"/>
                <a:cs typeface="Arial"/>
                <a:sym typeface="Arial"/>
              </a:rPr>
              <a:t>Adapter</a:t>
            </a:r>
          </a:p>
        </p:txBody>
      </p:sp>
      <p:sp>
        <p:nvSpPr>
          <p:cNvPr id="1275" name="Shape 1275"/>
          <p:cNvSpPr/>
          <p:nvPr/>
        </p:nvSpPr>
        <p:spPr>
          <a:xfrm>
            <a:off x="5114382" y="3244457"/>
            <a:ext cx="1765299" cy="240506"/>
          </a:xfrm>
          <a:prstGeom prst="rect">
            <a:avLst/>
          </a:prstGeom>
          <a:solidFill>
            <a:srgbClr val="BA071F"/>
          </a:solidFill>
          <a:ln>
            <a:noFill/>
          </a:ln>
        </p:spPr>
        <p:txBody>
          <a:bodyPr anchorCtr="0" anchor="ctr" bIns="91275" lIns="91275" rIns="91275" tIns="91275">
            <a:noAutofit/>
          </a:bodyPr>
          <a:lstStyle/>
          <a:p>
            <a:pPr indent="0" lvl="0" marL="0" marR="0" rtl="0" algn="ctr">
              <a:spcBef>
                <a:spcPts val="0"/>
              </a:spcBef>
              <a:buSzPct val="25000"/>
              <a:buNone/>
            </a:pPr>
            <a:r>
              <a:rPr lang="en" sz="1200">
                <a:solidFill>
                  <a:srgbClr val="EFEFEF"/>
                </a:solidFill>
                <a:latin typeface="Arial"/>
                <a:ea typeface="Arial"/>
                <a:cs typeface="Arial"/>
                <a:sym typeface="Arial"/>
              </a:rPr>
              <a:t>Adapter</a:t>
            </a:r>
          </a:p>
        </p:txBody>
      </p:sp>
      <p:sp>
        <p:nvSpPr>
          <p:cNvPr id="1276" name="Shape 1276"/>
          <p:cNvSpPr/>
          <p:nvPr/>
        </p:nvSpPr>
        <p:spPr>
          <a:xfrm>
            <a:off x="7247982" y="3244457"/>
            <a:ext cx="1765299" cy="240506"/>
          </a:xfrm>
          <a:prstGeom prst="rect">
            <a:avLst/>
          </a:prstGeom>
          <a:solidFill>
            <a:srgbClr val="BA071F"/>
          </a:solidFill>
          <a:ln>
            <a:noFill/>
          </a:ln>
        </p:spPr>
        <p:txBody>
          <a:bodyPr anchorCtr="0" anchor="ctr" bIns="91275" lIns="91275" rIns="91275" tIns="91275">
            <a:noAutofit/>
          </a:bodyPr>
          <a:lstStyle/>
          <a:p>
            <a:pPr indent="0" lvl="0" marL="0" marR="0" rtl="0" algn="ctr">
              <a:spcBef>
                <a:spcPts val="0"/>
              </a:spcBef>
              <a:buSzPct val="25000"/>
              <a:buNone/>
            </a:pPr>
            <a:r>
              <a:rPr lang="en" sz="1200">
                <a:solidFill>
                  <a:srgbClr val="EFEFEF"/>
                </a:solidFill>
                <a:latin typeface="Arial"/>
                <a:ea typeface="Arial"/>
                <a:cs typeface="Arial"/>
                <a:sym typeface="Arial"/>
              </a:rPr>
              <a:t>. . .</a:t>
            </a:r>
          </a:p>
        </p:txBody>
      </p:sp>
      <p:cxnSp>
        <p:nvCxnSpPr>
          <p:cNvPr id="1277" name="Shape 1277"/>
          <p:cNvCxnSpPr/>
          <p:nvPr/>
        </p:nvCxnSpPr>
        <p:spPr>
          <a:xfrm rot="10800000">
            <a:off x="3391944" y="2399115"/>
            <a:ext cx="0" cy="1618058"/>
          </a:xfrm>
          <a:prstGeom prst="straightConnector1">
            <a:avLst/>
          </a:prstGeom>
          <a:noFill/>
          <a:ln cap="flat" cmpd="sng" w="25400">
            <a:solidFill>
              <a:schemeClr val="dk1"/>
            </a:solidFill>
            <a:prstDash val="solid"/>
            <a:round/>
            <a:headEnd len="med" w="med" type="none"/>
            <a:tailEnd len="lg" w="lg" type="stealth"/>
          </a:ln>
        </p:spPr>
      </p:cxnSp>
      <p:cxnSp>
        <p:nvCxnSpPr>
          <p:cNvPr id="1278" name="Shape 1278"/>
          <p:cNvCxnSpPr/>
          <p:nvPr/>
        </p:nvCxnSpPr>
        <p:spPr>
          <a:xfrm rot="10800000">
            <a:off x="3988844" y="2399116"/>
            <a:ext cx="0" cy="1697831"/>
          </a:xfrm>
          <a:prstGeom prst="straightConnector1">
            <a:avLst/>
          </a:prstGeom>
          <a:noFill/>
          <a:ln cap="flat" cmpd="sng" w="25400">
            <a:solidFill>
              <a:schemeClr val="dk1"/>
            </a:solidFill>
            <a:prstDash val="solid"/>
            <a:round/>
            <a:headEnd len="med" w="med" type="none"/>
            <a:tailEnd len="lg" w="lg" type="stealth"/>
          </a:ln>
        </p:spPr>
      </p:cxnSp>
      <p:sp>
        <p:nvSpPr>
          <p:cNvPr id="1279" name="Shape 1279"/>
          <p:cNvSpPr/>
          <p:nvPr/>
        </p:nvSpPr>
        <p:spPr>
          <a:xfrm>
            <a:off x="4149182" y="1425183"/>
            <a:ext cx="322262" cy="1819275"/>
          </a:xfrm>
          <a:prstGeom prst="downArrow">
            <a:avLst>
              <a:gd fmla="val 50000" name="adj1"/>
              <a:gd fmla="val 50000" name="adj2"/>
            </a:avLst>
          </a:prstGeom>
          <a:solidFill>
            <a:srgbClr val="A5A5A5"/>
          </a:solidFill>
          <a:ln cap="flat" cmpd="sng" w="9525">
            <a:solidFill>
              <a:srgbClr val="4A7DBA"/>
            </a:solidFill>
            <a:prstDash val="solid"/>
            <a:round/>
            <a:headEnd len="med" w="med" type="none"/>
            <a:tailEnd len="med" w="med" type="none"/>
          </a:ln>
        </p:spPr>
        <p:txBody>
          <a:bodyPr anchorCtr="0" anchor="ctr" bIns="45650" lIns="91300" rIns="91300" tIns="45650">
            <a:noAutofit/>
          </a:bodyPr>
          <a:lstStyle/>
          <a:p>
            <a:pPr indent="0" lvl="0" marL="0" marR="0" rtl="0" algn="ctr">
              <a:spcBef>
                <a:spcPts val="0"/>
              </a:spcBef>
              <a:buNone/>
            </a:pPr>
            <a:r>
              <a:t/>
            </a:r>
            <a:endParaRPr sz="1800">
              <a:solidFill>
                <a:srgbClr val="FFFFFF"/>
              </a:solidFill>
              <a:latin typeface="Arial"/>
              <a:ea typeface="Arial"/>
              <a:cs typeface="Arial"/>
              <a:sym typeface="Arial"/>
            </a:endParaRPr>
          </a:p>
        </p:txBody>
      </p:sp>
      <p:cxnSp>
        <p:nvCxnSpPr>
          <p:cNvPr id="1280" name="Shape 1280"/>
          <p:cNvCxnSpPr/>
          <p:nvPr/>
        </p:nvCxnSpPr>
        <p:spPr>
          <a:xfrm>
            <a:off x="4619082" y="1425178"/>
            <a:ext cx="0" cy="1787128"/>
          </a:xfrm>
          <a:prstGeom prst="straightConnector1">
            <a:avLst/>
          </a:prstGeom>
          <a:noFill/>
          <a:ln cap="flat" cmpd="sng" w="25400">
            <a:solidFill>
              <a:srgbClr val="000000"/>
            </a:solidFill>
            <a:prstDash val="solid"/>
            <a:round/>
            <a:headEnd len="med" w="med" type="none"/>
            <a:tailEnd len="lg" w="lg" type="stealth"/>
          </a:ln>
        </p:spPr>
      </p:cxnSp>
      <p:sp>
        <p:nvSpPr>
          <p:cNvPr id="1281" name="Shape 1281"/>
          <p:cNvSpPr/>
          <p:nvPr/>
        </p:nvSpPr>
        <p:spPr>
          <a:xfrm>
            <a:off x="8084632" y="2119312"/>
            <a:ext cx="322263" cy="1153716"/>
          </a:xfrm>
          <a:prstGeom prst="downArrow">
            <a:avLst>
              <a:gd fmla="val 50000" name="adj1"/>
              <a:gd fmla="val 50000" name="adj2"/>
            </a:avLst>
          </a:prstGeom>
          <a:solidFill>
            <a:srgbClr val="A5A5A5"/>
          </a:solidFill>
          <a:ln cap="flat" cmpd="sng" w="9525">
            <a:solidFill>
              <a:srgbClr val="4A7DBA"/>
            </a:solidFill>
            <a:prstDash val="solid"/>
            <a:round/>
            <a:headEnd len="med" w="med" type="none"/>
            <a:tailEnd len="med" w="med" type="none"/>
          </a:ln>
        </p:spPr>
        <p:txBody>
          <a:bodyPr anchorCtr="0" anchor="ctr" bIns="45650" lIns="91300" rIns="91300" tIns="45650">
            <a:noAutofit/>
          </a:bodyPr>
          <a:lstStyle/>
          <a:p>
            <a:pPr indent="0" lvl="0" marL="0" marR="0" rtl="0" algn="ctr">
              <a:spcBef>
                <a:spcPts val="0"/>
              </a:spcBef>
              <a:buNone/>
            </a:pPr>
            <a:r>
              <a:t/>
            </a:r>
            <a:endParaRPr sz="1800">
              <a:solidFill>
                <a:srgbClr val="FFFFFF"/>
              </a:solidFill>
              <a:latin typeface="Arial"/>
              <a:ea typeface="Arial"/>
              <a:cs typeface="Arial"/>
              <a:sym typeface="Arial"/>
            </a:endParaRPr>
          </a:p>
        </p:txBody>
      </p:sp>
      <p:sp>
        <p:nvSpPr>
          <p:cNvPr id="1282" name="Shape 1282"/>
          <p:cNvSpPr/>
          <p:nvPr/>
        </p:nvSpPr>
        <p:spPr>
          <a:xfrm>
            <a:off x="3514182" y="2357439"/>
            <a:ext cx="379412" cy="223837"/>
          </a:xfrm>
          <a:prstGeom prst="hexagon">
            <a:avLst>
              <a:gd fmla="val 25000" name="adj"/>
              <a:gd fmla="val 115470" name="vf"/>
            </a:avLst>
          </a:prstGeom>
          <a:solidFill>
            <a:srgbClr val="953734"/>
          </a:solidFill>
          <a:ln cap="flat" cmpd="sng" w="9525">
            <a:solidFill>
              <a:schemeClr val="dk1"/>
            </a:solidFill>
            <a:prstDash val="solid"/>
            <a:round/>
            <a:headEnd len="med" w="med" type="none"/>
            <a:tailEnd len="med" w="med" type="none"/>
          </a:ln>
        </p:spPr>
        <p:txBody>
          <a:bodyPr anchorCtr="0" anchor="ctr" bIns="45650" lIns="91300" rIns="91300" tIns="45650">
            <a:noAutofit/>
          </a:bodyPr>
          <a:lstStyle/>
          <a:p>
            <a:pPr indent="0" lvl="0" marL="0" marR="0" rtl="0" algn="ctr">
              <a:spcBef>
                <a:spcPts val="0"/>
              </a:spcBef>
              <a:buSzPct val="25000"/>
              <a:buNone/>
            </a:pPr>
            <a:r>
              <a:rPr lang="en" sz="1600">
                <a:solidFill>
                  <a:srgbClr val="000000"/>
                </a:solidFill>
                <a:latin typeface="Arial"/>
                <a:ea typeface="Arial"/>
                <a:cs typeface="Arial"/>
                <a:sym typeface="Arial"/>
              </a:rPr>
              <a:t>A</a:t>
            </a:r>
          </a:p>
        </p:txBody>
      </p:sp>
      <p:sp>
        <p:nvSpPr>
          <p:cNvPr id="1283" name="Shape 1283"/>
          <p:cNvSpPr/>
          <p:nvPr/>
        </p:nvSpPr>
        <p:spPr>
          <a:xfrm>
            <a:off x="4125369" y="1850234"/>
            <a:ext cx="381000" cy="223837"/>
          </a:xfrm>
          <a:prstGeom prst="hexagon">
            <a:avLst>
              <a:gd fmla="val 25000" name="adj"/>
              <a:gd fmla="val 115470" name="vf"/>
            </a:avLst>
          </a:prstGeom>
          <a:solidFill>
            <a:srgbClr val="953734"/>
          </a:solidFill>
          <a:ln cap="flat" cmpd="sng" w="9525">
            <a:solidFill>
              <a:schemeClr val="dk1"/>
            </a:solidFill>
            <a:prstDash val="solid"/>
            <a:round/>
            <a:headEnd len="med" w="med" type="none"/>
            <a:tailEnd len="med" w="med" type="none"/>
          </a:ln>
        </p:spPr>
        <p:txBody>
          <a:bodyPr anchorCtr="0" anchor="ctr" bIns="45650" lIns="91300" rIns="91300" tIns="45650">
            <a:noAutofit/>
          </a:bodyPr>
          <a:lstStyle/>
          <a:p>
            <a:pPr indent="0" lvl="0" marL="0" marR="0" rtl="0" algn="ctr">
              <a:spcBef>
                <a:spcPts val="0"/>
              </a:spcBef>
              <a:buSzPct val="25000"/>
              <a:buNone/>
            </a:pPr>
            <a:r>
              <a:rPr lang="en" sz="1600">
                <a:solidFill>
                  <a:srgbClr val="000000"/>
                </a:solidFill>
                <a:latin typeface="Arial"/>
                <a:ea typeface="Arial"/>
                <a:cs typeface="Arial"/>
                <a:sym typeface="Arial"/>
              </a:rPr>
              <a:t>B</a:t>
            </a:r>
          </a:p>
        </p:txBody>
      </p:sp>
      <p:sp>
        <p:nvSpPr>
          <p:cNvPr id="1284" name="Shape 1284"/>
          <p:cNvSpPr/>
          <p:nvPr/>
        </p:nvSpPr>
        <p:spPr>
          <a:xfrm>
            <a:off x="4436553" y="1201344"/>
            <a:ext cx="379412" cy="223837"/>
          </a:xfrm>
          <a:prstGeom prst="hexagon">
            <a:avLst>
              <a:gd fmla="val 25000" name="adj"/>
              <a:gd fmla="val 115470" name="vf"/>
            </a:avLst>
          </a:prstGeom>
          <a:solidFill>
            <a:srgbClr val="953734"/>
          </a:solidFill>
          <a:ln cap="flat" cmpd="sng" w="9525">
            <a:solidFill>
              <a:schemeClr val="dk1"/>
            </a:solidFill>
            <a:prstDash val="solid"/>
            <a:round/>
            <a:headEnd len="med" w="med" type="none"/>
            <a:tailEnd len="med" w="med" type="none"/>
          </a:ln>
        </p:spPr>
        <p:txBody>
          <a:bodyPr anchorCtr="0" anchor="ctr" bIns="45650" lIns="91300" rIns="91300" tIns="45650">
            <a:noAutofit/>
          </a:bodyPr>
          <a:lstStyle/>
          <a:p>
            <a:pPr indent="0" lvl="0" marL="0" marR="0" rtl="0" algn="ctr">
              <a:spcBef>
                <a:spcPts val="0"/>
              </a:spcBef>
              <a:buSzPct val="25000"/>
              <a:buNone/>
            </a:pPr>
            <a:r>
              <a:rPr lang="en" sz="1600">
                <a:solidFill>
                  <a:srgbClr val="000000"/>
                </a:solidFill>
                <a:latin typeface="Arial"/>
                <a:ea typeface="Arial"/>
                <a:cs typeface="Arial"/>
                <a:sym typeface="Arial"/>
              </a:rPr>
              <a:t>C</a:t>
            </a:r>
          </a:p>
        </p:txBody>
      </p:sp>
      <p:sp>
        <p:nvSpPr>
          <p:cNvPr id="1285" name="Shape 1285"/>
          <p:cNvSpPr/>
          <p:nvPr/>
        </p:nvSpPr>
        <p:spPr>
          <a:xfrm>
            <a:off x="8057607" y="2469356"/>
            <a:ext cx="379412" cy="223837"/>
          </a:xfrm>
          <a:prstGeom prst="hexagon">
            <a:avLst>
              <a:gd fmla="val 25000" name="adj"/>
              <a:gd fmla="val 115470" name="vf"/>
            </a:avLst>
          </a:prstGeom>
          <a:solidFill>
            <a:srgbClr val="953734"/>
          </a:solidFill>
          <a:ln cap="flat" cmpd="sng" w="9525">
            <a:solidFill>
              <a:schemeClr val="dk1"/>
            </a:solidFill>
            <a:prstDash val="solid"/>
            <a:round/>
            <a:headEnd len="med" w="med" type="none"/>
            <a:tailEnd len="med" w="med" type="none"/>
          </a:ln>
        </p:spPr>
        <p:txBody>
          <a:bodyPr anchorCtr="0" anchor="ctr" bIns="45650" lIns="91300" rIns="91300" tIns="45650">
            <a:noAutofit/>
          </a:bodyPr>
          <a:lstStyle/>
          <a:p>
            <a:pPr indent="0" lvl="0" marL="0" marR="0" rtl="0" algn="ctr">
              <a:spcBef>
                <a:spcPts val="0"/>
              </a:spcBef>
              <a:buSzPct val="25000"/>
              <a:buNone/>
            </a:pPr>
            <a:r>
              <a:rPr lang="en" sz="1600">
                <a:solidFill>
                  <a:srgbClr val="000000"/>
                </a:solidFill>
                <a:latin typeface="Arial"/>
                <a:ea typeface="Arial"/>
                <a:cs typeface="Arial"/>
                <a:sym typeface="Arial"/>
              </a:rPr>
              <a:t>D</a:t>
            </a:r>
          </a:p>
        </p:txBody>
      </p:sp>
      <p:cxnSp>
        <p:nvCxnSpPr>
          <p:cNvPr id="1286" name="Shape 1286"/>
          <p:cNvCxnSpPr/>
          <p:nvPr/>
        </p:nvCxnSpPr>
        <p:spPr>
          <a:xfrm flipH="1" rot="10800000">
            <a:off x="3514194" y="3806432"/>
            <a:ext cx="441324" cy="802481"/>
          </a:xfrm>
          <a:prstGeom prst="straightConnector1">
            <a:avLst/>
          </a:prstGeom>
          <a:noFill/>
          <a:ln cap="flat" cmpd="sng" w="19050">
            <a:solidFill>
              <a:srgbClr val="E06666"/>
            </a:solidFill>
            <a:prstDash val="dash"/>
            <a:round/>
            <a:headEnd len="med" w="med" type="none"/>
            <a:tailEnd len="med" w="med" type="none"/>
          </a:ln>
        </p:spPr>
      </p:cxnSp>
      <p:sp>
        <p:nvSpPr>
          <p:cNvPr id="1287" name="Shape 1287"/>
          <p:cNvSpPr txBox="1"/>
          <p:nvPr/>
        </p:nvSpPr>
        <p:spPr>
          <a:xfrm>
            <a:off x="35875" y="2008526"/>
            <a:ext cx="2865600" cy="802500"/>
          </a:xfrm>
          <a:prstGeom prst="rect">
            <a:avLst/>
          </a:prstGeom>
          <a:noFill/>
          <a:ln>
            <a:noFill/>
          </a:ln>
        </p:spPr>
        <p:txBody>
          <a:bodyPr anchorCtr="0" anchor="t" bIns="91275" lIns="91275" rIns="91275" tIns="91275">
            <a:noAutofit/>
          </a:bodyPr>
          <a:lstStyle/>
          <a:p>
            <a:pPr indent="0" lvl="0" marL="0" marR="0" rtl="0" algn="l">
              <a:spcBef>
                <a:spcPts val="0"/>
              </a:spcBef>
              <a:buSzPct val="25000"/>
              <a:buNone/>
            </a:pPr>
            <a:r>
              <a:rPr b="1" lang="en" sz="1600">
                <a:solidFill>
                  <a:srgbClr val="000000"/>
                </a:solidFill>
                <a:latin typeface="Arial"/>
                <a:ea typeface="Arial"/>
                <a:cs typeface="Arial"/>
                <a:sym typeface="Arial"/>
              </a:rPr>
              <a:t>B. Intent throughput</a:t>
            </a:r>
          </a:p>
          <a:p>
            <a:pPr indent="-285404" lvl="0" marL="285404" marR="0" rtl="0" algn="l">
              <a:spcBef>
                <a:spcPts val="0"/>
              </a:spcBef>
              <a:buClr>
                <a:srgbClr val="000000"/>
              </a:buClr>
              <a:buSzPct val="100000"/>
              <a:buFont typeface="Arial"/>
              <a:buChar char="•"/>
            </a:pPr>
            <a:r>
              <a:rPr lang="en" sz="1600">
                <a:solidFill>
                  <a:srgbClr val="000000"/>
                </a:solidFill>
                <a:latin typeface="Arial"/>
                <a:ea typeface="Arial"/>
                <a:cs typeface="Arial"/>
                <a:sym typeface="Arial"/>
              </a:rPr>
              <a:t>200k ops/sec</a:t>
            </a:r>
          </a:p>
        </p:txBody>
      </p:sp>
      <p:sp>
        <p:nvSpPr>
          <p:cNvPr id="1288" name="Shape 1288"/>
          <p:cNvSpPr txBox="1"/>
          <p:nvPr/>
        </p:nvSpPr>
        <p:spPr>
          <a:xfrm>
            <a:off x="35875" y="2653888"/>
            <a:ext cx="2865600" cy="907200"/>
          </a:xfrm>
          <a:prstGeom prst="rect">
            <a:avLst/>
          </a:prstGeom>
          <a:noFill/>
          <a:ln>
            <a:noFill/>
          </a:ln>
        </p:spPr>
        <p:txBody>
          <a:bodyPr anchorCtr="0" anchor="t" bIns="91275" lIns="91275" rIns="91275" tIns="91275">
            <a:noAutofit/>
          </a:bodyPr>
          <a:lstStyle/>
          <a:p>
            <a:pPr indent="0" lvl="0" marL="0" marR="0" rtl="0" algn="l">
              <a:spcBef>
                <a:spcPts val="0"/>
              </a:spcBef>
              <a:buSzPct val="25000"/>
              <a:buNone/>
            </a:pPr>
            <a:r>
              <a:rPr b="1" lang="en" sz="1600">
                <a:solidFill>
                  <a:srgbClr val="000000"/>
                </a:solidFill>
                <a:latin typeface="Arial"/>
                <a:ea typeface="Arial"/>
                <a:cs typeface="Arial"/>
                <a:sym typeface="Arial"/>
              </a:rPr>
              <a:t>C. Intent latency</a:t>
            </a:r>
          </a:p>
          <a:p>
            <a:pPr indent="-285404" lvl="0" marL="285404" marR="0" rtl="0" algn="l">
              <a:spcBef>
                <a:spcPts val="0"/>
              </a:spcBef>
              <a:buClr>
                <a:srgbClr val="000000"/>
              </a:buClr>
              <a:buSzPct val="100000"/>
              <a:buFont typeface="Arial"/>
              <a:buChar char="•"/>
            </a:pPr>
            <a:r>
              <a:rPr lang="en" sz="1600">
                <a:solidFill>
                  <a:srgbClr val="000000"/>
                </a:solidFill>
                <a:latin typeface="Arial"/>
                <a:ea typeface="Arial"/>
                <a:cs typeface="Arial"/>
                <a:sym typeface="Arial"/>
              </a:rPr>
              <a:t>&lt; 50ms</a:t>
            </a:r>
          </a:p>
        </p:txBody>
      </p:sp>
      <p:sp>
        <p:nvSpPr>
          <p:cNvPr id="1289" name="Shape 1289"/>
          <p:cNvSpPr txBox="1"/>
          <p:nvPr/>
        </p:nvSpPr>
        <p:spPr>
          <a:xfrm>
            <a:off x="35875" y="3323588"/>
            <a:ext cx="2865600" cy="1153800"/>
          </a:xfrm>
          <a:prstGeom prst="rect">
            <a:avLst/>
          </a:prstGeom>
          <a:noFill/>
          <a:ln>
            <a:noFill/>
          </a:ln>
        </p:spPr>
        <p:txBody>
          <a:bodyPr anchorCtr="0" anchor="t" bIns="91275" lIns="91275" rIns="91275" tIns="91275">
            <a:noAutofit/>
          </a:bodyPr>
          <a:lstStyle/>
          <a:p>
            <a:pPr indent="0" lvl="0" marL="0" marR="0" rtl="0" algn="l">
              <a:spcBef>
                <a:spcPts val="0"/>
              </a:spcBef>
              <a:buSzPct val="25000"/>
              <a:buNone/>
            </a:pPr>
            <a:r>
              <a:rPr b="1" lang="en" sz="1600">
                <a:solidFill>
                  <a:srgbClr val="000000"/>
                </a:solidFill>
                <a:latin typeface="Arial"/>
                <a:ea typeface="Arial"/>
                <a:cs typeface="Arial"/>
                <a:sym typeface="Arial"/>
              </a:rPr>
              <a:t>D. Flow throughput</a:t>
            </a:r>
          </a:p>
          <a:p>
            <a:pPr indent="-285404" lvl="0" marL="285404" marR="0" rtl="0" algn="l">
              <a:spcBef>
                <a:spcPts val="0"/>
              </a:spcBef>
              <a:buClr>
                <a:srgbClr val="000000"/>
              </a:buClr>
              <a:buSzPct val="100000"/>
              <a:buFont typeface="Arial"/>
              <a:buChar char="•"/>
            </a:pPr>
            <a:r>
              <a:rPr lang="en" sz="1600">
                <a:solidFill>
                  <a:srgbClr val="000000"/>
                </a:solidFill>
                <a:latin typeface="Arial"/>
                <a:ea typeface="Arial"/>
                <a:cs typeface="Arial"/>
                <a:sym typeface="Arial"/>
              </a:rPr>
              <a:t>500K to 3M ops/sec</a:t>
            </a:r>
          </a:p>
          <a:p>
            <a:pPr indent="-285404" lvl="0" marL="285404" marR="0" rtl="0" algn="l">
              <a:spcBef>
                <a:spcPts val="0"/>
              </a:spcBef>
              <a:buClr>
                <a:schemeClr val="dk1"/>
              </a:buClr>
              <a:buSzPct val="100000"/>
              <a:buFont typeface="Arial"/>
              <a:buChar char="•"/>
            </a:pPr>
            <a:r>
              <a:rPr lang="en" sz="1600"/>
              <a:t>Improves with number of instances </a:t>
            </a:r>
          </a:p>
          <a:p>
            <a:pPr indent="0" lvl="0" marL="0" marR="0" rtl="0" algn="l">
              <a:spcBef>
                <a:spcPts val="0"/>
              </a:spcBef>
              <a:buNone/>
            </a:pPr>
            <a:r>
              <a:t/>
            </a:r>
            <a:endParaRPr sz="1400">
              <a:solidFill>
                <a:srgbClr val="000000"/>
              </a:solidFill>
              <a:latin typeface="Arial"/>
              <a:ea typeface="Arial"/>
              <a:cs typeface="Arial"/>
              <a:sym typeface="Arial"/>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2"/>
                                        </p:tgtEl>
                                        <p:attrNameLst>
                                          <p:attrName>style.visibility</p:attrName>
                                        </p:attrNameLst>
                                      </p:cBhvr>
                                      <p:to>
                                        <p:strVal val="visible"/>
                                      </p:to>
                                    </p:set>
                                    <p:animEffect filter="fade" transition="in">
                                      <p:cBhvr>
                                        <p:cTn dur="1000"/>
                                        <p:tgtEl>
                                          <p:spTgt spid="1272"/>
                                        </p:tgtEl>
                                      </p:cBhvr>
                                    </p:animEffect>
                                  </p:childTnLst>
                                </p:cTn>
                              </p:par>
                              <p:par>
                                <p:cTn fill="hold" nodeType="withEffect" presetClass="entr" presetID="10" presetSubtype="0">
                                  <p:stCondLst>
                                    <p:cond delay="0"/>
                                  </p:stCondLst>
                                  <p:childTnLst>
                                    <p:set>
                                      <p:cBhvr>
                                        <p:cTn dur="1" fill="hold">
                                          <p:stCondLst>
                                            <p:cond delay="0"/>
                                          </p:stCondLst>
                                        </p:cTn>
                                        <p:tgtEl>
                                          <p:spTgt spid="1277"/>
                                        </p:tgtEl>
                                        <p:attrNameLst>
                                          <p:attrName>style.visibility</p:attrName>
                                        </p:attrNameLst>
                                      </p:cBhvr>
                                      <p:to>
                                        <p:strVal val="visible"/>
                                      </p:to>
                                    </p:set>
                                    <p:animEffect filter="fade" transition="in">
                                      <p:cBhvr>
                                        <p:cTn dur="1000"/>
                                        <p:tgtEl>
                                          <p:spTgt spid="1277"/>
                                        </p:tgtEl>
                                      </p:cBhvr>
                                    </p:animEffect>
                                  </p:childTnLst>
                                </p:cTn>
                              </p:par>
                              <p:par>
                                <p:cTn fill="hold" nodeType="withEffect" presetClass="entr" presetID="10" presetSubtype="0">
                                  <p:stCondLst>
                                    <p:cond delay="0"/>
                                  </p:stCondLst>
                                  <p:childTnLst>
                                    <p:set>
                                      <p:cBhvr>
                                        <p:cTn dur="1" fill="hold">
                                          <p:stCondLst>
                                            <p:cond delay="0"/>
                                          </p:stCondLst>
                                        </p:cTn>
                                        <p:tgtEl>
                                          <p:spTgt spid="1282"/>
                                        </p:tgtEl>
                                        <p:attrNameLst>
                                          <p:attrName>style.visibility</p:attrName>
                                        </p:attrNameLst>
                                      </p:cBhvr>
                                      <p:to>
                                        <p:strVal val="visible"/>
                                      </p:to>
                                    </p:set>
                                    <p:animEffect filter="fade" transition="in">
                                      <p:cBhvr>
                                        <p:cTn dur="1000"/>
                                        <p:tgtEl>
                                          <p:spTgt spid="1282"/>
                                        </p:tgtEl>
                                      </p:cBhvr>
                                    </p:animEffect>
                                  </p:childTnLst>
                                </p:cTn>
                              </p:par>
                              <p:par>
                                <p:cTn fill="hold" nodeType="withEffect" presetClass="entr" presetID="10" presetSubtype="0">
                                  <p:stCondLst>
                                    <p:cond delay="0"/>
                                  </p:stCondLst>
                                  <p:childTnLst>
                                    <p:set>
                                      <p:cBhvr>
                                        <p:cTn dur="1" fill="hold">
                                          <p:stCondLst>
                                            <p:cond delay="0"/>
                                          </p:stCondLst>
                                        </p:cTn>
                                        <p:tgtEl>
                                          <p:spTgt spid="1278"/>
                                        </p:tgtEl>
                                        <p:attrNameLst>
                                          <p:attrName>style.visibility</p:attrName>
                                        </p:attrNameLst>
                                      </p:cBhvr>
                                      <p:to>
                                        <p:strVal val="visible"/>
                                      </p:to>
                                    </p:set>
                                    <p:animEffect filter="fade" transition="in">
                                      <p:cBhvr>
                                        <p:cTn dur="1000"/>
                                        <p:tgtEl>
                                          <p:spTgt spid="12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3"/>
                                        </p:tgtEl>
                                        <p:attrNameLst>
                                          <p:attrName>style.visibility</p:attrName>
                                        </p:attrNameLst>
                                      </p:cBhvr>
                                      <p:to>
                                        <p:strVal val="visible"/>
                                      </p:to>
                                    </p:set>
                                    <p:animEffect filter="fade" transition="in">
                                      <p:cBhvr>
                                        <p:cTn dur="1000"/>
                                        <p:tgtEl>
                                          <p:spTgt spid="1283"/>
                                        </p:tgtEl>
                                      </p:cBhvr>
                                    </p:animEffect>
                                  </p:childTnLst>
                                </p:cTn>
                              </p:par>
                              <p:par>
                                <p:cTn fill="hold" nodeType="withEffect" presetClass="entr" presetID="10" presetSubtype="0">
                                  <p:stCondLst>
                                    <p:cond delay="0"/>
                                  </p:stCondLst>
                                  <p:childTnLst>
                                    <p:set>
                                      <p:cBhvr>
                                        <p:cTn dur="1" fill="hold">
                                          <p:stCondLst>
                                            <p:cond delay="0"/>
                                          </p:stCondLst>
                                        </p:cTn>
                                        <p:tgtEl>
                                          <p:spTgt spid="1287"/>
                                        </p:tgtEl>
                                        <p:attrNameLst>
                                          <p:attrName>style.visibility</p:attrName>
                                        </p:attrNameLst>
                                      </p:cBhvr>
                                      <p:to>
                                        <p:strVal val="visible"/>
                                      </p:to>
                                    </p:set>
                                    <p:animEffect filter="fade" transition="in">
                                      <p:cBhvr>
                                        <p:cTn dur="1000"/>
                                        <p:tgtEl>
                                          <p:spTgt spid="1287"/>
                                        </p:tgtEl>
                                      </p:cBhvr>
                                    </p:animEffect>
                                  </p:childTnLst>
                                </p:cTn>
                              </p:par>
                              <p:par>
                                <p:cTn fill="hold" nodeType="withEffect" presetClass="entr" presetID="10" presetSubtype="0">
                                  <p:stCondLst>
                                    <p:cond delay="0"/>
                                  </p:stCondLst>
                                  <p:childTnLst>
                                    <p:set>
                                      <p:cBhvr>
                                        <p:cTn dur="1" fill="hold">
                                          <p:stCondLst>
                                            <p:cond delay="0"/>
                                          </p:stCondLst>
                                        </p:cTn>
                                        <p:tgtEl>
                                          <p:spTgt spid="1279"/>
                                        </p:tgtEl>
                                        <p:attrNameLst>
                                          <p:attrName>style.visibility</p:attrName>
                                        </p:attrNameLst>
                                      </p:cBhvr>
                                      <p:to>
                                        <p:strVal val="visible"/>
                                      </p:to>
                                    </p:set>
                                    <p:animEffect filter="fade" transition="in">
                                      <p:cBhvr>
                                        <p:cTn dur="1000"/>
                                        <p:tgtEl>
                                          <p:spTgt spid="1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4"/>
                                        </p:tgtEl>
                                        <p:attrNameLst>
                                          <p:attrName>style.visibility</p:attrName>
                                        </p:attrNameLst>
                                      </p:cBhvr>
                                      <p:to>
                                        <p:strVal val="visible"/>
                                      </p:to>
                                    </p:set>
                                    <p:animEffect filter="fade" transition="in">
                                      <p:cBhvr>
                                        <p:cTn dur="1000"/>
                                        <p:tgtEl>
                                          <p:spTgt spid="1284"/>
                                        </p:tgtEl>
                                      </p:cBhvr>
                                    </p:animEffect>
                                  </p:childTnLst>
                                </p:cTn>
                              </p:par>
                              <p:par>
                                <p:cTn fill="hold" nodeType="withEffect" presetClass="entr" presetID="10" presetSubtype="0">
                                  <p:stCondLst>
                                    <p:cond delay="0"/>
                                  </p:stCondLst>
                                  <p:childTnLst>
                                    <p:set>
                                      <p:cBhvr>
                                        <p:cTn dur="1" fill="hold">
                                          <p:stCondLst>
                                            <p:cond delay="0"/>
                                          </p:stCondLst>
                                        </p:cTn>
                                        <p:tgtEl>
                                          <p:spTgt spid="1288"/>
                                        </p:tgtEl>
                                        <p:attrNameLst>
                                          <p:attrName>style.visibility</p:attrName>
                                        </p:attrNameLst>
                                      </p:cBhvr>
                                      <p:to>
                                        <p:strVal val="visible"/>
                                      </p:to>
                                    </p:set>
                                    <p:animEffect filter="fade" transition="in">
                                      <p:cBhvr>
                                        <p:cTn dur="1000"/>
                                        <p:tgtEl>
                                          <p:spTgt spid="1288"/>
                                        </p:tgtEl>
                                      </p:cBhvr>
                                    </p:animEffect>
                                  </p:childTnLst>
                                </p:cTn>
                              </p:par>
                              <p:par>
                                <p:cTn fill="hold" nodeType="withEffect" presetClass="entr" presetID="10" presetSubtype="0">
                                  <p:stCondLst>
                                    <p:cond delay="0"/>
                                  </p:stCondLst>
                                  <p:childTnLst>
                                    <p:set>
                                      <p:cBhvr>
                                        <p:cTn dur="1" fill="hold">
                                          <p:stCondLst>
                                            <p:cond delay="0"/>
                                          </p:stCondLst>
                                        </p:cTn>
                                        <p:tgtEl>
                                          <p:spTgt spid="1280"/>
                                        </p:tgtEl>
                                        <p:attrNameLst>
                                          <p:attrName>style.visibility</p:attrName>
                                        </p:attrNameLst>
                                      </p:cBhvr>
                                      <p:to>
                                        <p:strVal val="visible"/>
                                      </p:to>
                                    </p:set>
                                    <p:animEffect filter="fade" transition="in">
                                      <p:cBhvr>
                                        <p:cTn dur="1000"/>
                                        <p:tgtEl>
                                          <p:spTgt spid="1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5"/>
                                        </p:tgtEl>
                                        <p:attrNameLst>
                                          <p:attrName>style.visibility</p:attrName>
                                        </p:attrNameLst>
                                      </p:cBhvr>
                                      <p:to>
                                        <p:strVal val="visible"/>
                                      </p:to>
                                    </p:set>
                                    <p:animEffect filter="fade" transition="in">
                                      <p:cBhvr>
                                        <p:cTn dur="1000"/>
                                        <p:tgtEl>
                                          <p:spTgt spid="1285"/>
                                        </p:tgtEl>
                                      </p:cBhvr>
                                    </p:animEffect>
                                  </p:childTnLst>
                                </p:cTn>
                              </p:par>
                              <p:par>
                                <p:cTn fill="hold" nodeType="withEffect" presetClass="entr" presetID="10" presetSubtype="0">
                                  <p:stCondLst>
                                    <p:cond delay="0"/>
                                  </p:stCondLst>
                                  <p:childTnLst>
                                    <p:set>
                                      <p:cBhvr>
                                        <p:cTn dur="1" fill="hold">
                                          <p:stCondLst>
                                            <p:cond delay="0"/>
                                          </p:stCondLst>
                                        </p:cTn>
                                        <p:tgtEl>
                                          <p:spTgt spid="1289"/>
                                        </p:tgtEl>
                                        <p:attrNameLst>
                                          <p:attrName>style.visibility</p:attrName>
                                        </p:attrNameLst>
                                      </p:cBhvr>
                                      <p:to>
                                        <p:strVal val="visible"/>
                                      </p:to>
                                    </p:set>
                                    <p:animEffect filter="fade" transition="in">
                                      <p:cBhvr>
                                        <p:cTn dur="1000"/>
                                        <p:tgtEl>
                                          <p:spTgt spid="1289"/>
                                        </p:tgtEl>
                                      </p:cBhvr>
                                    </p:animEffect>
                                  </p:childTnLst>
                                </p:cTn>
                              </p:par>
                              <p:par>
                                <p:cTn fill="hold" nodeType="withEffect" presetClass="entr" presetID="10" presetSubtype="0">
                                  <p:stCondLst>
                                    <p:cond delay="0"/>
                                  </p:stCondLst>
                                  <p:childTnLst>
                                    <p:set>
                                      <p:cBhvr>
                                        <p:cTn dur="1" fill="hold">
                                          <p:stCondLst>
                                            <p:cond delay="0"/>
                                          </p:stCondLst>
                                        </p:cTn>
                                        <p:tgtEl>
                                          <p:spTgt spid="1281"/>
                                        </p:tgtEl>
                                        <p:attrNameLst>
                                          <p:attrName>style.visibility</p:attrName>
                                        </p:attrNameLst>
                                      </p:cBhvr>
                                      <p:to>
                                        <p:strVal val="visible"/>
                                      </p:to>
                                    </p:set>
                                    <p:animEffect filter="fade" transition="in">
                                      <p:cBhvr>
                                        <p:cTn dur="1000"/>
                                        <p:tgtEl>
                                          <p:spTgt spid="1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93" name="Shape 1293"/>
        <p:cNvGrpSpPr/>
        <p:nvPr/>
      </p:nvGrpSpPr>
      <p:grpSpPr>
        <a:xfrm>
          <a:off x="0" y="0"/>
          <a:ext cx="0" cy="0"/>
          <a:chOff x="0" y="0"/>
          <a:chExt cx="0" cy="0"/>
        </a:xfrm>
      </p:grpSpPr>
      <p:sp>
        <p:nvSpPr>
          <p:cNvPr id="1294" name="Shape 1294"/>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ACTN ONOS Architecture</a:t>
            </a:r>
          </a:p>
        </p:txBody>
      </p:sp>
      <p:pic>
        <p:nvPicPr>
          <p:cNvPr descr="actn onos architecture.png" id="1295" name="Shape 1295"/>
          <p:cNvPicPr preferRelativeResize="0"/>
          <p:nvPr/>
        </p:nvPicPr>
        <p:blipFill>
          <a:blip r:embed="rId3">
            <a:alphaModFix/>
          </a:blip>
          <a:stretch>
            <a:fillRect/>
          </a:stretch>
        </p:blipFill>
        <p:spPr>
          <a:xfrm>
            <a:off x="385762" y="952500"/>
            <a:ext cx="8372475" cy="40005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99" name="Shape 1299"/>
        <p:cNvGrpSpPr/>
        <p:nvPr/>
      </p:nvGrpSpPr>
      <p:grpSpPr>
        <a:xfrm>
          <a:off x="0" y="0"/>
          <a:ext cx="0" cy="0"/>
          <a:chOff x="0" y="0"/>
          <a:chExt cx="0" cy="0"/>
        </a:xfrm>
      </p:grpSpPr>
      <p:sp>
        <p:nvSpPr>
          <p:cNvPr id="1300" name="Shape 1300"/>
          <p:cNvSpPr txBox="1"/>
          <p:nvPr>
            <p:ph type="title"/>
          </p:nvPr>
        </p:nvSpPr>
        <p:spPr>
          <a:xfrm>
            <a:off x="457200" y="205978"/>
            <a:ext cx="8229600" cy="857250"/>
          </a:xfrm>
          <a:prstGeom prst="rect">
            <a:avLst/>
          </a:prstGeom>
          <a:noFill/>
          <a:ln>
            <a:noFill/>
          </a:ln>
        </p:spPr>
        <p:txBody>
          <a:bodyPr anchorCtr="0" anchor="ctr" bIns="34250" lIns="68525" rIns="68525" tIns="34250">
            <a:noAutofit/>
          </a:bodyPr>
          <a:lstStyle/>
          <a:p>
            <a:pPr indent="0" lvl="0" marL="0" marR="0" rtl="0" algn="l">
              <a:spcBef>
                <a:spcPts val="0"/>
              </a:spcBef>
              <a:spcAft>
                <a:spcPts val="0"/>
              </a:spcAft>
              <a:buSzPct val="25000"/>
              <a:buNone/>
            </a:pPr>
            <a:r>
              <a:rPr b="1" i="0" lang="en" sz="2800" u="none" cap="none" strike="noStrike">
                <a:solidFill>
                  <a:schemeClr val="dk1"/>
                </a:solidFill>
                <a:latin typeface="Calibri"/>
                <a:ea typeface="Calibri"/>
                <a:cs typeface="Calibri"/>
                <a:sym typeface="Calibri"/>
              </a:rPr>
              <a:t>ACTN ONOS H Release Features</a:t>
            </a:r>
          </a:p>
        </p:txBody>
      </p:sp>
      <p:sp>
        <p:nvSpPr>
          <p:cNvPr id="1301" name="Shape 1301"/>
          <p:cNvSpPr txBox="1"/>
          <p:nvPr>
            <p:ph idx="1" type="body"/>
          </p:nvPr>
        </p:nvSpPr>
        <p:spPr>
          <a:xfrm>
            <a:off x="657072" y="897740"/>
            <a:ext cx="8105928" cy="3620976"/>
          </a:xfrm>
          <a:prstGeom prst="rect">
            <a:avLst/>
          </a:prstGeom>
          <a:noFill/>
          <a:ln>
            <a:noFill/>
          </a:ln>
        </p:spPr>
        <p:txBody>
          <a:bodyPr anchorCtr="0" anchor="t" bIns="34250" lIns="68525" rIns="68525" tIns="34250">
            <a:noAutofit/>
          </a:bodyPr>
          <a:lstStyle/>
          <a:p>
            <a:pPr indent="-342900" lvl="0" marL="342900" marR="0" rtl="0" algn="l">
              <a:lnSpc>
                <a:spcPct val="140000"/>
              </a:lnSpc>
              <a:spcBef>
                <a:spcPts val="0"/>
              </a:spcBef>
              <a:spcAft>
                <a:spcPts val="0"/>
              </a:spcAft>
              <a:buClr>
                <a:srgbClr val="777777"/>
              </a:buClr>
              <a:buSzPct val="60000"/>
              <a:buFont typeface="Noto Sans Symbols"/>
              <a:buChar char="❑"/>
            </a:pPr>
            <a:r>
              <a:rPr b="0" i="0" lang="en" sz="2000" u="none" cap="none" strike="noStrike">
                <a:solidFill>
                  <a:schemeClr val="dk1"/>
                </a:solidFill>
                <a:latin typeface="Calibri"/>
                <a:ea typeface="Calibri"/>
                <a:cs typeface="Calibri"/>
                <a:sym typeface="Calibri"/>
              </a:rPr>
              <a:t>IETF Topology YANG Model Support</a:t>
            </a:r>
          </a:p>
          <a:p>
            <a:pPr indent="-342900" lvl="0" marL="342900" marR="0" rtl="0" algn="l">
              <a:lnSpc>
                <a:spcPct val="140000"/>
              </a:lnSpc>
              <a:spcBef>
                <a:spcPts val="0"/>
              </a:spcBef>
              <a:spcAft>
                <a:spcPts val="0"/>
              </a:spcAft>
              <a:buClr>
                <a:srgbClr val="777777"/>
              </a:buClr>
              <a:buSzPct val="60000"/>
              <a:buFont typeface="Noto Sans Symbols"/>
              <a:buChar char="❑"/>
            </a:pPr>
            <a:r>
              <a:rPr b="0" i="0" lang="en" sz="2000" u="none" cap="none" strike="noStrike">
                <a:solidFill>
                  <a:schemeClr val="dk1"/>
                </a:solidFill>
                <a:latin typeface="Calibri"/>
                <a:ea typeface="Calibri"/>
                <a:cs typeface="Calibri"/>
                <a:sym typeface="Calibri"/>
              </a:rPr>
              <a:t>Topology NB YANG APP and SB TE Provider </a:t>
            </a:r>
          </a:p>
          <a:p>
            <a:pPr indent="-342900" lvl="0" marL="342900" marR="0" rtl="0" algn="l">
              <a:lnSpc>
                <a:spcPct val="140000"/>
              </a:lnSpc>
              <a:spcBef>
                <a:spcPts val="0"/>
              </a:spcBef>
              <a:spcAft>
                <a:spcPts val="0"/>
              </a:spcAft>
              <a:buClr>
                <a:srgbClr val="777777"/>
              </a:buClr>
              <a:buSzPct val="60000"/>
              <a:buFont typeface="Noto Sans Symbols"/>
              <a:buChar char="❑"/>
            </a:pPr>
            <a:r>
              <a:rPr b="0" i="0" lang="en" sz="2000" u="none" cap="none" strike="noStrike">
                <a:solidFill>
                  <a:schemeClr val="dk1"/>
                </a:solidFill>
                <a:latin typeface="Calibri"/>
                <a:ea typeface="Calibri"/>
                <a:cs typeface="Calibri"/>
                <a:sym typeface="Calibri"/>
              </a:rPr>
              <a:t>MDSC Application - TE Topology Core APP</a:t>
            </a:r>
          </a:p>
          <a:p>
            <a:pPr indent="-342900" lvl="0" marL="342900" marR="0" rtl="0" algn="l">
              <a:lnSpc>
                <a:spcPct val="140000"/>
              </a:lnSpc>
              <a:spcBef>
                <a:spcPts val="0"/>
              </a:spcBef>
              <a:spcAft>
                <a:spcPts val="0"/>
              </a:spcAft>
              <a:buClr>
                <a:srgbClr val="777777"/>
              </a:buClr>
              <a:buSzPct val="60000"/>
              <a:buFont typeface="Noto Sans Symbols"/>
              <a:buChar char="❑"/>
            </a:pPr>
            <a:r>
              <a:rPr b="0" i="0" lang="en" sz="2000" u="none" cap="none" strike="noStrike">
                <a:solidFill>
                  <a:schemeClr val="dk1"/>
                </a:solidFill>
                <a:latin typeface="Calibri"/>
                <a:ea typeface="Calibri"/>
                <a:cs typeface="Calibri"/>
                <a:sym typeface="Calibri"/>
              </a:rPr>
              <a:t>RestConf/YANG  Client (SB) and Server (NB), Integrated with YANG Utils and YMS</a:t>
            </a:r>
          </a:p>
          <a:p>
            <a:pPr indent="-342900" lvl="0" marL="342900" marR="0" rtl="0" algn="l">
              <a:lnSpc>
                <a:spcPct val="140000"/>
              </a:lnSpc>
              <a:spcBef>
                <a:spcPts val="0"/>
              </a:spcBef>
              <a:spcAft>
                <a:spcPts val="0"/>
              </a:spcAft>
              <a:buClr>
                <a:srgbClr val="777777"/>
              </a:buClr>
              <a:buSzPct val="25000"/>
              <a:buFont typeface="Noto Sans Symbols"/>
              <a:buNone/>
            </a:pPr>
            <a:r>
              <a:t/>
            </a:r>
            <a:endParaRPr b="0" i="0" sz="1600" u="none" cap="none" strike="noStrike">
              <a:solidFill>
                <a:schemeClr val="dk1"/>
              </a:solidFill>
              <a:latin typeface="Calibri"/>
              <a:ea typeface="Calibri"/>
              <a:cs typeface="Calibri"/>
              <a:sym typeface="Calibri"/>
            </a:endParaRPr>
          </a:p>
          <a:p>
            <a:pPr indent="-285750" lvl="1" marL="742950" marR="0" rtl="0" algn="l">
              <a:lnSpc>
                <a:spcPct val="140000"/>
              </a:lnSpc>
              <a:spcBef>
                <a:spcPts val="0"/>
              </a:spcBef>
              <a:spcAft>
                <a:spcPts val="0"/>
              </a:spcAft>
              <a:buClr>
                <a:schemeClr val="dk1"/>
              </a:buClr>
              <a:buSzPct val="50000"/>
              <a:buFont typeface="Calibri"/>
              <a:buNone/>
            </a:pPr>
            <a:r>
              <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05" name="Shape 1305"/>
        <p:cNvGrpSpPr/>
        <p:nvPr/>
      </p:nvGrpSpPr>
      <p:grpSpPr>
        <a:xfrm>
          <a:off x="0" y="0"/>
          <a:ext cx="0" cy="0"/>
          <a:chOff x="0" y="0"/>
          <a:chExt cx="0" cy="0"/>
        </a:xfrm>
      </p:grpSpPr>
      <p:sp>
        <p:nvSpPr>
          <p:cNvPr id="1306" name="Shape 1306"/>
          <p:cNvSpPr txBox="1"/>
          <p:nvPr>
            <p:ph type="title"/>
          </p:nvPr>
        </p:nvSpPr>
        <p:spPr>
          <a:xfrm>
            <a:off x="539552" y="141480"/>
            <a:ext cx="7416749" cy="383455"/>
          </a:xfrm>
          <a:prstGeom prst="rect">
            <a:avLst/>
          </a:prstGeom>
          <a:noFill/>
          <a:ln>
            <a:noFill/>
          </a:ln>
        </p:spPr>
        <p:txBody>
          <a:bodyPr anchorCtr="0" anchor="ctr" bIns="45700" lIns="91425" rIns="91425" tIns="45700">
            <a:noAutofit/>
          </a:bodyPr>
          <a:lstStyle/>
          <a:p>
            <a:pPr indent="0" lvl="0" marL="0" marR="0" rtl="0" algn="ctr">
              <a:spcBef>
                <a:spcPts val="0"/>
              </a:spcBef>
              <a:buClr>
                <a:schemeClr val="dk1"/>
              </a:buClr>
              <a:buSzPct val="25000"/>
              <a:buFont typeface="Calibri"/>
              <a:buNone/>
            </a:pPr>
            <a:r>
              <a:rPr b="0" i="0" lang="en" sz="2800" u="none" cap="none" strike="noStrike">
                <a:solidFill>
                  <a:schemeClr val="dk1"/>
                </a:solidFill>
                <a:latin typeface="Calibri"/>
                <a:ea typeface="Calibri"/>
                <a:cs typeface="Calibri"/>
                <a:sym typeface="Calibri"/>
              </a:rPr>
              <a:t>NEMO Overall Architecture</a:t>
            </a:r>
          </a:p>
        </p:txBody>
      </p:sp>
      <p:grpSp>
        <p:nvGrpSpPr>
          <p:cNvPr id="1307" name="Shape 1307"/>
          <p:cNvGrpSpPr/>
          <p:nvPr/>
        </p:nvGrpSpPr>
        <p:grpSpPr>
          <a:xfrm>
            <a:off x="611559" y="627534"/>
            <a:ext cx="4680520" cy="4212468"/>
            <a:chOff x="467543" y="697260"/>
            <a:chExt cx="4680520" cy="4680519"/>
          </a:xfrm>
        </p:grpSpPr>
        <p:sp>
          <p:nvSpPr>
            <p:cNvPr id="1308" name="Shape 1308"/>
            <p:cNvSpPr/>
            <p:nvPr/>
          </p:nvSpPr>
          <p:spPr>
            <a:xfrm>
              <a:off x="467543" y="1837385"/>
              <a:ext cx="4680520" cy="2220246"/>
            </a:xfrm>
            <a:prstGeom prst="rect">
              <a:avLst/>
            </a:prstGeom>
            <a:solidFill>
              <a:srgbClr val="CCFFCC"/>
            </a:solidFill>
            <a:ln>
              <a:noFill/>
            </a:ln>
            <a:effectLst>
              <a:outerShdw blurRad="50799" rotWithShape="0" algn="tl" dir="2700000" dist="38100">
                <a:srgbClr val="000000">
                  <a:alpha val="40000"/>
                </a:srgbClr>
              </a:outerShdw>
            </a:effectLst>
          </p:spPr>
          <p:txBody>
            <a:bodyPr anchorCtr="0" anchor="t" bIns="45700" lIns="91425" rIns="91425" tIns="45700">
              <a:noAutofit/>
            </a:bodyPr>
            <a:lstStyle/>
            <a:p>
              <a:pPr indent="0" lvl="0" marL="0" marR="0" rtl="0" algn="l">
                <a:lnSpc>
                  <a:spcPct val="100000"/>
                </a:lnSpc>
                <a:spcBef>
                  <a:spcPts val="0"/>
                </a:spcBef>
                <a:spcAft>
                  <a:spcPts val="0"/>
                </a:spcAft>
                <a:buClr>
                  <a:srgbClr val="CC9900"/>
                </a:buClr>
                <a:buFont typeface="Noto Sans Symbols"/>
                <a:buNone/>
              </a:pPr>
              <a:r>
                <a:t/>
              </a:r>
              <a:endParaRPr b="0" i="0" sz="1800" u="none" cap="none" strike="noStrike">
                <a:solidFill>
                  <a:schemeClr val="dk1"/>
                </a:solidFill>
                <a:latin typeface="Arial"/>
                <a:ea typeface="Arial"/>
                <a:cs typeface="Arial"/>
                <a:sym typeface="Arial"/>
              </a:endParaRPr>
            </a:p>
          </p:txBody>
        </p:sp>
        <p:sp>
          <p:nvSpPr>
            <p:cNvPr id="1309" name="Shape 1309"/>
            <p:cNvSpPr/>
            <p:nvPr/>
          </p:nvSpPr>
          <p:spPr>
            <a:xfrm>
              <a:off x="467543" y="4177646"/>
              <a:ext cx="4680520" cy="1200132"/>
            </a:xfrm>
            <a:prstGeom prst="rect">
              <a:avLst/>
            </a:prstGeom>
            <a:solidFill>
              <a:srgbClr val="86A644"/>
            </a:solidFill>
            <a:ln>
              <a:noFill/>
            </a:ln>
            <a:effectLst>
              <a:outerShdw blurRad="50799" rotWithShape="0" algn="tl" dir="2700000" dist="38100">
                <a:srgbClr val="000000">
                  <a:alpha val="40000"/>
                </a:srgbClr>
              </a:outerShdw>
            </a:effectLst>
          </p:spPr>
          <p:txBody>
            <a:bodyPr anchorCtr="0" anchor="t" bIns="45700" lIns="91425" rIns="91425" tIns="45700">
              <a:noAutofit/>
            </a:bodyPr>
            <a:lstStyle/>
            <a:p>
              <a:pPr indent="0" lvl="0" marL="0" marR="0" rtl="0" algn="l">
                <a:lnSpc>
                  <a:spcPct val="100000"/>
                </a:lnSpc>
                <a:spcBef>
                  <a:spcPts val="0"/>
                </a:spcBef>
                <a:spcAft>
                  <a:spcPts val="0"/>
                </a:spcAft>
                <a:buClr>
                  <a:srgbClr val="CC9900"/>
                </a:buClr>
                <a:buFont typeface="Noto Sans Symbols"/>
                <a:buNone/>
              </a:pPr>
              <a:r>
                <a:t/>
              </a:r>
              <a:endParaRPr b="0" i="0" sz="1800" u="none" cap="none" strike="noStrike">
                <a:solidFill>
                  <a:schemeClr val="dk1"/>
                </a:solidFill>
                <a:latin typeface="Arial"/>
                <a:ea typeface="Arial"/>
                <a:cs typeface="Arial"/>
                <a:sym typeface="Arial"/>
              </a:endParaRPr>
            </a:p>
          </p:txBody>
        </p:sp>
        <p:sp>
          <p:nvSpPr>
            <p:cNvPr id="1310" name="Shape 1310"/>
            <p:cNvSpPr/>
            <p:nvPr/>
          </p:nvSpPr>
          <p:spPr>
            <a:xfrm>
              <a:off x="467543" y="697260"/>
              <a:ext cx="4680520" cy="840092"/>
            </a:xfrm>
            <a:prstGeom prst="rect">
              <a:avLst/>
            </a:prstGeom>
            <a:solidFill>
              <a:srgbClr val="FFC000"/>
            </a:solidFill>
            <a:ln>
              <a:noFill/>
            </a:ln>
            <a:effectLst>
              <a:outerShdw blurRad="50799" rotWithShape="0" algn="tl" dir="2700000" dist="38100">
                <a:srgbClr val="000000">
                  <a:alpha val="40000"/>
                </a:srgbClr>
              </a:outerShdw>
            </a:effectLst>
          </p:spPr>
          <p:txBody>
            <a:bodyPr anchorCtr="0" anchor="t" bIns="45700" lIns="91425" rIns="91425" tIns="45700">
              <a:noAutofit/>
            </a:bodyPr>
            <a:lstStyle/>
            <a:p>
              <a:pPr indent="0" lvl="0" marL="0" marR="0" rtl="0" algn="l">
                <a:lnSpc>
                  <a:spcPct val="100000"/>
                </a:lnSpc>
                <a:spcBef>
                  <a:spcPts val="0"/>
                </a:spcBef>
                <a:spcAft>
                  <a:spcPts val="0"/>
                </a:spcAft>
                <a:buClr>
                  <a:srgbClr val="CC9900"/>
                </a:buClr>
                <a:buFont typeface="Noto Sans Symbols"/>
                <a:buNone/>
              </a:pPr>
              <a:r>
                <a:t/>
              </a:r>
              <a:endParaRPr b="0" i="0" sz="1800" u="none" cap="none" strike="noStrike">
                <a:solidFill>
                  <a:schemeClr val="dk1"/>
                </a:solidFill>
                <a:latin typeface="Arial"/>
                <a:ea typeface="Arial"/>
                <a:cs typeface="Arial"/>
                <a:sym typeface="Arial"/>
              </a:endParaRPr>
            </a:p>
          </p:txBody>
        </p:sp>
        <p:sp>
          <p:nvSpPr>
            <p:cNvPr id="1311" name="Shape 1311"/>
            <p:cNvSpPr/>
            <p:nvPr/>
          </p:nvSpPr>
          <p:spPr>
            <a:xfrm>
              <a:off x="827583" y="2197426"/>
              <a:ext cx="1872207" cy="300032"/>
            </a:xfrm>
            <a:prstGeom prst="rect">
              <a:avLst/>
            </a:prstGeom>
            <a:noFill/>
            <a:ln cap="flat" cmpd="sng" w="9525">
              <a:solidFill>
                <a:srgbClr val="0094D6"/>
              </a:solidFill>
              <a:prstDash val="solid"/>
              <a:round/>
              <a:headEnd len="med" w="med" type="none"/>
              <a:tailEnd len="med" w="med" type="none"/>
            </a:ln>
          </p:spPr>
          <p:txBody>
            <a:bodyPr anchorCtr="0" anchor="ctr" bIns="45700" lIns="0" rIns="0" tIns="45700">
              <a:noAutofit/>
            </a:bodyPr>
            <a:lstStyle/>
            <a:p>
              <a:pPr indent="0" lvl="0" marL="0" marR="0" rtl="0" algn="ctr">
                <a:spcBef>
                  <a:spcPts val="0"/>
                </a:spcBef>
                <a:spcAft>
                  <a:spcPts val="0"/>
                </a:spcAft>
                <a:buSzPct val="25000"/>
                <a:buNone/>
              </a:pPr>
              <a:r>
                <a:rPr b="0" i="0" lang="en" sz="1050" u="none" cap="none" strike="noStrike">
                  <a:solidFill>
                    <a:schemeClr val="dk1"/>
                  </a:solidFill>
                  <a:latin typeface="Arial"/>
                  <a:ea typeface="Arial"/>
                  <a:cs typeface="Arial"/>
                  <a:sym typeface="Arial"/>
                </a:rPr>
                <a:t>NEMO Language Compiler</a:t>
              </a:r>
            </a:p>
          </p:txBody>
        </p:sp>
        <p:sp>
          <p:nvSpPr>
            <p:cNvPr id="1312" name="Shape 1312"/>
            <p:cNvSpPr/>
            <p:nvPr/>
          </p:nvSpPr>
          <p:spPr>
            <a:xfrm>
              <a:off x="827583" y="3457567"/>
              <a:ext cx="1296143" cy="300032"/>
            </a:xfrm>
            <a:prstGeom prst="rect">
              <a:avLst/>
            </a:prstGeom>
            <a:noFill/>
            <a:ln cap="flat" cmpd="sng" w="9525">
              <a:solidFill>
                <a:srgbClr val="0094D6"/>
              </a:solidFill>
              <a:prstDash val="solid"/>
              <a:round/>
              <a:headEnd len="med" w="med" type="none"/>
              <a:tailEnd len="med" w="med" type="none"/>
            </a:ln>
          </p:spPr>
          <p:txBody>
            <a:bodyPr anchorCtr="0" anchor="ctr" bIns="45700" lIns="0" rIns="0" tIns="45700">
              <a:noAutofit/>
            </a:bodyPr>
            <a:lstStyle/>
            <a:p>
              <a:pPr indent="0" lvl="0" marL="0" marR="0" rtl="0" algn="ctr">
                <a:spcBef>
                  <a:spcPts val="0"/>
                </a:spcBef>
                <a:spcAft>
                  <a:spcPts val="0"/>
                </a:spcAft>
                <a:buSzPct val="25000"/>
                <a:buNone/>
              </a:pPr>
              <a:r>
                <a:rPr b="0" i="0" lang="en" sz="1050" u="none" cap="none" strike="noStrike">
                  <a:solidFill>
                    <a:schemeClr val="dk1"/>
                  </a:solidFill>
                  <a:latin typeface="Arial"/>
                  <a:ea typeface="Arial"/>
                  <a:cs typeface="Arial"/>
                  <a:sym typeface="Arial"/>
                </a:rPr>
                <a:t>VTN Driver</a:t>
              </a:r>
            </a:p>
          </p:txBody>
        </p:sp>
        <p:sp>
          <p:nvSpPr>
            <p:cNvPr id="1313" name="Shape 1313"/>
            <p:cNvSpPr/>
            <p:nvPr/>
          </p:nvSpPr>
          <p:spPr>
            <a:xfrm>
              <a:off x="2267743" y="3457567"/>
              <a:ext cx="1080120" cy="300032"/>
            </a:xfrm>
            <a:prstGeom prst="rect">
              <a:avLst/>
            </a:prstGeom>
            <a:noFill/>
            <a:ln cap="flat" cmpd="sng" w="9525">
              <a:solidFill>
                <a:srgbClr val="0094D6"/>
              </a:solidFill>
              <a:prstDash val="solid"/>
              <a:round/>
              <a:headEnd len="med" w="med" type="none"/>
              <a:tailEnd len="med" w="med" type="none"/>
            </a:ln>
          </p:spPr>
          <p:txBody>
            <a:bodyPr anchorCtr="0" anchor="ctr" bIns="45700" lIns="0" rIns="0" tIns="45700">
              <a:noAutofit/>
            </a:bodyPr>
            <a:lstStyle/>
            <a:p>
              <a:pPr indent="0" lvl="0" marL="0" marR="0" rtl="0" algn="ctr">
                <a:spcBef>
                  <a:spcPts val="0"/>
                </a:spcBef>
                <a:spcAft>
                  <a:spcPts val="0"/>
                </a:spcAft>
                <a:buSzPct val="25000"/>
                <a:buNone/>
              </a:pPr>
              <a:r>
                <a:rPr b="0" i="0" lang="en" sz="1050" u="none" cap="none" strike="noStrike">
                  <a:solidFill>
                    <a:schemeClr val="dk1"/>
                  </a:solidFill>
                  <a:latin typeface="Arial"/>
                  <a:ea typeface="Arial"/>
                  <a:cs typeface="Arial"/>
                  <a:sym typeface="Arial"/>
                </a:rPr>
                <a:t>SFC Driver</a:t>
              </a:r>
            </a:p>
          </p:txBody>
        </p:sp>
        <p:sp>
          <p:nvSpPr>
            <p:cNvPr id="1314" name="Shape 1314"/>
            <p:cNvSpPr/>
            <p:nvPr/>
          </p:nvSpPr>
          <p:spPr>
            <a:xfrm>
              <a:off x="1115616" y="4225651"/>
              <a:ext cx="864095" cy="360040"/>
            </a:xfrm>
            <a:prstGeom prst="rect">
              <a:avLst/>
            </a:prstGeom>
            <a:noFill/>
            <a:ln cap="flat" cmpd="sng" w="9525">
              <a:solidFill>
                <a:srgbClr val="0094D6"/>
              </a:solidFill>
              <a:prstDash val="solid"/>
              <a:round/>
              <a:headEnd len="med" w="med" type="none"/>
              <a:tailEnd len="med" w="med" type="none"/>
            </a:ln>
          </p:spPr>
          <p:txBody>
            <a:bodyPr anchorCtr="0" anchor="ctr" bIns="45700" lIns="0" rIns="0" tIns="45700">
              <a:noAutofit/>
            </a:bodyPr>
            <a:lstStyle/>
            <a:p>
              <a:pPr indent="0" lvl="0" marL="0" marR="0" rtl="0" algn="ctr">
                <a:spcBef>
                  <a:spcPts val="0"/>
                </a:spcBef>
                <a:spcAft>
                  <a:spcPts val="0"/>
                </a:spcAft>
                <a:buSzPct val="25000"/>
                <a:buNone/>
              </a:pPr>
              <a:r>
                <a:rPr b="0" i="0" lang="en" sz="1050" u="none" cap="none" strike="noStrike">
                  <a:solidFill>
                    <a:schemeClr val="dk1"/>
                  </a:solidFill>
                  <a:latin typeface="Arial"/>
                  <a:ea typeface="Arial"/>
                  <a:cs typeface="Arial"/>
                  <a:sym typeface="Arial"/>
                </a:rPr>
                <a:t>VTN</a:t>
              </a:r>
            </a:p>
          </p:txBody>
        </p:sp>
        <p:sp>
          <p:nvSpPr>
            <p:cNvPr id="1315" name="Shape 1315"/>
            <p:cNvSpPr/>
            <p:nvPr/>
          </p:nvSpPr>
          <p:spPr>
            <a:xfrm>
              <a:off x="2339751" y="4237653"/>
              <a:ext cx="864095" cy="360040"/>
            </a:xfrm>
            <a:prstGeom prst="rect">
              <a:avLst/>
            </a:prstGeom>
            <a:noFill/>
            <a:ln cap="flat" cmpd="sng" w="9525">
              <a:solidFill>
                <a:srgbClr val="0094D6"/>
              </a:solidFill>
              <a:prstDash val="solid"/>
              <a:round/>
              <a:headEnd len="med" w="med" type="none"/>
              <a:tailEnd len="med" w="med" type="none"/>
            </a:ln>
          </p:spPr>
          <p:txBody>
            <a:bodyPr anchorCtr="0" anchor="ctr" bIns="45700" lIns="0" rIns="0" tIns="45700">
              <a:noAutofit/>
            </a:bodyPr>
            <a:lstStyle/>
            <a:p>
              <a:pPr indent="0" lvl="0" marL="0" marR="0" rtl="0" algn="ctr">
                <a:spcBef>
                  <a:spcPts val="0"/>
                </a:spcBef>
                <a:spcAft>
                  <a:spcPts val="0"/>
                </a:spcAft>
                <a:buSzPct val="25000"/>
                <a:buNone/>
              </a:pPr>
              <a:r>
                <a:rPr b="0" i="0" lang="en" sz="1050" u="none" cap="none" strike="noStrike">
                  <a:solidFill>
                    <a:schemeClr val="dk1"/>
                  </a:solidFill>
                  <a:latin typeface="Arial"/>
                  <a:ea typeface="Arial"/>
                  <a:cs typeface="Arial"/>
                  <a:sym typeface="Arial"/>
                </a:rPr>
                <a:t>SFC</a:t>
              </a:r>
            </a:p>
          </p:txBody>
        </p:sp>
        <p:sp>
          <p:nvSpPr>
            <p:cNvPr id="1316" name="Shape 1316"/>
            <p:cNvSpPr/>
            <p:nvPr/>
          </p:nvSpPr>
          <p:spPr>
            <a:xfrm>
              <a:off x="827583" y="3037519"/>
              <a:ext cx="3888432" cy="300000"/>
            </a:xfrm>
            <a:prstGeom prst="rect">
              <a:avLst/>
            </a:prstGeom>
            <a:noFill/>
            <a:ln cap="flat" cmpd="sng" w="9525">
              <a:solidFill>
                <a:srgbClr val="0094D6"/>
              </a:solidFill>
              <a:prstDash val="solid"/>
              <a:round/>
              <a:headEnd len="med" w="med" type="none"/>
              <a:tailEnd len="med" w="med" type="none"/>
            </a:ln>
          </p:spPr>
          <p:txBody>
            <a:bodyPr anchorCtr="0" anchor="ctr" bIns="45700" lIns="0" rIns="0" tIns="45700">
              <a:noAutofit/>
            </a:bodyPr>
            <a:lstStyle/>
            <a:p>
              <a:pPr indent="0" lvl="0" marL="0" marR="0" rtl="0" algn="ctr">
                <a:spcBef>
                  <a:spcPts val="0"/>
                </a:spcBef>
                <a:spcAft>
                  <a:spcPts val="0"/>
                </a:spcAft>
                <a:buSzPct val="25000"/>
                <a:buNone/>
              </a:pPr>
              <a:r>
                <a:rPr b="0" i="0" lang="en" sz="1050" u="none" cap="none" strike="noStrike">
                  <a:solidFill>
                    <a:schemeClr val="dk1"/>
                  </a:solidFill>
                  <a:latin typeface="Arial"/>
                  <a:ea typeface="Arial"/>
                  <a:cs typeface="Arial"/>
                  <a:sym typeface="Arial"/>
                </a:rPr>
                <a:t>NEMO Intent Resolver</a:t>
              </a:r>
            </a:p>
          </p:txBody>
        </p:sp>
        <p:sp>
          <p:nvSpPr>
            <p:cNvPr id="1317" name="Shape 1317"/>
            <p:cNvSpPr/>
            <p:nvPr/>
          </p:nvSpPr>
          <p:spPr>
            <a:xfrm>
              <a:off x="611560" y="1897392"/>
              <a:ext cx="4320480" cy="2040000"/>
            </a:xfrm>
            <a:prstGeom prst="rect">
              <a:avLst/>
            </a:prstGeom>
            <a:noFill/>
            <a:ln cap="flat" cmpd="sng" w="19050">
              <a:solidFill>
                <a:srgbClr val="0070C0"/>
              </a:solidFill>
              <a:prstDash val="solid"/>
              <a:round/>
              <a:headEnd len="med" w="med" type="none"/>
              <a:tailEnd len="med" w="med" type="none"/>
            </a:ln>
          </p:spPr>
          <p:txBody>
            <a:bodyPr anchorCtr="0" anchor="t" bIns="45700" lIns="0" rIns="0" tIns="45700">
              <a:noAutofit/>
            </a:bodyPr>
            <a:lstStyle/>
            <a:p>
              <a:pPr indent="0" lvl="0" marL="0" marR="0" rtl="0" algn="ctr">
                <a:spcBef>
                  <a:spcPts val="0"/>
                </a:spcBef>
                <a:spcAft>
                  <a:spcPts val="0"/>
                </a:spcAft>
                <a:buSzPct val="25000"/>
                <a:buNone/>
              </a:pPr>
              <a:r>
                <a:rPr b="1" i="0" lang="en" sz="1200" u="none" cap="none" strike="noStrike">
                  <a:solidFill>
                    <a:srgbClr val="0070C0"/>
                  </a:solidFill>
                  <a:latin typeface="Arial"/>
                  <a:ea typeface="Arial"/>
                  <a:cs typeface="Arial"/>
                  <a:sym typeface="Arial"/>
                </a:rPr>
                <a:t>NEMO</a:t>
              </a:r>
            </a:p>
          </p:txBody>
        </p:sp>
        <p:sp>
          <p:nvSpPr>
            <p:cNvPr id="1318" name="Shape 1318"/>
            <p:cNvSpPr/>
            <p:nvPr/>
          </p:nvSpPr>
          <p:spPr>
            <a:xfrm>
              <a:off x="611560" y="4897726"/>
              <a:ext cx="4320480" cy="360040"/>
            </a:xfrm>
            <a:prstGeom prst="rect">
              <a:avLst/>
            </a:prstGeom>
            <a:noFill/>
            <a:ln cap="flat" cmpd="sng" w="9525">
              <a:solidFill>
                <a:srgbClr val="0094D6"/>
              </a:solidFill>
              <a:prstDash val="solid"/>
              <a:round/>
              <a:headEnd len="med" w="med" type="none"/>
              <a:tailEnd len="med" w="med" type="none"/>
            </a:ln>
          </p:spPr>
          <p:txBody>
            <a:bodyPr anchorCtr="0" anchor="ctr" bIns="45700" lIns="0" rIns="0" tIns="45700">
              <a:noAutofit/>
            </a:bodyPr>
            <a:lstStyle/>
            <a:p>
              <a:pPr indent="0" lvl="0" marL="0" marR="0" rtl="0" algn="ctr">
                <a:spcBef>
                  <a:spcPts val="0"/>
                </a:spcBef>
                <a:spcAft>
                  <a:spcPts val="0"/>
                </a:spcAft>
                <a:buSzPct val="25000"/>
                <a:buNone/>
              </a:pPr>
              <a:r>
                <a:rPr b="0" i="0" lang="en" sz="1050" u="none" cap="none" strike="noStrike">
                  <a:solidFill>
                    <a:schemeClr val="dk1"/>
                  </a:solidFill>
                  <a:latin typeface="Arial"/>
                  <a:ea typeface="Arial"/>
                  <a:cs typeface="Arial"/>
                  <a:sym typeface="Arial"/>
                </a:rPr>
                <a:t>ONOS Core</a:t>
              </a:r>
            </a:p>
          </p:txBody>
        </p:sp>
        <p:cxnSp>
          <p:nvCxnSpPr>
            <p:cNvPr id="1319" name="Shape 1319"/>
            <p:cNvCxnSpPr/>
            <p:nvPr/>
          </p:nvCxnSpPr>
          <p:spPr>
            <a:xfrm rot="10800000">
              <a:off x="1763688" y="1717392"/>
              <a:ext cx="0" cy="179999"/>
            </a:xfrm>
            <a:prstGeom prst="straightConnector1">
              <a:avLst/>
            </a:prstGeom>
            <a:noFill/>
            <a:ln cap="flat" cmpd="sng" w="9525">
              <a:solidFill>
                <a:srgbClr val="00B050"/>
              </a:solidFill>
              <a:prstDash val="solid"/>
              <a:round/>
              <a:headEnd len="med" w="med" type="none"/>
              <a:tailEnd len="lg" w="lg" type="stealth"/>
            </a:ln>
          </p:spPr>
        </p:cxnSp>
        <p:cxnSp>
          <p:nvCxnSpPr>
            <p:cNvPr id="1320" name="Shape 1320"/>
            <p:cNvCxnSpPr/>
            <p:nvPr/>
          </p:nvCxnSpPr>
          <p:spPr>
            <a:xfrm rot="10800000">
              <a:off x="2132111" y="1717392"/>
              <a:ext cx="0" cy="179999"/>
            </a:xfrm>
            <a:prstGeom prst="straightConnector1">
              <a:avLst/>
            </a:prstGeom>
            <a:noFill/>
            <a:ln cap="flat" cmpd="sng" w="9525">
              <a:solidFill>
                <a:srgbClr val="00B050"/>
              </a:solidFill>
              <a:prstDash val="solid"/>
              <a:round/>
              <a:headEnd len="med" w="med" type="none"/>
              <a:tailEnd len="lg" w="lg" type="stealth"/>
            </a:ln>
          </p:spPr>
        </p:cxnSp>
        <p:cxnSp>
          <p:nvCxnSpPr>
            <p:cNvPr id="1321" name="Shape 1321"/>
            <p:cNvCxnSpPr/>
            <p:nvPr/>
          </p:nvCxnSpPr>
          <p:spPr>
            <a:xfrm rot="10800000">
              <a:off x="2483767" y="1717392"/>
              <a:ext cx="0" cy="179999"/>
            </a:xfrm>
            <a:prstGeom prst="straightConnector1">
              <a:avLst/>
            </a:prstGeom>
            <a:noFill/>
            <a:ln cap="flat" cmpd="sng" w="9525">
              <a:solidFill>
                <a:srgbClr val="00B050"/>
              </a:solidFill>
              <a:prstDash val="solid"/>
              <a:round/>
              <a:headEnd len="med" w="med" type="none"/>
              <a:tailEnd len="lg" w="lg" type="stealth"/>
            </a:ln>
          </p:spPr>
        </p:cxnSp>
        <p:cxnSp>
          <p:nvCxnSpPr>
            <p:cNvPr id="1322" name="Shape 1322"/>
            <p:cNvCxnSpPr/>
            <p:nvPr/>
          </p:nvCxnSpPr>
          <p:spPr>
            <a:xfrm rot="10800000">
              <a:off x="1403648" y="1717392"/>
              <a:ext cx="0" cy="179999"/>
            </a:xfrm>
            <a:prstGeom prst="straightConnector1">
              <a:avLst/>
            </a:prstGeom>
            <a:noFill/>
            <a:ln cap="flat" cmpd="sng" w="9525">
              <a:solidFill>
                <a:srgbClr val="00B050"/>
              </a:solidFill>
              <a:prstDash val="solid"/>
              <a:round/>
              <a:headEnd len="med" w="med" type="none"/>
              <a:tailEnd len="lg" w="lg" type="stealth"/>
            </a:ln>
          </p:spPr>
        </p:cxnSp>
        <p:cxnSp>
          <p:nvCxnSpPr>
            <p:cNvPr id="1323" name="Shape 1323"/>
            <p:cNvCxnSpPr/>
            <p:nvPr/>
          </p:nvCxnSpPr>
          <p:spPr>
            <a:xfrm rot="10800000">
              <a:off x="1043608" y="1717392"/>
              <a:ext cx="0" cy="179999"/>
            </a:xfrm>
            <a:prstGeom prst="straightConnector1">
              <a:avLst/>
            </a:prstGeom>
            <a:noFill/>
            <a:ln cap="flat" cmpd="sng" w="9525">
              <a:solidFill>
                <a:srgbClr val="00B050"/>
              </a:solidFill>
              <a:prstDash val="solid"/>
              <a:round/>
              <a:headEnd len="med" w="med" type="none"/>
              <a:tailEnd len="lg" w="lg" type="stealth"/>
            </a:ln>
          </p:spPr>
        </p:cxnSp>
        <p:cxnSp>
          <p:nvCxnSpPr>
            <p:cNvPr id="1324" name="Shape 1324"/>
            <p:cNvCxnSpPr/>
            <p:nvPr/>
          </p:nvCxnSpPr>
          <p:spPr>
            <a:xfrm rot="10800000">
              <a:off x="3779912" y="1717392"/>
              <a:ext cx="0" cy="179999"/>
            </a:xfrm>
            <a:prstGeom prst="straightConnector1">
              <a:avLst/>
            </a:prstGeom>
            <a:noFill/>
            <a:ln cap="flat" cmpd="sng" w="9525">
              <a:solidFill>
                <a:srgbClr val="FF0000"/>
              </a:solidFill>
              <a:prstDash val="solid"/>
              <a:round/>
              <a:headEnd len="med" w="med" type="none"/>
              <a:tailEnd len="lg" w="lg" type="stealth"/>
            </a:ln>
          </p:spPr>
        </p:cxnSp>
        <p:cxnSp>
          <p:nvCxnSpPr>
            <p:cNvPr id="1325" name="Shape 1325"/>
            <p:cNvCxnSpPr/>
            <p:nvPr/>
          </p:nvCxnSpPr>
          <p:spPr>
            <a:xfrm rot="10800000">
              <a:off x="4148335" y="1717392"/>
              <a:ext cx="0" cy="179999"/>
            </a:xfrm>
            <a:prstGeom prst="straightConnector1">
              <a:avLst/>
            </a:prstGeom>
            <a:noFill/>
            <a:ln cap="flat" cmpd="sng" w="9525">
              <a:solidFill>
                <a:srgbClr val="FF0000"/>
              </a:solidFill>
              <a:prstDash val="solid"/>
              <a:round/>
              <a:headEnd len="med" w="med" type="none"/>
              <a:tailEnd len="lg" w="lg" type="stealth"/>
            </a:ln>
          </p:spPr>
        </p:cxnSp>
        <p:cxnSp>
          <p:nvCxnSpPr>
            <p:cNvPr id="1326" name="Shape 1326"/>
            <p:cNvCxnSpPr/>
            <p:nvPr/>
          </p:nvCxnSpPr>
          <p:spPr>
            <a:xfrm rot="10800000">
              <a:off x="4499992" y="1717392"/>
              <a:ext cx="0" cy="179999"/>
            </a:xfrm>
            <a:prstGeom prst="straightConnector1">
              <a:avLst/>
            </a:prstGeom>
            <a:noFill/>
            <a:ln cap="flat" cmpd="sng" w="9525">
              <a:solidFill>
                <a:srgbClr val="FF0000"/>
              </a:solidFill>
              <a:prstDash val="solid"/>
              <a:round/>
              <a:headEnd len="med" w="med" type="none"/>
              <a:tailEnd len="lg" w="lg" type="stealth"/>
            </a:ln>
          </p:spPr>
        </p:cxnSp>
        <p:cxnSp>
          <p:nvCxnSpPr>
            <p:cNvPr id="1327" name="Shape 1327"/>
            <p:cNvCxnSpPr/>
            <p:nvPr/>
          </p:nvCxnSpPr>
          <p:spPr>
            <a:xfrm rot="10800000">
              <a:off x="3419871" y="1717392"/>
              <a:ext cx="0" cy="179999"/>
            </a:xfrm>
            <a:prstGeom prst="straightConnector1">
              <a:avLst/>
            </a:prstGeom>
            <a:noFill/>
            <a:ln cap="flat" cmpd="sng" w="9525">
              <a:solidFill>
                <a:srgbClr val="FF0000"/>
              </a:solidFill>
              <a:prstDash val="solid"/>
              <a:round/>
              <a:headEnd len="med" w="med" type="none"/>
              <a:tailEnd len="lg" w="lg" type="stealth"/>
            </a:ln>
          </p:spPr>
        </p:cxnSp>
        <p:cxnSp>
          <p:nvCxnSpPr>
            <p:cNvPr id="1328" name="Shape 1328"/>
            <p:cNvCxnSpPr/>
            <p:nvPr/>
          </p:nvCxnSpPr>
          <p:spPr>
            <a:xfrm rot="10800000">
              <a:off x="3059832" y="1717392"/>
              <a:ext cx="0" cy="179999"/>
            </a:xfrm>
            <a:prstGeom prst="straightConnector1">
              <a:avLst/>
            </a:prstGeom>
            <a:noFill/>
            <a:ln cap="flat" cmpd="sng" w="9525">
              <a:solidFill>
                <a:srgbClr val="FF0000"/>
              </a:solidFill>
              <a:prstDash val="solid"/>
              <a:round/>
              <a:headEnd len="med" w="med" type="none"/>
              <a:tailEnd len="lg" w="lg" type="stealth"/>
            </a:ln>
          </p:spPr>
        </p:cxnSp>
        <p:cxnSp>
          <p:nvCxnSpPr>
            <p:cNvPr id="1329" name="Shape 1329"/>
            <p:cNvCxnSpPr>
              <a:stCxn id="1314" idx="0"/>
            </p:cNvCxnSpPr>
            <p:nvPr/>
          </p:nvCxnSpPr>
          <p:spPr>
            <a:xfrm rot="10800000">
              <a:off x="1547664" y="3925651"/>
              <a:ext cx="0" cy="300000"/>
            </a:xfrm>
            <a:prstGeom prst="straightConnector1">
              <a:avLst/>
            </a:prstGeom>
            <a:noFill/>
            <a:ln cap="flat" cmpd="sng" w="9525">
              <a:solidFill>
                <a:srgbClr val="632423"/>
              </a:solidFill>
              <a:prstDash val="solid"/>
              <a:round/>
              <a:headEnd len="lg" w="lg" type="stealth"/>
              <a:tailEnd len="lg" w="lg" type="stealth"/>
            </a:ln>
          </p:spPr>
        </p:cxnSp>
        <p:cxnSp>
          <p:nvCxnSpPr>
            <p:cNvPr id="1330" name="Shape 1330"/>
            <p:cNvCxnSpPr>
              <a:stCxn id="1315" idx="0"/>
            </p:cNvCxnSpPr>
            <p:nvPr/>
          </p:nvCxnSpPr>
          <p:spPr>
            <a:xfrm rot="10800000">
              <a:off x="2771799" y="3937653"/>
              <a:ext cx="0" cy="300000"/>
            </a:xfrm>
            <a:prstGeom prst="straightConnector1">
              <a:avLst/>
            </a:prstGeom>
            <a:noFill/>
            <a:ln cap="flat" cmpd="sng" w="9525">
              <a:solidFill>
                <a:srgbClr val="7030A0"/>
              </a:solidFill>
              <a:prstDash val="solid"/>
              <a:round/>
              <a:headEnd len="lg" w="lg" type="stealth"/>
              <a:tailEnd len="lg" w="lg" type="stealth"/>
            </a:ln>
          </p:spPr>
        </p:cxnSp>
        <p:cxnSp>
          <p:nvCxnSpPr>
            <p:cNvPr id="1331" name="Shape 1331"/>
            <p:cNvCxnSpPr/>
            <p:nvPr/>
          </p:nvCxnSpPr>
          <p:spPr>
            <a:xfrm rot="10800000">
              <a:off x="4644007" y="3937619"/>
              <a:ext cx="0" cy="960106"/>
            </a:xfrm>
            <a:prstGeom prst="straightConnector1">
              <a:avLst/>
            </a:prstGeom>
            <a:noFill/>
            <a:ln cap="flat" cmpd="sng" w="9525">
              <a:solidFill>
                <a:srgbClr val="7F7F7F"/>
              </a:solidFill>
              <a:prstDash val="solid"/>
              <a:round/>
              <a:headEnd len="lg" w="lg" type="stealth"/>
              <a:tailEnd len="lg" w="lg" type="stealth"/>
            </a:ln>
          </p:spPr>
        </p:cxnSp>
        <p:sp>
          <p:nvSpPr>
            <p:cNvPr id="1332" name="Shape 1332"/>
            <p:cNvSpPr txBox="1"/>
            <p:nvPr/>
          </p:nvSpPr>
          <p:spPr>
            <a:xfrm>
              <a:off x="755575" y="1447326"/>
              <a:ext cx="2016224" cy="323149"/>
            </a:xfrm>
            <a:prstGeom prst="rect">
              <a:avLst/>
            </a:prstGeom>
            <a:noFill/>
            <a:ln>
              <a:noFill/>
            </a:ln>
          </p:spPr>
          <p:txBody>
            <a:bodyPr anchorCtr="0" anchor="t" bIns="72000" lIns="72225" rIns="72225" tIns="72000">
              <a:noAutofit/>
            </a:bodyPr>
            <a:lstStyle/>
            <a:p>
              <a:pPr indent="0" lvl="0" marL="0" marR="0" rtl="0" algn="ctr">
                <a:lnSpc>
                  <a:spcPct val="150000"/>
                </a:lnSpc>
                <a:spcBef>
                  <a:spcPts val="0"/>
                </a:spcBef>
                <a:buSzPct val="25000"/>
                <a:buNone/>
              </a:pPr>
              <a:r>
                <a:rPr b="0" i="0" lang="en" sz="1050" u="none" cap="none" strike="noStrike">
                  <a:solidFill>
                    <a:srgbClr val="00B050"/>
                  </a:solidFill>
                  <a:latin typeface="Arial"/>
                  <a:ea typeface="Arial"/>
                  <a:cs typeface="Arial"/>
                  <a:sym typeface="Arial"/>
                </a:rPr>
                <a:t>NEMO Language-style API</a:t>
              </a:r>
            </a:p>
          </p:txBody>
        </p:sp>
        <p:sp>
          <p:nvSpPr>
            <p:cNvPr id="1333" name="Shape 1333"/>
            <p:cNvSpPr txBox="1"/>
            <p:nvPr/>
          </p:nvSpPr>
          <p:spPr>
            <a:xfrm>
              <a:off x="2771800" y="1447326"/>
              <a:ext cx="2016224" cy="323149"/>
            </a:xfrm>
            <a:prstGeom prst="rect">
              <a:avLst/>
            </a:prstGeom>
            <a:noFill/>
            <a:ln>
              <a:noFill/>
            </a:ln>
          </p:spPr>
          <p:txBody>
            <a:bodyPr anchorCtr="0" anchor="t" bIns="72000" lIns="72225" rIns="72225" tIns="72000">
              <a:noAutofit/>
            </a:bodyPr>
            <a:lstStyle/>
            <a:p>
              <a:pPr indent="0" lvl="0" marL="0" marR="0" rtl="0" algn="ctr">
                <a:lnSpc>
                  <a:spcPct val="150000"/>
                </a:lnSpc>
                <a:spcBef>
                  <a:spcPts val="0"/>
                </a:spcBef>
                <a:buSzPct val="25000"/>
                <a:buNone/>
              </a:pPr>
              <a:r>
                <a:rPr b="0" i="0" lang="en" sz="1050" u="none" cap="none" strike="noStrike">
                  <a:solidFill>
                    <a:srgbClr val="FF0000"/>
                  </a:solidFill>
                  <a:latin typeface="Arial"/>
                  <a:ea typeface="Arial"/>
                  <a:cs typeface="Arial"/>
                  <a:sym typeface="Arial"/>
                </a:rPr>
                <a:t>NEMO Structure-style API</a:t>
              </a:r>
            </a:p>
          </p:txBody>
        </p:sp>
        <p:cxnSp>
          <p:nvCxnSpPr>
            <p:cNvPr id="1334" name="Shape 1334"/>
            <p:cNvCxnSpPr>
              <a:endCxn id="1314" idx="2"/>
            </p:cNvCxnSpPr>
            <p:nvPr/>
          </p:nvCxnSpPr>
          <p:spPr>
            <a:xfrm rot="10800000">
              <a:off x="1547664" y="4585691"/>
              <a:ext cx="0" cy="300000"/>
            </a:xfrm>
            <a:prstGeom prst="straightConnector1">
              <a:avLst/>
            </a:prstGeom>
            <a:noFill/>
            <a:ln cap="flat" cmpd="sng" w="9525">
              <a:solidFill>
                <a:srgbClr val="7F7F7F"/>
              </a:solidFill>
              <a:prstDash val="solid"/>
              <a:round/>
              <a:headEnd len="lg" w="lg" type="stealth"/>
              <a:tailEnd len="lg" w="lg" type="stealth"/>
            </a:ln>
          </p:spPr>
        </p:cxnSp>
        <p:cxnSp>
          <p:nvCxnSpPr>
            <p:cNvPr id="1335" name="Shape 1335"/>
            <p:cNvCxnSpPr>
              <a:endCxn id="1315" idx="2"/>
            </p:cNvCxnSpPr>
            <p:nvPr/>
          </p:nvCxnSpPr>
          <p:spPr>
            <a:xfrm rot="10800000">
              <a:off x="2771799" y="4597693"/>
              <a:ext cx="0" cy="300000"/>
            </a:xfrm>
            <a:prstGeom prst="straightConnector1">
              <a:avLst/>
            </a:prstGeom>
            <a:noFill/>
            <a:ln cap="flat" cmpd="sng" w="9525">
              <a:solidFill>
                <a:srgbClr val="7F7F7F"/>
              </a:solidFill>
              <a:prstDash val="solid"/>
              <a:round/>
              <a:headEnd len="lg" w="lg" type="stealth"/>
              <a:tailEnd len="lg" w="lg" type="stealth"/>
            </a:ln>
          </p:spPr>
        </p:cxnSp>
        <p:pic>
          <p:nvPicPr>
            <p:cNvPr id="1336" name="Shape 1336"/>
            <p:cNvPicPr preferRelativeResize="0"/>
            <p:nvPr/>
          </p:nvPicPr>
          <p:blipFill rotWithShape="1">
            <a:blip r:embed="rId3">
              <a:alphaModFix/>
            </a:blip>
            <a:srcRect b="0" l="0" r="0" t="0"/>
            <a:stretch/>
          </p:blipFill>
          <p:spPr>
            <a:xfrm>
              <a:off x="611560" y="817272"/>
              <a:ext cx="2015999" cy="600000"/>
            </a:xfrm>
            <a:prstGeom prst="rect">
              <a:avLst/>
            </a:prstGeom>
            <a:noFill/>
            <a:ln cap="flat" cmpd="sng" w="9525">
              <a:solidFill>
                <a:srgbClr val="00B050"/>
              </a:solidFill>
              <a:prstDash val="solid"/>
              <a:miter/>
              <a:headEnd len="med" w="med" type="none"/>
              <a:tailEnd len="med" w="med" type="none"/>
            </a:ln>
          </p:spPr>
        </p:pic>
        <p:pic>
          <p:nvPicPr>
            <p:cNvPr descr="2.bmp" id="1337" name="Shape 1337"/>
            <p:cNvPicPr preferRelativeResize="0"/>
            <p:nvPr/>
          </p:nvPicPr>
          <p:blipFill rotWithShape="1">
            <a:blip r:embed="rId4">
              <a:alphaModFix/>
            </a:blip>
            <a:srcRect b="0" l="0" r="0" t="0"/>
            <a:stretch/>
          </p:blipFill>
          <p:spPr>
            <a:xfrm>
              <a:off x="2915816" y="817272"/>
              <a:ext cx="2015999" cy="600000"/>
            </a:xfrm>
            <a:prstGeom prst="rect">
              <a:avLst/>
            </a:prstGeom>
            <a:noFill/>
            <a:ln cap="flat" cmpd="sng" w="9525">
              <a:solidFill>
                <a:srgbClr val="FF0000"/>
              </a:solidFill>
              <a:prstDash val="solid"/>
              <a:round/>
              <a:headEnd len="med" w="med" type="none"/>
              <a:tailEnd len="med" w="med" type="none"/>
            </a:ln>
          </p:spPr>
        </p:pic>
        <p:sp>
          <p:nvSpPr>
            <p:cNvPr id="1338" name="Shape 1338"/>
            <p:cNvSpPr txBox="1"/>
            <p:nvPr/>
          </p:nvSpPr>
          <p:spPr>
            <a:xfrm>
              <a:off x="611560" y="1093815"/>
              <a:ext cx="2016224" cy="352003"/>
            </a:xfrm>
            <a:prstGeom prst="rect">
              <a:avLst/>
            </a:prstGeom>
            <a:noFill/>
            <a:ln>
              <a:noFill/>
            </a:ln>
          </p:spPr>
          <p:txBody>
            <a:bodyPr anchorCtr="0" anchor="t" bIns="72000" lIns="72225" rIns="72225" tIns="72000">
              <a:noAutofit/>
            </a:bodyPr>
            <a:lstStyle/>
            <a:p>
              <a:pPr indent="0" lvl="0" marL="0" marR="0" rtl="0" algn="ctr">
                <a:lnSpc>
                  <a:spcPct val="150000"/>
                </a:lnSpc>
                <a:spcBef>
                  <a:spcPts val="0"/>
                </a:spcBef>
                <a:buSzPct val="25000"/>
                <a:buNone/>
              </a:pPr>
              <a:r>
                <a:rPr b="1" i="0" lang="en" sz="1200" u="none" cap="none" strike="noStrike">
                  <a:solidFill>
                    <a:srgbClr val="00B050"/>
                  </a:solidFill>
                  <a:latin typeface="Arial"/>
                  <a:ea typeface="Arial"/>
                  <a:cs typeface="Arial"/>
                  <a:sym typeface="Arial"/>
                </a:rPr>
                <a:t>Eclipse NEMO Editor</a:t>
              </a:r>
            </a:p>
          </p:txBody>
        </p:sp>
        <p:sp>
          <p:nvSpPr>
            <p:cNvPr id="1339" name="Shape 1339"/>
            <p:cNvSpPr txBox="1"/>
            <p:nvPr/>
          </p:nvSpPr>
          <p:spPr>
            <a:xfrm>
              <a:off x="2924200" y="1093815"/>
              <a:ext cx="2016224" cy="352003"/>
            </a:xfrm>
            <a:prstGeom prst="rect">
              <a:avLst/>
            </a:prstGeom>
            <a:noFill/>
            <a:ln>
              <a:noFill/>
            </a:ln>
          </p:spPr>
          <p:txBody>
            <a:bodyPr anchorCtr="0" anchor="t" bIns="72000" lIns="72225" rIns="72225" tIns="72000">
              <a:noAutofit/>
            </a:bodyPr>
            <a:lstStyle/>
            <a:p>
              <a:pPr indent="0" lvl="0" marL="0" marR="0" rtl="0" algn="ctr">
                <a:lnSpc>
                  <a:spcPct val="150000"/>
                </a:lnSpc>
                <a:spcBef>
                  <a:spcPts val="0"/>
                </a:spcBef>
                <a:buSzPct val="25000"/>
                <a:buNone/>
              </a:pPr>
              <a:r>
                <a:rPr b="1" i="0" lang="en" sz="1200" u="none" cap="none" strike="noStrike">
                  <a:solidFill>
                    <a:srgbClr val="FF0000"/>
                  </a:solidFill>
                  <a:latin typeface="Arial"/>
                  <a:ea typeface="Arial"/>
                  <a:cs typeface="Arial"/>
                  <a:sym typeface="Arial"/>
                </a:rPr>
                <a:t>ONOS GUI</a:t>
              </a:r>
            </a:p>
          </p:txBody>
        </p:sp>
        <p:sp>
          <p:nvSpPr>
            <p:cNvPr id="1340" name="Shape 1340"/>
            <p:cNvSpPr/>
            <p:nvPr/>
          </p:nvSpPr>
          <p:spPr>
            <a:xfrm>
              <a:off x="3203848" y="1985657"/>
              <a:ext cx="1224135" cy="240026"/>
            </a:xfrm>
            <a:prstGeom prst="can">
              <a:avLst>
                <a:gd fmla="val 25000" name="adj"/>
              </a:avLst>
            </a:prstGeom>
            <a:noFill/>
            <a:ln cap="flat" cmpd="sng" w="9525">
              <a:solidFill>
                <a:srgbClr val="0094D6"/>
              </a:solidFill>
              <a:prstDash val="solid"/>
              <a:round/>
              <a:headEnd len="med" w="med" type="none"/>
              <a:tailEnd len="med" w="med" type="none"/>
            </a:ln>
          </p:spPr>
          <p:txBody>
            <a:bodyPr anchorCtr="0" anchor="ctr" bIns="45700" lIns="0" rIns="0" tIns="45700">
              <a:noAutofit/>
            </a:bodyPr>
            <a:lstStyle/>
            <a:p>
              <a:pPr indent="0" lvl="0" marL="0" marR="0" rtl="0" algn="ctr">
                <a:spcBef>
                  <a:spcPts val="0"/>
                </a:spcBef>
                <a:spcAft>
                  <a:spcPts val="0"/>
                </a:spcAft>
                <a:buSzPct val="25000"/>
                <a:buNone/>
              </a:pPr>
              <a:r>
                <a:rPr b="0" i="0" lang="en" sz="1050" u="none" cap="none" strike="noStrike">
                  <a:solidFill>
                    <a:schemeClr val="dk1"/>
                  </a:solidFill>
                  <a:latin typeface="Arial"/>
                  <a:ea typeface="Arial"/>
                  <a:cs typeface="Arial"/>
                  <a:sym typeface="Arial"/>
                </a:rPr>
                <a:t>NEMO Storage</a:t>
              </a:r>
            </a:p>
          </p:txBody>
        </p:sp>
        <p:sp>
          <p:nvSpPr>
            <p:cNvPr id="1341" name="Shape 1341"/>
            <p:cNvSpPr/>
            <p:nvPr/>
          </p:nvSpPr>
          <p:spPr>
            <a:xfrm>
              <a:off x="3203848" y="2285690"/>
              <a:ext cx="1224135" cy="240026"/>
            </a:xfrm>
            <a:prstGeom prst="snip1Rect">
              <a:avLst>
                <a:gd fmla="val 16667" name="adj"/>
              </a:avLst>
            </a:prstGeom>
            <a:noFill/>
            <a:ln cap="flat" cmpd="sng" w="9525">
              <a:solidFill>
                <a:srgbClr val="0094D6"/>
              </a:solidFill>
              <a:prstDash val="solid"/>
              <a:round/>
              <a:headEnd len="med" w="med" type="none"/>
              <a:tailEnd len="med" w="med" type="none"/>
            </a:ln>
          </p:spPr>
          <p:txBody>
            <a:bodyPr anchorCtr="0" anchor="ctr" bIns="45700" lIns="0" rIns="0" tIns="45700">
              <a:noAutofit/>
            </a:bodyPr>
            <a:lstStyle/>
            <a:p>
              <a:pPr indent="0" lvl="0" marL="0" marR="0" rtl="0" algn="ctr">
                <a:spcBef>
                  <a:spcPts val="0"/>
                </a:spcBef>
                <a:spcAft>
                  <a:spcPts val="0"/>
                </a:spcAft>
                <a:buSzPct val="25000"/>
                <a:buNone/>
              </a:pPr>
              <a:r>
                <a:rPr b="0" i="0" lang="en" sz="1050" u="none" cap="none" strike="noStrike">
                  <a:solidFill>
                    <a:schemeClr val="dk1"/>
                  </a:solidFill>
                  <a:latin typeface="Arial"/>
                  <a:ea typeface="Arial"/>
                  <a:cs typeface="Arial"/>
                  <a:sym typeface="Arial"/>
                </a:rPr>
                <a:t>NEMO Model</a:t>
              </a:r>
            </a:p>
          </p:txBody>
        </p:sp>
        <p:sp>
          <p:nvSpPr>
            <p:cNvPr id="1342" name="Shape 1342"/>
            <p:cNvSpPr/>
            <p:nvPr/>
          </p:nvSpPr>
          <p:spPr>
            <a:xfrm>
              <a:off x="827583" y="2617473"/>
              <a:ext cx="3888432" cy="300000"/>
            </a:xfrm>
            <a:prstGeom prst="rect">
              <a:avLst/>
            </a:prstGeom>
            <a:noFill/>
            <a:ln cap="flat" cmpd="sng" w="9525">
              <a:solidFill>
                <a:srgbClr val="0094D6"/>
              </a:solidFill>
              <a:prstDash val="solid"/>
              <a:round/>
              <a:headEnd len="med" w="med" type="none"/>
              <a:tailEnd len="med" w="med" type="none"/>
            </a:ln>
          </p:spPr>
          <p:txBody>
            <a:bodyPr anchorCtr="0" anchor="ctr" bIns="45700" lIns="0" rIns="0" tIns="45700">
              <a:noAutofit/>
            </a:bodyPr>
            <a:lstStyle/>
            <a:p>
              <a:pPr indent="0" lvl="0" marL="0" marR="0" rtl="0" algn="ctr">
                <a:spcBef>
                  <a:spcPts val="0"/>
                </a:spcBef>
                <a:spcAft>
                  <a:spcPts val="0"/>
                </a:spcAft>
                <a:buSzPct val="25000"/>
                <a:buNone/>
              </a:pPr>
              <a:r>
                <a:rPr b="0" i="0" lang="en" sz="1050" u="none" cap="none" strike="noStrike">
                  <a:solidFill>
                    <a:schemeClr val="dk1"/>
                  </a:solidFill>
                  <a:latin typeface="Arial"/>
                  <a:ea typeface="Arial"/>
                  <a:cs typeface="Arial"/>
                  <a:sym typeface="Arial"/>
                </a:rPr>
                <a:t>Tenant Space Management</a:t>
              </a:r>
            </a:p>
          </p:txBody>
        </p:sp>
        <p:sp>
          <p:nvSpPr>
            <p:cNvPr id="1343" name="Shape 1343"/>
            <p:cNvSpPr/>
            <p:nvPr/>
          </p:nvSpPr>
          <p:spPr>
            <a:xfrm>
              <a:off x="3491880" y="3457567"/>
              <a:ext cx="1152128" cy="300032"/>
            </a:xfrm>
            <a:prstGeom prst="rect">
              <a:avLst/>
            </a:prstGeom>
            <a:noFill/>
            <a:ln cap="flat" cmpd="sng" w="9525">
              <a:solidFill>
                <a:srgbClr val="0094D6"/>
              </a:solidFill>
              <a:prstDash val="solid"/>
              <a:round/>
              <a:headEnd len="med" w="med" type="none"/>
              <a:tailEnd len="med" w="med" type="none"/>
            </a:ln>
          </p:spPr>
          <p:txBody>
            <a:bodyPr anchorCtr="0" anchor="ctr" bIns="45700" lIns="0" rIns="0" tIns="45700">
              <a:noAutofit/>
            </a:bodyPr>
            <a:lstStyle/>
            <a:p>
              <a:pPr indent="0" lvl="0" marL="0" marR="0" rtl="0" algn="ctr">
                <a:spcBef>
                  <a:spcPts val="0"/>
                </a:spcBef>
                <a:spcAft>
                  <a:spcPts val="0"/>
                </a:spcAft>
                <a:buSzPct val="25000"/>
                <a:buNone/>
              </a:pPr>
              <a:r>
                <a:rPr b="0" i="0" lang="en" sz="1050" u="none" cap="none" strike="noStrike">
                  <a:solidFill>
                    <a:schemeClr val="dk1"/>
                  </a:solidFill>
                  <a:latin typeface="Arial"/>
                  <a:ea typeface="Arial"/>
                  <a:cs typeface="Arial"/>
                  <a:sym typeface="Arial"/>
                </a:rPr>
                <a:t>Other Drivers</a:t>
              </a:r>
            </a:p>
          </p:txBody>
        </p:sp>
        <p:sp>
          <p:nvSpPr>
            <p:cNvPr id="1344" name="Shape 1344"/>
            <p:cNvSpPr/>
            <p:nvPr/>
          </p:nvSpPr>
          <p:spPr>
            <a:xfrm>
              <a:off x="3563887" y="4237653"/>
              <a:ext cx="864095" cy="360040"/>
            </a:xfrm>
            <a:prstGeom prst="rect">
              <a:avLst/>
            </a:prstGeom>
            <a:noFill/>
            <a:ln cap="flat" cmpd="sng" w="9525">
              <a:solidFill>
                <a:srgbClr val="0094D6"/>
              </a:solidFill>
              <a:prstDash val="solid"/>
              <a:round/>
              <a:headEnd len="med" w="med" type="none"/>
              <a:tailEnd len="med" w="med" type="none"/>
            </a:ln>
          </p:spPr>
          <p:txBody>
            <a:bodyPr anchorCtr="0" anchor="ctr" bIns="45700" lIns="0" rIns="0" tIns="45700">
              <a:noAutofit/>
            </a:bodyPr>
            <a:lstStyle/>
            <a:p>
              <a:pPr indent="0" lvl="0" marL="0" marR="0" rtl="0" algn="ctr">
                <a:spcBef>
                  <a:spcPts val="0"/>
                </a:spcBef>
                <a:spcAft>
                  <a:spcPts val="0"/>
                </a:spcAft>
                <a:buSzPct val="25000"/>
                <a:buNone/>
              </a:pPr>
              <a:r>
                <a:rPr b="0" i="0" lang="en" sz="1050" u="none" cap="none" strike="noStrike">
                  <a:solidFill>
                    <a:schemeClr val="dk1"/>
                  </a:solidFill>
                  <a:latin typeface="Arial"/>
                  <a:ea typeface="Arial"/>
                  <a:cs typeface="Arial"/>
                  <a:sym typeface="Arial"/>
                </a:rPr>
                <a:t>APPs</a:t>
              </a:r>
            </a:p>
          </p:txBody>
        </p:sp>
        <p:cxnSp>
          <p:nvCxnSpPr>
            <p:cNvPr id="1345" name="Shape 1345"/>
            <p:cNvCxnSpPr>
              <a:stCxn id="1344" idx="0"/>
            </p:cNvCxnSpPr>
            <p:nvPr/>
          </p:nvCxnSpPr>
          <p:spPr>
            <a:xfrm rot="10800000">
              <a:off x="3995935" y="3937653"/>
              <a:ext cx="0" cy="300000"/>
            </a:xfrm>
            <a:prstGeom prst="straightConnector1">
              <a:avLst/>
            </a:prstGeom>
            <a:noFill/>
            <a:ln cap="flat" cmpd="sng" w="9525">
              <a:solidFill>
                <a:srgbClr val="7030A0"/>
              </a:solidFill>
              <a:prstDash val="solid"/>
              <a:round/>
              <a:headEnd len="lg" w="lg" type="stealth"/>
              <a:tailEnd len="lg" w="lg" type="stealth"/>
            </a:ln>
          </p:spPr>
        </p:cxnSp>
        <p:cxnSp>
          <p:nvCxnSpPr>
            <p:cNvPr id="1346" name="Shape 1346"/>
            <p:cNvCxnSpPr>
              <a:endCxn id="1344" idx="2"/>
            </p:cNvCxnSpPr>
            <p:nvPr/>
          </p:nvCxnSpPr>
          <p:spPr>
            <a:xfrm rot="10800000">
              <a:off x="3995935" y="4597693"/>
              <a:ext cx="0" cy="300000"/>
            </a:xfrm>
            <a:prstGeom prst="straightConnector1">
              <a:avLst/>
            </a:prstGeom>
            <a:noFill/>
            <a:ln cap="flat" cmpd="sng" w="9525">
              <a:solidFill>
                <a:srgbClr val="7F7F7F"/>
              </a:solidFill>
              <a:prstDash val="solid"/>
              <a:round/>
              <a:headEnd len="lg" w="lg" type="stealth"/>
              <a:tailEnd len="lg" w="lg" type="stealth"/>
            </a:ln>
          </p:spPr>
        </p:cxnSp>
      </p:grpSp>
      <p:sp>
        <p:nvSpPr>
          <p:cNvPr id="1347" name="Shape 1347"/>
          <p:cNvSpPr txBox="1"/>
          <p:nvPr/>
        </p:nvSpPr>
        <p:spPr>
          <a:xfrm rot="5400000">
            <a:off x="-197750" y="1020850"/>
            <a:ext cx="1206300" cy="307800"/>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r>
              <a:rPr b="1" i="0" lang="en" sz="1400" u="none" cap="none" strike="noStrike">
                <a:solidFill>
                  <a:schemeClr val="dk1"/>
                </a:solidFill>
                <a:latin typeface="Calibri"/>
                <a:ea typeface="Calibri"/>
                <a:cs typeface="Calibri"/>
                <a:sym typeface="Calibri"/>
              </a:rPr>
              <a:t>Presentation</a:t>
            </a:r>
          </a:p>
        </p:txBody>
      </p:sp>
      <p:sp>
        <p:nvSpPr>
          <p:cNvPr id="1348" name="Shape 1348"/>
          <p:cNvSpPr txBox="1"/>
          <p:nvPr/>
        </p:nvSpPr>
        <p:spPr>
          <a:xfrm rot="5400000">
            <a:off x="-141600" y="4183624"/>
            <a:ext cx="1198500" cy="307800"/>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r>
              <a:rPr b="1" lang="en" sz="1400">
                <a:solidFill>
                  <a:schemeClr val="dk1"/>
                </a:solidFill>
                <a:latin typeface="Calibri"/>
                <a:ea typeface="Calibri"/>
                <a:cs typeface="Calibri"/>
                <a:sym typeface="Calibri"/>
              </a:rPr>
              <a:t>Dependency</a:t>
            </a:r>
          </a:p>
        </p:txBody>
      </p:sp>
      <p:sp>
        <p:nvSpPr>
          <p:cNvPr id="1349" name="Shape 1349"/>
          <p:cNvSpPr txBox="1"/>
          <p:nvPr/>
        </p:nvSpPr>
        <p:spPr>
          <a:xfrm rot="5400000">
            <a:off x="-390050" y="2638925"/>
            <a:ext cx="1590900" cy="307800"/>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r>
              <a:rPr b="1" lang="en" sz="1400">
                <a:solidFill>
                  <a:schemeClr val="dk1"/>
                </a:solidFill>
                <a:latin typeface="Calibri"/>
                <a:ea typeface="Calibri"/>
                <a:cs typeface="Calibri"/>
                <a:sym typeface="Calibri"/>
              </a:rPr>
              <a:t>Implementation</a:t>
            </a:r>
          </a:p>
        </p:txBody>
      </p:sp>
      <p:sp>
        <p:nvSpPr>
          <p:cNvPr id="1350" name="Shape 1350"/>
          <p:cNvSpPr txBox="1"/>
          <p:nvPr/>
        </p:nvSpPr>
        <p:spPr>
          <a:xfrm>
            <a:off x="5436096" y="692341"/>
            <a:ext cx="3707903" cy="3454791"/>
          </a:xfrm>
          <a:prstGeom prst="rect">
            <a:avLst/>
          </a:prstGeom>
          <a:noFill/>
          <a:ln>
            <a:noFill/>
          </a:ln>
        </p:spPr>
        <p:txBody>
          <a:bodyPr anchorCtr="0" anchor="t" bIns="45700" lIns="91425" rIns="91425" tIns="45700">
            <a:noAutofit/>
          </a:bodyPr>
          <a:lstStyle/>
          <a:p>
            <a:pPr indent="0" lvl="0" marL="0" marR="0" rtl="0" algn="l">
              <a:lnSpc>
                <a:spcPct val="114285"/>
              </a:lnSpc>
              <a:spcBef>
                <a:spcPts val="0"/>
              </a:spcBef>
              <a:buSzPct val="25000"/>
              <a:buNone/>
            </a:pPr>
            <a:r>
              <a:rPr b="1" lang="en" sz="1400">
                <a:solidFill>
                  <a:schemeClr val="dk1"/>
                </a:solidFill>
                <a:latin typeface="Calibri"/>
                <a:ea typeface="Calibri"/>
                <a:cs typeface="Calibri"/>
                <a:sym typeface="Calibri"/>
              </a:rPr>
              <a:t>Main Components:</a:t>
            </a:r>
          </a:p>
          <a:p>
            <a:pPr indent="12700" lvl="0" marL="0" marR="0" rtl="0" algn="l">
              <a:lnSpc>
                <a:spcPct val="133333"/>
              </a:lnSpc>
              <a:spcBef>
                <a:spcPts val="0"/>
              </a:spcBef>
              <a:buClr>
                <a:srgbClr val="7030A0"/>
              </a:buClr>
              <a:buSzPct val="100000"/>
              <a:buFont typeface="Noto Sans Symbols"/>
              <a:buChar char="➢"/>
            </a:pPr>
            <a:r>
              <a:rPr b="1" lang="en" sz="1000">
                <a:solidFill>
                  <a:srgbClr val="7030A0"/>
                </a:solidFill>
                <a:latin typeface="Calibri"/>
                <a:ea typeface="Calibri"/>
                <a:cs typeface="Calibri"/>
                <a:sym typeface="Calibri"/>
              </a:rPr>
              <a:t>Editor:</a:t>
            </a:r>
            <a:r>
              <a:rPr lang="en" sz="1000">
                <a:solidFill>
                  <a:srgbClr val="7030A0"/>
                </a:solidFill>
                <a:latin typeface="Calibri"/>
                <a:ea typeface="Calibri"/>
                <a:cs typeface="Calibri"/>
                <a:sym typeface="Calibri"/>
              </a:rPr>
              <a:t> </a:t>
            </a:r>
          </a:p>
          <a:p>
            <a:pPr indent="0" lvl="0" marL="0" marR="0" rtl="0" algn="l">
              <a:lnSpc>
                <a:spcPct val="133333"/>
              </a:lnSpc>
              <a:spcBef>
                <a:spcPts val="0"/>
              </a:spcBef>
              <a:buSzPct val="25000"/>
              <a:buNone/>
            </a:pPr>
            <a:r>
              <a:rPr lang="en" sz="1000">
                <a:solidFill>
                  <a:schemeClr val="dk1"/>
                </a:solidFill>
                <a:latin typeface="Calibri"/>
                <a:ea typeface="Calibri"/>
                <a:cs typeface="Calibri"/>
                <a:sym typeface="Calibri"/>
              </a:rPr>
              <a:t>An edit tool for users to compile users’ intent request into NEMO language</a:t>
            </a:r>
          </a:p>
          <a:p>
            <a:pPr indent="12700" lvl="0" marL="0" marR="0" rtl="0" algn="l">
              <a:lnSpc>
                <a:spcPct val="133333"/>
              </a:lnSpc>
              <a:spcBef>
                <a:spcPts val="0"/>
              </a:spcBef>
              <a:buClr>
                <a:srgbClr val="7030A0"/>
              </a:buClr>
              <a:buSzPct val="100000"/>
              <a:buFont typeface="Noto Sans Symbols"/>
              <a:buChar char="➢"/>
            </a:pPr>
            <a:r>
              <a:rPr b="1" lang="en" sz="1000">
                <a:solidFill>
                  <a:srgbClr val="7030A0"/>
                </a:solidFill>
                <a:latin typeface="Calibri"/>
                <a:ea typeface="Calibri"/>
                <a:cs typeface="Calibri"/>
                <a:sym typeface="Calibri"/>
              </a:rPr>
              <a:t>GUI: </a:t>
            </a:r>
          </a:p>
          <a:p>
            <a:pPr indent="0" lvl="0" marL="0" marR="0" rtl="0" algn="l">
              <a:lnSpc>
                <a:spcPct val="133333"/>
              </a:lnSpc>
              <a:spcBef>
                <a:spcPts val="0"/>
              </a:spcBef>
              <a:buSzPct val="25000"/>
              <a:buNone/>
            </a:pPr>
            <a:r>
              <a:rPr lang="en" sz="1000">
                <a:solidFill>
                  <a:schemeClr val="dk1"/>
                </a:solidFill>
                <a:latin typeface="Calibri"/>
                <a:ea typeface="Calibri"/>
                <a:cs typeface="Calibri"/>
                <a:sym typeface="Calibri"/>
              </a:rPr>
              <a:t>A intuitive interface to present intent request and handling result</a:t>
            </a:r>
          </a:p>
          <a:p>
            <a:pPr indent="12700" lvl="0" marL="0" marR="0" rtl="0" algn="l">
              <a:lnSpc>
                <a:spcPct val="133333"/>
              </a:lnSpc>
              <a:spcBef>
                <a:spcPts val="0"/>
              </a:spcBef>
              <a:buClr>
                <a:srgbClr val="7030A0"/>
              </a:buClr>
              <a:buSzPct val="100000"/>
              <a:buFont typeface="Noto Sans Symbols"/>
              <a:buChar char="➢"/>
            </a:pPr>
            <a:r>
              <a:rPr b="1" lang="en" sz="1000">
                <a:solidFill>
                  <a:srgbClr val="7030A0"/>
                </a:solidFill>
                <a:latin typeface="Calibri"/>
                <a:ea typeface="Calibri"/>
                <a:cs typeface="Calibri"/>
                <a:sym typeface="Calibri"/>
              </a:rPr>
              <a:t>NEMO model: </a:t>
            </a:r>
          </a:p>
          <a:p>
            <a:pPr indent="0" lvl="0" marL="0" marR="0" rtl="0" algn="l">
              <a:lnSpc>
                <a:spcPct val="133333"/>
              </a:lnSpc>
              <a:spcBef>
                <a:spcPts val="0"/>
              </a:spcBef>
              <a:buSzPct val="25000"/>
              <a:buNone/>
            </a:pPr>
            <a:r>
              <a:rPr lang="en" sz="1000">
                <a:solidFill>
                  <a:schemeClr val="dk1"/>
                </a:solidFill>
                <a:latin typeface="Calibri"/>
                <a:ea typeface="Calibri"/>
                <a:cs typeface="Calibri"/>
                <a:sym typeface="Calibri"/>
              </a:rPr>
              <a:t>All defined models to composite intent</a:t>
            </a:r>
          </a:p>
          <a:p>
            <a:pPr indent="12700" lvl="0" marL="0" marR="0" rtl="0" algn="l">
              <a:lnSpc>
                <a:spcPct val="133333"/>
              </a:lnSpc>
              <a:spcBef>
                <a:spcPts val="0"/>
              </a:spcBef>
              <a:buClr>
                <a:srgbClr val="7030A0"/>
              </a:buClr>
              <a:buSzPct val="100000"/>
              <a:buFont typeface="Noto Sans Symbols"/>
              <a:buChar char="➢"/>
            </a:pPr>
            <a:r>
              <a:rPr b="1" lang="en" sz="1000">
                <a:solidFill>
                  <a:srgbClr val="7030A0"/>
                </a:solidFill>
                <a:latin typeface="Calibri"/>
                <a:ea typeface="Calibri"/>
                <a:cs typeface="Calibri"/>
                <a:sym typeface="Calibri"/>
              </a:rPr>
              <a:t>Language Compiler:</a:t>
            </a:r>
          </a:p>
          <a:p>
            <a:pPr indent="0" lvl="0" marL="0" marR="0" rtl="0" algn="l">
              <a:lnSpc>
                <a:spcPct val="114285"/>
              </a:lnSpc>
              <a:spcBef>
                <a:spcPts val="0"/>
              </a:spcBef>
              <a:buSzPct val="25000"/>
              <a:buNone/>
            </a:pPr>
            <a:r>
              <a:rPr b="1" lang="en" sz="1000">
                <a:solidFill>
                  <a:srgbClr val="0070C0"/>
                </a:solidFill>
                <a:latin typeface="Calibri"/>
                <a:ea typeface="Calibri"/>
                <a:cs typeface="Calibri"/>
                <a:sym typeface="Calibri"/>
              </a:rPr>
              <a:t> </a:t>
            </a:r>
            <a:r>
              <a:rPr lang="en" sz="1000">
                <a:solidFill>
                  <a:schemeClr val="dk1"/>
                </a:solidFill>
                <a:latin typeface="Calibri"/>
                <a:ea typeface="Calibri"/>
                <a:cs typeface="Calibri"/>
                <a:sym typeface="Calibri"/>
              </a:rPr>
              <a:t>Compile intent request described with NEMO language into models</a:t>
            </a:r>
          </a:p>
          <a:p>
            <a:pPr indent="12700" lvl="0" marL="0" marR="0" rtl="0" algn="l">
              <a:lnSpc>
                <a:spcPct val="133333"/>
              </a:lnSpc>
              <a:spcBef>
                <a:spcPts val="0"/>
              </a:spcBef>
              <a:buClr>
                <a:srgbClr val="7030A0"/>
              </a:buClr>
              <a:buSzPct val="100000"/>
              <a:buFont typeface="Noto Sans Symbols"/>
              <a:buChar char="➢"/>
            </a:pPr>
            <a:r>
              <a:rPr b="1" lang="en" sz="1000">
                <a:solidFill>
                  <a:srgbClr val="7030A0"/>
                </a:solidFill>
                <a:latin typeface="Calibri"/>
                <a:ea typeface="Calibri"/>
                <a:cs typeface="Calibri"/>
                <a:sym typeface="Calibri"/>
              </a:rPr>
              <a:t>Tenant Space Management: </a:t>
            </a:r>
          </a:p>
          <a:p>
            <a:pPr indent="0" lvl="0" marL="0" marR="0" rtl="0" algn="l">
              <a:lnSpc>
                <a:spcPct val="133333"/>
              </a:lnSpc>
              <a:spcBef>
                <a:spcPts val="0"/>
              </a:spcBef>
              <a:buSzPct val="25000"/>
              <a:buNone/>
            </a:pPr>
            <a:r>
              <a:rPr lang="en" sz="1000">
                <a:solidFill>
                  <a:schemeClr val="dk1"/>
                </a:solidFill>
                <a:latin typeface="Calibri"/>
                <a:ea typeface="Calibri"/>
                <a:cs typeface="Calibri"/>
                <a:sym typeface="Calibri"/>
              </a:rPr>
              <a:t>Maintain each isolated tenant space, including authentication and CRUD of intent</a:t>
            </a:r>
          </a:p>
          <a:p>
            <a:pPr indent="12700" lvl="0" marL="0" marR="0" rtl="0" algn="l">
              <a:lnSpc>
                <a:spcPct val="133333"/>
              </a:lnSpc>
              <a:spcBef>
                <a:spcPts val="0"/>
              </a:spcBef>
              <a:buClr>
                <a:srgbClr val="7030A0"/>
              </a:buClr>
              <a:buSzPct val="100000"/>
              <a:buFont typeface="Noto Sans Symbols"/>
              <a:buChar char="➢"/>
            </a:pPr>
            <a:r>
              <a:rPr b="1" lang="en" sz="1000">
                <a:solidFill>
                  <a:srgbClr val="7030A0"/>
                </a:solidFill>
                <a:latin typeface="Calibri"/>
                <a:ea typeface="Calibri"/>
                <a:cs typeface="Calibri"/>
                <a:sym typeface="Calibri"/>
              </a:rPr>
              <a:t>NEMO Intent Resolver: </a:t>
            </a:r>
          </a:p>
          <a:p>
            <a:pPr indent="0" lvl="0" marL="0" marR="0" rtl="0" algn="l">
              <a:lnSpc>
                <a:spcPct val="133333"/>
              </a:lnSpc>
              <a:spcBef>
                <a:spcPts val="0"/>
              </a:spcBef>
              <a:buSzPct val="25000"/>
              <a:buNone/>
            </a:pPr>
            <a:r>
              <a:rPr lang="en" sz="1000">
                <a:solidFill>
                  <a:schemeClr val="dk1"/>
                </a:solidFill>
                <a:latin typeface="Calibri"/>
                <a:ea typeface="Calibri"/>
                <a:cs typeface="Calibri"/>
                <a:sym typeface="Calibri"/>
              </a:rPr>
              <a:t>Intent/service resolution, decomposition and deployment </a:t>
            </a:r>
          </a:p>
          <a:p>
            <a:pPr indent="12700" lvl="0" marL="0" marR="0" rtl="0" algn="l">
              <a:lnSpc>
                <a:spcPct val="133333"/>
              </a:lnSpc>
              <a:spcBef>
                <a:spcPts val="0"/>
              </a:spcBef>
              <a:buClr>
                <a:srgbClr val="7030A0"/>
              </a:buClr>
              <a:buSzPct val="100000"/>
              <a:buFont typeface="Noto Sans Symbols"/>
              <a:buChar char="➢"/>
            </a:pPr>
            <a:r>
              <a:rPr b="1" lang="en" sz="1000">
                <a:solidFill>
                  <a:srgbClr val="7030A0"/>
                </a:solidFill>
                <a:latin typeface="Calibri"/>
                <a:ea typeface="Calibri"/>
                <a:cs typeface="Calibri"/>
                <a:sym typeface="Calibri"/>
              </a:rPr>
              <a:t>Drivers: </a:t>
            </a:r>
          </a:p>
          <a:p>
            <a:pPr indent="0" lvl="0" marL="0" marR="0" rtl="0" algn="l">
              <a:lnSpc>
                <a:spcPct val="133333"/>
              </a:lnSpc>
              <a:spcBef>
                <a:spcPts val="0"/>
              </a:spcBef>
              <a:buSzPct val="25000"/>
              <a:buNone/>
            </a:pPr>
            <a:r>
              <a:rPr lang="en" sz="1000">
                <a:solidFill>
                  <a:schemeClr val="dk1"/>
                </a:solidFill>
                <a:latin typeface="Calibri"/>
                <a:ea typeface="Calibri"/>
                <a:cs typeface="Calibri"/>
                <a:sym typeface="Calibri"/>
              </a:rPr>
              <a:t>Delegate specific request into other apps</a:t>
            </a:r>
          </a:p>
          <a:p>
            <a:pPr indent="12700" lvl="0" marL="0" marR="0" rtl="0" algn="l">
              <a:lnSpc>
                <a:spcPct val="133333"/>
              </a:lnSpc>
              <a:spcBef>
                <a:spcPts val="0"/>
              </a:spcBef>
              <a:buClr>
                <a:srgbClr val="7030A0"/>
              </a:buClr>
              <a:buSzPct val="100000"/>
              <a:buFont typeface="Noto Sans Symbols"/>
              <a:buChar char="➢"/>
            </a:pPr>
            <a:r>
              <a:rPr b="1" lang="en" sz="1000">
                <a:solidFill>
                  <a:srgbClr val="7030A0"/>
                </a:solidFill>
                <a:latin typeface="Calibri"/>
                <a:ea typeface="Calibri"/>
                <a:cs typeface="Calibri"/>
                <a:sym typeface="Calibri"/>
              </a:rPr>
              <a:t>Storage: </a:t>
            </a:r>
          </a:p>
          <a:p>
            <a:pPr indent="0" lvl="0" marL="0" marR="0" rtl="0" algn="l">
              <a:lnSpc>
                <a:spcPct val="133333"/>
              </a:lnSpc>
              <a:spcBef>
                <a:spcPts val="0"/>
              </a:spcBef>
              <a:buSzPct val="25000"/>
              <a:buNone/>
            </a:pPr>
            <a:r>
              <a:rPr lang="en" sz="1000">
                <a:solidFill>
                  <a:schemeClr val="dk1"/>
                </a:solidFill>
                <a:latin typeface="Calibri"/>
                <a:ea typeface="Calibri"/>
                <a:cs typeface="Calibri"/>
                <a:sym typeface="Calibri"/>
              </a:rPr>
              <a:t>Store all information involved in NEMO</a:t>
            </a: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54" name="Shape 1354"/>
        <p:cNvGrpSpPr/>
        <p:nvPr/>
      </p:nvGrpSpPr>
      <p:grpSpPr>
        <a:xfrm>
          <a:off x="0" y="0"/>
          <a:ext cx="0" cy="0"/>
          <a:chOff x="0" y="0"/>
          <a:chExt cx="0" cy="0"/>
        </a:xfrm>
      </p:grpSpPr>
      <p:sp>
        <p:nvSpPr>
          <p:cNvPr id="1355" name="Shape 1355"/>
          <p:cNvSpPr txBox="1"/>
          <p:nvPr>
            <p:ph type="title"/>
          </p:nvPr>
        </p:nvSpPr>
        <p:spPr>
          <a:xfrm>
            <a:off x="457200" y="154483"/>
            <a:ext cx="8229600" cy="642937"/>
          </a:xfrm>
          <a:prstGeom prst="rect">
            <a:avLst/>
          </a:prstGeom>
          <a:noFill/>
          <a:ln>
            <a:noFill/>
          </a:ln>
        </p:spPr>
        <p:txBody>
          <a:bodyPr anchorCtr="0" anchor="ctr" bIns="45700" lIns="91425" rIns="91425" tIns="45700">
            <a:noAutofit/>
          </a:bodyPr>
          <a:lstStyle/>
          <a:p>
            <a:pPr indent="0" lvl="0" marL="0" marR="0" rtl="0" algn="ctr">
              <a:spcBef>
                <a:spcPts val="0"/>
              </a:spcBef>
              <a:buClr>
                <a:schemeClr val="dk1"/>
              </a:buClr>
              <a:buSzPct val="25000"/>
              <a:buFont typeface="Calibri"/>
              <a:buNone/>
            </a:pPr>
            <a:r>
              <a:rPr b="0" i="0" lang="en" sz="4400" u="none" cap="none" strike="noStrike">
                <a:solidFill>
                  <a:schemeClr val="dk1"/>
                </a:solidFill>
                <a:latin typeface="Calibri"/>
                <a:ea typeface="Calibri"/>
                <a:cs typeface="Calibri"/>
                <a:sym typeface="Calibri"/>
              </a:rPr>
              <a:t>NEMO ONOS H Release Features</a:t>
            </a:r>
          </a:p>
        </p:txBody>
      </p:sp>
      <p:sp>
        <p:nvSpPr>
          <p:cNvPr id="1356" name="Shape 1356"/>
          <p:cNvSpPr txBox="1"/>
          <p:nvPr>
            <p:ph idx="1" type="body"/>
          </p:nvPr>
        </p:nvSpPr>
        <p:spPr>
          <a:xfrm>
            <a:off x="457200" y="900112"/>
            <a:ext cx="8229600" cy="2545854"/>
          </a:xfrm>
          <a:prstGeom prst="rect">
            <a:avLst/>
          </a:prstGeom>
          <a:noFill/>
          <a:ln>
            <a:noFill/>
          </a:ln>
        </p:spPr>
        <p:txBody>
          <a:bodyPr anchorCtr="0" anchor="t" bIns="45700" lIns="91425" rIns="91425" tIns="45700">
            <a:noAutofit/>
          </a:bodyPr>
          <a:lstStyle/>
          <a:p>
            <a:pPr indent="-342900" lvl="0" marL="342900" marR="0" rtl="0" algn="l">
              <a:spcBef>
                <a:spcPts val="0"/>
              </a:spcBef>
              <a:spcAft>
                <a:spcPts val="0"/>
              </a:spcAft>
              <a:buClr>
                <a:schemeClr val="dk1"/>
              </a:buClr>
              <a:buSzPct val="100000"/>
              <a:buFont typeface="Arial"/>
              <a:buChar char="•"/>
            </a:pPr>
            <a:r>
              <a:rPr b="0" i="0" lang="en" sz="3200" u="none" cap="none" strike="noStrike">
                <a:solidFill>
                  <a:schemeClr val="dk1"/>
                </a:solidFill>
                <a:latin typeface="Calibri"/>
                <a:ea typeface="Calibri"/>
                <a:cs typeface="Calibri"/>
                <a:sym typeface="Calibri"/>
              </a:rPr>
              <a:t>NEMO expression models and API</a:t>
            </a:r>
          </a:p>
          <a:p>
            <a:pPr indent="-342900" lvl="0" marL="342900" marR="0" rtl="0" algn="l">
              <a:spcBef>
                <a:spcPts val="640"/>
              </a:spcBef>
              <a:spcAft>
                <a:spcPts val="0"/>
              </a:spcAft>
              <a:buClr>
                <a:schemeClr val="dk1"/>
              </a:buClr>
              <a:buSzPct val="100000"/>
              <a:buFont typeface="Arial"/>
              <a:buChar char="•"/>
            </a:pPr>
            <a:r>
              <a:rPr b="0" i="0" lang="en" sz="3200" u="none" cap="none" strike="noStrike">
                <a:solidFill>
                  <a:schemeClr val="dk1"/>
                </a:solidFill>
                <a:latin typeface="Calibri"/>
                <a:ea typeface="Calibri"/>
                <a:cs typeface="Calibri"/>
                <a:sym typeface="Calibri"/>
              </a:rPr>
              <a:t>NEMO language compiler</a:t>
            </a:r>
          </a:p>
          <a:p>
            <a:pPr indent="-342900" lvl="0" marL="342900" marR="0" rtl="0" algn="l">
              <a:spcBef>
                <a:spcPts val="640"/>
              </a:spcBef>
              <a:spcAft>
                <a:spcPts val="0"/>
              </a:spcAft>
              <a:buClr>
                <a:schemeClr val="dk1"/>
              </a:buClr>
              <a:buSzPct val="100000"/>
              <a:buFont typeface="Arial"/>
              <a:buChar char="•"/>
            </a:pPr>
            <a:r>
              <a:rPr b="0" i="0" lang="en" sz="3200" u="none" cap="none" strike="noStrike">
                <a:solidFill>
                  <a:schemeClr val="dk1"/>
                </a:solidFill>
                <a:latin typeface="Calibri"/>
                <a:ea typeface="Calibri"/>
                <a:cs typeface="Calibri"/>
                <a:sym typeface="Calibri"/>
              </a:rPr>
              <a:t>Tenant Space Management</a:t>
            </a:r>
          </a:p>
          <a:p>
            <a:pPr indent="-342900" lvl="0" marL="342900" marR="0" rtl="0" algn="l">
              <a:spcBef>
                <a:spcPts val="640"/>
              </a:spcBef>
              <a:buClr>
                <a:schemeClr val="dk1"/>
              </a:buClr>
              <a:buSzPct val="100000"/>
              <a:buFont typeface="Arial"/>
              <a:buChar char="•"/>
            </a:pPr>
            <a:r>
              <a:rPr b="0" i="0" lang="en" sz="3200" u="none" cap="none" strike="noStrike">
                <a:solidFill>
                  <a:schemeClr val="dk1"/>
                </a:solidFill>
                <a:latin typeface="Calibri"/>
                <a:ea typeface="Calibri"/>
                <a:cs typeface="Calibri"/>
                <a:sym typeface="Calibri"/>
              </a:rPr>
              <a:t>NEMO language editor</a:t>
            </a:r>
          </a:p>
        </p:txBody>
      </p:sp>
    </p:spTree>
  </p:cSld>
  <p:clrMapOvr>
    <a:masterClrMapping/>
  </p:clrMapOvr>
</p:sld>
</file>

<file path=ppt/theme/theme1.xml><?xml version="1.0" encoding="utf-8"?>
<a:theme xmlns:a="http://schemas.openxmlformats.org/drawingml/2006/main" xmlns:r="http://schemas.openxmlformats.org/officeDocument/2006/relationships" name="ONOS">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