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3" r:id="rId9"/>
    <p:sldId id="265" r:id="rId10"/>
    <p:sldId id="266" r:id="rId11"/>
    <p:sldId id="262" r:id="rId12"/>
    <p:sldId id="264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2" d="100"/>
          <a:sy n="112" d="100"/>
        </p:scale>
        <p:origin x="-80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printerSettings" Target="printerSettings/printerSettings1.bin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8166" y="1295400"/>
            <a:ext cx="6487668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1/12/15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1/12/15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1/12/15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1/12/15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1/12/15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1/12/15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9CA3-105E-4857-9057-6DB6197DA786}" type="datetimeFigureOut">
              <a:rPr lang="en-US" smtClean="0"/>
              <a:t>1/12/15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01F9CA3-105E-4857-9057-6DB6197DA786}" type="datetimeFigureOut">
              <a:rPr lang="en-US" smtClean="0"/>
              <a:t>1/12/15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7F5CE407-6216-4202-80E4-A30DC2F709B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SPRING-OPEN </a:t>
            </a:r>
            <a:br>
              <a:rPr lang="en-US" dirty="0" smtClean="0"/>
            </a:br>
            <a:r>
              <a:rPr lang="en-US" dirty="0" smtClean="0"/>
              <a:t>&amp; ONOS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112343" y="3785242"/>
            <a:ext cx="2930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Saurav, </a:t>
            </a:r>
            <a:r>
              <a:rPr lang="en-US" dirty="0" err="1" smtClean="0"/>
              <a:t>Srikanth</a:t>
            </a:r>
            <a:r>
              <a:rPr lang="en-US" dirty="0" smtClean="0"/>
              <a:t>, </a:t>
            </a:r>
            <a:r>
              <a:rPr lang="en-US" dirty="0" err="1" smtClean="0"/>
              <a:t>Sangho</a:t>
            </a:r>
            <a:endParaRPr lang="en-US" dirty="0" smtClean="0"/>
          </a:p>
          <a:p>
            <a:r>
              <a:rPr lang="en-US" dirty="0" smtClean="0"/>
              <a:t>1 /12 /15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3558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700553"/>
          </a:xfrm>
        </p:spPr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173935"/>
            <a:ext cx="8042276" cy="4343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Group handling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Pipeline handling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Use of intent framework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Configuration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Treatment and Selector extensions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Stats/CLI/</a:t>
            </a:r>
            <a:r>
              <a:rPr lang="en-US" dirty="0" err="1" smtClean="0"/>
              <a:t>Karaf</a:t>
            </a:r>
            <a:r>
              <a:rPr lang="en-US" dirty="0" smtClean="0"/>
              <a:t>-CLI/GUI/multi-part-</a:t>
            </a:r>
            <a:r>
              <a:rPr lang="en-US" dirty="0" err="1" smtClean="0"/>
              <a:t>msg</a:t>
            </a:r>
            <a:r>
              <a:rPr lang="en-US" dirty="0" smtClean="0"/>
              <a:t>/SLAVE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3092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753837"/>
          </a:xfrm>
        </p:spPr>
        <p:txBody>
          <a:bodyPr/>
          <a:lstStyle/>
          <a:p>
            <a:r>
              <a:rPr lang="en-US" dirty="0" smtClean="0"/>
              <a:t>1. Group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227" y="1005204"/>
            <a:ext cx="8042276" cy="5388788"/>
          </a:xfrm>
        </p:spPr>
        <p:txBody>
          <a:bodyPr>
            <a:normAutofit/>
          </a:bodyPr>
          <a:lstStyle/>
          <a:p>
            <a:r>
              <a:rPr lang="en-US" dirty="0" smtClean="0"/>
              <a:t>Group table is a major feature of OF 1.3</a:t>
            </a:r>
          </a:p>
          <a:p>
            <a:r>
              <a:rPr lang="en-US" dirty="0" smtClean="0"/>
              <a:t>Today’s hardware has support for groups</a:t>
            </a:r>
          </a:p>
          <a:p>
            <a:r>
              <a:rPr lang="en-US" dirty="0" smtClean="0"/>
              <a:t>SR uses two kinds of groups – SELECT &amp; INDIRECT</a:t>
            </a:r>
          </a:p>
          <a:p>
            <a:r>
              <a:rPr lang="en-US" dirty="0" smtClean="0"/>
              <a:t>SR uses an optional feature of OF 1.3 called group-chaining</a:t>
            </a:r>
          </a:p>
          <a:p>
            <a:r>
              <a:rPr lang="en-US" dirty="0" smtClean="0"/>
              <a:t>SR may use FRR group in the future</a:t>
            </a:r>
          </a:p>
          <a:p>
            <a:r>
              <a:rPr lang="en-US" dirty="0" smtClean="0"/>
              <a:t>ONOS needs to prepare for groups, but also meters and queues (and pipelines)</a:t>
            </a:r>
          </a:p>
          <a:p>
            <a:pPr lvl="1"/>
            <a:r>
              <a:rPr lang="en-US" dirty="0" smtClean="0"/>
              <a:t>OF1.3 based SDN is intrinsically low-level</a:t>
            </a:r>
          </a:p>
          <a:p>
            <a:pPr lvl="1"/>
            <a:r>
              <a:rPr lang="en-US" dirty="0" smtClean="0"/>
              <a:t>Use of these features are app controlled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642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673912"/>
          </a:xfrm>
        </p:spPr>
        <p:txBody>
          <a:bodyPr/>
          <a:lstStyle/>
          <a:p>
            <a:r>
              <a:rPr lang="en-US" dirty="0" smtClean="0"/>
              <a:t>How SR uses Groups?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696253" y="4839892"/>
            <a:ext cx="2682033" cy="66604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Hardware Switch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104775" y="2921694"/>
            <a:ext cx="1696253" cy="3818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Driver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2104775" y="2381412"/>
            <a:ext cx="1696253" cy="3818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Core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2104775" y="1814488"/>
            <a:ext cx="1696253" cy="3818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App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1287731" y="1814488"/>
            <a:ext cx="692711" cy="14890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 err="1" smtClean="0"/>
              <a:t>Config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845432" y="2921694"/>
            <a:ext cx="18827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Default groups</a:t>
            </a:r>
          </a:p>
          <a:p>
            <a:r>
              <a:rPr lang="en-US" dirty="0" smtClean="0"/>
              <a:t>(auto-created during handshake)</a:t>
            </a:r>
          </a:p>
          <a:p>
            <a:pPr marL="285750" indent="-285750">
              <a:buFontTx/>
              <a:buChar char="-"/>
            </a:pPr>
            <a:r>
              <a:rPr lang="en-US" dirty="0"/>
              <a:t>a</a:t>
            </a:r>
            <a:r>
              <a:rPr lang="en-US" dirty="0" smtClean="0"/>
              <a:t>voids races</a:t>
            </a:r>
          </a:p>
          <a:p>
            <a:pPr marL="285750" indent="-285750">
              <a:buFontTx/>
              <a:buChar char="-"/>
            </a:pPr>
            <a:r>
              <a:rPr lang="en-US" dirty="0"/>
              <a:t>i</a:t>
            </a:r>
            <a:r>
              <a:rPr lang="en-US" dirty="0" smtClean="0"/>
              <a:t>mproves performance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845432" y="1550021"/>
            <a:ext cx="1882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Special groups</a:t>
            </a:r>
          </a:p>
          <a:p>
            <a:r>
              <a:rPr lang="en-US" dirty="0" smtClean="0"/>
              <a:t>(policy-driven)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2637629" y="3303558"/>
            <a:ext cx="0" cy="15363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259292" y="3303558"/>
            <a:ext cx="0" cy="15984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800655" y="3188111"/>
            <a:ext cx="1952374" cy="68380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800656" y="2921694"/>
            <a:ext cx="1952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Device subsystem</a:t>
            </a:r>
            <a:endParaRPr lang="en-US" sz="1600" dirty="0"/>
          </a:p>
        </p:txBody>
      </p:sp>
      <p:sp>
        <p:nvSpPr>
          <p:cNvPr id="24" name="Rectangle 23"/>
          <p:cNvSpPr/>
          <p:nvPr/>
        </p:nvSpPr>
        <p:spPr>
          <a:xfrm>
            <a:off x="5864246" y="3534452"/>
            <a:ext cx="796432" cy="2752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Ports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6749487" y="3534452"/>
            <a:ext cx="1003541" cy="2752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Groups</a:t>
            </a:r>
            <a:endParaRPr 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5836179" y="1697610"/>
            <a:ext cx="1952374" cy="68380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9213B"/>
                </a:solidFill>
              </a:rPr>
              <a:t>Add/delete/modify groups</a:t>
            </a:r>
            <a:endParaRPr lang="en-US" sz="1400" dirty="0">
              <a:solidFill>
                <a:srgbClr val="09213B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28183" y="1431193"/>
            <a:ext cx="21402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Flow-rule subsystem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598353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771598"/>
          </a:xfrm>
        </p:spPr>
        <p:txBody>
          <a:bodyPr/>
          <a:lstStyle/>
          <a:p>
            <a:r>
              <a:rPr lang="en-US" dirty="0" smtClean="0"/>
              <a:t>Groups Proposal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332082"/>
            <a:ext cx="8042276" cy="5221759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Need a new Group Subsystem</a:t>
            </a:r>
          </a:p>
          <a:p>
            <a:pPr marL="793750" lvl="1" indent="-457200">
              <a:buFont typeface="Arial"/>
              <a:buChar char="•"/>
            </a:pPr>
            <a:r>
              <a:rPr lang="en-US" dirty="0" smtClean="0"/>
              <a:t>that allows app to treat groups just like flows</a:t>
            </a:r>
          </a:p>
          <a:p>
            <a:pPr marL="793750" lvl="1" indent="-457200">
              <a:buFont typeface="Arial"/>
              <a:buChar char="•"/>
            </a:pPr>
            <a:r>
              <a:rPr lang="en-US" dirty="0" smtClean="0"/>
              <a:t>Add/delete/modify groups on demand according to app needs</a:t>
            </a:r>
          </a:p>
          <a:p>
            <a:pPr marL="793750" lvl="1" indent="-457200">
              <a:buFont typeface="Arial"/>
              <a:buChar char="•"/>
            </a:pPr>
            <a:r>
              <a:rPr lang="en-US" dirty="0" smtClean="0"/>
              <a:t>Allows any ONOS instance to create group in any switch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Need Device Subsystem (service) to expose groups</a:t>
            </a:r>
          </a:p>
          <a:p>
            <a:pPr marL="679450" lvl="1" indent="-342900">
              <a:buFont typeface="Arial"/>
              <a:buChar char="•"/>
            </a:pPr>
            <a:r>
              <a:rPr lang="en-US" dirty="0" smtClean="0"/>
              <a:t>like it exposes ports today as an intrinsic property that is fundamental to the topology map broadcast to everyone </a:t>
            </a:r>
          </a:p>
          <a:p>
            <a:pPr marL="679450" lvl="1" indent="-342900">
              <a:buFont typeface="Arial"/>
              <a:buChar char="•"/>
            </a:pPr>
            <a:r>
              <a:rPr lang="en-US" dirty="0" smtClean="0"/>
              <a:t>Allows any app (on any ONOS instance) to query  Device manager about the groups on the device</a:t>
            </a:r>
          </a:p>
          <a:p>
            <a:pPr marL="679450" lvl="1" indent="-342900">
              <a:buFont typeface="Arial"/>
              <a:buChar char="•"/>
            </a:pPr>
            <a:r>
              <a:rPr lang="en-US" dirty="0" smtClean="0"/>
              <a:t>Receive device-events on the addition/deletion/mod of groups on the device</a:t>
            </a:r>
            <a:endParaRPr lang="en-US" dirty="0"/>
          </a:p>
          <a:p>
            <a:pPr marL="457200" indent="-457200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8371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700553"/>
          </a:xfrm>
        </p:spPr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173935"/>
            <a:ext cx="8042276" cy="4343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Group handling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Pipeline handling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Use of intent framework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Configuration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Treatment and Selector extensions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Stats/CLI/</a:t>
            </a:r>
            <a:r>
              <a:rPr lang="en-US" dirty="0" err="1" smtClean="0"/>
              <a:t>Karaf</a:t>
            </a:r>
            <a:r>
              <a:rPr lang="en-US" dirty="0" smtClean="0"/>
              <a:t>-CLI/GUI/multi-part-</a:t>
            </a:r>
            <a:r>
              <a:rPr lang="en-US" dirty="0" err="1" smtClean="0"/>
              <a:t>msg</a:t>
            </a:r>
            <a:r>
              <a:rPr lang="en-US" dirty="0" smtClean="0"/>
              <a:t>/SLAVE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023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78620"/>
            <a:ext cx="8042276" cy="665031"/>
          </a:xfrm>
        </p:spPr>
        <p:txBody>
          <a:bodyPr/>
          <a:lstStyle/>
          <a:p>
            <a:r>
              <a:rPr lang="en-US" dirty="0" smtClean="0"/>
              <a:t>2. Pipeline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094010"/>
            <a:ext cx="8042276" cy="4343400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dirty="0" smtClean="0"/>
              <a:t>Can’t avoid it if working on ASIC based hardware</a:t>
            </a:r>
          </a:p>
          <a:p>
            <a:pPr>
              <a:buFont typeface="Arial"/>
              <a:buChar char="•"/>
            </a:pPr>
            <a:r>
              <a:rPr lang="en-US" dirty="0" smtClean="0"/>
              <a:t>Can’t (totally) abstract it away to the app</a:t>
            </a:r>
          </a:p>
          <a:p>
            <a:pPr>
              <a:buFont typeface="Arial"/>
              <a:buChar char="•"/>
            </a:pPr>
            <a:r>
              <a:rPr lang="en-US" dirty="0" smtClean="0"/>
              <a:t>Going to become more and more important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5053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736076"/>
          </a:xfrm>
        </p:spPr>
        <p:txBody>
          <a:bodyPr/>
          <a:lstStyle/>
          <a:p>
            <a:r>
              <a:rPr lang="en-US" sz="4000" dirty="0" smtClean="0"/>
              <a:t>Sample Pipelines (TTPs) – 1/3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022966"/>
            <a:ext cx="8042276" cy="4343400"/>
          </a:xfrm>
        </p:spPr>
        <p:txBody>
          <a:bodyPr/>
          <a:lstStyle/>
          <a:p>
            <a:r>
              <a:rPr lang="en-US" dirty="0" smtClean="0"/>
              <a:t>SPRING-OPEN TTP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68737" y="1762417"/>
            <a:ext cx="8975263" cy="4444266"/>
            <a:chOff x="-111907" y="1118195"/>
            <a:chExt cx="9221117" cy="4914665"/>
          </a:xfrm>
        </p:grpSpPr>
        <p:sp>
          <p:nvSpPr>
            <p:cNvPr id="5" name="Rectangle 4"/>
            <p:cNvSpPr/>
            <p:nvPr/>
          </p:nvSpPr>
          <p:spPr>
            <a:xfrm>
              <a:off x="854374" y="1899587"/>
              <a:ext cx="554176" cy="134121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96639" y="2176271"/>
              <a:ext cx="7010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Ingress</a:t>
              </a:r>
            </a:p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Port 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57735" y="2574997"/>
              <a:ext cx="78508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-111907" y="1990220"/>
              <a:ext cx="954726" cy="578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Incoming</a:t>
              </a:r>
            </a:p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Packet</a:t>
              </a:r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068965" y="1889983"/>
              <a:ext cx="663830" cy="13508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068965" y="2144109"/>
              <a:ext cx="583012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VLAN</a:t>
              </a:r>
            </a:p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Flow</a:t>
              </a:r>
            </a:p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Table</a:t>
              </a:r>
            </a:p>
            <a:p>
              <a:pPr algn="ctr"/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101120" y="1911684"/>
              <a:ext cx="1101431" cy="13508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110365" y="2138511"/>
              <a:ext cx="109218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Termination</a:t>
              </a:r>
            </a:p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MAC Flow</a:t>
              </a:r>
            </a:p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Table</a:t>
              </a:r>
            </a:p>
            <a:p>
              <a:pPr algn="ctr"/>
              <a:r>
                <a:rPr lang="en-US" sz="1400" dirty="0">
                  <a:solidFill>
                    <a:prstClr val="black"/>
                  </a:solidFill>
                  <a:latin typeface="Calibri"/>
                </a:rPr>
                <a:t> </a:t>
              </a:r>
              <a:endParaRPr lang="en-US" sz="1400" dirty="0" smtClean="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13" name="Straight Arrow Connector 12"/>
            <p:cNvCxnSpPr>
              <a:stCxn id="5" idx="3"/>
            </p:cNvCxnSpPr>
            <p:nvPr/>
          </p:nvCxnSpPr>
          <p:spPr>
            <a:xfrm>
              <a:off x="1408550" y="2570195"/>
              <a:ext cx="660415" cy="48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endCxn id="11" idx="1"/>
            </p:cNvCxnSpPr>
            <p:nvPr/>
          </p:nvCxnSpPr>
          <p:spPr>
            <a:xfrm flipV="1">
              <a:off x="2745520" y="2587094"/>
              <a:ext cx="355600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1" idx="3"/>
              <a:endCxn id="16" idx="1"/>
            </p:cNvCxnSpPr>
            <p:nvPr/>
          </p:nvCxnSpPr>
          <p:spPr>
            <a:xfrm flipV="1">
              <a:off x="4202551" y="1815492"/>
              <a:ext cx="452174" cy="7716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4654725" y="1140082"/>
              <a:ext cx="889000" cy="13508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54725" y="1118195"/>
              <a:ext cx="88900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Unicast</a:t>
              </a:r>
            </a:p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IPv4 Routing</a:t>
              </a:r>
            </a:p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Flow Table  </a:t>
              </a:r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54725" y="2882773"/>
              <a:ext cx="889000" cy="13508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prstClr val="white"/>
                  </a:solidFill>
                  <a:latin typeface="Calibri"/>
                </a:rPr>
                <a:t>z</a:t>
              </a:r>
              <a:endParaRPr lang="en-US" sz="14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608823" y="3074179"/>
              <a:ext cx="1015723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MPLS</a:t>
              </a:r>
            </a:p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Forwarding</a:t>
              </a:r>
            </a:p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Flow Table </a:t>
              </a:r>
            </a:p>
            <a:p>
              <a:pPr algn="ctr"/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20" name="Straight Arrow Connector 19"/>
            <p:cNvCxnSpPr>
              <a:endCxn id="18" idx="1"/>
            </p:cNvCxnSpPr>
            <p:nvPr/>
          </p:nvCxnSpPr>
          <p:spPr>
            <a:xfrm>
              <a:off x="4202551" y="2794504"/>
              <a:ext cx="452174" cy="76367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5915915" y="1915383"/>
              <a:ext cx="663830" cy="13508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39008" y="1986989"/>
              <a:ext cx="611678" cy="11695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ACL</a:t>
              </a:r>
            </a:p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Policy</a:t>
              </a:r>
            </a:p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Flow</a:t>
              </a:r>
            </a:p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Table</a:t>
              </a:r>
            </a:p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 </a:t>
              </a:r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23" name="Straight Arrow Connector 22"/>
            <p:cNvCxnSpPr>
              <a:stCxn id="17" idx="3"/>
            </p:cNvCxnSpPr>
            <p:nvPr/>
          </p:nvCxnSpPr>
          <p:spPr>
            <a:xfrm>
              <a:off x="5543725" y="1702971"/>
              <a:ext cx="395282" cy="47282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5543725" y="2877175"/>
              <a:ext cx="372190" cy="68100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6911133" y="1703315"/>
              <a:ext cx="872824" cy="185486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prstClr val="white"/>
                </a:solidFill>
                <a:latin typeface="Calibri"/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>
              <a:off x="6550686" y="2621329"/>
              <a:ext cx="36156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6912255" y="1817046"/>
              <a:ext cx="945504" cy="16004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Apply</a:t>
              </a:r>
            </a:p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Actions</a:t>
              </a:r>
            </a:p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-push/pop</a:t>
              </a:r>
            </a:p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-TTL </a:t>
              </a:r>
              <a:r>
                <a:rPr lang="en-US" sz="1400" dirty="0" err="1" smtClean="0">
                  <a:solidFill>
                    <a:prstClr val="black"/>
                  </a:solidFill>
                  <a:latin typeface="Calibri"/>
                </a:rPr>
                <a:t>mpls</a:t>
              </a:r>
              <a:endParaRPr lang="en-US" sz="1400" dirty="0" smtClean="0">
                <a:solidFill>
                  <a:prstClr val="black"/>
                </a:solidFill>
                <a:latin typeface="Calibri"/>
              </a:endParaRPr>
            </a:p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-Set</a:t>
              </a:r>
            </a:p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-Output</a:t>
              </a:r>
            </a:p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-Group</a:t>
              </a:r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726231" y="2011997"/>
              <a:ext cx="921067" cy="578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Outgoing</a:t>
              </a:r>
            </a:p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Packet</a:t>
              </a:r>
              <a:endParaRPr lang="en-US" sz="1400" dirty="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29" name="Straight Arrow Connector 28"/>
            <p:cNvCxnSpPr>
              <a:endCxn id="25" idx="2"/>
            </p:cNvCxnSpPr>
            <p:nvPr/>
          </p:nvCxnSpPr>
          <p:spPr>
            <a:xfrm flipV="1">
              <a:off x="7347545" y="3558183"/>
              <a:ext cx="0" cy="32376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>
              <a:off x="6273398" y="3886075"/>
              <a:ext cx="2016244" cy="214678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prstClr val="white"/>
                  </a:solidFill>
                  <a:latin typeface="Calibri"/>
                </a:rPr>
                <a:t>z</a:t>
              </a:r>
              <a:endParaRPr lang="en-US" sz="1400" dirty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377587" y="3925815"/>
              <a:ext cx="1900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Group Table Entries: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331407" y="4233592"/>
              <a:ext cx="1900510" cy="307777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L3 Unicast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331407" y="4553096"/>
              <a:ext cx="1900510" cy="307777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MPLS Unicast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331407" y="4868831"/>
              <a:ext cx="1900510" cy="307777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ECMP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331407" y="5177029"/>
              <a:ext cx="1900510" cy="307777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1400" dirty="0" smtClean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331407" y="5484806"/>
              <a:ext cx="1900510" cy="307777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1400" dirty="0" smtClean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440367" y="1871572"/>
              <a:ext cx="659155" cy="11695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Pkt. +</a:t>
              </a:r>
            </a:p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Meta-</a:t>
              </a:r>
            </a:p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Data +</a:t>
              </a:r>
            </a:p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Action</a:t>
              </a:r>
            </a:p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Set {}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8509009" y="2000605"/>
              <a:ext cx="554176" cy="134121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460011" y="2251831"/>
              <a:ext cx="64919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Egress</a:t>
              </a:r>
            </a:p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Port </a:t>
              </a:r>
            </a:p>
            <a:p>
              <a:r>
                <a:rPr lang="en-US" sz="1400" dirty="0">
                  <a:solidFill>
                    <a:prstClr val="black"/>
                  </a:solidFill>
                  <a:latin typeface="Calibri"/>
                </a:rPr>
                <a:t>o</a:t>
              </a:r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r</a:t>
              </a:r>
            </a:p>
            <a:p>
              <a:r>
                <a:rPr lang="en-US" sz="1400" dirty="0" smtClean="0">
                  <a:solidFill>
                    <a:prstClr val="black"/>
                  </a:solidFill>
                  <a:latin typeface="Calibri"/>
                </a:rPr>
                <a:t>Group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>
              <a:off x="7781650" y="2589764"/>
              <a:ext cx="72735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33114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736076"/>
          </a:xfrm>
        </p:spPr>
        <p:txBody>
          <a:bodyPr/>
          <a:lstStyle/>
          <a:p>
            <a:r>
              <a:rPr lang="en-US" sz="4000" dirty="0" smtClean="0"/>
              <a:t>Sample Pipelines (TTPs) – 2/3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022966"/>
            <a:ext cx="8042276" cy="4343400"/>
          </a:xfrm>
        </p:spPr>
        <p:txBody>
          <a:bodyPr/>
          <a:lstStyle/>
          <a:p>
            <a:r>
              <a:rPr lang="en-US" dirty="0" smtClean="0"/>
              <a:t>Broadcom OF-DPA 1.0</a:t>
            </a:r>
            <a:endParaRPr lang="en-US" dirty="0"/>
          </a:p>
        </p:txBody>
      </p:sp>
      <p:pic>
        <p:nvPicPr>
          <p:cNvPr id="41" name="Content Placeholder 3"/>
          <p:cNvPicPr>
            <a:picLocks noChangeAspect="1"/>
          </p:cNvPicPr>
          <p:nvPr/>
        </p:nvPicPr>
        <p:blipFill>
          <a:blip r:embed="rId2"/>
          <a:srcRect l="238" r="238"/>
          <a:stretch>
            <a:fillRect/>
          </a:stretch>
        </p:blipFill>
        <p:spPr>
          <a:xfrm>
            <a:off x="549275" y="1600201"/>
            <a:ext cx="8042276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2302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736076"/>
          </a:xfrm>
        </p:spPr>
        <p:txBody>
          <a:bodyPr/>
          <a:lstStyle/>
          <a:p>
            <a:r>
              <a:rPr lang="en-US" sz="4000" dirty="0" smtClean="0"/>
              <a:t>Sample Pipelines (TTPs) – 3/3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022966"/>
            <a:ext cx="8042276" cy="4343400"/>
          </a:xfrm>
        </p:spPr>
        <p:txBody>
          <a:bodyPr/>
          <a:lstStyle/>
          <a:p>
            <a:r>
              <a:rPr lang="en-US" dirty="0" smtClean="0"/>
              <a:t>Broadcom OF-DPA 2.0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13" y="1324323"/>
            <a:ext cx="5025045" cy="1939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316" y="2947842"/>
            <a:ext cx="6029076" cy="2254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92334" y="4876800"/>
            <a:ext cx="64516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840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727195"/>
          </a:xfrm>
        </p:spPr>
        <p:txBody>
          <a:bodyPr/>
          <a:lstStyle/>
          <a:p>
            <a:r>
              <a:rPr lang="en-US" dirty="0" smtClean="0"/>
              <a:t>How SR uses pipelines?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447588" y="2348898"/>
            <a:ext cx="1696253" cy="3818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Driver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1447588" y="1808616"/>
            <a:ext cx="1696253" cy="3818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Core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447588" y="1241692"/>
            <a:ext cx="1696253" cy="38186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App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436910" y="1241692"/>
            <a:ext cx="5586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Partially aware of pipeline (IP/MPLS/ACL tables &amp; some groups)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436910" y="2348745"/>
            <a:ext cx="4014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Completely aware of pipeline (OF messages, </a:t>
            </a:r>
            <a:r>
              <a:rPr lang="en-US" dirty="0" err="1" smtClean="0"/>
              <a:t>Goto</a:t>
            </a:r>
            <a:r>
              <a:rPr lang="en-US" dirty="0" smtClean="0"/>
              <a:t>/Clear/ Write or Apply Actions)</a:t>
            </a:r>
            <a:endParaRPr lang="en-US" dirty="0"/>
          </a:p>
        </p:txBody>
      </p:sp>
      <p:cxnSp>
        <p:nvCxnSpPr>
          <p:cNvPr id="10" name="Straight Arrow Connector 9"/>
          <p:cNvCxnSpPr>
            <a:stCxn id="7" idx="1"/>
            <a:endCxn id="6" idx="3"/>
          </p:cNvCxnSpPr>
          <p:nvPr/>
        </p:nvCxnSpPr>
        <p:spPr>
          <a:xfrm flipH="1" flipV="1">
            <a:off x="3143841" y="1432624"/>
            <a:ext cx="293069" cy="1322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3149706" y="2573379"/>
            <a:ext cx="293069" cy="62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07957" y="3205877"/>
            <a:ext cx="3765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Pre-populates statically populated tables</a:t>
            </a:r>
            <a:endParaRPr lang="en-US" dirty="0"/>
          </a:p>
        </p:txBody>
      </p:sp>
      <p:sp>
        <p:nvSpPr>
          <p:cNvPr id="13" name="Hexagon 12"/>
          <p:cNvSpPr/>
          <p:nvPr/>
        </p:nvSpPr>
        <p:spPr>
          <a:xfrm>
            <a:off x="1891632" y="4298183"/>
            <a:ext cx="1927156" cy="275297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rgbClr val="09213B"/>
                </a:solidFill>
              </a:rPr>
              <a:t>IOFSwitch</a:t>
            </a:r>
            <a:endParaRPr lang="en-US" sz="1400" dirty="0">
              <a:solidFill>
                <a:srgbClr val="09213B"/>
              </a:solidFill>
            </a:endParaRPr>
          </a:p>
        </p:txBody>
      </p:sp>
      <p:sp>
        <p:nvSpPr>
          <p:cNvPr id="14" name="Hexagon 13"/>
          <p:cNvSpPr/>
          <p:nvPr/>
        </p:nvSpPr>
        <p:spPr>
          <a:xfrm>
            <a:off x="1891632" y="4939013"/>
            <a:ext cx="1927156" cy="275297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9213B"/>
                </a:solidFill>
              </a:rPr>
              <a:t>IOF13Switch</a:t>
            </a:r>
            <a:endParaRPr lang="en-US" sz="1400" dirty="0">
              <a:solidFill>
                <a:srgbClr val="09213B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2850770" y="4573480"/>
            <a:ext cx="8881" cy="3655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50770" y="4573480"/>
            <a:ext cx="3623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 smtClean="0"/>
              <a:t>ext</a:t>
            </a:r>
            <a:endParaRPr lang="en-US" sz="1000" dirty="0"/>
          </a:p>
        </p:txBody>
      </p:sp>
      <p:sp>
        <p:nvSpPr>
          <p:cNvPr id="18" name="Rounded Rectangle 17"/>
          <p:cNvSpPr/>
          <p:nvPr/>
        </p:nvSpPr>
        <p:spPr>
          <a:xfrm>
            <a:off x="4600308" y="4298183"/>
            <a:ext cx="2353439" cy="2752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rgbClr val="09213B"/>
                </a:solidFill>
              </a:rPr>
              <a:t>OFSwitch</a:t>
            </a:r>
            <a:r>
              <a:rPr lang="en-US" sz="1400" dirty="0" err="1" smtClean="0">
                <a:solidFill>
                  <a:srgbClr val="09213B"/>
                </a:solidFill>
              </a:rPr>
              <a:t>ImplBase</a:t>
            </a:r>
            <a:endParaRPr lang="en-US" sz="1400" dirty="0">
              <a:solidFill>
                <a:srgbClr val="09213B"/>
              </a:solidFill>
            </a:endParaRPr>
          </a:p>
        </p:txBody>
      </p:sp>
      <p:cxnSp>
        <p:nvCxnSpPr>
          <p:cNvPr id="19" name="Straight Arrow Connector 18"/>
          <p:cNvCxnSpPr>
            <a:stCxn id="13" idx="0"/>
            <a:endCxn id="18" idx="1"/>
          </p:cNvCxnSpPr>
          <p:nvPr/>
        </p:nvCxnSpPr>
        <p:spPr>
          <a:xfrm>
            <a:off x="3818788" y="4435832"/>
            <a:ext cx="781520" cy="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62308" y="4175072"/>
            <a:ext cx="4558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 smtClean="0"/>
              <a:t>impl</a:t>
            </a:r>
            <a:endParaRPr lang="en-US" sz="1000" dirty="0"/>
          </a:p>
        </p:txBody>
      </p:sp>
      <p:sp>
        <p:nvSpPr>
          <p:cNvPr id="23" name="Rounded Rectangle 22"/>
          <p:cNvSpPr/>
          <p:nvPr/>
        </p:nvSpPr>
        <p:spPr>
          <a:xfrm>
            <a:off x="4600308" y="4939013"/>
            <a:ext cx="2975102" cy="2752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rgbClr val="09213B"/>
                </a:solidFill>
              </a:rPr>
              <a:t>OFSwitchImplSpringOpenTTP</a:t>
            </a:r>
            <a:endParaRPr lang="en-US" sz="1400" dirty="0">
              <a:solidFill>
                <a:srgbClr val="09213B"/>
              </a:solidFill>
            </a:endParaRPr>
          </a:p>
        </p:txBody>
      </p:sp>
      <p:cxnSp>
        <p:nvCxnSpPr>
          <p:cNvPr id="24" name="Straight Arrow Connector 23"/>
          <p:cNvCxnSpPr>
            <a:endCxn id="23" idx="1"/>
          </p:cNvCxnSpPr>
          <p:nvPr/>
        </p:nvCxnSpPr>
        <p:spPr>
          <a:xfrm>
            <a:off x="3818788" y="5076662"/>
            <a:ext cx="781520" cy="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809536" y="4587803"/>
            <a:ext cx="8881" cy="36553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09536" y="4587803"/>
            <a:ext cx="3623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 smtClean="0"/>
              <a:t>ext</a:t>
            </a:r>
            <a:endParaRPr lang="en-US" sz="1000" dirty="0"/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5328542" y="5214310"/>
            <a:ext cx="480994" cy="4692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60344" y="5214310"/>
            <a:ext cx="3623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 smtClean="0"/>
              <a:t>ext</a:t>
            </a:r>
            <a:endParaRPr lang="en-US" sz="1000" dirty="0"/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5923562" y="5214310"/>
            <a:ext cx="549191" cy="4692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23399" y="5226053"/>
            <a:ext cx="3623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 smtClean="0"/>
              <a:t>ext</a:t>
            </a:r>
            <a:endParaRPr lang="en-US" sz="1000" dirty="0"/>
          </a:p>
        </p:txBody>
      </p:sp>
      <p:sp>
        <p:nvSpPr>
          <p:cNvPr id="36" name="Rounded Rectangle 35"/>
          <p:cNvSpPr/>
          <p:nvPr/>
        </p:nvSpPr>
        <p:spPr>
          <a:xfrm>
            <a:off x="3962308" y="5677529"/>
            <a:ext cx="1856109" cy="2752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rgbClr val="09213B"/>
                </a:solidFill>
              </a:rPr>
              <a:t>OFSwitchImplCpqd</a:t>
            </a:r>
            <a:endParaRPr lang="en-US" sz="1400" dirty="0">
              <a:solidFill>
                <a:srgbClr val="09213B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171847" y="5692280"/>
            <a:ext cx="1856109" cy="2752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rgbClr val="09213B"/>
                </a:solidFill>
              </a:rPr>
              <a:t>OFSwitchImplDell</a:t>
            </a:r>
            <a:endParaRPr lang="en-US" sz="1400" dirty="0">
              <a:solidFill>
                <a:srgbClr val="09213B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62308" y="4815902"/>
            <a:ext cx="4558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 smtClean="0"/>
              <a:t>impl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103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665031"/>
          </a:xfrm>
        </p:spPr>
        <p:txBody>
          <a:bodyPr/>
          <a:lstStyle/>
          <a:p>
            <a:r>
              <a:rPr lang="en-US" dirty="0" smtClean="0"/>
              <a:t>Pipelines proposal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49275" y="1127830"/>
            <a:ext cx="8042276" cy="5221759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Most of ONOS pipeline unaware – can stay that way</a:t>
            </a:r>
          </a:p>
          <a:p>
            <a:pPr marL="793750" lvl="1" indent="-457200">
              <a:buFont typeface="Arial"/>
              <a:buChar char="•"/>
            </a:pPr>
            <a:r>
              <a:rPr lang="en-US" dirty="0" smtClean="0"/>
              <a:t>Driver for TTP &amp; pipeline awareness</a:t>
            </a:r>
          </a:p>
          <a:p>
            <a:pPr marL="793750" lvl="1" indent="-457200">
              <a:buFont typeface="Arial"/>
              <a:buChar char="•"/>
            </a:pPr>
            <a:r>
              <a:rPr lang="en-US" dirty="0" smtClean="0"/>
              <a:t>App should be configured for specific pipeline to use as part of solution/service deployment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FlowRuleProvider</a:t>
            </a:r>
            <a:r>
              <a:rPr lang="en-US" dirty="0" smtClean="0"/>
              <a:t> </a:t>
            </a:r>
          </a:p>
          <a:p>
            <a:pPr marL="793750" lvl="1" indent="-457200">
              <a:buFont typeface="Arial"/>
              <a:buChar char="•"/>
            </a:pPr>
            <a:r>
              <a:rPr lang="en-US" dirty="0" smtClean="0"/>
              <a:t>exposes table-awareness</a:t>
            </a:r>
          </a:p>
          <a:p>
            <a:pPr marL="793750" lvl="1" indent="-457200">
              <a:buFont typeface="Arial"/>
              <a:buChar char="•"/>
            </a:pPr>
            <a:r>
              <a:rPr lang="en-US" dirty="0" smtClean="0"/>
              <a:t>writes directly to switch using </a:t>
            </a:r>
            <a:r>
              <a:rPr lang="en-US" dirty="0" err="1" smtClean="0"/>
              <a:t>sw.write</a:t>
            </a:r>
            <a:r>
              <a:rPr lang="en-US" dirty="0" smtClean="0"/>
              <a:t>() methods for simple 1.0 switches</a:t>
            </a:r>
          </a:p>
          <a:p>
            <a:pPr marL="793750" lvl="1" indent="-457200">
              <a:buFont typeface="Arial"/>
              <a:buChar char="•"/>
            </a:pPr>
            <a:r>
              <a:rPr lang="en-US" dirty="0" smtClean="0"/>
              <a:t>uses driver-methods to write to 1.3 switches that support a specific TTP</a:t>
            </a:r>
          </a:p>
          <a:p>
            <a:pPr marL="793750" lvl="1" indent="-457200">
              <a:buFont typeface="Arial"/>
              <a:buChar char="•"/>
            </a:pPr>
            <a:r>
              <a:rPr lang="en-US" dirty="0" smtClean="0"/>
              <a:t>allows option to make flow-rules stateless (i.e. does not copy </a:t>
            </a:r>
            <a:r>
              <a:rPr lang="en-US" dirty="0" err="1" smtClean="0"/>
              <a:t>flowrules</a:t>
            </a:r>
            <a:r>
              <a:rPr lang="en-US" dirty="0" smtClean="0"/>
              <a:t> to other instances)</a:t>
            </a:r>
          </a:p>
          <a:p>
            <a:pPr marL="457200" indent="-457200"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6344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700553"/>
          </a:xfrm>
        </p:spPr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173935"/>
            <a:ext cx="8042276" cy="4343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Group handling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Pipeline handling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Use of intent framework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Configuration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Treatment and Selector extensions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Stats/CLI/</a:t>
            </a:r>
            <a:r>
              <a:rPr lang="en-US" dirty="0" err="1" smtClean="0"/>
              <a:t>Karaf</a:t>
            </a:r>
            <a:r>
              <a:rPr lang="en-US" dirty="0" smtClean="0"/>
              <a:t>-CLI/GUI/multi-part-</a:t>
            </a:r>
            <a:r>
              <a:rPr lang="en-US" dirty="0" err="1" smtClean="0"/>
              <a:t>msg</a:t>
            </a:r>
            <a:r>
              <a:rPr lang="en-US" dirty="0" smtClean="0"/>
              <a:t>/SLAVE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5813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709434"/>
          </a:xfrm>
        </p:spPr>
        <p:txBody>
          <a:bodyPr/>
          <a:lstStyle/>
          <a:p>
            <a:r>
              <a:rPr lang="en-US" dirty="0" smtClean="0"/>
              <a:t>3. Use of the Intent </a:t>
            </a:r>
            <a:r>
              <a:rPr lang="en-US" dirty="0" err="1" smtClean="0"/>
              <a:t>Fw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039024"/>
            <a:ext cx="8042276" cy="5603623"/>
          </a:xfrm>
        </p:spPr>
        <p:txBody>
          <a:bodyPr>
            <a:normAutofit fontScale="92500"/>
          </a:bodyPr>
          <a:lstStyle/>
          <a:p>
            <a:pPr>
              <a:buFont typeface="Arial"/>
              <a:buChar char="•"/>
            </a:pPr>
            <a:r>
              <a:rPr lang="en-US" dirty="0" smtClean="0"/>
              <a:t>Technically feasible to implement Compiler and Installer for SR</a:t>
            </a:r>
          </a:p>
          <a:p>
            <a:pPr>
              <a:buFont typeface="Arial"/>
              <a:buChar char="•"/>
            </a:pPr>
            <a:r>
              <a:rPr lang="en-US" dirty="0" smtClean="0"/>
              <a:t>Framework currently does not provide option to be stateless</a:t>
            </a:r>
          </a:p>
          <a:p>
            <a:pPr>
              <a:buFont typeface="Arial"/>
              <a:buChar char="•"/>
            </a:pPr>
            <a:r>
              <a:rPr lang="en-US" dirty="0" smtClean="0"/>
              <a:t>App does not need to worry about replication or install/recovery state-machine</a:t>
            </a:r>
          </a:p>
          <a:p>
            <a:pPr>
              <a:buFont typeface="Arial"/>
              <a:buChar char="•"/>
            </a:pPr>
            <a:r>
              <a:rPr lang="en-US" dirty="0" smtClean="0"/>
              <a:t>Heavyweight state-machine, hard to debug, parts of SM not implemented</a:t>
            </a:r>
          </a:p>
          <a:p>
            <a:pPr>
              <a:buFont typeface="Arial"/>
              <a:buChar char="•"/>
            </a:pPr>
            <a:r>
              <a:rPr lang="en-US" dirty="0" smtClean="0"/>
              <a:t>If purpose is reuse, SR compiler and installer would likely only be used for SR</a:t>
            </a:r>
          </a:p>
          <a:p>
            <a:pPr>
              <a:buFont typeface="Arial"/>
              <a:buChar char="•"/>
            </a:pPr>
            <a:r>
              <a:rPr lang="en-US" dirty="0" smtClean="0"/>
              <a:t>If purpose is ‘the chance to resolve between flow-rules’ </a:t>
            </a:r>
            <a:r>
              <a:rPr lang="en-US" dirty="0" smtClean="0">
                <a:sym typeface="Wingdings"/>
              </a:rPr>
              <a:t> very hard, impossible given OF 1.3 and pipelines</a:t>
            </a:r>
            <a:endParaRPr lang="en-US" dirty="0" smtClean="0"/>
          </a:p>
          <a:p>
            <a:pPr>
              <a:buFont typeface="Arial"/>
              <a:buChar char="•"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42249" y="1110072"/>
            <a:ext cx="38985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8000"/>
                </a:solidFill>
                <a:latin typeface="Zapf Dingbats"/>
                <a:ea typeface="Zapf Dingbats"/>
                <a:cs typeface="Zapf Dingbats"/>
              </a:rPr>
              <a:t>✔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3545" y="2018897"/>
            <a:ext cx="338554" cy="36933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6367" y="3020819"/>
            <a:ext cx="389850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8000"/>
                </a:solidFill>
                <a:latin typeface="Zapf Dingbats"/>
                <a:ea typeface="Zapf Dingbats"/>
                <a:cs typeface="Zapf Dingbats"/>
              </a:rPr>
              <a:t>✔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93545" y="3869306"/>
            <a:ext cx="338554" cy="36933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93545" y="4748085"/>
            <a:ext cx="338554" cy="36933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3545" y="5690853"/>
            <a:ext cx="338554" cy="369332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2020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9275" y="107576"/>
            <a:ext cx="8042276" cy="727195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How SR does routing?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49275" y="1039024"/>
            <a:ext cx="8042276" cy="5603623"/>
          </a:xfrm>
          <a:prstGeom prst="rect">
            <a:avLst/>
          </a:prstGeom>
        </p:spPr>
        <p:txBody>
          <a:bodyPr>
            <a:normAutofit/>
          </a:bodyPr>
          <a:lstStyle>
            <a:lvl1pPr marL="349250" indent="-34925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837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63650" indent="-295275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622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28800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177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8713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92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</a:pPr>
            <a:r>
              <a:rPr lang="en-US" dirty="0" smtClean="0"/>
              <a:t>Default Routing</a:t>
            </a:r>
          </a:p>
          <a:p>
            <a:pPr lvl="1">
              <a:buFont typeface="Arial"/>
              <a:buChar char="•"/>
            </a:pPr>
            <a:r>
              <a:rPr lang="en-US" dirty="0" smtClean="0"/>
              <a:t>done by app using </a:t>
            </a:r>
            <a:r>
              <a:rPr lang="en-US" dirty="0" err="1" smtClean="0"/>
              <a:t>dst</a:t>
            </a:r>
            <a:r>
              <a:rPr lang="en-US" dirty="0" smtClean="0"/>
              <a:t>-rooted, per-router, in-trees calculation and stage-by-stage installation to guarantee loop-free updates</a:t>
            </a:r>
          </a:p>
          <a:p>
            <a:pPr lvl="1">
              <a:buFont typeface="Arial"/>
              <a:buChar char="•"/>
            </a:pPr>
            <a:r>
              <a:rPr lang="en-US" dirty="0"/>
              <a:t>c</a:t>
            </a:r>
            <a:r>
              <a:rPr lang="en-US" dirty="0" smtClean="0"/>
              <a:t>ompletely stateless – upon failure new next hops are determined and installed overwriting old rules – does not require knowledge of old rules</a:t>
            </a:r>
          </a:p>
          <a:p>
            <a:pPr lvl="1">
              <a:buFont typeface="Arial"/>
              <a:buChar char="•"/>
            </a:pPr>
            <a:r>
              <a:rPr lang="en-US" dirty="0" smtClean="0"/>
              <a:t>Flow-space separated per controller instance using subnets </a:t>
            </a:r>
            <a:r>
              <a:rPr lang="en-US" dirty="0" smtClean="0">
                <a:sym typeface="Wingdings"/>
              </a:rPr>
              <a:t> </a:t>
            </a:r>
            <a:r>
              <a:rPr lang="en-US" dirty="0" smtClean="0"/>
              <a:t>allowing parallel operation</a:t>
            </a:r>
          </a:p>
          <a:p>
            <a:pPr>
              <a:buFont typeface="Arial"/>
              <a:buChar char="•"/>
            </a:pPr>
            <a:r>
              <a:rPr lang="en-US" dirty="0" smtClean="0"/>
              <a:t>Policy Routing</a:t>
            </a:r>
          </a:p>
          <a:p>
            <a:pPr lvl="1">
              <a:buFont typeface="Arial"/>
              <a:buChar char="•"/>
            </a:pPr>
            <a:r>
              <a:rPr lang="en-US" dirty="0" smtClean="0"/>
              <a:t>done by app in single controller instance</a:t>
            </a:r>
          </a:p>
          <a:p>
            <a:pPr lvl="1">
              <a:buFont typeface="Arial"/>
              <a:buChar char="•"/>
            </a:pPr>
            <a:r>
              <a:rPr lang="en-US" dirty="0" err="1" smtClean="0"/>
              <a:t>statefull</a:t>
            </a:r>
            <a:endParaRPr lang="en-US" dirty="0" smtClean="0"/>
          </a:p>
          <a:p>
            <a:pPr marL="349250" lvl="1" indent="0">
              <a:buNone/>
            </a:pPr>
            <a:endParaRPr lang="en-US" dirty="0" smtClean="0"/>
          </a:p>
          <a:p>
            <a:pPr>
              <a:buFont typeface="Arial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0383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700553"/>
          </a:xfrm>
        </p:spPr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173935"/>
            <a:ext cx="8042276" cy="4343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Group handling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Pipeline handling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Use of intent framework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Configuration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Treatment and Selector extensions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Stats/CLI/</a:t>
            </a:r>
            <a:r>
              <a:rPr lang="en-US" dirty="0" err="1" smtClean="0"/>
              <a:t>Karaf</a:t>
            </a:r>
            <a:r>
              <a:rPr lang="en-US" dirty="0" smtClean="0"/>
              <a:t>-CLI/GUI/multi-part-</a:t>
            </a:r>
            <a:r>
              <a:rPr lang="en-US" dirty="0" err="1" smtClean="0"/>
              <a:t>msg</a:t>
            </a:r>
            <a:r>
              <a:rPr lang="en-US" dirty="0" smtClean="0"/>
              <a:t>/SLAVE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0701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Left-Right Arrow 49"/>
          <p:cNvSpPr/>
          <p:nvPr/>
        </p:nvSpPr>
        <p:spPr>
          <a:xfrm>
            <a:off x="3668805" y="4773077"/>
            <a:ext cx="2537625" cy="551886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600" b="1" dirty="0" smtClean="0">
                <a:solidFill>
                  <a:srgbClr val="000000"/>
                </a:solidFill>
                <a:latin typeface="News Gothic MT"/>
              </a:rPr>
              <a:t>Channel</a:t>
            </a:r>
            <a:endParaRPr lang="en-US" sz="1600" b="1" dirty="0">
              <a:solidFill>
                <a:srgbClr val="000000"/>
              </a:solidFill>
              <a:latin typeface="News Gothic M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50619" y="1967582"/>
            <a:ext cx="369332" cy="1438626"/>
          </a:xfrm>
          <a:prstGeom prst="rect">
            <a:avLst/>
          </a:prstGeom>
          <a:noFill/>
          <a:ln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270" rtlCol="0" anchor="ctr">
            <a:spAutoFit/>
          </a:bodyPr>
          <a:lstStyle/>
          <a:p>
            <a:pPr algn="ctr" defTabSz="914400"/>
            <a:r>
              <a:rPr lang="en-US" sz="1200" b="1" dirty="0" smtClean="0">
                <a:solidFill>
                  <a:srgbClr val="000000"/>
                </a:solidFill>
                <a:latin typeface="News Gothic MT"/>
              </a:rPr>
              <a:t>Config Service</a:t>
            </a:r>
            <a:endParaRPr lang="en-US" sz="1200" b="1" dirty="0">
              <a:solidFill>
                <a:srgbClr val="000000"/>
              </a:solidFill>
              <a:latin typeface="News Gothic M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714139"/>
          </a:xfrm>
        </p:spPr>
        <p:txBody>
          <a:bodyPr/>
          <a:lstStyle/>
          <a:p>
            <a:r>
              <a:rPr lang="en-US" sz="4000" dirty="0" smtClean="0"/>
              <a:t>4. </a:t>
            </a:r>
            <a:r>
              <a:rPr lang="en-US" sz="4000" dirty="0" err="1" smtClean="0"/>
              <a:t>NetworkConfigManager</a:t>
            </a:r>
            <a:endParaRPr lang="en-US" sz="4000" dirty="0"/>
          </a:p>
        </p:txBody>
      </p:sp>
      <p:sp>
        <p:nvSpPr>
          <p:cNvPr id="4" name="Rounded Rectangle 3"/>
          <p:cNvSpPr/>
          <p:nvPr/>
        </p:nvSpPr>
        <p:spPr>
          <a:xfrm>
            <a:off x="2155829" y="1953681"/>
            <a:ext cx="854948" cy="145252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100" b="1" dirty="0" smtClean="0">
                <a:solidFill>
                  <a:prstClr val="black"/>
                </a:solidFill>
                <a:latin typeface="News Gothic MT"/>
              </a:rPr>
              <a:t>Network</a:t>
            </a:r>
          </a:p>
          <a:p>
            <a:pPr algn="ctr" defTabSz="914400"/>
            <a:r>
              <a:rPr lang="en-US" sz="1100" b="1" dirty="0" smtClean="0">
                <a:solidFill>
                  <a:prstClr val="black"/>
                </a:solidFill>
                <a:latin typeface="News Gothic MT"/>
              </a:rPr>
              <a:t>Config</a:t>
            </a:r>
          </a:p>
          <a:p>
            <a:pPr algn="ctr" defTabSz="914400"/>
            <a:r>
              <a:rPr lang="en-US" sz="1100" b="1" dirty="0" smtClean="0">
                <a:solidFill>
                  <a:prstClr val="black"/>
                </a:solidFill>
                <a:latin typeface="News Gothic MT"/>
              </a:rPr>
              <a:t>Mgr.</a:t>
            </a:r>
            <a:endParaRPr lang="en-US" sz="1100" b="1" dirty="0">
              <a:solidFill>
                <a:prstClr val="black"/>
              </a:solidFill>
              <a:latin typeface="News Gothic MT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491792" y="3049301"/>
            <a:ext cx="66403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6949" y="2818468"/>
            <a:ext cx="73874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defTabSz="914400"/>
            <a:r>
              <a:rPr lang="en-US" sz="1200" dirty="0" smtClean="0">
                <a:solidFill>
                  <a:prstClr val="black"/>
                </a:solidFill>
                <a:latin typeface="News Gothic MT"/>
              </a:rPr>
              <a:t>Config file</a:t>
            </a:r>
            <a:endParaRPr lang="en-US" sz="1200" dirty="0">
              <a:solidFill>
                <a:prstClr val="black"/>
              </a:solidFill>
              <a:latin typeface="News Gothic M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9091" y="3049300"/>
            <a:ext cx="739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200" dirty="0" smtClean="0">
                <a:solidFill>
                  <a:prstClr val="black"/>
                </a:solidFill>
                <a:latin typeface="News Gothic MT"/>
              </a:rPr>
              <a:t>Startup</a:t>
            </a:r>
          </a:p>
          <a:p>
            <a:pPr defTabSz="914400"/>
            <a:r>
              <a:rPr lang="en-US" sz="1200" dirty="0" smtClean="0">
                <a:solidFill>
                  <a:prstClr val="black"/>
                </a:solidFill>
                <a:latin typeface="News Gothic MT"/>
              </a:rPr>
              <a:t>Config</a:t>
            </a:r>
            <a:endParaRPr lang="en-US" sz="1200" dirty="0">
              <a:solidFill>
                <a:prstClr val="black"/>
              </a:solidFill>
              <a:latin typeface="News Gothic MT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505691" y="2197382"/>
            <a:ext cx="66403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8649" y="1967582"/>
            <a:ext cx="738742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defTabSz="914400"/>
            <a:r>
              <a:rPr lang="en-US" sz="1200" dirty="0" smtClean="0">
                <a:solidFill>
                  <a:prstClr val="black"/>
                </a:solidFill>
                <a:latin typeface="News Gothic MT"/>
              </a:rPr>
              <a:t>CLI/ REST</a:t>
            </a:r>
            <a:endParaRPr lang="en-US" sz="1200" dirty="0">
              <a:solidFill>
                <a:prstClr val="black"/>
              </a:solidFill>
              <a:latin typeface="News Gothic M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97391" y="1740875"/>
            <a:ext cx="779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200" dirty="0" smtClean="0">
                <a:solidFill>
                  <a:prstClr val="black"/>
                </a:solidFill>
                <a:latin typeface="News Gothic MT"/>
              </a:rPr>
              <a:t>Running</a:t>
            </a:r>
          </a:p>
          <a:p>
            <a:pPr defTabSz="914400"/>
            <a:r>
              <a:rPr lang="en-US" sz="1200" dirty="0" smtClean="0">
                <a:solidFill>
                  <a:prstClr val="black"/>
                </a:solidFill>
                <a:latin typeface="News Gothic MT"/>
              </a:rPr>
              <a:t>Config</a:t>
            </a:r>
            <a:endParaRPr lang="en-US" sz="1200" dirty="0">
              <a:solidFill>
                <a:prstClr val="black"/>
              </a:solidFill>
              <a:latin typeface="News Gothic M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12766" y="2277240"/>
            <a:ext cx="2224525" cy="83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400" b="1" dirty="0" smtClean="0">
                <a:solidFill>
                  <a:srgbClr val="000000"/>
                </a:solidFill>
                <a:latin typeface="News Gothic MT"/>
              </a:rPr>
              <a:t>Topology </a:t>
            </a:r>
            <a:r>
              <a:rPr lang="en-US" sz="1400" b="1" dirty="0" smtClean="0">
                <a:solidFill>
                  <a:srgbClr val="000000"/>
                </a:solidFill>
                <a:latin typeface="News Gothic MT"/>
              </a:rPr>
              <a:t>Manager</a:t>
            </a:r>
            <a:endParaRPr lang="en-US" sz="1400" b="1" dirty="0">
              <a:solidFill>
                <a:srgbClr val="000000"/>
              </a:solidFill>
              <a:latin typeface="News Gothic MT"/>
            </a:endParaRPr>
          </a:p>
        </p:txBody>
      </p:sp>
      <p:cxnSp>
        <p:nvCxnSpPr>
          <p:cNvPr id="15" name="Straight Arrow Connector 14"/>
          <p:cNvCxnSpPr>
            <a:stCxn id="13" idx="1"/>
            <a:endCxn id="11" idx="3"/>
          </p:cNvCxnSpPr>
          <p:nvPr/>
        </p:nvCxnSpPr>
        <p:spPr>
          <a:xfrm flipH="1" flipV="1">
            <a:off x="3319951" y="2686895"/>
            <a:ext cx="1292815" cy="54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4803677" y="3107400"/>
            <a:ext cx="249014" cy="4035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5711419" y="3107401"/>
            <a:ext cx="0" cy="4035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6345246" y="3135299"/>
            <a:ext cx="218130" cy="3756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21461" y="3510965"/>
            <a:ext cx="5312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050" b="1" dirty="0" smtClean="0">
                <a:solidFill>
                  <a:prstClr val="black"/>
                </a:solidFill>
                <a:latin typeface="News Gothic MT"/>
              </a:rPr>
              <a:t>hosts</a:t>
            </a:r>
            <a:endParaRPr lang="en-US" sz="1050" b="1" dirty="0">
              <a:solidFill>
                <a:prstClr val="black"/>
              </a:solidFill>
              <a:latin typeface="News Gothic M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85103" y="3510965"/>
            <a:ext cx="8051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050" b="1" dirty="0" smtClean="0">
                <a:solidFill>
                  <a:prstClr val="black"/>
                </a:solidFill>
                <a:latin typeface="News Gothic MT"/>
              </a:rPr>
              <a:t>switches</a:t>
            </a:r>
            <a:endParaRPr lang="en-US" sz="1050" b="1" dirty="0">
              <a:solidFill>
                <a:prstClr val="black"/>
              </a:solidFill>
              <a:latin typeface="News Gothic M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45246" y="3510965"/>
            <a:ext cx="53123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050" b="1" dirty="0" smtClean="0">
                <a:solidFill>
                  <a:prstClr val="black"/>
                </a:solidFill>
                <a:latin typeface="News Gothic MT"/>
              </a:rPr>
              <a:t>links</a:t>
            </a:r>
            <a:endParaRPr lang="en-US" sz="1050" b="1" dirty="0">
              <a:solidFill>
                <a:prstClr val="black"/>
              </a:solidFill>
              <a:latin typeface="News Gothic MT"/>
            </a:endParaRPr>
          </a:p>
        </p:txBody>
      </p:sp>
      <p:sp>
        <p:nvSpPr>
          <p:cNvPr id="26" name="Left-Right Arrow 25"/>
          <p:cNvSpPr/>
          <p:nvPr/>
        </p:nvSpPr>
        <p:spPr>
          <a:xfrm>
            <a:off x="6847232" y="2393589"/>
            <a:ext cx="1744319" cy="655712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600" b="1" dirty="0" smtClean="0">
                <a:solidFill>
                  <a:srgbClr val="000000"/>
                </a:solidFill>
                <a:latin typeface="News Gothic MT"/>
              </a:rPr>
              <a:t>Store</a:t>
            </a:r>
            <a:endParaRPr lang="en-US" sz="1600" b="1" dirty="0">
              <a:solidFill>
                <a:srgbClr val="000000"/>
              </a:solidFill>
              <a:latin typeface="News Gothic MT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266026" y="4682857"/>
            <a:ext cx="1402779" cy="6421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400" b="1" dirty="0" smtClean="0">
                <a:solidFill>
                  <a:srgbClr val="000000"/>
                </a:solidFill>
                <a:latin typeface="News Gothic MT"/>
              </a:rPr>
              <a:t>ONOS Instance</a:t>
            </a:r>
            <a:endParaRPr lang="en-US" sz="1400" b="1" dirty="0">
              <a:solidFill>
                <a:srgbClr val="000000"/>
              </a:solidFill>
              <a:latin typeface="News Gothic MT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233235" y="4682857"/>
            <a:ext cx="1402779" cy="6421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400" b="1" dirty="0" smtClean="0">
                <a:solidFill>
                  <a:srgbClr val="000000"/>
                </a:solidFill>
                <a:latin typeface="News Gothic MT"/>
              </a:rPr>
              <a:t>ONOS Instance</a:t>
            </a:r>
            <a:endParaRPr lang="en-US" sz="1400" b="1" dirty="0">
              <a:solidFill>
                <a:srgbClr val="000000"/>
              </a:solidFill>
              <a:latin typeface="News Gothic MT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06430" y="4682857"/>
            <a:ext cx="1402779" cy="64210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400" b="1" dirty="0" smtClean="0">
                <a:solidFill>
                  <a:srgbClr val="000000"/>
                </a:solidFill>
                <a:latin typeface="News Gothic MT"/>
              </a:rPr>
              <a:t>ONOS Instance</a:t>
            </a:r>
            <a:endParaRPr lang="en-US" sz="1400" b="1" dirty="0">
              <a:solidFill>
                <a:srgbClr val="000000"/>
              </a:solidFill>
              <a:latin typeface="News Gothic M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06638" y="5764872"/>
            <a:ext cx="739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200" dirty="0" smtClean="0">
                <a:solidFill>
                  <a:prstClr val="black"/>
                </a:solidFill>
                <a:latin typeface="News Gothic MT"/>
              </a:rPr>
              <a:t>Startup</a:t>
            </a:r>
          </a:p>
          <a:p>
            <a:pPr defTabSz="914400"/>
            <a:r>
              <a:rPr lang="en-US" sz="1200" dirty="0" smtClean="0">
                <a:solidFill>
                  <a:prstClr val="black"/>
                </a:solidFill>
                <a:latin typeface="News Gothic MT"/>
              </a:rPr>
              <a:t>Config</a:t>
            </a:r>
            <a:endParaRPr lang="en-US" sz="1200" dirty="0">
              <a:solidFill>
                <a:prstClr val="black"/>
              </a:solidFill>
              <a:latin typeface="News Gothic MT"/>
            </a:endParaRPr>
          </a:p>
        </p:txBody>
      </p:sp>
      <p:cxnSp>
        <p:nvCxnSpPr>
          <p:cNvPr id="35" name="Straight Arrow Connector 34"/>
          <p:cNvCxnSpPr>
            <a:stCxn id="32" idx="0"/>
            <a:endCxn id="29" idx="2"/>
          </p:cNvCxnSpPr>
          <p:nvPr/>
        </p:nvCxnSpPr>
        <p:spPr>
          <a:xfrm flipH="1" flipV="1">
            <a:off x="2967416" y="5324963"/>
            <a:ext cx="8825" cy="4399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02898" y="5764872"/>
            <a:ext cx="739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200" dirty="0" smtClean="0">
                <a:solidFill>
                  <a:prstClr val="black"/>
                </a:solidFill>
                <a:latin typeface="News Gothic MT"/>
              </a:rPr>
              <a:t>Startup</a:t>
            </a:r>
          </a:p>
          <a:p>
            <a:pPr defTabSz="914400"/>
            <a:r>
              <a:rPr lang="en-US" sz="1200" dirty="0" smtClean="0">
                <a:solidFill>
                  <a:prstClr val="black"/>
                </a:solidFill>
                <a:latin typeface="News Gothic MT"/>
              </a:rPr>
              <a:t>Config</a:t>
            </a:r>
            <a:endParaRPr lang="en-US" sz="1200" dirty="0">
              <a:solidFill>
                <a:prstClr val="black"/>
              </a:solidFill>
              <a:latin typeface="News Gothic MT"/>
            </a:endParaRPr>
          </a:p>
        </p:txBody>
      </p:sp>
      <p:cxnSp>
        <p:nvCxnSpPr>
          <p:cNvPr id="42" name="Straight Arrow Connector 41"/>
          <p:cNvCxnSpPr>
            <a:stCxn id="41" idx="0"/>
          </p:cNvCxnSpPr>
          <p:nvPr/>
        </p:nvCxnSpPr>
        <p:spPr>
          <a:xfrm flipH="1" flipV="1">
            <a:off x="4963676" y="5324963"/>
            <a:ext cx="8825" cy="4399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23299" y="5764872"/>
            <a:ext cx="739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200" dirty="0" smtClean="0">
                <a:solidFill>
                  <a:prstClr val="black"/>
                </a:solidFill>
                <a:latin typeface="News Gothic MT"/>
              </a:rPr>
              <a:t>Startup</a:t>
            </a:r>
          </a:p>
          <a:p>
            <a:pPr defTabSz="914400"/>
            <a:r>
              <a:rPr lang="en-US" sz="1200" dirty="0" smtClean="0">
                <a:solidFill>
                  <a:prstClr val="black"/>
                </a:solidFill>
                <a:latin typeface="News Gothic MT"/>
              </a:rPr>
              <a:t>Config</a:t>
            </a:r>
            <a:endParaRPr lang="en-US" sz="1200" dirty="0">
              <a:solidFill>
                <a:prstClr val="black"/>
              </a:solidFill>
              <a:latin typeface="News Gothic MT"/>
            </a:endParaRPr>
          </a:p>
        </p:txBody>
      </p:sp>
      <p:cxnSp>
        <p:nvCxnSpPr>
          <p:cNvPr id="44" name="Straight Arrow Connector 43"/>
          <p:cNvCxnSpPr>
            <a:stCxn id="43" idx="0"/>
          </p:cNvCxnSpPr>
          <p:nvPr/>
        </p:nvCxnSpPr>
        <p:spPr>
          <a:xfrm flipH="1" flipV="1">
            <a:off x="6884077" y="5324963"/>
            <a:ext cx="8825" cy="43990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29" idx="1"/>
          </p:cNvCxnSpPr>
          <p:nvPr/>
        </p:nvCxnSpPr>
        <p:spPr>
          <a:xfrm>
            <a:off x="1851004" y="5003910"/>
            <a:ext cx="4150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71749" y="4773077"/>
            <a:ext cx="7792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1200" dirty="0" smtClean="0">
                <a:solidFill>
                  <a:prstClr val="black"/>
                </a:solidFill>
                <a:latin typeface="News Gothic MT"/>
              </a:rPr>
              <a:t>Running</a:t>
            </a:r>
          </a:p>
          <a:p>
            <a:pPr defTabSz="914400"/>
            <a:r>
              <a:rPr lang="en-US" sz="1200" dirty="0" smtClean="0">
                <a:solidFill>
                  <a:prstClr val="black"/>
                </a:solidFill>
                <a:latin typeface="News Gothic MT"/>
              </a:rPr>
              <a:t>Config</a:t>
            </a:r>
            <a:endParaRPr lang="en-US" sz="1200" dirty="0">
              <a:solidFill>
                <a:prstClr val="black"/>
              </a:solidFill>
              <a:latin typeface="News Gothic MT"/>
            </a:endParaRPr>
          </a:p>
        </p:txBody>
      </p:sp>
    </p:spTree>
    <p:extLst>
      <p:ext uri="{BB962C8B-B14F-4D97-AF65-F5344CB8AC3E}">
        <p14:creationId xmlns:p14="http://schemas.microsoft.com/office/powerpoint/2010/main" val="289242930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13" grpId="0" animBg="1"/>
      <p:bldP spid="23" grpId="0"/>
      <p:bldP spid="24" grpId="0"/>
      <p:bldP spid="25" grpId="0"/>
      <p:bldP spid="26" grpId="0" animBg="1"/>
      <p:bldP spid="29" grpId="0" animBg="1"/>
      <p:bldP spid="30" grpId="0" animBg="1"/>
      <p:bldP spid="31" grpId="0" animBg="1"/>
      <p:bldP spid="32" grpId="0"/>
      <p:bldP spid="41" grpId="0"/>
      <p:bldP spid="43" grpId="0"/>
      <p:bldP spid="4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697539"/>
          </a:xfrm>
        </p:spPr>
        <p:txBody>
          <a:bodyPr/>
          <a:lstStyle/>
          <a:p>
            <a:r>
              <a:rPr lang="en-US" dirty="0" smtClean="0"/>
              <a:t>Filtering Logic</a:t>
            </a:r>
            <a:endParaRPr lang="en-US" dirty="0"/>
          </a:p>
        </p:txBody>
      </p:sp>
      <p:sp>
        <p:nvSpPr>
          <p:cNvPr id="6" name="Decision 5"/>
          <p:cNvSpPr/>
          <p:nvPr/>
        </p:nvSpPr>
        <p:spPr>
          <a:xfrm>
            <a:off x="3619008" y="1120520"/>
            <a:ext cx="1635192" cy="1045819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defTabSz="914400"/>
            <a:r>
              <a:rPr lang="en-US" sz="1200" b="1" dirty="0" smtClean="0">
                <a:solidFill>
                  <a:srgbClr val="000000"/>
                </a:solidFill>
                <a:latin typeface="News Gothic MT"/>
              </a:rPr>
              <a:t>Restrict switches?</a:t>
            </a:r>
            <a:endParaRPr lang="en-US" sz="1200" b="1" dirty="0">
              <a:solidFill>
                <a:srgbClr val="000000"/>
              </a:solidFill>
              <a:latin typeface="News Gothic MT"/>
            </a:endParaRPr>
          </a:p>
        </p:txBody>
      </p:sp>
      <p:cxnSp>
        <p:nvCxnSpPr>
          <p:cNvPr id="8" name="Elbow Connector 7"/>
          <p:cNvCxnSpPr>
            <a:endCxn id="34" idx="0"/>
          </p:cNvCxnSpPr>
          <p:nvPr/>
        </p:nvCxnSpPr>
        <p:spPr>
          <a:xfrm rot="10800000" flipV="1">
            <a:off x="2365638" y="1643429"/>
            <a:ext cx="1278273" cy="67531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endCxn id="38" idx="0"/>
          </p:cNvCxnSpPr>
          <p:nvPr/>
        </p:nvCxnSpPr>
        <p:spPr>
          <a:xfrm>
            <a:off x="5254200" y="1643430"/>
            <a:ext cx="1402778" cy="62020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65638" y="1369526"/>
            <a:ext cx="1361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200" b="1" dirty="0" smtClean="0">
                <a:solidFill>
                  <a:prstClr val="black"/>
                </a:solidFill>
                <a:latin typeface="News Gothic MT"/>
              </a:rPr>
              <a:t>              Yes</a:t>
            </a:r>
          </a:p>
          <a:p>
            <a:pPr defTabSz="914400"/>
            <a:endParaRPr lang="en-US" sz="1200" b="1" dirty="0" smtClean="0">
              <a:solidFill>
                <a:prstClr val="black"/>
              </a:solidFill>
              <a:latin typeface="News Gothic MT"/>
            </a:endParaRPr>
          </a:p>
          <a:p>
            <a:pPr defTabSz="914400"/>
            <a:r>
              <a:rPr lang="en-US" sz="1200" b="1" dirty="0" smtClean="0">
                <a:solidFill>
                  <a:prstClr val="black"/>
                </a:solidFill>
                <a:latin typeface="News Gothic MT"/>
              </a:rPr>
              <a:t>Default Deny</a:t>
            </a:r>
            <a:endParaRPr lang="en-US" sz="1200" b="1" dirty="0">
              <a:solidFill>
                <a:prstClr val="black"/>
              </a:solidFill>
              <a:latin typeface="News Gothic M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95702" y="1363143"/>
            <a:ext cx="1361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200" b="1" dirty="0" smtClean="0">
                <a:solidFill>
                  <a:prstClr val="black"/>
                </a:solidFill>
                <a:latin typeface="News Gothic MT"/>
              </a:rPr>
              <a:t>No</a:t>
            </a:r>
          </a:p>
          <a:p>
            <a:pPr defTabSz="914400"/>
            <a:endParaRPr lang="en-US" sz="1200" b="1" dirty="0" smtClean="0">
              <a:solidFill>
                <a:prstClr val="black"/>
              </a:solidFill>
              <a:latin typeface="News Gothic MT"/>
            </a:endParaRPr>
          </a:p>
          <a:p>
            <a:pPr defTabSz="914400"/>
            <a:r>
              <a:rPr lang="en-US" sz="1200" b="1" dirty="0" smtClean="0">
                <a:solidFill>
                  <a:prstClr val="black"/>
                </a:solidFill>
                <a:latin typeface="News Gothic MT"/>
              </a:rPr>
              <a:t>Default Allow</a:t>
            </a:r>
            <a:endParaRPr lang="en-US" sz="1200" b="1" dirty="0">
              <a:solidFill>
                <a:prstClr val="black"/>
              </a:solidFill>
              <a:latin typeface="News Gothic MT"/>
            </a:endParaRPr>
          </a:p>
        </p:txBody>
      </p:sp>
      <p:sp>
        <p:nvSpPr>
          <p:cNvPr id="34" name="Decision 33"/>
          <p:cNvSpPr/>
          <p:nvPr/>
        </p:nvSpPr>
        <p:spPr>
          <a:xfrm>
            <a:off x="1548041" y="2318739"/>
            <a:ext cx="1635192" cy="1045819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defTabSz="914400"/>
            <a:r>
              <a:rPr lang="en-US" sz="1200" b="1" dirty="0" smtClean="0">
                <a:solidFill>
                  <a:srgbClr val="000000"/>
                </a:solidFill>
                <a:latin typeface="News Gothic MT"/>
              </a:rPr>
              <a:t>Has Config?</a:t>
            </a:r>
            <a:endParaRPr lang="en-US" sz="1200" b="1" dirty="0">
              <a:solidFill>
                <a:srgbClr val="000000"/>
              </a:solidFill>
              <a:latin typeface="News Gothic MT"/>
            </a:endParaRPr>
          </a:p>
        </p:txBody>
      </p:sp>
      <p:sp>
        <p:nvSpPr>
          <p:cNvPr id="38" name="Decision 37"/>
          <p:cNvSpPr/>
          <p:nvPr/>
        </p:nvSpPr>
        <p:spPr>
          <a:xfrm>
            <a:off x="5839382" y="2263635"/>
            <a:ext cx="1635192" cy="1045819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defTabSz="914400"/>
            <a:r>
              <a:rPr lang="en-US" sz="1200" b="1" dirty="0" smtClean="0">
                <a:solidFill>
                  <a:srgbClr val="000000"/>
                </a:solidFill>
                <a:latin typeface="News Gothic MT"/>
              </a:rPr>
              <a:t>Has Config?</a:t>
            </a:r>
            <a:endParaRPr lang="en-US" sz="1200" b="1" dirty="0">
              <a:solidFill>
                <a:srgbClr val="000000"/>
              </a:solidFill>
              <a:latin typeface="News Gothic MT"/>
            </a:endParaRPr>
          </a:p>
        </p:txBody>
      </p:sp>
      <p:cxnSp>
        <p:nvCxnSpPr>
          <p:cNvPr id="41" name="Straight Arrow Connector 40"/>
          <p:cNvCxnSpPr>
            <a:stCxn id="34" idx="1"/>
            <a:endCxn id="45" idx="3"/>
          </p:cNvCxnSpPr>
          <p:nvPr/>
        </p:nvCxnSpPr>
        <p:spPr>
          <a:xfrm flipH="1" flipV="1">
            <a:off x="1070765" y="2838653"/>
            <a:ext cx="477276" cy="29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200662" y="2564650"/>
            <a:ext cx="3930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sz="1200" b="1" dirty="0">
                <a:solidFill>
                  <a:prstClr val="black"/>
                </a:solidFill>
                <a:latin typeface="News Gothic MT"/>
              </a:rPr>
              <a:t>No</a:t>
            </a:r>
          </a:p>
        </p:txBody>
      </p:sp>
      <p:cxnSp>
        <p:nvCxnSpPr>
          <p:cNvPr id="43" name="Straight Arrow Connector 42"/>
          <p:cNvCxnSpPr>
            <a:stCxn id="38" idx="3"/>
            <a:endCxn id="48" idx="1"/>
          </p:cNvCxnSpPr>
          <p:nvPr/>
        </p:nvCxnSpPr>
        <p:spPr>
          <a:xfrm>
            <a:off x="7474574" y="2786545"/>
            <a:ext cx="55198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7474574" y="2449333"/>
            <a:ext cx="3930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sz="1200" b="1" dirty="0">
                <a:solidFill>
                  <a:prstClr val="black"/>
                </a:solidFill>
                <a:latin typeface="News Gothic MT"/>
              </a:rPr>
              <a:t>No</a:t>
            </a:r>
          </a:p>
        </p:txBody>
      </p:sp>
      <p:sp>
        <p:nvSpPr>
          <p:cNvPr id="45" name="Terminator 44"/>
          <p:cNvSpPr/>
          <p:nvPr/>
        </p:nvSpPr>
        <p:spPr>
          <a:xfrm>
            <a:off x="166014" y="2614549"/>
            <a:ext cx="904751" cy="448208"/>
          </a:xfrm>
          <a:prstGeom prst="flowChartTermina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400" b="1" dirty="0" smtClean="0">
                <a:solidFill>
                  <a:srgbClr val="FF0000"/>
                </a:solidFill>
                <a:latin typeface="News Gothic MT"/>
              </a:rPr>
              <a:t>DENY</a:t>
            </a:r>
            <a:endParaRPr lang="en-US" sz="1400" b="1" dirty="0">
              <a:solidFill>
                <a:srgbClr val="FF0000"/>
              </a:solidFill>
              <a:latin typeface="News Gothic MT"/>
            </a:endParaRPr>
          </a:p>
        </p:txBody>
      </p:sp>
      <p:sp>
        <p:nvSpPr>
          <p:cNvPr id="48" name="Terminator 47"/>
          <p:cNvSpPr/>
          <p:nvPr/>
        </p:nvSpPr>
        <p:spPr>
          <a:xfrm>
            <a:off x="8026555" y="2562441"/>
            <a:ext cx="1026145" cy="448208"/>
          </a:xfrm>
          <a:prstGeom prst="flowChartTermina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400" b="1" dirty="0" smtClean="0">
                <a:solidFill>
                  <a:srgbClr val="3F5B03"/>
                </a:solidFill>
                <a:latin typeface="News Gothic MT"/>
              </a:rPr>
              <a:t>ACCEPT</a:t>
            </a:r>
            <a:endParaRPr lang="en-US" sz="1400" b="1" dirty="0">
              <a:solidFill>
                <a:srgbClr val="3F5B03"/>
              </a:solidFill>
              <a:latin typeface="News Gothic MT"/>
            </a:endParaRPr>
          </a:p>
        </p:txBody>
      </p:sp>
      <p:cxnSp>
        <p:nvCxnSpPr>
          <p:cNvPr id="49" name="Straight Arrow Connector 48"/>
          <p:cNvCxnSpPr>
            <a:stCxn id="34" idx="2"/>
            <a:endCxn id="52" idx="0"/>
          </p:cNvCxnSpPr>
          <p:nvPr/>
        </p:nvCxnSpPr>
        <p:spPr>
          <a:xfrm>
            <a:off x="2365637" y="3364558"/>
            <a:ext cx="0" cy="7440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ecision 51"/>
          <p:cNvSpPr/>
          <p:nvPr/>
        </p:nvSpPr>
        <p:spPr>
          <a:xfrm>
            <a:off x="1548041" y="4108575"/>
            <a:ext cx="1635192" cy="1045819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defTabSz="914400"/>
            <a:r>
              <a:rPr lang="en-US" sz="1200" b="1" dirty="0" smtClean="0">
                <a:solidFill>
                  <a:srgbClr val="000000"/>
                </a:solidFill>
                <a:latin typeface="News Gothic MT"/>
              </a:rPr>
              <a:t>Allowed?</a:t>
            </a:r>
            <a:endParaRPr lang="en-US" sz="1200" b="1" dirty="0">
              <a:solidFill>
                <a:srgbClr val="000000"/>
              </a:solidFill>
              <a:latin typeface="News Gothic MT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365637" y="3370552"/>
            <a:ext cx="4369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sz="1200" b="1" dirty="0" smtClean="0">
                <a:solidFill>
                  <a:prstClr val="black"/>
                </a:solidFill>
                <a:latin typeface="News Gothic MT"/>
              </a:rPr>
              <a:t>Yes</a:t>
            </a:r>
            <a:endParaRPr lang="en-US" sz="1200" b="1" dirty="0">
              <a:solidFill>
                <a:prstClr val="black"/>
              </a:solidFill>
              <a:latin typeface="News Gothic MT"/>
            </a:endParaRPr>
          </a:p>
        </p:txBody>
      </p:sp>
      <p:sp>
        <p:nvSpPr>
          <p:cNvPr id="59" name="Decision 58"/>
          <p:cNvSpPr/>
          <p:nvPr/>
        </p:nvSpPr>
        <p:spPr>
          <a:xfrm>
            <a:off x="5839382" y="4108575"/>
            <a:ext cx="1635192" cy="1045819"/>
          </a:xfrm>
          <a:prstGeom prst="flowChartDecisi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 defTabSz="914400"/>
            <a:r>
              <a:rPr lang="en-US" sz="1200" b="1" dirty="0" smtClean="0">
                <a:solidFill>
                  <a:srgbClr val="000000"/>
                </a:solidFill>
                <a:latin typeface="News Gothic MT"/>
              </a:rPr>
              <a:t>Allowed?</a:t>
            </a:r>
            <a:endParaRPr lang="en-US" sz="1200" b="1" dirty="0">
              <a:solidFill>
                <a:srgbClr val="000000"/>
              </a:solidFill>
              <a:latin typeface="News Gothic MT"/>
            </a:endParaRPr>
          </a:p>
        </p:txBody>
      </p:sp>
      <p:cxnSp>
        <p:nvCxnSpPr>
          <p:cNvPr id="60" name="Straight Arrow Connector 59"/>
          <p:cNvCxnSpPr>
            <a:stCxn id="38" idx="2"/>
            <a:endCxn id="59" idx="0"/>
          </p:cNvCxnSpPr>
          <p:nvPr/>
        </p:nvCxnSpPr>
        <p:spPr>
          <a:xfrm>
            <a:off x="6656978" y="3309454"/>
            <a:ext cx="0" cy="7991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6220065" y="3364558"/>
            <a:ext cx="4369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sz="1200" b="1" dirty="0" smtClean="0">
                <a:solidFill>
                  <a:prstClr val="black"/>
                </a:solidFill>
                <a:latin typeface="News Gothic MT"/>
              </a:rPr>
              <a:t>Yes</a:t>
            </a:r>
            <a:endParaRPr lang="en-US" sz="1200" b="1" dirty="0">
              <a:solidFill>
                <a:prstClr val="black"/>
              </a:solidFill>
              <a:latin typeface="News Gothic MT"/>
            </a:endParaRPr>
          </a:p>
        </p:txBody>
      </p:sp>
      <p:cxnSp>
        <p:nvCxnSpPr>
          <p:cNvPr id="64" name="Straight Arrow Connector 63"/>
          <p:cNvCxnSpPr>
            <a:stCxn id="52" idx="1"/>
            <a:endCxn id="66" idx="3"/>
          </p:cNvCxnSpPr>
          <p:nvPr/>
        </p:nvCxnSpPr>
        <p:spPr>
          <a:xfrm flipH="1">
            <a:off x="1025113" y="4631485"/>
            <a:ext cx="522928" cy="29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155010" y="4360480"/>
            <a:ext cx="3930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sz="1200" b="1" dirty="0">
                <a:solidFill>
                  <a:prstClr val="black"/>
                </a:solidFill>
                <a:latin typeface="News Gothic MT"/>
              </a:rPr>
              <a:t>No</a:t>
            </a:r>
          </a:p>
        </p:txBody>
      </p:sp>
      <p:sp>
        <p:nvSpPr>
          <p:cNvPr id="66" name="Terminator 65"/>
          <p:cNvSpPr/>
          <p:nvPr/>
        </p:nvSpPr>
        <p:spPr>
          <a:xfrm>
            <a:off x="120362" y="4410379"/>
            <a:ext cx="904751" cy="448208"/>
          </a:xfrm>
          <a:prstGeom prst="flowChartTermina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400" b="1" dirty="0" smtClean="0">
                <a:solidFill>
                  <a:srgbClr val="FF0000"/>
                </a:solidFill>
                <a:latin typeface="News Gothic MT"/>
              </a:rPr>
              <a:t>DENY</a:t>
            </a:r>
            <a:endParaRPr lang="en-US" sz="1400" b="1" dirty="0">
              <a:solidFill>
                <a:srgbClr val="FF0000"/>
              </a:solidFill>
              <a:latin typeface="News Gothic MT"/>
            </a:endParaRPr>
          </a:p>
        </p:txBody>
      </p:sp>
      <p:cxnSp>
        <p:nvCxnSpPr>
          <p:cNvPr id="68" name="Straight Arrow Connector 67"/>
          <p:cNvCxnSpPr>
            <a:endCxn id="69" idx="1"/>
          </p:cNvCxnSpPr>
          <p:nvPr/>
        </p:nvCxnSpPr>
        <p:spPr>
          <a:xfrm>
            <a:off x="7474574" y="4637479"/>
            <a:ext cx="55198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rminator 68"/>
          <p:cNvSpPr/>
          <p:nvPr/>
        </p:nvSpPr>
        <p:spPr>
          <a:xfrm>
            <a:off x="8026555" y="4413375"/>
            <a:ext cx="1026145" cy="448208"/>
          </a:xfrm>
          <a:prstGeom prst="flowChartTermina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400" b="1" dirty="0" smtClean="0">
                <a:solidFill>
                  <a:srgbClr val="FF0000"/>
                </a:solidFill>
                <a:latin typeface="News Gothic MT"/>
              </a:rPr>
              <a:t>DENY</a:t>
            </a:r>
            <a:endParaRPr lang="en-US" sz="1400" b="1" dirty="0">
              <a:solidFill>
                <a:srgbClr val="FF0000"/>
              </a:solidFill>
              <a:latin typeface="News Gothic MT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474574" y="4336465"/>
            <a:ext cx="3930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sz="1200" b="1" dirty="0">
                <a:solidFill>
                  <a:prstClr val="black"/>
                </a:solidFill>
                <a:latin typeface="News Gothic MT"/>
              </a:rPr>
              <a:t>No</a:t>
            </a:r>
          </a:p>
        </p:txBody>
      </p:sp>
      <p:cxnSp>
        <p:nvCxnSpPr>
          <p:cNvPr id="71" name="Straight Arrow Connector 70"/>
          <p:cNvCxnSpPr/>
          <p:nvPr/>
        </p:nvCxnSpPr>
        <p:spPr>
          <a:xfrm>
            <a:off x="2365637" y="5154394"/>
            <a:ext cx="0" cy="7440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6656978" y="5154394"/>
            <a:ext cx="0" cy="74401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2365638" y="5177776"/>
            <a:ext cx="4369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sz="1200" b="1" dirty="0" smtClean="0">
                <a:solidFill>
                  <a:prstClr val="black"/>
                </a:solidFill>
                <a:latin typeface="News Gothic MT"/>
              </a:rPr>
              <a:t>Yes</a:t>
            </a:r>
            <a:endParaRPr lang="en-US" sz="1200" b="1" dirty="0">
              <a:solidFill>
                <a:prstClr val="black"/>
              </a:solidFill>
              <a:latin typeface="News Gothic MT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220066" y="5171782"/>
            <a:ext cx="4369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/>
            <a:r>
              <a:rPr lang="en-US" sz="1200" b="1" dirty="0" smtClean="0">
                <a:solidFill>
                  <a:prstClr val="black"/>
                </a:solidFill>
                <a:latin typeface="News Gothic MT"/>
              </a:rPr>
              <a:t>Yes</a:t>
            </a:r>
            <a:endParaRPr lang="en-US" sz="1200" b="1" dirty="0">
              <a:solidFill>
                <a:prstClr val="black"/>
              </a:solidFill>
              <a:latin typeface="News Gothic MT"/>
            </a:endParaRPr>
          </a:p>
        </p:txBody>
      </p:sp>
      <p:sp>
        <p:nvSpPr>
          <p:cNvPr id="75" name="Terminator 74"/>
          <p:cNvSpPr/>
          <p:nvPr/>
        </p:nvSpPr>
        <p:spPr>
          <a:xfrm>
            <a:off x="1743098" y="5898410"/>
            <a:ext cx="1135611" cy="550807"/>
          </a:xfrm>
          <a:prstGeom prst="flowChartTermina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400" b="1" dirty="0" smtClean="0">
                <a:solidFill>
                  <a:srgbClr val="7EB606">
                    <a:lumMod val="50000"/>
                  </a:srgbClr>
                </a:solidFill>
                <a:latin typeface="News Gothic MT"/>
              </a:rPr>
              <a:t>ACCEPT &amp; ADD</a:t>
            </a:r>
            <a:endParaRPr lang="en-US" sz="1400" b="1" dirty="0">
              <a:solidFill>
                <a:srgbClr val="7EB606">
                  <a:lumMod val="50000"/>
                </a:srgbClr>
              </a:solidFill>
              <a:latin typeface="News Gothic MT"/>
            </a:endParaRPr>
          </a:p>
        </p:txBody>
      </p:sp>
      <p:sp>
        <p:nvSpPr>
          <p:cNvPr id="76" name="Terminator 75"/>
          <p:cNvSpPr/>
          <p:nvPr/>
        </p:nvSpPr>
        <p:spPr>
          <a:xfrm>
            <a:off x="6084242" y="5898411"/>
            <a:ext cx="1085810" cy="550806"/>
          </a:xfrm>
          <a:prstGeom prst="flowChartTermina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r>
              <a:rPr lang="en-US" sz="1400" b="1" dirty="0">
                <a:solidFill>
                  <a:srgbClr val="7EB606">
                    <a:lumMod val="50000"/>
                  </a:srgbClr>
                </a:solidFill>
                <a:latin typeface="News Gothic MT"/>
              </a:rPr>
              <a:t>ACCEPT &amp; ADD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17802" y="6525323"/>
            <a:ext cx="1060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400" dirty="0" smtClean="0">
                <a:solidFill>
                  <a:prstClr val="black"/>
                </a:solidFill>
                <a:latin typeface="News Gothic MT"/>
              </a:rPr>
              <a:t>Allow list</a:t>
            </a:r>
            <a:endParaRPr lang="en-US" sz="1400" dirty="0">
              <a:solidFill>
                <a:prstClr val="black"/>
              </a:solidFill>
              <a:latin typeface="News Gothic MT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968331" y="4869999"/>
            <a:ext cx="1060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400" dirty="0" smtClean="0">
                <a:solidFill>
                  <a:prstClr val="black"/>
                </a:solidFill>
                <a:latin typeface="News Gothic MT"/>
              </a:rPr>
              <a:t>Deny list</a:t>
            </a:r>
            <a:endParaRPr lang="en-US" sz="1400" dirty="0">
              <a:solidFill>
                <a:prstClr val="black"/>
              </a:solidFill>
              <a:latin typeface="News Gothic MT"/>
            </a:endParaRPr>
          </a:p>
        </p:txBody>
      </p:sp>
    </p:spTree>
    <p:extLst>
      <p:ext uri="{BB962C8B-B14F-4D97-AF65-F5344CB8AC3E}">
        <p14:creationId xmlns:p14="http://schemas.microsoft.com/office/powerpoint/2010/main" val="8880592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700553"/>
          </a:xfrm>
        </p:spPr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173935"/>
            <a:ext cx="8042276" cy="4343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smtClean="0"/>
              <a:t>Group handling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Pipeline handling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Use of intent framework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Configuration management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Treatment and Selector extensions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Stats/CLI/</a:t>
            </a:r>
            <a:r>
              <a:rPr lang="en-US" dirty="0" err="1" smtClean="0"/>
              <a:t>Karaf</a:t>
            </a:r>
            <a:r>
              <a:rPr lang="en-US" dirty="0" smtClean="0"/>
              <a:t>-CLI/GUI/multi-part-</a:t>
            </a:r>
            <a:r>
              <a:rPr lang="en-US" dirty="0" err="1" smtClean="0"/>
              <a:t>msg</a:t>
            </a:r>
            <a:r>
              <a:rPr lang="en-US" dirty="0" smtClean="0"/>
              <a:t>/SLAVE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2800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232</TotalTime>
  <Words>946</Words>
  <Application>Microsoft Macintosh PowerPoint</Application>
  <PresentationFormat>On-screen Show (4:3)</PresentationFormat>
  <Paragraphs>234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Breeze</vt:lpstr>
      <vt:lpstr>SPRING-OPEN  &amp; ONOS</vt:lpstr>
      <vt:lpstr>Issues</vt:lpstr>
      <vt:lpstr>1. Group handling</vt:lpstr>
      <vt:lpstr>How SR uses Groups?</vt:lpstr>
      <vt:lpstr>Groups Proposal</vt:lpstr>
      <vt:lpstr>Issues</vt:lpstr>
      <vt:lpstr>2. Pipeline Handling</vt:lpstr>
      <vt:lpstr>Sample Pipelines (TTPs) – 1/3</vt:lpstr>
      <vt:lpstr>Sample Pipelines (TTPs) – 2/3</vt:lpstr>
      <vt:lpstr>Sample Pipelines (TTPs) – 3/3</vt:lpstr>
      <vt:lpstr>How SR uses pipelines?</vt:lpstr>
      <vt:lpstr>Pipelines proposal</vt:lpstr>
      <vt:lpstr>Issues</vt:lpstr>
      <vt:lpstr>3. Use of the Intent Fw</vt:lpstr>
      <vt:lpstr>PowerPoint Presentation</vt:lpstr>
      <vt:lpstr>Issues</vt:lpstr>
      <vt:lpstr>4. NetworkConfigManager</vt:lpstr>
      <vt:lpstr>Filtering Logic</vt:lpstr>
      <vt:lpstr>Issues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SPRING-OPEN &amp; ONOS</dc:title>
  <dc:creator>Saurav Das</dc:creator>
  <cp:lastModifiedBy>Saurav Das</cp:lastModifiedBy>
  <cp:revision>21</cp:revision>
  <dcterms:created xsi:type="dcterms:W3CDTF">2015-01-12T18:44:07Z</dcterms:created>
  <dcterms:modified xsi:type="dcterms:W3CDTF">2015-01-12T22:36:15Z</dcterms:modified>
</cp:coreProperties>
</file>