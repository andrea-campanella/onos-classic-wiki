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9" r:id="rId2"/>
    <p:sldId id="258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558" autoAdjust="0"/>
  </p:normalViewPr>
  <p:slideViewPr>
    <p:cSldViewPr snapToGrid="0" snapToObjects="1">
      <p:cViewPr varScale="1">
        <p:scale>
          <a:sx n="67" d="100"/>
          <a:sy n="67" d="100"/>
        </p:scale>
        <p:origin x="118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8" d="100"/>
          <a:sy n="58" d="100"/>
        </p:scale>
        <p:origin x="-2580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0E492-42C9-4411-9EB0-E94F9C26796F}" type="datetimeFigureOut">
              <a:rPr kumimoji="1" lang="ja-JP" altLang="en-US" smtClean="0"/>
              <a:t>2016/10/26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42EA-0E80-4B25-87E3-4DDFAC1F04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29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4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2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6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6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3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66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5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8F8D3-ADCD-BC45-9EDA-7872182DCCF2}" type="datetimeFigureOut">
              <a:rPr lang="en-US" smtClean="0"/>
              <a:t>10/26/2016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5B8AF-47DC-E545-985D-F3F3B260B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61950" y="1057275"/>
            <a:ext cx="86296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 smtClean="0"/>
              <a:t>Tried to build my application (copied files from ‘</a:t>
            </a:r>
            <a:r>
              <a:rPr kumimoji="1" lang="en-US" altLang="ja-JP" sz="2000" dirty="0" err="1" smtClean="0"/>
              <a:t>tenbi</a:t>
            </a:r>
            <a:r>
              <a:rPr kumimoji="1" lang="en-US" altLang="ja-JP" sz="2000" dirty="0" smtClean="0"/>
              <a:t>’)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 smtClean="0"/>
              <a:t>Put volt yang files into project, java files generated successfully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Maven builds it successfully, but Buck not.</a:t>
            </a:r>
            <a:br>
              <a:rPr kumimoji="1" lang="en-US" altLang="ja-JP" sz="2000" dirty="0"/>
            </a:br>
            <a:r>
              <a:rPr kumimoji="1" lang="en-US" altLang="ja-JP" sz="2000" dirty="0"/>
              <a:t>Does Yang-tools supports buck build</a:t>
            </a:r>
            <a:r>
              <a:rPr kumimoji="1" lang="en-US" altLang="ja-JP" sz="2000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 smtClean="0"/>
              <a:t>Installed &amp; activated the APP into ONOS</a:t>
            </a:r>
            <a:endParaRPr kumimoji="1"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ja-JP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 smtClean="0"/>
              <a:t>Demo scenario (see next slides)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20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6225" y="371475"/>
            <a:ext cx="8629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smtClean="0">
                <a:solidFill>
                  <a:schemeClr val="accent1"/>
                </a:solidFill>
              </a:rPr>
              <a:t>Progress report</a:t>
            </a:r>
            <a:endParaRPr kumimoji="1" lang="ja-JP" altLang="en-US" sz="3200" b="1" dirty="0">
              <a:solidFill>
                <a:schemeClr val="accent1"/>
              </a:solidFill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116" y="2876868"/>
            <a:ext cx="4139904" cy="2238057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5222674" y="5162590"/>
            <a:ext cx="292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I can see my APP is activated.</a:t>
            </a:r>
            <a:endParaRPr kumimoji="1" lang="ja-JP" altLang="en-US" dirty="0"/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5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/>
          <p:cNvCxnSpPr>
            <a:stCxn id="9" idx="3"/>
            <a:endCxn id="108" idx="1"/>
          </p:cNvCxnSpPr>
          <p:nvPr/>
        </p:nvCxnSpPr>
        <p:spPr bwMode="auto">
          <a:xfrm>
            <a:off x="2956294" y="5668044"/>
            <a:ext cx="1200581" cy="214720"/>
          </a:xfrm>
          <a:prstGeom prst="line">
            <a:avLst/>
          </a:prstGeom>
          <a:gradFill rotWithShape="0">
            <a:gsLst>
              <a:gs pos="0">
                <a:srgbClr val="FFFFFF"/>
              </a:gs>
              <a:gs pos="100000">
                <a:srgbClr val="CACAC7"/>
              </a:gs>
            </a:gsLst>
            <a:lin ang="5400000" scaled="1"/>
          </a:gradFill>
          <a:ln w="19050" cap="flat" cmpd="sng" algn="ctr">
            <a:solidFill>
              <a:srgbClr val="57564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テキスト ボックス 2"/>
          <p:cNvSpPr txBox="1"/>
          <p:nvPr/>
        </p:nvSpPr>
        <p:spPr>
          <a:xfrm>
            <a:off x="2861695" y="5355415"/>
            <a:ext cx="5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i="1" u="sng" dirty="0" smtClean="0">
                <a:latin typeface="+mn-lt"/>
              </a:rPr>
              <a:t>ONU</a:t>
            </a:r>
            <a:endParaRPr kumimoji="1" lang="ja-JP" altLang="en-US" sz="1400" i="1" u="sng" dirty="0" smtClean="0">
              <a:latin typeface="+mn-lt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971883" y="5741344"/>
            <a:ext cx="519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i="1" u="sng" dirty="0" smtClean="0">
                <a:latin typeface="+mn-lt"/>
              </a:rPr>
              <a:t>OLT</a:t>
            </a:r>
            <a:endParaRPr kumimoji="1" lang="ja-JP" altLang="en-US" sz="1400" i="1" u="sng" dirty="0" smtClean="0">
              <a:latin typeface="+mn-lt"/>
            </a:endParaRPr>
          </a:p>
        </p:txBody>
      </p:sp>
      <p:cxnSp>
        <p:nvCxnSpPr>
          <p:cNvPr id="5" name="直線コネクタ 4"/>
          <p:cNvCxnSpPr>
            <a:stCxn id="8" idx="3"/>
            <a:endCxn id="108" idx="1"/>
          </p:cNvCxnSpPr>
          <p:nvPr/>
        </p:nvCxnSpPr>
        <p:spPr bwMode="auto">
          <a:xfrm flipV="1">
            <a:off x="3208424" y="5882764"/>
            <a:ext cx="948451" cy="625492"/>
          </a:xfrm>
          <a:prstGeom prst="line">
            <a:avLst/>
          </a:prstGeom>
          <a:gradFill rotWithShape="0">
            <a:gsLst>
              <a:gs pos="0">
                <a:srgbClr val="FFFFFF"/>
              </a:gs>
              <a:gs pos="100000">
                <a:srgbClr val="CACAC7"/>
              </a:gs>
            </a:gsLst>
            <a:lin ang="5400000" scaled="1"/>
          </a:gradFill>
          <a:ln w="19050" cap="flat" cmpd="sng" algn="ctr">
            <a:solidFill>
              <a:srgbClr val="57564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6" name="テキスト ボックス 5"/>
          <p:cNvSpPr txBox="1"/>
          <p:nvPr/>
        </p:nvSpPr>
        <p:spPr>
          <a:xfrm>
            <a:off x="2664387" y="6017494"/>
            <a:ext cx="5838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i="1" u="sng" dirty="0" smtClean="0">
                <a:latin typeface="+mn-lt"/>
              </a:rPr>
              <a:t>ONU</a:t>
            </a:r>
            <a:endParaRPr kumimoji="1" lang="ja-JP" altLang="en-US" sz="1400" i="1" u="sng" dirty="0" smtClean="0">
              <a:latin typeface="+mn-lt"/>
            </a:endParaRPr>
          </a:p>
        </p:txBody>
      </p:sp>
      <p:pic>
        <p:nvPicPr>
          <p:cNvPr id="8" name="図 7" descr="ONU前面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928" y="6323669"/>
            <a:ext cx="720496" cy="36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ONU前面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798" y="5483457"/>
            <a:ext cx="720496" cy="36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線コネクタ 11"/>
          <p:cNvCxnSpPr>
            <a:stCxn id="108" idx="3"/>
          </p:cNvCxnSpPr>
          <p:nvPr/>
        </p:nvCxnSpPr>
        <p:spPr bwMode="auto">
          <a:xfrm flipV="1">
            <a:off x="4467916" y="5569266"/>
            <a:ext cx="2339747" cy="313498"/>
          </a:xfrm>
          <a:prstGeom prst="line">
            <a:avLst/>
          </a:prstGeom>
          <a:gradFill rotWithShape="0">
            <a:gsLst>
              <a:gs pos="0">
                <a:srgbClr val="FFFFFF"/>
              </a:gs>
              <a:gs pos="100000">
                <a:srgbClr val="CACAC7"/>
              </a:gs>
            </a:gsLst>
            <a:lin ang="5400000" scaled="1"/>
          </a:gradFill>
          <a:ln w="19050" cap="flat" cmpd="sng" algn="ctr">
            <a:solidFill>
              <a:srgbClr val="57564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cxnSp>
      <p:cxnSp>
        <p:nvCxnSpPr>
          <p:cNvPr id="15" name="直線コネクタ 14"/>
          <p:cNvCxnSpPr/>
          <p:nvPr/>
        </p:nvCxnSpPr>
        <p:spPr bwMode="auto">
          <a:xfrm flipV="1">
            <a:off x="6765043" y="5445620"/>
            <a:ext cx="143581" cy="603501"/>
          </a:xfrm>
          <a:prstGeom prst="line">
            <a:avLst/>
          </a:prstGeom>
          <a:gradFill rotWithShape="0">
            <a:gsLst>
              <a:gs pos="0">
                <a:srgbClr val="FFFFFF"/>
              </a:gs>
              <a:gs pos="100000">
                <a:srgbClr val="CACAC7"/>
              </a:gs>
            </a:gsLst>
            <a:lin ang="5400000" scaled="1"/>
          </a:gradFill>
          <a:ln w="19050" cap="flat" cmpd="sng" algn="ctr">
            <a:solidFill>
              <a:srgbClr val="57564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cxnSp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672" y="5433145"/>
            <a:ext cx="935011" cy="360974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672" y="5895554"/>
            <a:ext cx="872743" cy="872743"/>
          </a:xfrm>
          <a:prstGeom prst="rect">
            <a:avLst/>
          </a:prstGeom>
        </p:spPr>
      </p:pic>
      <p:sp>
        <p:nvSpPr>
          <p:cNvPr id="19" name="正方形/長方形 18"/>
          <p:cNvSpPr/>
          <p:nvPr/>
        </p:nvSpPr>
        <p:spPr>
          <a:xfrm>
            <a:off x="120424" y="945969"/>
            <a:ext cx="8971006" cy="4165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kumimoji="1" lang="en-US" altLang="ja-JP" dirty="0" smtClean="0"/>
              <a:t>ONOS</a:t>
            </a:r>
            <a:endParaRPr kumimoji="1" lang="ja-JP" altLang="en-US" dirty="0"/>
          </a:p>
        </p:txBody>
      </p:sp>
      <p:sp>
        <p:nvSpPr>
          <p:cNvPr id="27" name="Rectangle 1"/>
          <p:cNvSpPr/>
          <p:nvPr/>
        </p:nvSpPr>
        <p:spPr>
          <a:xfrm>
            <a:off x="4637314" y="2529980"/>
            <a:ext cx="1809213" cy="5890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dirty="0" smtClean="0"/>
              <a:t>OLT </a:t>
            </a:r>
            <a:r>
              <a:rPr lang="en-US" sz="1400" dirty="0" err="1" smtClean="0"/>
              <a:t>Config</a:t>
            </a:r>
            <a:r>
              <a:rPr lang="en-US" sz="1400" dirty="0" smtClean="0"/>
              <a:t> APP</a:t>
            </a:r>
            <a:endParaRPr lang="en-US" sz="1400" dirty="0"/>
          </a:p>
        </p:txBody>
      </p:sp>
      <p:sp>
        <p:nvSpPr>
          <p:cNvPr id="28" name="Rectangle 2"/>
          <p:cNvSpPr/>
          <p:nvPr/>
        </p:nvSpPr>
        <p:spPr>
          <a:xfrm>
            <a:off x="2383305" y="2614599"/>
            <a:ext cx="1638149" cy="396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OLT GUI APP</a:t>
            </a:r>
            <a:endParaRPr lang="en-US" sz="1400" dirty="0"/>
          </a:p>
        </p:txBody>
      </p:sp>
      <p:sp>
        <p:nvSpPr>
          <p:cNvPr id="29" name="Rectangle 3"/>
          <p:cNvSpPr/>
          <p:nvPr/>
        </p:nvSpPr>
        <p:spPr>
          <a:xfrm>
            <a:off x="4637314" y="1789043"/>
            <a:ext cx="1809213" cy="39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YMS</a:t>
            </a:r>
            <a:endParaRPr lang="en-US" sz="1400"/>
          </a:p>
        </p:txBody>
      </p:sp>
      <p:sp>
        <p:nvSpPr>
          <p:cNvPr id="30" name="Rectangle 4"/>
          <p:cNvSpPr/>
          <p:nvPr/>
        </p:nvSpPr>
        <p:spPr>
          <a:xfrm>
            <a:off x="4637314" y="1040898"/>
            <a:ext cx="1809213" cy="392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RESTCONF</a:t>
            </a:r>
            <a:endParaRPr lang="en-US" sz="1400" dirty="0"/>
          </a:p>
        </p:txBody>
      </p:sp>
      <p:sp>
        <p:nvSpPr>
          <p:cNvPr id="32" name="Rectangle 6"/>
          <p:cNvSpPr/>
          <p:nvPr/>
        </p:nvSpPr>
        <p:spPr>
          <a:xfrm>
            <a:off x="4637314" y="3714603"/>
            <a:ext cx="1800000" cy="479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ElasticConfig</a:t>
            </a:r>
            <a:r>
              <a:rPr lang="en-US" sz="1400" dirty="0" smtClean="0"/>
              <a:t> Service</a:t>
            </a:r>
            <a:endParaRPr lang="en-US" sz="1400" dirty="0"/>
          </a:p>
        </p:txBody>
      </p:sp>
      <p:sp>
        <p:nvSpPr>
          <p:cNvPr id="33" name="Rectangle 7"/>
          <p:cNvSpPr/>
          <p:nvPr/>
        </p:nvSpPr>
        <p:spPr>
          <a:xfrm>
            <a:off x="4637314" y="4392636"/>
            <a:ext cx="1800000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NETCONF Drivers</a:t>
            </a:r>
            <a:endParaRPr lang="en-US" sz="1400" dirty="0"/>
          </a:p>
        </p:txBody>
      </p:sp>
      <p:sp>
        <p:nvSpPr>
          <p:cNvPr id="34" name="Rectangle 9"/>
          <p:cNvSpPr/>
          <p:nvPr/>
        </p:nvSpPr>
        <p:spPr>
          <a:xfrm>
            <a:off x="1833196" y="297125"/>
            <a:ext cx="1485685" cy="381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Web Browser</a:t>
            </a:r>
            <a:endParaRPr lang="en-US" sz="1400" dirty="0"/>
          </a:p>
        </p:txBody>
      </p:sp>
      <p:sp>
        <p:nvSpPr>
          <p:cNvPr id="35" name="Rectangle 11"/>
          <p:cNvSpPr/>
          <p:nvPr/>
        </p:nvSpPr>
        <p:spPr>
          <a:xfrm>
            <a:off x="153046" y="2516225"/>
            <a:ext cx="1638149" cy="396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GUI </a:t>
            </a:r>
            <a:r>
              <a:rPr lang="en-US" sz="1400" dirty="0" smtClean="0"/>
              <a:t>APP</a:t>
            </a:r>
            <a:endParaRPr lang="en-US" sz="1400" dirty="0"/>
          </a:p>
        </p:txBody>
      </p:sp>
      <p:sp>
        <p:nvSpPr>
          <p:cNvPr id="36" name="TextBox 14"/>
          <p:cNvSpPr txBox="1"/>
          <p:nvPr/>
        </p:nvSpPr>
        <p:spPr>
          <a:xfrm>
            <a:off x="2322017" y="3013877"/>
            <a:ext cx="1224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Augment</a:t>
            </a:r>
          </a:p>
          <a:p>
            <a:r>
              <a:rPr lang="en-US" sz="1400" dirty="0" smtClean="0"/>
              <a:t>Topology view</a:t>
            </a:r>
            <a:endParaRPr lang="en-US" sz="1400" dirty="0"/>
          </a:p>
        </p:txBody>
      </p:sp>
      <p:cxnSp>
        <p:nvCxnSpPr>
          <p:cNvPr id="37" name="Straight Connector 16"/>
          <p:cNvCxnSpPr>
            <a:stCxn id="27" idx="0"/>
            <a:endCxn id="29" idx="2"/>
          </p:cNvCxnSpPr>
          <p:nvPr/>
        </p:nvCxnSpPr>
        <p:spPr>
          <a:xfrm flipV="1">
            <a:off x="5541921" y="2181265"/>
            <a:ext cx="0" cy="348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18"/>
          <p:cNvCxnSpPr>
            <a:stCxn id="29" idx="0"/>
            <a:endCxn id="30" idx="2"/>
          </p:cNvCxnSpPr>
          <p:nvPr/>
        </p:nvCxnSpPr>
        <p:spPr>
          <a:xfrm flipV="1">
            <a:off x="5541921" y="1433120"/>
            <a:ext cx="0" cy="355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1"/>
          <p:cNvCxnSpPr>
            <a:stCxn id="27" idx="2"/>
            <a:endCxn id="32" idx="0"/>
          </p:cNvCxnSpPr>
          <p:nvPr/>
        </p:nvCxnSpPr>
        <p:spPr>
          <a:xfrm flipH="1">
            <a:off x="5537314" y="3119006"/>
            <a:ext cx="4607" cy="595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25"/>
          <p:cNvCxnSpPr>
            <a:stCxn id="32" idx="2"/>
            <a:endCxn id="33" idx="0"/>
          </p:cNvCxnSpPr>
          <p:nvPr/>
        </p:nvCxnSpPr>
        <p:spPr>
          <a:xfrm>
            <a:off x="5537314" y="4193622"/>
            <a:ext cx="0" cy="199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8"/>
          <p:cNvCxnSpPr>
            <a:stCxn id="34" idx="2"/>
            <a:endCxn id="35" idx="0"/>
          </p:cNvCxnSpPr>
          <p:nvPr/>
        </p:nvCxnSpPr>
        <p:spPr>
          <a:xfrm flipH="1">
            <a:off x="972121" y="678883"/>
            <a:ext cx="1603918" cy="1837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4"/>
          <p:cNvSpPr/>
          <p:nvPr/>
        </p:nvSpPr>
        <p:spPr>
          <a:xfrm>
            <a:off x="135030" y="3369342"/>
            <a:ext cx="1800000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TopologyProvider</a:t>
            </a:r>
            <a:endParaRPr lang="en-US" sz="1400" dirty="0"/>
          </a:p>
        </p:txBody>
      </p:sp>
      <p:cxnSp>
        <p:nvCxnSpPr>
          <p:cNvPr id="44" name="Straight Connector 46"/>
          <p:cNvCxnSpPr>
            <a:stCxn id="35" idx="2"/>
            <a:endCxn id="43" idx="0"/>
          </p:cNvCxnSpPr>
          <p:nvPr/>
        </p:nvCxnSpPr>
        <p:spPr>
          <a:xfrm>
            <a:off x="972121" y="2912225"/>
            <a:ext cx="62909" cy="457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58"/>
          <p:cNvCxnSpPr>
            <a:stCxn id="34" idx="2"/>
            <a:endCxn id="28" idx="0"/>
          </p:cNvCxnSpPr>
          <p:nvPr/>
        </p:nvCxnSpPr>
        <p:spPr>
          <a:xfrm>
            <a:off x="2576039" y="678883"/>
            <a:ext cx="626341" cy="1935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60"/>
          <p:cNvSpPr/>
          <p:nvPr/>
        </p:nvSpPr>
        <p:spPr>
          <a:xfrm>
            <a:off x="4637314" y="154798"/>
            <a:ext cx="1809212" cy="381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smtClean="0"/>
              <a:t>External System</a:t>
            </a:r>
            <a:endParaRPr lang="en-US" sz="1400" dirty="0"/>
          </a:p>
        </p:txBody>
      </p:sp>
      <p:cxnSp>
        <p:nvCxnSpPr>
          <p:cNvPr id="48" name="Straight Connector 62"/>
          <p:cNvCxnSpPr>
            <a:stCxn id="47" idx="2"/>
            <a:endCxn id="30" idx="0"/>
          </p:cNvCxnSpPr>
          <p:nvPr/>
        </p:nvCxnSpPr>
        <p:spPr>
          <a:xfrm>
            <a:off x="5541920" y="536556"/>
            <a:ext cx="1" cy="50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72"/>
          <p:cNvCxnSpPr>
            <a:stCxn id="28" idx="3"/>
          </p:cNvCxnSpPr>
          <p:nvPr/>
        </p:nvCxnSpPr>
        <p:spPr>
          <a:xfrm flipV="1">
            <a:off x="4021454" y="2607995"/>
            <a:ext cx="742843" cy="20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5"/>
          <p:cNvSpPr/>
          <p:nvPr/>
        </p:nvSpPr>
        <p:spPr>
          <a:xfrm>
            <a:off x="7407941" y="2191217"/>
            <a:ext cx="1201005" cy="593466"/>
          </a:xfrm>
          <a:prstGeom prst="flowChartDocumen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Device Model (Yang)</a:t>
            </a:r>
          </a:p>
        </p:txBody>
      </p:sp>
      <p:cxnSp>
        <p:nvCxnSpPr>
          <p:cNvPr id="91" name="直線矢印コネクタ 90"/>
          <p:cNvCxnSpPr>
            <a:stCxn id="54" idx="1"/>
            <a:endCxn id="73" idx="3"/>
          </p:cNvCxnSpPr>
          <p:nvPr/>
        </p:nvCxnSpPr>
        <p:spPr>
          <a:xfrm flipH="1">
            <a:off x="6336029" y="2487950"/>
            <a:ext cx="1071912" cy="1200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/>
          <p:cNvSpPr txBox="1"/>
          <p:nvPr/>
        </p:nvSpPr>
        <p:spPr>
          <a:xfrm>
            <a:off x="6291113" y="2021090"/>
            <a:ext cx="1157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 smtClean="0"/>
              <a:t>Generate</a:t>
            </a:r>
          </a:p>
          <a:p>
            <a:pPr algn="ctr"/>
            <a:r>
              <a:rPr kumimoji="1" lang="en-US" altLang="ja-JP" sz="1400" dirty="0" smtClean="0"/>
              <a:t>by Yang-tools</a:t>
            </a:r>
            <a:endParaRPr kumimoji="1" lang="ja-JP" altLang="en-US" sz="1400" dirty="0"/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1721008" y="1327342"/>
            <a:ext cx="1324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smtClean="0"/>
              <a:t>Messages</a:t>
            </a:r>
          </a:p>
          <a:p>
            <a:r>
              <a:rPr kumimoji="1" lang="en-US" altLang="ja-JP" sz="1400" dirty="0" smtClean="0"/>
              <a:t>(by </a:t>
            </a:r>
            <a:r>
              <a:rPr kumimoji="1" lang="en-US" altLang="ja-JP" sz="1400" dirty="0" err="1" smtClean="0"/>
              <a:t>WebSocket</a:t>
            </a:r>
            <a:r>
              <a:rPr kumimoji="1" lang="en-US" altLang="ja-JP" sz="1400" dirty="0" smtClean="0"/>
              <a:t>)</a:t>
            </a:r>
            <a:endParaRPr kumimoji="1" lang="ja-JP" altLang="en-US" sz="1400" dirty="0"/>
          </a:p>
        </p:txBody>
      </p:sp>
      <p:cxnSp>
        <p:nvCxnSpPr>
          <p:cNvPr id="107" name="直線矢印コネクタ 106"/>
          <p:cNvCxnSpPr>
            <a:stCxn id="33" idx="2"/>
            <a:endCxn id="108" idx="0"/>
          </p:cNvCxnSpPr>
          <p:nvPr/>
        </p:nvCxnSpPr>
        <p:spPr>
          <a:xfrm flipH="1">
            <a:off x="4312396" y="4788636"/>
            <a:ext cx="1224918" cy="10154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グループ化 116"/>
          <p:cNvGrpSpPr/>
          <p:nvPr/>
        </p:nvGrpSpPr>
        <p:grpSpPr>
          <a:xfrm>
            <a:off x="3566397" y="5592047"/>
            <a:ext cx="1382989" cy="607013"/>
            <a:chOff x="3523777" y="5636414"/>
            <a:chExt cx="1382989" cy="607013"/>
          </a:xfrm>
        </p:grpSpPr>
        <p:sp>
          <p:nvSpPr>
            <p:cNvPr id="108" name="正方形/長方形 107"/>
            <p:cNvSpPr/>
            <p:nvPr/>
          </p:nvSpPr>
          <p:spPr>
            <a:xfrm>
              <a:off x="4114255" y="5848482"/>
              <a:ext cx="311041" cy="1572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3777" y="5636414"/>
              <a:ext cx="1382989" cy="607013"/>
            </a:xfrm>
            <a:prstGeom prst="rect">
              <a:avLst/>
            </a:prstGeom>
          </p:spPr>
        </p:pic>
      </p:grpSp>
      <p:sp>
        <p:nvSpPr>
          <p:cNvPr id="52" name="テキスト ボックス 51"/>
          <p:cNvSpPr txBox="1"/>
          <p:nvPr/>
        </p:nvSpPr>
        <p:spPr>
          <a:xfrm>
            <a:off x="5491064" y="3158480"/>
            <a:ext cx="1044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 err="1" smtClean="0"/>
              <a:t>ConfigNode</a:t>
            </a:r>
            <a:endParaRPr kumimoji="1" lang="en-US" altLang="ja-JP" sz="1400" dirty="0" smtClean="0"/>
          </a:p>
          <a:p>
            <a:r>
              <a:rPr kumimoji="1" lang="en-US" altLang="ja-JP" sz="1400" dirty="0" err="1" smtClean="0"/>
              <a:t>ConfigPath</a:t>
            </a:r>
            <a:endParaRPr kumimoji="1" lang="ja-JP" altLang="en-US" sz="1400" dirty="0"/>
          </a:p>
        </p:txBody>
      </p:sp>
      <p:sp>
        <p:nvSpPr>
          <p:cNvPr id="73" name="Rectangle 6"/>
          <p:cNvSpPr/>
          <p:nvPr/>
        </p:nvSpPr>
        <p:spPr>
          <a:xfrm>
            <a:off x="4764297" y="2451331"/>
            <a:ext cx="1571732" cy="3133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OLT </a:t>
            </a:r>
            <a:r>
              <a:rPr lang="en-US" sz="1400" dirty="0" err="1" smtClean="0"/>
              <a:t>Config</a:t>
            </a:r>
            <a:r>
              <a:rPr lang="en-US" sz="1400" dirty="0" smtClean="0"/>
              <a:t> API</a:t>
            </a:r>
            <a:endParaRPr lang="en-US" sz="1400" dirty="0"/>
          </a:p>
        </p:txBody>
      </p:sp>
      <p:sp>
        <p:nvSpPr>
          <p:cNvPr id="63" name="正方形/長方形 62"/>
          <p:cNvSpPr/>
          <p:nvPr/>
        </p:nvSpPr>
        <p:spPr>
          <a:xfrm>
            <a:off x="7263683" y="703522"/>
            <a:ext cx="1649561" cy="49027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Components provided by Fujitsu</a:t>
            </a:r>
            <a:endParaRPr kumimoji="1" lang="ja-JP" altLang="en-US" sz="1400" dirty="0"/>
          </a:p>
        </p:txBody>
      </p:sp>
      <p:sp>
        <p:nvSpPr>
          <p:cNvPr id="79" name="正方形/長方形 78"/>
          <p:cNvSpPr/>
          <p:nvPr/>
        </p:nvSpPr>
        <p:spPr>
          <a:xfrm>
            <a:off x="7263683" y="142323"/>
            <a:ext cx="1649561" cy="490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Components provided by others</a:t>
            </a:r>
            <a:endParaRPr kumimoji="1" lang="ja-JP" altLang="en-US" sz="1400" dirty="0"/>
          </a:p>
        </p:txBody>
      </p:sp>
      <p:sp>
        <p:nvSpPr>
          <p:cNvPr id="64" name="角丸四角形吹き出し 63"/>
          <p:cNvSpPr/>
          <p:nvPr/>
        </p:nvSpPr>
        <p:spPr>
          <a:xfrm>
            <a:off x="2576039" y="3567342"/>
            <a:ext cx="1580836" cy="568626"/>
          </a:xfrm>
          <a:prstGeom prst="wedgeRoundRectCallout">
            <a:avLst>
              <a:gd name="adj1" fmla="val 11704"/>
              <a:gd name="adj2" fmla="val -13851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Add performance monitor view</a:t>
            </a:r>
            <a:endParaRPr kumimoji="1" lang="ja-JP" altLang="en-US" sz="1400" dirty="0"/>
          </a:p>
        </p:txBody>
      </p:sp>
      <p:sp>
        <p:nvSpPr>
          <p:cNvPr id="74" name="スライド番号プレースホルダー 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5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76225" y="1085850"/>
            <a:ext cx="86296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ja-JP" sz="2400" dirty="0" smtClean="0"/>
              <a:t>Turn on an OLT device and ONOS discovers it</a:t>
            </a:r>
          </a:p>
          <a:p>
            <a:pPr marL="285750" indent="-285750">
              <a:buFontTx/>
              <a:buChar char="-"/>
            </a:pPr>
            <a:r>
              <a:rPr kumimoji="1" lang="en-US" altLang="ja-JP" sz="2400" dirty="0" smtClean="0"/>
              <a:t>Set up a path (PONLINK between OLT and ONU)</a:t>
            </a:r>
          </a:p>
          <a:p>
            <a:pPr marL="285750" indent="-285750">
              <a:buFontTx/>
              <a:buChar char="-"/>
            </a:pPr>
            <a:r>
              <a:rPr kumimoji="1" lang="en-US" altLang="ja-JP" sz="2400" dirty="0" smtClean="0"/>
              <a:t>Get performance stats from a OLT device and show it</a:t>
            </a:r>
          </a:p>
          <a:p>
            <a:pPr marL="285750" indent="-285750">
              <a:buFontTx/>
              <a:buChar char="-"/>
            </a:pPr>
            <a:r>
              <a:rPr kumimoji="1" lang="en-US" altLang="ja-JP" sz="2400" dirty="0" smtClean="0"/>
              <a:t>(optional) Reboot ONU device</a:t>
            </a:r>
            <a:endParaRPr kumimoji="1" lang="ja-JP" altLang="en-US" sz="24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76225" y="371475"/>
            <a:ext cx="8629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err="1" smtClean="0">
                <a:solidFill>
                  <a:schemeClr val="accent1"/>
                </a:solidFill>
              </a:rPr>
              <a:t>vOLT</a:t>
            </a:r>
            <a:r>
              <a:rPr kumimoji="1" lang="en-US" altLang="ja-JP" sz="3200" b="1" dirty="0" smtClean="0">
                <a:solidFill>
                  <a:schemeClr val="accent1"/>
                </a:solidFill>
              </a:rPr>
              <a:t> Application Demo</a:t>
            </a:r>
            <a:endParaRPr kumimoji="1" lang="ja-JP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5B8AF-47DC-E545-985D-F3F3B260BF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42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fujitsu_red</Template>
  <TotalTime>502</TotalTime>
  <Words>140</Words>
  <Application>Microsoft Office PowerPoint</Application>
  <PresentationFormat>画面に合わせる (4:3)</PresentationFormat>
  <Paragraphs>43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Fujii, Satoshi/藤井 理史</cp:lastModifiedBy>
  <cp:revision>20</cp:revision>
  <dcterms:created xsi:type="dcterms:W3CDTF">2016-10-19T20:25:36Z</dcterms:created>
  <dcterms:modified xsi:type="dcterms:W3CDTF">2016-10-26T11:55:05Z</dcterms:modified>
</cp:coreProperties>
</file>