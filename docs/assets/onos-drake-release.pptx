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strictFirstAndLastChars="0" saveSubsetFonts="1">
  <p:sldMasterIdLst>
    <p:sldMasterId id="2147483655" r:id="rId3"/>
  </p:sldMasterIdLst>
  <p:notesMasterIdLst>
    <p:notesMasterId r:id="rId4"/>
  </p:notesMasterIdLst>
  <p:sldIdLst>
    <p:sldId id="256" r:id="rId5"/>
    <p:sldId id="257" r:id="rId6"/>
    <p:sldId id="258" r:id="rId7"/>
    <p:sldId id="259" r:id="rId8"/>
    <p:sldId id="260" r:id="rId9"/>
    <p:sldId id="261"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0" Type="http://schemas.openxmlformats.org/officeDocument/2006/relationships/slide" Target="slides/slide6.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 name="Shape 2"/>
        <p:cNvGrpSpPr/>
        <p:nvPr/>
      </p:nvGrpSpPr>
      <p:grpSpPr>
        <a:xfrm>
          <a:off x="0" y="0"/>
          <a:ext cx="0" cy="0"/>
          <a:chOff x="0" y="0"/>
          <a:chExt cx="0" cy="0"/>
        </a:xfrm>
      </p:grpSpPr>
      <p:sp>
        <p:nvSpPr>
          <p:cNvPr id="3" name="Shape 3"/>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4" name="Shape 4"/>
          <p:cNvSpPr txBox="1"/>
          <p:nvPr>
            <p:ph idx="1" type="body"/>
          </p:nvPr>
        </p:nvSpPr>
        <p:spPr>
          <a:xfrm>
            <a:off x="685800" y="4343400"/>
            <a:ext cx="5486399" cy="4114800"/>
          </a:xfrm>
          <a:prstGeom prst="rect">
            <a:avLst/>
          </a:prstGeom>
          <a:noFill/>
          <a:ln>
            <a:noFill/>
          </a:ln>
        </p:spPr>
        <p:txBody>
          <a:bodyPr anchorCtr="0" anchor="t" bIns="91425" lIns="91425" rIns="91425" tIns="91425"/>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tools.ietf.org/html/rfc4607"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6" name="Shape 46"/>
        <p:cNvGrpSpPr/>
        <p:nvPr/>
      </p:nvGrpSpPr>
      <p:grpSpPr>
        <a:xfrm>
          <a:off x="0" y="0"/>
          <a:ext cx="0" cy="0"/>
          <a:chOff x="0" y="0"/>
          <a:chExt cx="0" cy="0"/>
        </a:xfrm>
      </p:grpSpPr>
      <p:sp>
        <p:nvSpPr>
          <p:cNvPr id="47" name="Shape 47"/>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p:spPr>
      </p:sp>
      <p:sp>
        <p:nvSpPr>
          <p:cNvPr id="48" name="Shape 48"/>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2" name="Shape 52"/>
        <p:cNvGrpSpPr/>
        <p:nvPr/>
      </p:nvGrpSpPr>
      <p:grpSpPr>
        <a:xfrm>
          <a:off x="0" y="0"/>
          <a:ext cx="0" cy="0"/>
          <a:chOff x="0" y="0"/>
          <a:chExt cx="0" cy="0"/>
        </a:xfrm>
      </p:grpSpPr>
      <p:sp>
        <p:nvSpPr>
          <p:cNvPr id="53" name="Shape 5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54" name="Shape 54"/>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8" name="Shape 58"/>
        <p:cNvGrpSpPr/>
        <p:nvPr/>
      </p:nvGrpSpPr>
      <p:grpSpPr>
        <a:xfrm>
          <a:off x="0" y="0"/>
          <a:ext cx="0" cy="0"/>
          <a:chOff x="0" y="0"/>
          <a:chExt cx="0" cy="0"/>
        </a:xfrm>
      </p:grpSpPr>
      <p:sp>
        <p:nvSpPr>
          <p:cNvPr id="59" name="Shape 59"/>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60" name="Shape 60"/>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4" name="Shape 64"/>
        <p:cNvGrpSpPr/>
        <p:nvPr/>
      </p:nvGrpSpPr>
      <p:grpSpPr>
        <a:xfrm>
          <a:off x="0" y="0"/>
          <a:ext cx="0" cy="0"/>
          <a:chOff x="0" y="0"/>
          <a:chExt cx="0" cy="0"/>
        </a:xfrm>
      </p:grpSpPr>
      <p:sp>
        <p:nvSpPr>
          <p:cNvPr id="65" name="Shape 6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66" name="Shape 66"/>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rPr lang="en"/>
              <a:t>KAIST </a:t>
            </a:r>
            <a:r>
              <a:rPr b="1" lang="en">
                <a:solidFill>
                  <a:srgbClr val="6A6A6A"/>
                </a:solidFill>
                <a:highlight>
                  <a:srgbClr val="FFFFFF"/>
                </a:highlight>
              </a:rPr>
              <a:t>Korea Advanced Institute of Science and Technology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0" name="Shape 70"/>
        <p:cNvGrpSpPr/>
        <p:nvPr/>
      </p:nvGrpSpPr>
      <p:grpSpPr>
        <a:xfrm>
          <a:off x="0" y="0"/>
          <a:ext cx="0" cy="0"/>
          <a:chOff x="0" y="0"/>
          <a:chExt cx="0" cy="0"/>
        </a:xfrm>
      </p:grpSpPr>
      <p:sp>
        <p:nvSpPr>
          <p:cNvPr id="71" name="Shape 7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72" name="Shape 72"/>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6" name="Shape 76"/>
        <p:cNvGrpSpPr/>
        <p:nvPr/>
      </p:nvGrpSpPr>
      <p:grpSpPr>
        <a:xfrm>
          <a:off x="0" y="0"/>
          <a:ext cx="0" cy="0"/>
          <a:chOff x="0" y="0"/>
          <a:chExt cx="0" cy="0"/>
        </a:xfrm>
      </p:grpSpPr>
      <p:sp>
        <p:nvSpPr>
          <p:cNvPr id="77" name="Shape 7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78" name="Shape 78"/>
          <p:cNvSpPr txBox="1"/>
          <p:nvPr>
            <p:ph idx="1" type="body"/>
          </p:nvPr>
        </p:nvSpPr>
        <p:spPr>
          <a:xfrm>
            <a:off x="685800" y="4343400"/>
            <a:ext cx="5486399" cy="4114800"/>
          </a:xfrm>
          <a:prstGeom prst="rect">
            <a:avLst/>
          </a:prstGeom>
        </p:spPr>
        <p:txBody>
          <a:bodyPr anchorCtr="0" anchor="t" bIns="91425" lIns="91425" rIns="91425" tIns="91425">
            <a:noAutofit/>
          </a:bodyPr>
          <a:lstStyle/>
          <a:p>
            <a:pPr lvl="0" rtl="0">
              <a:spcBef>
                <a:spcPts val="0"/>
              </a:spcBef>
              <a:buNone/>
            </a:pPr>
            <a:r>
              <a:rPr lang="en"/>
              <a:t>AFS - </a:t>
            </a:r>
            <a:r>
              <a:rPr lang="en" sz="1050">
                <a:solidFill>
                  <a:srgbClr val="333333"/>
                </a:solidFill>
                <a:highlight>
                  <a:srgbClr val="FFFFFF"/>
                </a:highlight>
              </a:rPr>
              <a:t>It enables analyzing and monitoring various types of traffic associated with ONOS. It includes but not limited to the control and management traffic as well as user data traffic between hosts in ONOS networks. Our proposed OPEN-TAM functionality will eventually provide deep operational visibility of ONOS-based networks in real-time.</a:t>
            </a:r>
          </a:p>
          <a:p>
            <a:pPr lvl="0" rtl="0">
              <a:spcBef>
                <a:spcPts val="0"/>
              </a:spcBef>
              <a:buNone/>
            </a:pPr>
            <a:r>
              <a:t/>
            </a:r>
            <a:endParaRPr/>
          </a:p>
          <a:p>
            <a:pPr lvl="0" rtl="0">
              <a:spcBef>
                <a:spcPts val="0"/>
              </a:spcBef>
              <a:buNone/>
            </a:pPr>
            <a:r>
              <a:rPr lang="en"/>
              <a:t>PCEP - path computation element protocol</a:t>
            </a:r>
          </a:p>
          <a:p>
            <a:pPr lvl="0" rtl="0">
              <a:lnSpc>
                <a:spcPct val="130909"/>
              </a:lnSpc>
              <a:spcBef>
                <a:spcPts val="0"/>
              </a:spcBef>
              <a:spcAft>
                <a:spcPts val="1500"/>
              </a:spcAft>
              <a:buClr>
                <a:schemeClr val="dk1"/>
              </a:buClr>
              <a:buSzPct val="91666"/>
              <a:buFont typeface="Arial"/>
              <a:buNone/>
            </a:pPr>
            <a:r>
              <a:rPr lang="en" sz="1200">
                <a:solidFill>
                  <a:schemeClr val="dk1"/>
                </a:solidFill>
                <a:highlight>
                  <a:srgbClr val="FFFFFF"/>
                </a:highlight>
                <a:latin typeface="Calibri"/>
                <a:ea typeface="Calibri"/>
                <a:cs typeface="Calibri"/>
                <a:sym typeface="Calibri"/>
              </a:rPr>
              <a:t>The Path Computation Element Communication Protocol (PCEP) is a special set of rules that allows a Path Computation Client (PCC) to request path computations from Path Computation Elements (PCEs).  The protocol also lets the PCEs return responses. </a:t>
            </a:r>
          </a:p>
          <a:p>
            <a:pPr lvl="0" rtl="0">
              <a:lnSpc>
                <a:spcPct val="130909"/>
              </a:lnSpc>
              <a:spcBef>
                <a:spcPts val="0"/>
              </a:spcBef>
              <a:spcAft>
                <a:spcPts val="1500"/>
              </a:spcAft>
              <a:buNone/>
            </a:pPr>
            <a:r>
              <a:rPr lang="en" sz="1200">
                <a:solidFill>
                  <a:schemeClr val="dk1"/>
                </a:solidFill>
                <a:highlight>
                  <a:srgbClr val="FFFFFF"/>
                </a:highlight>
                <a:latin typeface="Calibri"/>
                <a:ea typeface="Calibri"/>
                <a:cs typeface="Calibri"/>
                <a:sym typeface="Calibri"/>
              </a:rPr>
              <a:t>Path Computation Element (PCE) is a network component, application or node that can compute sophisticated paths through a network by applying computational constraints in real time. Traditionally, network routes are are calculated and managed off-line as part of a network's traffic engineering. In such a scenario, when a new customer comes online, the customer's traffic requirements are evaluated and superimposed on the current network's topology. Defined by IETF RFC 4655, the Path Computation Element (PCE) has a complete picture of flows and paths in the network at the precise moment derived from other Operational Support Software (OSS) programs so it can calculate in real time the optimal path through the network. This path is then used to automatically update router configurations and the traffic engineering database.</a:t>
            </a:r>
          </a:p>
          <a:p>
            <a:pPr lvl="0" rtl="0">
              <a:lnSpc>
                <a:spcPct val="130909"/>
              </a:lnSpc>
              <a:spcBef>
                <a:spcPts val="0"/>
              </a:spcBef>
              <a:spcAft>
                <a:spcPts val="1500"/>
              </a:spcAft>
              <a:buNone/>
            </a:pPr>
            <a:r>
              <a:rPr lang="en" sz="1200">
                <a:solidFill>
                  <a:schemeClr val="dk1"/>
                </a:solidFill>
                <a:highlight>
                  <a:srgbClr val="FFFFFF"/>
                </a:highlight>
                <a:latin typeface="Calibri"/>
                <a:ea typeface="Calibri"/>
                <a:cs typeface="Calibri"/>
                <a:sym typeface="Calibri"/>
              </a:rPr>
              <a:t>Openflow meter support -  a switch element that can measure and control the rate of packets. The meter triggers a meter band if the packet rate or byte rate passing through the meter exceeds a predefined threshold. If the meter band drops the packet, it is called a Rate Limiter. Per-flow meters enable OpenFlow to implement various simple QoS operations, such as rate-limiting, and can be combined with per-port queues (see 5.12) to implement complex QoS frameworks, such as DiffServ.</a:t>
            </a:r>
          </a:p>
          <a:p>
            <a:pPr lvl="0" rtl="0">
              <a:lnSpc>
                <a:spcPct val="130909"/>
              </a:lnSpc>
              <a:spcBef>
                <a:spcPts val="0"/>
              </a:spcBef>
              <a:spcAft>
                <a:spcPts val="1500"/>
              </a:spcAft>
              <a:buClr>
                <a:schemeClr val="dk1"/>
              </a:buClr>
              <a:buSzPct val="91666"/>
              <a:buFont typeface="Arial"/>
              <a:buNone/>
            </a:pPr>
            <a:r>
              <a:rPr lang="en" sz="1200">
                <a:solidFill>
                  <a:schemeClr val="dk1"/>
                </a:solidFill>
                <a:highlight>
                  <a:srgbClr val="FFFFFF"/>
                </a:highlight>
                <a:latin typeface="Calibri"/>
                <a:ea typeface="Calibri"/>
                <a:cs typeface="Calibri"/>
                <a:sym typeface="Calibri"/>
              </a:rPr>
              <a:t>PIM source specific multicast - </a:t>
            </a:r>
            <a:r>
              <a:rPr i="1" lang="en" sz="1050">
                <a:solidFill>
                  <a:srgbClr val="333333"/>
                </a:solidFill>
                <a:highlight>
                  <a:srgbClr val="FFFFFF"/>
                </a:highlight>
              </a:rPr>
              <a:t>Source-Specific Multicast</a:t>
            </a:r>
            <a:r>
              <a:rPr lang="en" sz="1050">
                <a:solidFill>
                  <a:srgbClr val="333333"/>
                </a:solidFill>
                <a:highlight>
                  <a:srgbClr val="FFFFFF"/>
                </a:highlight>
              </a:rPr>
              <a:t> (SSM), defined in </a:t>
            </a:r>
            <a:r>
              <a:rPr lang="en" sz="1050">
                <a:solidFill>
                  <a:srgbClr val="1447C9"/>
                </a:solidFill>
                <a:highlight>
                  <a:srgbClr val="FFFFFF"/>
                </a:highlight>
                <a:hlinkClick r:id="rId2"/>
              </a:rPr>
              <a:t>RFC 4607</a:t>
            </a:r>
            <a:r>
              <a:rPr lang="en" sz="1050">
                <a:solidFill>
                  <a:srgbClr val="333333"/>
                </a:solidFill>
                <a:highlight>
                  <a:srgbClr val="FFFFFF"/>
                </a:highlight>
              </a:rPr>
              <a:t>, extends this concept to identify a set of multicast hosts not only by group address but also by source. </a:t>
            </a:r>
          </a:p>
          <a:p>
            <a:pPr lvl="0" rtl="0">
              <a:lnSpc>
                <a:spcPct val="115000"/>
              </a:lnSpc>
              <a:spcBef>
                <a:spcPts val="0"/>
              </a:spcBef>
              <a:buClr>
                <a:schemeClr val="dk1"/>
              </a:buClr>
              <a:buSzPct val="91666"/>
              <a:buFont typeface="Arial"/>
              <a:buNone/>
            </a:pPr>
            <a:r>
              <a:t/>
            </a:r>
            <a:endParaRPr sz="1200">
              <a:solidFill>
                <a:schemeClr val="dk1"/>
              </a:solidFill>
              <a:highlight>
                <a:srgbClr val="FFFFFF"/>
              </a:highlight>
              <a:latin typeface="Calibri"/>
              <a:ea typeface="Calibri"/>
              <a:cs typeface="Calibri"/>
              <a:sym typeface="Calibri"/>
            </a:endParaRPr>
          </a:p>
          <a:p>
            <a:pPr lvl="0">
              <a:spcBef>
                <a:spcPts val="0"/>
              </a:spcBef>
              <a:buNone/>
            </a:pPr>
            <a:r>
              <a:rPr lang="en"/>
              <a:t>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4.jpg"/><Relationship Id="rId3" Type="http://schemas.openxmlformats.org/officeDocument/2006/relationships/image" Target="../media/image0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4.jpg"/><Relationship Id="rId3" Type="http://schemas.openxmlformats.org/officeDocument/2006/relationships/image" Target="../media/image01.png"/><Relationship Id="rId4" Type="http://schemas.openxmlformats.org/officeDocument/2006/relationships/image" Target="../media/image00.png"/><Relationship Id="rId5" Type="http://schemas.openxmlformats.org/officeDocument/2006/relationships/image" Target="../media/image0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spTree>
      <p:nvGrpSpPr>
        <p:cNvPr id="9" name="Shape 9"/>
        <p:cNvGrpSpPr/>
        <p:nvPr/>
      </p:nvGrpSpPr>
      <p:grpSpPr>
        <a:xfrm>
          <a:off x="0" y="0"/>
          <a:ext cx="0" cy="0"/>
          <a:chOff x="0" y="0"/>
          <a:chExt cx="0" cy="0"/>
        </a:xfrm>
      </p:grpSpPr>
      <p:pic>
        <p:nvPicPr>
          <p:cNvPr id="10" name="Shape 10"/>
          <p:cNvPicPr preferRelativeResize="0"/>
          <p:nvPr/>
        </p:nvPicPr>
        <p:blipFill rotWithShape="1">
          <a:blip r:embed="rId2">
            <a:alphaModFix/>
          </a:blip>
          <a:srcRect b="43638" l="0" r="0" t="15840"/>
          <a:stretch/>
        </p:blipFill>
        <p:spPr>
          <a:xfrm>
            <a:off x="-12450" y="0"/>
            <a:ext cx="9168902" cy="2476502"/>
          </a:xfrm>
          <a:prstGeom prst="rect">
            <a:avLst/>
          </a:prstGeom>
          <a:noFill/>
          <a:ln>
            <a:noFill/>
          </a:ln>
        </p:spPr>
      </p:pic>
      <p:sp>
        <p:nvSpPr>
          <p:cNvPr id="11" name="Shape 11"/>
          <p:cNvSpPr txBox="1"/>
          <p:nvPr>
            <p:ph type="ctrTitle"/>
          </p:nvPr>
        </p:nvSpPr>
        <p:spPr>
          <a:xfrm>
            <a:off x="-24900" y="1800900"/>
            <a:ext cx="9181200" cy="1265999"/>
          </a:xfrm>
          <a:prstGeom prst="rect">
            <a:avLst/>
          </a:prstGeom>
          <a:solidFill>
            <a:srgbClr val="980000"/>
          </a:solidFill>
        </p:spPr>
        <p:txBody>
          <a:bodyPr anchorCtr="0" anchor="ctr" bIns="91425" lIns="91425" rIns="91425" tIns="91425"/>
          <a:lstStyle>
            <a:lvl1pPr lvl="0" algn="ctr">
              <a:spcBef>
                <a:spcPts val="0"/>
              </a:spcBef>
              <a:buClr>
                <a:srgbClr val="FFFFFF"/>
              </a:buClr>
              <a:buSzPct val="100000"/>
              <a:defRPr b="0" sz="3200">
                <a:solidFill>
                  <a:srgbClr val="FFFFFF"/>
                </a:solidFill>
              </a:defRPr>
            </a:lvl1pPr>
            <a:lvl2pPr lvl="1" algn="ctr">
              <a:spcBef>
                <a:spcPts val="0"/>
              </a:spcBef>
              <a:buSzPct val="100000"/>
              <a:defRPr sz="4800"/>
            </a:lvl2pPr>
            <a:lvl3pPr lvl="2" algn="ctr">
              <a:spcBef>
                <a:spcPts val="0"/>
              </a:spcBef>
              <a:buSzPct val="100000"/>
              <a:defRPr sz="4800"/>
            </a:lvl3pPr>
            <a:lvl4pPr lvl="3" algn="ctr">
              <a:spcBef>
                <a:spcPts val="0"/>
              </a:spcBef>
              <a:buSzPct val="100000"/>
              <a:defRPr sz="4800"/>
            </a:lvl4pPr>
            <a:lvl5pPr lvl="4" algn="ctr">
              <a:spcBef>
                <a:spcPts val="0"/>
              </a:spcBef>
              <a:buSzPct val="100000"/>
              <a:defRPr sz="4800"/>
            </a:lvl5pPr>
            <a:lvl6pPr lvl="5" algn="ctr">
              <a:spcBef>
                <a:spcPts val="0"/>
              </a:spcBef>
              <a:buSzPct val="100000"/>
              <a:defRPr sz="4800"/>
            </a:lvl6pPr>
            <a:lvl7pPr lvl="6" algn="ctr">
              <a:spcBef>
                <a:spcPts val="0"/>
              </a:spcBef>
              <a:buSzPct val="100000"/>
              <a:defRPr sz="4800"/>
            </a:lvl7pPr>
            <a:lvl8pPr lvl="7" algn="ctr">
              <a:spcBef>
                <a:spcPts val="0"/>
              </a:spcBef>
              <a:buSzPct val="100000"/>
              <a:defRPr sz="4800"/>
            </a:lvl8pPr>
            <a:lvl9pPr lvl="8" algn="ctr">
              <a:spcBef>
                <a:spcPts val="0"/>
              </a:spcBef>
              <a:buSzPct val="100000"/>
              <a:defRPr sz="4800"/>
            </a:lvl9pPr>
          </a:lstStyle>
          <a:p/>
        </p:txBody>
      </p:sp>
      <p:sp>
        <p:nvSpPr>
          <p:cNvPr id="12" name="Shape 12"/>
          <p:cNvSpPr txBox="1"/>
          <p:nvPr>
            <p:ph idx="1" type="subTitle"/>
          </p:nvPr>
        </p:nvSpPr>
        <p:spPr>
          <a:xfrm>
            <a:off x="723900" y="3174725"/>
            <a:ext cx="7696199" cy="932099"/>
          </a:xfrm>
          <a:prstGeom prst="rect">
            <a:avLst/>
          </a:prstGeom>
        </p:spPr>
        <p:txBody>
          <a:bodyPr anchorCtr="0" anchor="t" bIns="91425" lIns="91425" rIns="91425" tIns="91425"/>
          <a:lstStyle>
            <a:lvl1pPr lvl="0" algn="ctr">
              <a:spcBef>
                <a:spcPts val="0"/>
              </a:spcBef>
              <a:buClr>
                <a:schemeClr val="dk2"/>
              </a:buClr>
              <a:buSzPct val="100000"/>
              <a:buNone/>
              <a:defRPr sz="1800">
                <a:solidFill>
                  <a:schemeClr val="dk2"/>
                </a:solidFill>
              </a:defRPr>
            </a:lvl1pPr>
            <a:lvl2pPr lvl="1" algn="ctr">
              <a:spcBef>
                <a:spcPts val="0"/>
              </a:spcBef>
              <a:buClr>
                <a:schemeClr val="dk2"/>
              </a:buClr>
              <a:buSzPct val="100000"/>
              <a:buNone/>
              <a:defRPr sz="1800">
                <a:solidFill>
                  <a:schemeClr val="dk2"/>
                </a:solidFill>
              </a:defRPr>
            </a:lvl2pPr>
            <a:lvl3pPr lvl="2" algn="ctr">
              <a:spcBef>
                <a:spcPts val="0"/>
              </a:spcBef>
              <a:buClr>
                <a:schemeClr val="dk2"/>
              </a:buClr>
              <a:buSzPct val="100000"/>
              <a:buNone/>
              <a:defRPr sz="1800">
                <a:solidFill>
                  <a:schemeClr val="dk2"/>
                </a:solidFill>
              </a:defRPr>
            </a:lvl3pPr>
            <a:lvl4pPr lvl="3" algn="ctr">
              <a:spcBef>
                <a:spcPts val="0"/>
              </a:spcBef>
              <a:buClr>
                <a:schemeClr val="dk2"/>
              </a:buClr>
              <a:buSzPct val="100000"/>
              <a:buNone/>
              <a:defRPr sz="1800">
                <a:solidFill>
                  <a:schemeClr val="dk2"/>
                </a:solidFill>
              </a:defRPr>
            </a:lvl4pPr>
            <a:lvl5pPr lvl="4" algn="ctr">
              <a:spcBef>
                <a:spcPts val="0"/>
              </a:spcBef>
              <a:buClr>
                <a:schemeClr val="dk2"/>
              </a:buClr>
              <a:buSzPct val="100000"/>
              <a:buNone/>
              <a:defRPr sz="1800">
                <a:solidFill>
                  <a:schemeClr val="dk2"/>
                </a:solidFill>
              </a:defRPr>
            </a:lvl5pPr>
            <a:lvl6pPr lvl="5" algn="ctr">
              <a:spcBef>
                <a:spcPts val="0"/>
              </a:spcBef>
              <a:buClr>
                <a:schemeClr val="dk2"/>
              </a:buClr>
              <a:buNone/>
              <a:defRPr>
                <a:solidFill>
                  <a:schemeClr val="dk2"/>
                </a:solidFill>
              </a:defRPr>
            </a:lvl6pPr>
            <a:lvl7pPr lvl="6" algn="ctr">
              <a:spcBef>
                <a:spcPts val="0"/>
              </a:spcBef>
              <a:buClr>
                <a:schemeClr val="dk2"/>
              </a:buClr>
              <a:buNone/>
              <a:defRPr>
                <a:solidFill>
                  <a:schemeClr val="dk2"/>
                </a:solidFill>
              </a:defRPr>
            </a:lvl7pPr>
            <a:lvl8pPr lvl="7" algn="ctr">
              <a:spcBef>
                <a:spcPts val="0"/>
              </a:spcBef>
              <a:buClr>
                <a:schemeClr val="dk2"/>
              </a:buClr>
              <a:buNone/>
              <a:defRPr>
                <a:solidFill>
                  <a:schemeClr val="dk2"/>
                </a:solidFill>
              </a:defRPr>
            </a:lvl8pPr>
            <a:lvl9pPr lvl="8" algn="ctr">
              <a:spcBef>
                <a:spcPts val="0"/>
              </a:spcBef>
              <a:buClr>
                <a:schemeClr val="dk2"/>
              </a:buClr>
              <a:buNone/>
              <a:defRPr>
                <a:solidFill>
                  <a:schemeClr val="dk2"/>
                </a:solidFill>
              </a:defRPr>
            </a:lvl9pPr>
          </a:lstStyle>
          <a:p/>
        </p:txBody>
      </p:sp>
      <p:pic>
        <p:nvPicPr>
          <p:cNvPr id="13" name="Shape 13"/>
          <p:cNvPicPr preferRelativeResize="0"/>
          <p:nvPr/>
        </p:nvPicPr>
        <p:blipFill>
          <a:blip r:embed="rId3">
            <a:alphaModFix amt="96000"/>
          </a:blip>
          <a:stretch>
            <a:fillRect/>
          </a:stretch>
        </p:blipFill>
        <p:spPr>
          <a:xfrm>
            <a:off x="7369200" y="3563068"/>
            <a:ext cx="1491550" cy="13819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body">
    <p:spTree>
      <p:nvGrpSpPr>
        <p:cNvPr id="14" name="Shape 14"/>
        <p:cNvGrpSpPr/>
        <p:nvPr/>
      </p:nvGrpSpPr>
      <p:grpSpPr>
        <a:xfrm>
          <a:off x="0" y="0"/>
          <a:ext cx="0" cy="0"/>
          <a:chOff x="0" y="0"/>
          <a:chExt cx="0" cy="0"/>
        </a:xfrm>
      </p:grpSpPr>
      <p:sp>
        <p:nvSpPr>
          <p:cNvPr id="15" name="Shape 15"/>
          <p:cNvSpPr txBox="1"/>
          <p:nvPr>
            <p:ph type="title"/>
          </p:nvPr>
        </p:nvSpPr>
        <p:spPr>
          <a:xfrm>
            <a:off x="377775" y="3"/>
            <a:ext cx="8229600" cy="857400"/>
          </a:xfrm>
          <a:prstGeom prst="rect">
            <a:avLst/>
          </a:prstGeom>
        </p:spPr>
        <p:txBody>
          <a:bodyPr anchorCtr="0" anchor="b"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16" name="Shape 16"/>
          <p:cNvSpPr txBox="1"/>
          <p:nvPr>
            <p:ph idx="12" type="sldNum"/>
          </p:nvPr>
        </p:nvSpPr>
        <p:spPr>
          <a:xfrm>
            <a:off x="8556791" y="4749850"/>
            <a:ext cx="548699"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pic>
        <p:nvPicPr>
          <p:cNvPr id="17" name="Shape 17"/>
          <p:cNvPicPr preferRelativeResize="0"/>
          <p:nvPr/>
        </p:nvPicPr>
        <p:blipFill>
          <a:blip r:embed="rId2">
            <a:alphaModFix amt="96000"/>
          </a:blip>
          <a:stretch>
            <a:fillRect/>
          </a:stretch>
        </p:blipFill>
        <p:spPr>
          <a:xfrm>
            <a:off x="8344100" y="131246"/>
            <a:ext cx="623100" cy="577293"/>
          </a:xfrm>
          <a:prstGeom prst="rect">
            <a:avLst/>
          </a:prstGeom>
          <a:noFill/>
          <a:ln>
            <a:noFill/>
          </a:ln>
        </p:spPr>
      </p:pic>
      <p:sp>
        <p:nvSpPr>
          <p:cNvPr id="18" name="Shape 18"/>
          <p:cNvSpPr txBox="1"/>
          <p:nvPr>
            <p:ph idx="1" type="body"/>
          </p:nvPr>
        </p:nvSpPr>
        <p:spPr>
          <a:xfrm>
            <a:off x="457200" y="751498"/>
            <a:ext cx="8229600" cy="3989400"/>
          </a:xfrm>
          <a:prstGeom prst="rect">
            <a:avLst/>
          </a:prstGeom>
        </p:spPr>
        <p:txBody>
          <a:bodyPr anchorCtr="0" anchor="t" bIns="91425" lIns="91425" rIns="91425" tIns="91425"/>
          <a:lstStyle>
            <a:lvl1pPr lvl="0">
              <a:spcBef>
                <a:spcPts val="0"/>
              </a:spcBef>
              <a:buSzPct val="100000"/>
              <a:defRPr sz="2400"/>
            </a:lvl1pPr>
            <a:lvl2pPr lvl="1">
              <a:spcBef>
                <a:spcPts val="0"/>
              </a:spcBef>
              <a:buSzPct val="100000"/>
              <a:defRPr sz="1800"/>
            </a:lvl2pPr>
            <a:lvl3pPr lvl="2">
              <a:spcBef>
                <a:spcPts val="0"/>
              </a:spcBef>
              <a:buSzPct val="100000"/>
              <a:defRPr sz="1400"/>
            </a:lvl3pPr>
            <a:lvl4pPr lvl="3">
              <a:spcBef>
                <a:spcPts val="0"/>
              </a:spcBef>
              <a:buSzPct val="100000"/>
              <a:defRPr sz="1200"/>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and two columns">
    <p:spTree>
      <p:nvGrpSpPr>
        <p:cNvPr id="19" name="Shape 19"/>
        <p:cNvGrpSpPr/>
        <p:nvPr/>
      </p:nvGrpSpPr>
      <p:grpSpPr>
        <a:xfrm>
          <a:off x="0" y="0"/>
          <a:ext cx="0" cy="0"/>
          <a:chOff x="0" y="0"/>
          <a:chExt cx="0" cy="0"/>
        </a:xfrm>
      </p:grpSpPr>
      <p:sp>
        <p:nvSpPr>
          <p:cNvPr id="20" name="Shape 20"/>
          <p:cNvSpPr txBox="1"/>
          <p:nvPr>
            <p:ph type="title"/>
          </p:nvPr>
        </p:nvSpPr>
        <p:spPr>
          <a:xfrm>
            <a:off x="377775" y="3"/>
            <a:ext cx="8229600" cy="857400"/>
          </a:xfrm>
          <a:prstGeom prst="rect">
            <a:avLst/>
          </a:prstGeom>
        </p:spPr>
        <p:txBody>
          <a:bodyPr anchorCtr="0" anchor="b"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21" name="Shape 21"/>
          <p:cNvSpPr txBox="1"/>
          <p:nvPr>
            <p:ph idx="1" type="body"/>
          </p:nvPr>
        </p:nvSpPr>
        <p:spPr>
          <a:xfrm>
            <a:off x="457200" y="758825"/>
            <a:ext cx="3994500" cy="3725699"/>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22" name="Shape 22"/>
          <p:cNvSpPr txBox="1"/>
          <p:nvPr>
            <p:ph idx="2" type="body"/>
          </p:nvPr>
        </p:nvSpPr>
        <p:spPr>
          <a:xfrm>
            <a:off x="4692273" y="758825"/>
            <a:ext cx="3994500" cy="3725699"/>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23" name="Shape 23"/>
          <p:cNvSpPr txBox="1"/>
          <p:nvPr>
            <p:ph idx="12" type="sldNum"/>
          </p:nvPr>
        </p:nvSpPr>
        <p:spPr>
          <a:xfrm>
            <a:off x="8556791" y="4749850"/>
            <a:ext cx="548699"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pic>
        <p:nvPicPr>
          <p:cNvPr id="24" name="Shape 24"/>
          <p:cNvPicPr preferRelativeResize="0"/>
          <p:nvPr/>
        </p:nvPicPr>
        <p:blipFill>
          <a:blip r:embed="rId2">
            <a:alphaModFix amt="96000"/>
          </a:blip>
          <a:stretch>
            <a:fillRect/>
          </a:stretch>
        </p:blipFill>
        <p:spPr>
          <a:xfrm>
            <a:off x="8344100" y="131246"/>
            <a:ext cx="623100" cy="57729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25" name="Shape 25"/>
        <p:cNvGrpSpPr/>
        <p:nvPr/>
      </p:nvGrpSpPr>
      <p:grpSpPr>
        <a:xfrm>
          <a:off x="0" y="0"/>
          <a:ext cx="0" cy="0"/>
          <a:chOff x="0" y="0"/>
          <a:chExt cx="0" cy="0"/>
        </a:xfrm>
      </p:grpSpPr>
      <p:sp>
        <p:nvSpPr>
          <p:cNvPr id="26" name="Shape 26"/>
          <p:cNvSpPr txBox="1"/>
          <p:nvPr>
            <p:ph type="title"/>
          </p:nvPr>
        </p:nvSpPr>
        <p:spPr>
          <a:xfrm>
            <a:off x="377775" y="3"/>
            <a:ext cx="8229600" cy="857400"/>
          </a:xfrm>
          <a:prstGeom prst="rect">
            <a:avLst/>
          </a:prstGeom>
        </p:spPr>
        <p:txBody>
          <a:bodyPr anchorCtr="0" anchor="b"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27" name="Shape 27"/>
          <p:cNvSpPr txBox="1"/>
          <p:nvPr>
            <p:ph idx="12" type="sldNum"/>
          </p:nvPr>
        </p:nvSpPr>
        <p:spPr>
          <a:xfrm>
            <a:off x="8556791" y="4749850"/>
            <a:ext cx="548699"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pic>
        <p:nvPicPr>
          <p:cNvPr id="28" name="Shape 28"/>
          <p:cNvPicPr preferRelativeResize="0"/>
          <p:nvPr/>
        </p:nvPicPr>
        <p:blipFill>
          <a:blip r:embed="rId2">
            <a:alphaModFix amt="96000"/>
          </a:blip>
          <a:stretch>
            <a:fillRect/>
          </a:stretch>
        </p:blipFill>
        <p:spPr>
          <a:xfrm>
            <a:off x="8344100" y="131246"/>
            <a:ext cx="623100" cy="577293"/>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Caption">
    <p:spTree>
      <p:nvGrpSpPr>
        <p:cNvPr id="29" name="Shape 29"/>
        <p:cNvGrpSpPr/>
        <p:nvPr/>
      </p:nvGrpSpPr>
      <p:grpSpPr>
        <a:xfrm>
          <a:off x="0" y="0"/>
          <a:ext cx="0" cy="0"/>
          <a:chOff x="0" y="0"/>
          <a:chExt cx="0" cy="0"/>
        </a:xfrm>
      </p:grpSpPr>
      <p:sp>
        <p:nvSpPr>
          <p:cNvPr id="30" name="Shape 30"/>
          <p:cNvSpPr txBox="1"/>
          <p:nvPr>
            <p:ph idx="1" type="body"/>
          </p:nvPr>
        </p:nvSpPr>
        <p:spPr>
          <a:xfrm>
            <a:off x="457200" y="4406309"/>
            <a:ext cx="8229600" cy="519599"/>
          </a:xfrm>
          <a:prstGeom prst="rect">
            <a:avLst/>
          </a:prstGeom>
        </p:spPr>
        <p:txBody>
          <a:bodyPr anchorCtr="0" anchor="t" bIns="91425" lIns="91425" rIns="91425" tIns="91425"/>
          <a:lstStyle>
            <a:lvl1pPr lvl="0" algn="ctr">
              <a:spcBef>
                <a:spcPts val="360"/>
              </a:spcBef>
              <a:buSzPct val="100000"/>
              <a:buNone/>
              <a:defRPr sz="1800"/>
            </a:lvl1pPr>
          </a:lstStyle>
          <a:p/>
        </p:txBody>
      </p:sp>
      <p:sp>
        <p:nvSpPr>
          <p:cNvPr id="31" name="Shape 31"/>
          <p:cNvSpPr txBox="1"/>
          <p:nvPr>
            <p:ph idx="12" type="sldNum"/>
          </p:nvPr>
        </p:nvSpPr>
        <p:spPr>
          <a:xfrm>
            <a:off x="8556791" y="4749850"/>
            <a:ext cx="548699"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pic>
        <p:nvPicPr>
          <p:cNvPr id="32" name="Shape 32"/>
          <p:cNvPicPr preferRelativeResize="0"/>
          <p:nvPr/>
        </p:nvPicPr>
        <p:blipFill>
          <a:blip r:embed="rId2">
            <a:alphaModFix amt="96000"/>
          </a:blip>
          <a:stretch>
            <a:fillRect/>
          </a:stretch>
        </p:blipFill>
        <p:spPr>
          <a:xfrm>
            <a:off x="8344100" y="131246"/>
            <a:ext cx="623100" cy="577293"/>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33" name="Shape 33"/>
        <p:cNvGrpSpPr/>
        <p:nvPr/>
      </p:nvGrpSpPr>
      <p:grpSpPr>
        <a:xfrm>
          <a:off x="0" y="0"/>
          <a:ext cx="0" cy="0"/>
          <a:chOff x="0" y="0"/>
          <a:chExt cx="0" cy="0"/>
        </a:xfrm>
      </p:grpSpPr>
      <p:sp>
        <p:nvSpPr>
          <p:cNvPr id="34" name="Shape 34"/>
          <p:cNvSpPr txBox="1"/>
          <p:nvPr>
            <p:ph idx="12" type="sldNum"/>
          </p:nvPr>
        </p:nvSpPr>
        <p:spPr>
          <a:xfrm>
            <a:off x="8556791" y="4749850"/>
            <a:ext cx="548699"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pic>
        <p:nvPicPr>
          <p:cNvPr id="35" name="Shape 35"/>
          <p:cNvPicPr preferRelativeResize="0"/>
          <p:nvPr/>
        </p:nvPicPr>
        <p:blipFill>
          <a:blip r:embed="rId2">
            <a:alphaModFix amt="96000"/>
          </a:blip>
          <a:stretch>
            <a:fillRect/>
          </a:stretch>
        </p:blipFill>
        <p:spPr>
          <a:xfrm>
            <a:off x="8344100" y="131246"/>
            <a:ext cx="623100" cy="577293"/>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End Slide">
    <p:spTree>
      <p:nvGrpSpPr>
        <p:cNvPr id="36" name="Shape 36"/>
        <p:cNvGrpSpPr/>
        <p:nvPr/>
      </p:nvGrpSpPr>
      <p:grpSpPr>
        <a:xfrm>
          <a:off x="0" y="0"/>
          <a:ext cx="0" cy="0"/>
          <a:chOff x="0" y="0"/>
          <a:chExt cx="0" cy="0"/>
        </a:xfrm>
      </p:grpSpPr>
      <p:pic>
        <p:nvPicPr>
          <p:cNvPr id="37" name="Shape 37"/>
          <p:cNvPicPr preferRelativeResize="0"/>
          <p:nvPr/>
        </p:nvPicPr>
        <p:blipFill rotWithShape="1">
          <a:blip r:embed="rId2">
            <a:alphaModFix/>
          </a:blip>
          <a:srcRect b="33734" l="0" r="0" t="29701"/>
          <a:stretch/>
        </p:blipFill>
        <p:spPr>
          <a:xfrm>
            <a:off x="-12450" y="0"/>
            <a:ext cx="9168899" cy="1990800"/>
          </a:xfrm>
          <a:prstGeom prst="rect">
            <a:avLst/>
          </a:prstGeom>
          <a:noFill/>
          <a:ln>
            <a:noFill/>
          </a:ln>
        </p:spPr>
      </p:pic>
      <p:sp>
        <p:nvSpPr>
          <p:cNvPr id="38" name="Shape 38"/>
          <p:cNvSpPr txBox="1"/>
          <p:nvPr/>
        </p:nvSpPr>
        <p:spPr>
          <a:xfrm>
            <a:off x="696256" y="563224"/>
            <a:ext cx="7831199" cy="646199"/>
          </a:xfrm>
          <a:prstGeom prst="rect">
            <a:avLst/>
          </a:prstGeom>
          <a:solidFill>
            <a:srgbClr val="F2F2F2"/>
          </a:solidFill>
          <a:ln>
            <a:noFill/>
          </a:ln>
        </p:spPr>
        <p:txBody>
          <a:bodyPr anchorCtr="0" anchor="t" bIns="45700" lIns="91425" rIns="91425" tIns="45700">
            <a:noAutofit/>
          </a:bodyPr>
          <a:lstStyle/>
          <a:p>
            <a:pPr indent="0" lvl="0" marL="0" marR="0" rtl="0" algn="ctr">
              <a:spcBef>
                <a:spcPts val="0"/>
              </a:spcBef>
              <a:buSzPct val="25000"/>
              <a:buNone/>
            </a:pPr>
            <a:r>
              <a:rPr b="1" i="0" lang="en" sz="1800" u="none" cap="none" strike="noStrike">
                <a:solidFill>
                  <a:srgbClr val="000000"/>
                </a:solidFill>
                <a:latin typeface="Calibri"/>
                <a:ea typeface="Calibri"/>
                <a:cs typeface="Calibri"/>
                <a:sym typeface="Calibri"/>
              </a:rPr>
              <a:t>Learn more about ONOS and join the community at</a:t>
            </a:r>
          </a:p>
          <a:p>
            <a:pPr indent="0" lvl="0" marL="0" marR="0" rtl="0" algn="ctr">
              <a:spcBef>
                <a:spcPts val="0"/>
              </a:spcBef>
              <a:buSzPct val="25000"/>
              <a:buNone/>
            </a:pPr>
            <a:r>
              <a:rPr b="1" i="0" lang="en" sz="1800" u="none" cap="none" strike="noStrike">
                <a:solidFill>
                  <a:srgbClr val="BA071F"/>
                </a:solidFill>
                <a:latin typeface="Calibri"/>
                <a:ea typeface="Calibri"/>
                <a:cs typeface="Calibri"/>
                <a:sym typeface="Calibri"/>
              </a:rPr>
              <a:t>onosproject.org</a:t>
            </a:r>
          </a:p>
        </p:txBody>
      </p:sp>
      <p:pic>
        <p:nvPicPr>
          <p:cNvPr id="39" name="Shape 39"/>
          <p:cNvPicPr preferRelativeResize="0"/>
          <p:nvPr/>
        </p:nvPicPr>
        <p:blipFill rotWithShape="1">
          <a:blip r:embed="rId3">
            <a:alphaModFix/>
          </a:blip>
          <a:srcRect b="30191" l="0" r="0" t="0"/>
          <a:stretch/>
        </p:blipFill>
        <p:spPr>
          <a:xfrm rot="-625452">
            <a:off x="6365907" y="298701"/>
            <a:ext cx="2949684" cy="1589847"/>
          </a:xfrm>
          <a:prstGeom prst="rect">
            <a:avLst/>
          </a:prstGeom>
          <a:noFill/>
          <a:ln>
            <a:noFill/>
          </a:ln>
        </p:spPr>
      </p:pic>
      <p:sp>
        <p:nvSpPr>
          <p:cNvPr id="40" name="Shape 40"/>
          <p:cNvSpPr/>
          <p:nvPr/>
        </p:nvSpPr>
        <p:spPr>
          <a:xfrm>
            <a:off x="497050" y="2074848"/>
            <a:ext cx="8229600" cy="1763699"/>
          </a:xfrm>
          <a:prstGeom prst="rect">
            <a:avLst/>
          </a:prstGeom>
          <a:noFill/>
          <a:ln cap="flat" cmpd="sng" w="9525">
            <a:solidFill>
              <a:srgbClr val="C00202"/>
            </a:solidFill>
            <a:prstDash val="solid"/>
            <a:round/>
            <a:headEnd len="med" w="med" type="none"/>
            <a:tailEnd len="med" w="med" type="none"/>
          </a:ln>
        </p:spPr>
        <p:txBody>
          <a:bodyPr anchorCtr="0" anchor="t" bIns="45700" lIns="91425" rIns="91425" tIns="45700">
            <a:noAutofit/>
          </a:bodyPr>
          <a:lstStyle/>
          <a:p>
            <a:pPr indent="0" lvl="0" marL="0" marR="0" rtl="0" algn="just">
              <a:spcBef>
                <a:spcPts val="0"/>
              </a:spcBef>
              <a:buSzPct val="25000"/>
              <a:buNone/>
            </a:pPr>
            <a:r>
              <a:rPr b="0" i="0" lang="en" sz="1600" u="none" cap="none" strike="noStrike">
                <a:solidFill>
                  <a:srgbClr val="000000"/>
                </a:solidFill>
                <a:latin typeface="Calibri"/>
                <a:ea typeface="Calibri"/>
                <a:cs typeface="Calibri"/>
                <a:sym typeface="Calibri"/>
              </a:rPr>
              <a:t>“Software-defined networking can radically reshape the wide area network. The introduction of </a:t>
            </a:r>
            <a:r>
              <a:rPr b="1" i="0" lang="en" sz="1600" u="none" cap="none" strike="noStrike">
                <a:solidFill>
                  <a:srgbClr val="C00202"/>
                </a:solidFill>
                <a:latin typeface="Calibri"/>
                <a:ea typeface="Calibri"/>
                <a:cs typeface="Calibri"/>
                <a:sym typeface="Calibri"/>
              </a:rPr>
              <a:t>ONOS</a:t>
            </a:r>
            <a:r>
              <a:rPr b="0" i="0" lang="en" sz="1600" u="none" cap="none" strike="noStrike">
                <a:solidFill>
                  <a:srgbClr val="000000"/>
                </a:solidFill>
                <a:latin typeface="Calibri"/>
                <a:ea typeface="Calibri"/>
                <a:cs typeface="Calibri"/>
                <a:sym typeface="Calibri"/>
              </a:rPr>
              <a:t> provides another open source SDN option designed for service provider networks with the potential to deliver the performance, scale, availability and core features that we value”</a:t>
            </a:r>
          </a:p>
          <a:p>
            <a:pPr indent="0" lvl="0" marL="0" marR="0" rtl="0" algn="just">
              <a:spcBef>
                <a:spcPts val="0"/>
              </a:spcBef>
              <a:buNone/>
            </a:pPr>
            <a:r>
              <a:t/>
            </a:r>
            <a:endParaRPr b="0" i="0" sz="1200" u="none" cap="none" strike="noStrike">
              <a:solidFill>
                <a:srgbClr val="000000"/>
              </a:solidFill>
              <a:latin typeface="Calibri"/>
              <a:ea typeface="Calibri"/>
              <a:cs typeface="Calibri"/>
              <a:sym typeface="Calibri"/>
            </a:endParaRPr>
          </a:p>
          <a:p>
            <a:pPr indent="0" lvl="0" marL="0" marR="0" rtl="0" algn="ctr">
              <a:spcBef>
                <a:spcPts val="0"/>
              </a:spcBef>
              <a:buSzPct val="25000"/>
              <a:buNone/>
            </a:pPr>
            <a:r>
              <a:rPr b="1" i="0" lang="en" sz="1600" u="none" cap="none" strike="noStrike">
                <a:solidFill>
                  <a:srgbClr val="000000"/>
                </a:solidFill>
                <a:latin typeface="Calibri"/>
                <a:ea typeface="Calibri"/>
                <a:cs typeface="Calibri"/>
                <a:sym typeface="Calibri"/>
              </a:rPr>
              <a:t>John Donovan</a:t>
            </a:r>
          </a:p>
          <a:p>
            <a:pPr indent="0" lvl="0" marL="0" marR="0" rtl="0" algn="ctr">
              <a:spcBef>
                <a:spcPts val="0"/>
              </a:spcBef>
              <a:buSzPct val="25000"/>
              <a:buNone/>
            </a:pPr>
            <a:r>
              <a:rPr b="0" i="0" lang="en" sz="1600" u="none" cap="none" strike="noStrike">
                <a:solidFill>
                  <a:srgbClr val="000000"/>
                </a:solidFill>
                <a:latin typeface="Calibri"/>
                <a:ea typeface="Calibri"/>
                <a:cs typeface="Calibri"/>
                <a:sym typeface="Calibri"/>
              </a:rPr>
              <a:t>Senior Executive Vice President</a:t>
            </a:r>
          </a:p>
          <a:p>
            <a:pPr indent="0" lvl="0" marL="0" marR="0" rtl="0" algn="ctr">
              <a:spcBef>
                <a:spcPts val="0"/>
              </a:spcBef>
              <a:buSzPct val="25000"/>
              <a:buNone/>
            </a:pPr>
            <a:r>
              <a:rPr b="0" i="0" lang="en" sz="1600" u="none" cap="none" strike="noStrike">
                <a:solidFill>
                  <a:srgbClr val="000000"/>
                </a:solidFill>
                <a:latin typeface="Calibri"/>
                <a:ea typeface="Calibri"/>
                <a:cs typeface="Calibri"/>
                <a:sym typeface="Calibri"/>
              </a:rPr>
              <a:t>AT&amp;T Technology &amp; Operations</a:t>
            </a:r>
          </a:p>
        </p:txBody>
      </p:sp>
      <p:pic>
        <p:nvPicPr>
          <p:cNvPr id="41" name="Shape 41"/>
          <p:cNvPicPr preferRelativeResize="0"/>
          <p:nvPr/>
        </p:nvPicPr>
        <p:blipFill rotWithShape="1">
          <a:blip r:embed="rId4">
            <a:alphaModFix/>
          </a:blip>
          <a:srcRect b="0" l="0" r="0" t="0"/>
          <a:stretch/>
        </p:blipFill>
        <p:spPr>
          <a:xfrm>
            <a:off x="7730152" y="2901128"/>
            <a:ext cx="960599" cy="909299"/>
          </a:xfrm>
          <a:prstGeom prst="rect">
            <a:avLst/>
          </a:prstGeom>
          <a:noFill/>
          <a:ln cap="sq" cmpd="sng" w="9525">
            <a:solidFill>
              <a:srgbClr val="FFFFFF"/>
            </a:solidFill>
            <a:prstDash val="solid"/>
            <a:miter/>
            <a:headEnd len="med" w="med" type="none"/>
            <a:tailEnd len="med" w="med" type="none"/>
          </a:ln>
        </p:spPr>
      </p:pic>
      <p:pic>
        <p:nvPicPr>
          <p:cNvPr id="42" name="Shape 42"/>
          <p:cNvPicPr preferRelativeResize="0"/>
          <p:nvPr/>
        </p:nvPicPr>
        <p:blipFill rotWithShape="1">
          <a:blip r:embed="rId5">
            <a:alphaModFix/>
          </a:blip>
          <a:srcRect b="0" l="0" r="0" t="0"/>
          <a:stretch/>
        </p:blipFill>
        <p:spPr>
          <a:xfrm>
            <a:off x="859550" y="3605025"/>
            <a:ext cx="7831199" cy="1624200"/>
          </a:xfrm>
          <a:prstGeom prst="rect">
            <a:avLst/>
          </a:prstGeom>
          <a:noFill/>
          <a:ln>
            <a:noFill/>
          </a:ln>
        </p:spPr>
      </p:pic>
      <p:sp>
        <p:nvSpPr>
          <p:cNvPr id="43" name="Shape 43"/>
          <p:cNvSpPr txBox="1"/>
          <p:nvPr/>
        </p:nvSpPr>
        <p:spPr>
          <a:xfrm>
            <a:off x="1170605" y="4747033"/>
            <a:ext cx="1485000" cy="312599"/>
          </a:xfrm>
          <a:prstGeom prst="rect">
            <a:avLst/>
          </a:prstGeom>
          <a:solidFill>
            <a:srgbClr val="953734"/>
          </a:solidFill>
          <a:ln cap="flat" cmpd="sng" w="38100">
            <a:solidFill>
              <a:srgbClr val="FFFFFF"/>
            </a:solidFill>
            <a:prstDash val="solid"/>
            <a:round/>
            <a:headEnd len="med" w="med" type="none"/>
            <a:tailEnd len="med" w="med" type="none"/>
          </a:ln>
        </p:spPr>
        <p:txBody>
          <a:bodyPr anchorCtr="0" anchor="t" bIns="45700" lIns="91425" rIns="91425" tIns="45700">
            <a:noAutofit/>
          </a:bodyPr>
          <a:lstStyle/>
          <a:p>
            <a:pPr indent="0" lvl="0" marL="0" marR="0" rtl="0" algn="ctr">
              <a:spcBef>
                <a:spcPts val="0"/>
              </a:spcBef>
              <a:buSzPct val="25000"/>
              <a:buNone/>
            </a:pPr>
            <a:r>
              <a:rPr b="0" i="0" lang="en" sz="1600" u="none" cap="none" strike="noStrike">
                <a:solidFill>
                  <a:srgbClr val="FFFFFF"/>
                </a:solidFill>
                <a:latin typeface="Calibri"/>
                <a:ea typeface="Calibri"/>
                <a:cs typeface="Calibri"/>
                <a:sym typeface="Calibri"/>
              </a:rPr>
              <a:t>BUILD</a:t>
            </a:r>
          </a:p>
        </p:txBody>
      </p:sp>
      <p:sp>
        <p:nvSpPr>
          <p:cNvPr id="44" name="Shape 44"/>
          <p:cNvSpPr txBox="1"/>
          <p:nvPr/>
        </p:nvSpPr>
        <p:spPr>
          <a:xfrm>
            <a:off x="3813192" y="4747033"/>
            <a:ext cx="1485000" cy="312599"/>
          </a:xfrm>
          <a:prstGeom prst="rect">
            <a:avLst/>
          </a:prstGeom>
          <a:solidFill>
            <a:srgbClr val="17365D"/>
          </a:solidFill>
          <a:ln cap="flat" cmpd="sng" w="38100">
            <a:solidFill>
              <a:srgbClr val="FFFFFF"/>
            </a:solidFill>
            <a:prstDash val="solid"/>
            <a:round/>
            <a:headEnd len="med" w="med" type="none"/>
            <a:tailEnd len="med" w="med" type="none"/>
          </a:ln>
        </p:spPr>
        <p:txBody>
          <a:bodyPr anchorCtr="0" anchor="t" bIns="45700" lIns="91425" rIns="91425" tIns="45700">
            <a:noAutofit/>
          </a:bodyPr>
          <a:lstStyle/>
          <a:p>
            <a:pPr indent="0" lvl="0" marL="0" marR="0" rtl="0" algn="ctr">
              <a:spcBef>
                <a:spcPts val="0"/>
              </a:spcBef>
              <a:buSzPct val="25000"/>
              <a:buNone/>
            </a:pPr>
            <a:r>
              <a:rPr b="0" i="0" lang="en" sz="1600" u="none" cap="none" strike="noStrike">
                <a:solidFill>
                  <a:srgbClr val="FFFFFF"/>
                </a:solidFill>
                <a:latin typeface="Calibri"/>
                <a:ea typeface="Calibri"/>
                <a:cs typeface="Calibri"/>
                <a:sym typeface="Calibri"/>
              </a:rPr>
              <a:t>USE</a:t>
            </a:r>
          </a:p>
        </p:txBody>
      </p:sp>
      <p:sp>
        <p:nvSpPr>
          <p:cNvPr id="45" name="Shape 45"/>
          <p:cNvSpPr txBox="1"/>
          <p:nvPr/>
        </p:nvSpPr>
        <p:spPr>
          <a:xfrm>
            <a:off x="6471443" y="4747033"/>
            <a:ext cx="1485000" cy="312599"/>
          </a:xfrm>
          <a:prstGeom prst="rect">
            <a:avLst/>
          </a:prstGeom>
          <a:solidFill>
            <a:srgbClr val="953734"/>
          </a:solidFill>
          <a:ln cap="flat" cmpd="sng" w="38100">
            <a:solidFill>
              <a:srgbClr val="FFFFFF"/>
            </a:solidFill>
            <a:prstDash val="solid"/>
            <a:round/>
            <a:headEnd len="med" w="med" type="none"/>
            <a:tailEnd len="med" w="med" type="none"/>
          </a:ln>
        </p:spPr>
        <p:txBody>
          <a:bodyPr anchorCtr="0" anchor="t" bIns="45700" lIns="91425" rIns="91425" tIns="45700">
            <a:noAutofit/>
          </a:bodyPr>
          <a:lstStyle/>
          <a:p>
            <a:pPr indent="0" lvl="0" marL="0" marR="0" rtl="0" algn="ctr">
              <a:spcBef>
                <a:spcPts val="0"/>
              </a:spcBef>
              <a:buSzPct val="25000"/>
              <a:buNone/>
            </a:pPr>
            <a:r>
              <a:rPr b="0" i="0" lang="en" sz="1600" u="none" cap="none" strike="noStrike">
                <a:solidFill>
                  <a:srgbClr val="FFFFFF"/>
                </a:solidFill>
                <a:latin typeface="Calibri"/>
                <a:ea typeface="Calibri"/>
                <a:cs typeface="Calibri"/>
                <a:sym typeface="Calibri"/>
              </a:rPr>
              <a:t>CHAMPION</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 name="Shape 5"/>
        <p:cNvGrpSpPr/>
        <p:nvPr/>
      </p:nvGrpSpPr>
      <p:grpSpPr>
        <a:xfrm>
          <a:off x="0" y="0"/>
          <a:ext cx="0" cy="0"/>
          <a:chOff x="0" y="0"/>
          <a:chExt cx="0" cy="0"/>
        </a:xfrm>
      </p:grpSpPr>
      <p:sp>
        <p:nvSpPr>
          <p:cNvPr id="6" name="Shape 6"/>
          <p:cNvSpPr txBox="1"/>
          <p:nvPr>
            <p:ph type="title"/>
          </p:nvPr>
        </p:nvSpPr>
        <p:spPr>
          <a:xfrm>
            <a:off x="377775" y="3"/>
            <a:ext cx="8229600" cy="857400"/>
          </a:xfrm>
          <a:prstGeom prst="rect">
            <a:avLst/>
          </a:prstGeom>
          <a:noFill/>
          <a:ln>
            <a:noFill/>
          </a:ln>
        </p:spPr>
        <p:txBody>
          <a:bodyPr anchorCtr="0" anchor="b" bIns="91425" lIns="91425" rIns="91425" tIns="91425"/>
          <a:lstStyle>
            <a:lvl1pPr lvl="0">
              <a:spcBef>
                <a:spcPts val="0"/>
              </a:spcBef>
              <a:buClr>
                <a:srgbClr val="85200C"/>
              </a:buClr>
              <a:buSzPct val="100000"/>
              <a:buNone/>
              <a:defRPr b="1" sz="3600">
                <a:solidFill>
                  <a:srgbClr val="85200C"/>
                </a:solidFill>
              </a:defRPr>
            </a:lvl1pPr>
            <a:lvl2pPr lvl="1">
              <a:spcBef>
                <a:spcPts val="0"/>
              </a:spcBef>
              <a:buClr>
                <a:srgbClr val="85200C"/>
              </a:buClr>
              <a:buSzPct val="100000"/>
              <a:buNone/>
              <a:defRPr b="1" sz="3600">
                <a:solidFill>
                  <a:srgbClr val="85200C"/>
                </a:solidFill>
              </a:defRPr>
            </a:lvl2pPr>
            <a:lvl3pPr lvl="2">
              <a:spcBef>
                <a:spcPts val="0"/>
              </a:spcBef>
              <a:buClr>
                <a:srgbClr val="85200C"/>
              </a:buClr>
              <a:buSzPct val="100000"/>
              <a:buNone/>
              <a:defRPr b="1" sz="3600">
                <a:solidFill>
                  <a:srgbClr val="85200C"/>
                </a:solidFill>
              </a:defRPr>
            </a:lvl3pPr>
            <a:lvl4pPr lvl="3">
              <a:spcBef>
                <a:spcPts val="0"/>
              </a:spcBef>
              <a:buClr>
                <a:srgbClr val="85200C"/>
              </a:buClr>
              <a:buSzPct val="100000"/>
              <a:buNone/>
              <a:defRPr b="1" sz="3600">
                <a:solidFill>
                  <a:srgbClr val="85200C"/>
                </a:solidFill>
              </a:defRPr>
            </a:lvl4pPr>
            <a:lvl5pPr lvl="4">
              <a:spcBef>
                <a:spcPts val="0"/>
              </a:spcBef>
              <a:buClr>
                <a:srgbClr val="85200C"/>
              </a:buClr>
              <a:buSzPct val="100000"/>
              <a:buNone/>
              <a:defRPr b="1" sz="3600">
                <a:solidFill>
                  <a:srgbClr val="85200C"/>
                </a:solidFill>
              </a:defRPr>
            </a:lvl5pPr>
            <a:lvl6pPr lvl="5">
              <a:spcBef>
                <a:spcPts val="0"/>
              </a:spcBef>
              <a:buClr>
                <a:srgbClr val="85200C"/>
              </a:buClr>
              <a:buSzPct val="100000"/>
              <a:buNone/>
              <a:defRPr b="1" sz="3600">
                <a:solidFill>
                  <a:srgbClr val="85200C"/>
                </a:solidFill>
              </a:defRPr>
            </a:lvl6pPr>
            <a:lvl7pPr lvl="6">
              <a:spcBef>
                <a:spcPts val="0"/>
              </a:spcBef>
              <a:buClr>
                <a:srgbClr val="85200C"/>
              </a:buClr>
              <a:buSzPct val="100000"/>
              <a:buNone/>
              <a:defRPr b="1" sz="3600">
                <a:solidFill>
                  <a:srgbClr val="85200C"/>
                </a:solidFill>
              </a:defRPr>
            </a:lvl7pPr>
            <a:lvl8pPr lvl="7">
              <a:spcBef>
                <a:spcPts val="0"/>
              </a:spcBef>
              <a:buClr>
                <a:srgbClr val="85200C"/>
              </a:buClr>
              <a:buSzPct val="100000"/>
              <a:buNone/>
              <a:defRPr b="1" sz="3600">
                <a:solidFill>
                  <a:srgbClr val="85200C"/>
                </a:solidFill>
              </a:defRPr>
            </a:lvl8pPr>
            <a:lvl9pPr lvl="8">
              <a:spcBef>
                <a:spcPts val="0"/>
              </a:spcBef>
              <a:buClr>
                <a:srgbClr val="85200C"/>
              </a:buClr>
              <a:buSzPct val="100000"/>
              <a:buNone/>
              <a:defRPr b="1" sz="3600">
                <a:solidFill>
                  <a:srgbClr val="85200C"/>
                </a:solidFill>
              </a:defRPr>
            </a:lvl9pPr>
          </a:lstStyle>
          <a:p/>
        </p:txBody>
      </p:sp>
      <p:sp>
        <p:nvSpPr>
          <p:cNvPr id="7" name="Shape 7"/>
          <p:cNvSpPr txBox="1"/>
          <p:nvPr>
            <p:ph idx="1" type="body"/>
          </p:nvPr>
        </p:nvSpPr>
        <p:spPr>
          <a:xfrm>
            <a:off x="457200" y="760325"/>
            <a:ext cx="8229600" cy="3989400"/>
          </a:xfrm>
          <a:prstGeom prst="rect">
            <a:avLst/>
          </a:prstGeom>
          <a:noFill/>
          <a:ln>
            <a:noFill/>
          </a:ln>
        </p:spPr>
        <p:txBody>
          <a:bodyPr anchorCtr="0" anchor="t" bIns="91425" lIns="91425" rIns="91425" tIns="91425"/>
          <a:lstStyle>
            <a:lvl1pPr lvl="0">
              <a:spcBef>
                <a:spcPts val="600"/>
              </a:spcBef>
              <a:buClr>
                <a:schemeClr val="dk1"/>
              </a:buClr>
              <a:buSzPct val="100000"/>
              <a:defRPr sz="3200">
                <a:solidFill>
                  <a:schemeClr val="dk1"/>
                </a:solidFill>
              </a:defRPr>
            </a:lvl1pPr>
            <a:lvl2pPr lvl="1">
              <a:spcBef>
                <a:spcPts val="480"/>
              </a:spcBef>
              <a:buClr>
                <a:schemeClr val="dk1"/>
              </a:buClr>
              <a:buSzPct val="100000"/>
              <a:defRPr sz="2800">
                <a:solidFill>
                  <a:schemeClr val="dk1"/>
                </a:solidFill>
              </a:defRPr>
            </a:lvl2pPr>
            <a:lvl3pPr lvl="2">
              <a:spcBef>
                <a:spcPts val="480"/>
              </a:spcBef>
              <a:buClr>
                <a:schemeClr val="dk1"/>
              </a:buClr>
              <a:buSzPct val="100000"/>
              <a:defRPr sz="2400">
                <a:solidFill>
                  <a:schemeClr val="dk1"/>
                </a:solidFill>
              </a:defRPr>
            </a:lvl3pPr>
            <a:lvl4pPr lvl="3">
              <a:spcBef>
                <a:spcPts val="360"/>
              </a:spcBef>
              <a:buClr>
                <a:schemeClr val="dk1"/>
              </a:buClr>
              <a:buSzPct val="100000"/>
              <a:defRPr sz="2200">
                <a:solidFill>
                  <a:schemeClr val="dk1"/>
                </a:solidFill>
              </a:defRPr>
            </a:lvl4pPr>
            <a:lvl5pPr lvl="4">
              <a:spcBef>
                <a:spcPts val="360"/>
              </a:spcBef>
              <a:buClr>
                <a:schemeClr val="dk1"/>
              </a:buClr>
              <a:buSzPct val="100000"/>
              <a:defRPr sz="2000">
                <a:solidFill>
                  <a:schemeClr val="dk1"/>
                </a:solidFill>
              </a:defRPr>
            </a:lvl5pPr>
            <a:lvl6pPr lvl="5">
              <a:spcBef>
                <a:spcPts val="360"/>
              </a:spcBef>
              <a:buClr>
                <a:schemeClr val="dk1"/>
              </a:buClr>
              <a:buSzPct val="100000"/>
              <a:defRPr sz="1800">
                <a:solidFill>
                  <a:schemeClr val="dk1"/>
                </a:solidFill>
              </a:defRPr>
            </a:lvl6pPr>
            <a:lvl7pPr lvl="6">
              <a:spcBef>
                <a:spcPts val="360"/>
              </a:spcBef>
              <a:buClr>
                <a:schemeClr val="dk1"/>
              </a:buClr>
              <a:buSzPct val="100000"/>
              <a:defRPr sz="1800">
                <a:solidFill>
                  <a:schemeClr val="dk1"/>
                </a:solidFill>
              </a:defRPr>
            </a:lvl7pPr>
            <a:lvl8pPr lvl="7">
              <a:spcBef>
                <a:spcPts val="360"/>
              </a:spcBef>
              <a:buClr>
                <a:schemeClr val="dk1"/>
              </a:buClr>
              <a:buSzPct val="100000"/>
              <a:defRPr sz="1800">
                <a:solidFill>
                  <a:schemeClr val="dk1"/>
                </a:solidFill>
              </a:defRPr>
            </a:lvl8pPr>
            <a:lvl9pPr lvl="8">
              <a:spcBef>
                <a:spcPts val="360"/>
              </a:spcBef>
              <a:buClr>
                <a:schemeClr val="dk1"/>
              </a:buClr>
              <a:buSzPct val="100000"/>
              <a:defRPr sz="1800">
                <a:solidFill>
                  <a:schemeClr val="dk1"/>
                </a:solidFill>
              </a:defRPr>
            </a:lvl9pPr>
          </a:lstStyle>
          <a:p/>
        </p:txBody>
      </p:sp>
      <p:sp>
        <p:nvSpPr>
          <p:cNvPr id="8" name="Shape 8"/>
          <p:cNvSpPr txBox="1"/>
          <p:nvPr>
            <p:ph idx="12" type="sldNum"/>
          </p:nvPr>
        </p:nvSpPr>
        <p:spPr>
          <a:xfrm>
            <a:off x="8556791" y="4749850"/>
            <a:ext cx="548699" cy="393600"/>
          </a:xfrm>
          <a:prstGeom prst="rect">
            <a:avLst/>
          </a:prstGeom>
          <a:noFill/>
          <a:ln>
            <a:noFill/>
          </a:ln>
        </p:spPr>
        <p:txBody>
          <a:bodyPr anchorCtr="0" anchor="ctr" bIns="91425" lIns="91425" rIns="91425" tIns="91425">
            <a:noAutofit/>
          </a:bodyPr>
          <a:lstStyle/>
          <a:p>
            <a:pPr lvl="0" algn="r">
              <a:spcBef>
                <a:spcPts val="0"/>
              </a:spcBef>
              <a:buNone/>
            </a:pPr>
            <a:fld id="{00000000-1234-1234-1234-123412341234}" type="slidenum">
              <a:rPr lang="en" sz="1300">
                <a:solidFill>
                  <a:schemeClr val="dk1"/>
                </a:solidFill>
              </a:rPr>
              <a:t>‹#›</a:t>
            </a:fld>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49" name="Shape 49"/>
        <p:cNvGrpSpPr/>
        <p:nvPr/>
      </p:nvGrpSpPr>
      <p:grpSpPr>
        <a:xfrm>
          <a:off x="0" y="0"/>
          <a:ext cx="0" cy="0"/>
          <a:chOff x="0" y="0"/>
          <a:chExt cx="0" cy="0"/>
        </a:xfrm>
      </p:grpSpPr>
      <p:sp>
        <p:nvSpPr>
          <p:cNvPr id="50" name="Shape 50"/>
          <p:cNvSpPr txBox="1"/>
          <p:nvPr>
            <p:ph type="ctrTitle"/>
          </p:nvPr>
        </p:nvSpPr>
        <p:spPr>
          <a:xfrm>
            <a:off x="-24900" y="1800900"/>
            <a:ext cx="9181200" cy="1265999"/>
          </a:xfrm>
          <a:prstGeom prst="rect">
            <a:avLst/>
          </a:prstGeom>
        </p:spPr>
        <p:txBody>
          <a:bodyPr anchorCtr="0" anchor="ctr" bIns="91425" lIns="91425" rIns="91425" tIns="91425">
            <a:noAutofit/>
          </a:bodyPr>
          <a:lstStyle/>
          <a:p>
            <a:pPr lvl="0">
              <a:spcBef>
                <a:spcPts val="0"/>
              </a:spcBef>
              <a:buNone/>
            </a:pPr>
            <a:r>
              <a:rPr lang="en"/>
              <a:t>ONOS Drake Release</a:t>
            </a:r>
          </a:p>
        </p:txBody>
      </p:sp>
      <p:sp>
        <p:nvSpPr>
          <p:cNvPr id="51" name="Shape 51"/>
          <p:cNvSpPr txBox="1"/>
          <p:nvPr>
            <p:ph idx="1" type="subTitle"/>
          </p:nvPr>
        </p:nvSpPr>
        <p:spPr>
          <a:xfrm>
            <a:off x="723900" y="3174725"/>
            <a:ext cx="7696199" cy="932099"/>
          </a:xfrm>
          <a:prstGeom prst="rect">
            <a:avLst/>
          </a:prstGeom>
        </p:spPr>
        <p:txBody>
          <a:bodyPr anchorCtr="0" anchor="t" bIns="91425" lIns="91425" rIns="91425" tIns="91425">
            <a:noAutofit/>
          </a:bodyPr>
          <a:lstStyle/>
          <a:p>
            <a:pPr lvl="0">
              <a:spcBef>
                <a:spcPts val="0"/>
              </a:spcBef>
              <a:buNone/>
            </a:pPr>
            <a:r>
              <a:rPr lang="en"/>
              <a:t>September 2015</a:t>
            </a: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5" name="Shape 55"/>
        <p:cNvGrpSpPr/>
        <p:nvPr/>
      </p:nvGrpSpPr>
      <p:grpSpPr>
        <a:xfrm>
          <a:off x="0" y="0"/>
          <a:ext cx="0" cy="0"/>
          <a:chOff x="0" y="0"/>
          <a:chExt cx="0" cy="0"/>
        </a:xfrm>
      </p:grpSpPr>
      <p:sp>
        <p:nvSpPr>
          <p:cNvPr id="56" name="Shape 56"/>
          <p:cNvSpPr txBox="1"/>
          <p:nvPr>
            <p:ph type="title"/>
          </p:nvPr>
        </p:nvSpPr>
        <p:spPr>
          <a:xfrm>
            <a:off x="377775" y="3"/>
            <a:ext cx="8229600" cy="857400"/>
          </a:xfrm>
          <a:prstGeom prst="rect">
            <a:avLst/>
          </a:prstGeom>
        </p:spPr>
        <p:txBody>
          <a:bodyPr anchorCtr="0" anchor="b" bIns="91425" lIns="91425" rIns="91425" tIns="91425">
            <a:noAutofit/>
          </a:bodyPr>
          <a:lstStyle/>
          <a:p>
            <a:pPr lvl="0">
              <a:spcBef>
                <a:spcPts val="0"/>
              </a:spcBef>
              <a:buNone/>
            </a:pPr>
            <a:r>
              <a:rPr lang="en"/>
              <a:t>Themes</a:t>
            </a:r>
          </a:p>
        </p:txBody>
      </p:sp>
      <p:sp>
        <p:nvSpPr>
          <p:cNvPr id="57" name="Shape 57"/>
          <p:cNvSpPr txBox="1"/>
          <p:nvPr>
            <p:ph idx="1" type="body"/>
          </p:nvPr>
        </p:nvSpPr>
        <p:spPr>
          <a:xfrm>
            <a:off x="457200" y="751498"/>
            <a:ext cx="8229600" cy="3989400"/>
          </a:xfrm>
          <a:prstGeom prst="rect">
            <a:avLst/>
          </a:prstGeom>
        </p:spPr>
        <p:txBody>
          <a:bodyPr anchorCtr="0" anchor="t" bIns="91425" lIns="91425" rIns="91425" tIns="91425">
            <a:noAutofit/>
          </a:bodyPr>
          <a:lstStyle/>
          <a:p>
            <a:pPr lvl="0" rtl="0">
              <a:spcBef>
                <a:spcPts val="0"/>
              </a:spcBef>
              <a:buNone/>
            </a:pPr>
            <a:r>
              <a:rPr lang="en"/>
              <a:t>Open source project integration and distributions</a:t>
            </a:r>
          </a:p>
          <a:p>
            <a:pPr lvl="0" rtl="0">
              <a:spcBef>
                <a:spcPts val="0"/>
              </a:spcBef>
              <a:buNone/>
            </a:pPr>
            <a:r>
              <a:rPr lang="en"/>
              <a:t>Security</a:t>
            </a:r>
          </a:p>
          <a:p>
            <a:pPr lvl="0" rtl="0">
              <a:spcBef>
                <a:spcPts val="0"/>
              </a:spcBef>
              <a:buNone/>
            </a:pPr>
            <a:r>
              <a:rPr lang="en"/>
              <a:t>Device configuration</a:t>
            </a:r>
          </a:p>
          <a:p>
            <a:pPr lvl="0">
              <a:spcBef>
                <a:spcPts val="0"/>
              </a:spcBef>
              <a:buNone/>
            </a:pPr>
            <a:r>
              <a:rPr lang="en"/>
              <a:t>Infrastructure support</a:t>
            </a: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1" name="Shape 61"/>
        <p:cNvGrpSpPr/>
        <p:nvPr/>
      </p:nvGrpSpPr>
      <p:grpSpPr>
        <a:xfrm>
          <a:off x="0" y="0"/>
          <a:ext cx="0" cy="0"/>
          <a:chOff x="0" y="0"/>
          <a:chExt cx="0" cy="0"/>
        </a:xfrm>
      </p:grpSpPr>
      <p:sp>
        <p:nvSpPr>
          <p:cNvPr id="62" name="Shape 62"/>
          <p:cNvSpPr txBox="1"/>
          <p:nvPr>
            <p:ph type="title"/>
          </p:nvPr>
        </p:nvSpPr>
        <p:spPr>
          <a:xfrm>
            <a:off x="377775" y="3"/>
            <a:ext cx="8229600" cy="857400"/>
          </a:xfrm>
          <a:prstGeom prst="rect">
            <a:avLst/>
          </a:prstGeom>
        </p:spPr>
        <p:txBody>
          <a:bodyPr anchorCtr="0" anchor="b" bIns="91425" lIns="91425" rIns="91425" tIns="91425">
            <a:noAutofit/>
          </a:bodyPr>
          <a:lstStyle/>
          <a:p>
            <a:pPr lvl="0">
              <a:spcBef>
                <a:spcPts val="0"/>
              </a:spcBef>
              <a:buNone/>
            </a:pPr>
            <a:r>
              <a:rPr lang="en"/>
              <a:t>Open Source Distributions</a:t>
            </a:r>
          </a:p>
        </p:txBody>
      </p:sp>
      <p:sp>
        <p:nvSpPr>
          <p:cNvPr id="63" name="Shape 63"/>
          <p:cNvSpPr txBox="1"/>
          <p:nvPr>
            <p:ph idx="1" type="body"/>
          </p:nvPr>
        </p:nvSpPr>
        <p:spPr>
          <a:xfrm>
            <a:off x="457200" y="751498"/>
            <a:ext cx="8229600" cy="3989400"/>
          </a:xfrm>
          <a:prstGeom prst="rect">
            <a:avLst/>
          </a:prstGeom>
        </p:spPr>
        <p:txBody>
          <a:bodyPr anchorCtr="0" anchor="t" bIns="91425" lIns="91425" rIns="91425" tIns="91425">
            <a:noAutofit/>
          </a:bodyPr>
          <a:lstStyle/>
          <a:p>
            <a:pPr lvl="0" rtl="0">
              <a:spcBef>
                <a:spcPts val="0"/>
              </a:spcBef>
              <a:buNone/>
            </a:pPr>
            <a:r>
              <a:rPr lang="en"/>
              <a:t>Upstream inclusion</a:t>
            </a:r>
          </a:p>
          <a:p>
            <a:pPr indent="457200" lvl="0" rtl="0">
              <a:spcBef>
                <a:spcPts val="0"/>
              </a:spcBef>
              <a:buNone/>
            </a:pPr>
            <a:r>
              <a:rPr lang="en"/>
              <a:t>ONF Atrium</a:t>
            </a:r>
          </a:p>
          <a:p>
            <a:pPr indent="457200" lvl="0" rtl="0">
              <a:spcBef>
                <a:spcPts val="0"/>
              </a:spcBef>
              <a:buNone/>
            </a:pPr>
            <a:r>
              <a:rPr lang="en"/>
              <a:t>OPNFV November release</a:t>
            </a:r>
          </a:p>
          <a:p>
            <a:pPr indent="457200" lvl="0" rtl="0">
              <a:spcBef>
                <a:spcPts val="0"/>
              </a:spcBef>
              <a:buNone/>
            </a:pPr>
            <a:r>
              <a:rPr lang="en"/>
              <a:t>Cloudrouter</a:t>
            </a:r>
          </a:p>
          <a:p>
            <a:pPr lvl="0" rtl="0">
              <a:spcBef>
                <a:spcPts val="0"/>
              </a:spcBef>
              <a:buNone/>
            </a:pPr>
            <a:r>
              <a:rPr lang="en"/>
              <a:t>Integration</a:t>
            </a:r>
          </a:p>
          <a:p>
            <a:pPr indent="457200" lvl="0">
              <a:spcBef>
                <a:spcPts val="0"/>
              </a:spcBef>
              <a:buNone/>
            </a:pPr>
            <a:r>
              <a:rPr lang="en"/>
              <a:t>OpenStack - Neutron layer 2</a:t>
            </a: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7" name="Shape 67"/>
        <p:cNvGrpSpPr/>
        <p:nvPr/>
      </p:nvGrpSpPr>
      <p:grpSpPr>
        <a:xfrm>
          <a:off x="0" y="0"/>
          <a:ext cx="0" cy="0"/>
          <a:chOff x="0" y="0"/>
          <a:chExt cx="0" cy="0"/>
        </a:xfrm>
      </p:grpSpPr>
      <p:sp>
        <p:nvSpPr>
          <p:cNvPr id="68" name="Shape 68"/>
          <p:cNvSpPr txBox="1"/>
          <p:nvPr>
            <p:ph type="title"/>
          </p:nvPr>
        </p:nvSpPr>
        <p:spPr>
          <a:xfrm>
            <a:off x="377775" y="3"/>
            <a:ext cx="8229600" cy="857400"/>
          </a:xfrm>
          <a:prstGeom prst="rect">
            <a:avLst/>
          </a:prstGeom>
        </p:spPr>
        <p:txBody>
          <a:bodyPr anchorCtr="0" anchor="b" bIns="91425" lIns="91425" rIns="91425" tIns="91425">
            <a:noAutofit/>
          </a:bodyPr>
          <a:lstStyle/>
          <a:p>
            <a:pPr lvl="0">
              <a:spcBef>
                <a:spcPts val="0"/>
              </a:spcBef>
              <a:buNone/>
            </a:pPr>
            <a:r>
              <a:rPr lang="en"/>
              <a:t>Security</a:t>
            </a:r>
          </a:p>
        </p:txBody>
      </p:sp>
      <p:sp>
        <p:nvSpPr>
          <p:cNvPr id="69" name="Shape 69"/>
          <p:cNvSpPr txBox="1"/>
          <p:nvPr>
            <p:ph idx="1" type="body"/>
          </p:nvPr>
        </p:nvSpPr>
        <p:spPr>
          <a:xfrm>
            <a:off x="457200" y="751498"/>
            <a:ext cx="8229600" cy="3989400"/>
          </a:xfrm>
          <a:prstGeom prst="rect">
            <a:avLst/>
          </a:prstGeom>
        </p:spPr>
        <p:txBody>
          <a:bodyPr anchorCtr="0" anchor="t" bIns="91425" lIns="91425" rIns="91425" tIns="91425">
            <a:noAutofit/>
          </a:bodyPr>
          <a:lstStyle/>
          <a:p>
            <a:pPr lvl="0" rtl="0">
              <a:spcBef>
                <a:spcPts val="0"/>
              </a:spcBef>
              <a:buNone/>
            </a:pPr>
            <a:r>
              <a:rPr lang="en" sz="2000"/>
              <a:t>GUI login</a:t>
            </a:r>
          </a:p>
          <a:p>
            <a:pPr lvl="0" rtl="0">
              <a:spcBef>
                <a:spcPts val="0"/>
              </a:spcBef>
              <a:buNone/>
            </a:pPr>
            <a:r>
              <a:rPr lang="en" sz="2000"/>
              <a:t>CLI (public/private keys)</a:t>
            </a:r>
          </a:p>
          <a:p>
            <a:pPr lvl="0" rtl="0">
              <a:spcBef>
                <a:spcPts val="0"/>
              </a:spcBef>
              <a:buNone/>
            </a:pPr>
            <a:r>
              <a:rPr lang="en" sz="2000"/>
              <a:t>REST interfaces</a:t>
            </a:r>
          </a:p>
          <a:p>
            <a:pPr lvl="0" rtl="0">
              <a:spcBef>
                <a:spcPts val="0"/>
              </a:spcBef>
              <a:buNone/>
            </a:pPr>
            <a:r>
              <a:rPr lang="en" sz="2000"/>
              <a:t>TLS support for internode communication (east-west)</a:t>
            </a:r>
          </a:p>
          <a:p>
            <a:pPr lvl="0" rtl="0">
              <a:spcBef>
                <a:spcPts val="0"/>
              </a:spcBef>
              <a:buNone/>
            </a:pPr>
            <a:r>
              <a:rPr lang="en" sz="2000"/>
              <a:t>Security mode ONOS (SRI, KAIST collaboration)</a:t>
            </a:r>
          </a:p>
          <a:p>
            <a:pPr lvl="0" rtl="0">
              <a:spcBef>
                <a:spcPts val="0"/>
              </a:spcBef>
              <a:buNone/>
            </a:pPr>
            <a:r>
              <a:rPr lang="en"/>
              <a:t>	</a:t>
            </a:r>
            <a:r>
              <a:rPr lang="en" sz="1800"/>
              <a:t>Constrain app to part of the network</a:t>
            </a:r>
          </a:p>
          <a:p>
            <a:pPr lvl="0" rtl="0">
              <a:spcBef>
                <a:spcPts val="0"/>
              </a:spcBef>
              <a:buNone/>
            </a:pPr>
            <a:r>
              <a:rPr lang="en" sz="1800"/>
              <a:t>	Constrain app to header space</a:t>
            </a:r>
          </a:p>
          <a:p>
            <a:pPr lvl="0" rtl="0">
              <a:spcBef>
                <a:spcPts val="0"/>
              </a:spcBef>
              <a:buNone/>
            </a:pPr>
            <a:r>
              <a:rPr lang="en" sz="1800"/>
              <a:t>	Applications permissions in a “manifest” (similar to cellular)</a:t>
            </a:r>
          </a:p>
          <a:p>
            <a:pPr lvl="0">
              <a:spcBef>
                <a:spcPts val="0"/>
              </a:spcBef>
              <a:buNone/>
            </a:pPr>
            <a:r>
              <a:rPr lang="en" sz="1800"/>
              <a:t>	OSGi / Java 2 Security - allows code to be authenticated (apps, bundles)</a:t>
            </a: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3" name="Shape 73"/>
        <p:cNvGrpSpPr/>
        <p:nvPr/>
      </p:nvGrpSpPr>
      <p:grpSpPr>
        <a:xfrm>
          <a:off x="0" y="0"/>
          <a:ext cx="0" cy="0"/>
          <a:chOff x="0" y="0"/>
          <a:chExt cx="0" cy="0"/>
        </a:xfrm>
      </p:grpSpPr>
      <p:sp>
        <p:nvSpPr>
          <p:cNvPr id="74" name="Shape 74"/>
          <p:cNvSpPr txBox="1"/>
          <p:nvPr>
            <p:ph type="title"/>
          </p:nvPr>
        </p:nvSpPr>
        <p:spPr>
          <a:xfrm>
            <a:off x="377775" y="3"/>
            <a:ext cx="8229600" cy="857400"/>
          </a:xfrm>
          <a:prstGeom prst="rect">
            <a:avLst/>
          </a:prstGeom>
        </p:spPr>
        <p:txBody>
          <a:bodyPr anchorCtr="0" anchor="b" bIns="91425" lIns="91425" rIns="91425" tIns="91425">
            <a:noAutofit/>
          </a:bodyPr>
          <a:lstStyle/>
          <a:p>
            <a:pPr lvl="0">
              <a:spcBef>
                <a:spcPts val="0"/>
              </a:spcBef>
              <a:buNone/>
            </a:pPr>
            <a:r>
              <a:rPr lang="en"/>
              <a:t>Device Configuration</a:t>
            </a:r>
          </a:p>
        </p:txBody>
      </p:sp>
      <p:sp>
        <p:nvSpPr>
          <p:cNvPr id="75" name="Shape 75"/>
          <p:cNvSpPr txBox="1"/>
          <p:nvPr>
            <p:ph idx="1" type="body"/>
          </p:nvPr>
        </p:nvSpPr>
        <p:spPr>
          <a:xfrm>
            <a:off x="457200" y="751498"/>
            <a:ext cx="8229600" cy="3989400"/>
          </a:xfrm>
          <a:prstGeom prst="rect">
            <a:avLst/>
          </a:prstGeom>
        </p:spPr>
        <p:txBody>
          <a:bodyPr anchorCtr="0" anchor="t" bIns="91425" lIns="91425" rIns="91425" tIns="91425">
            <a:noAutofit/>
          </a:bodyPr>
          <a:lstStyle/>
          <a:p>
            <a:pPr lvl="0" rtl="0">
              <a:spcBef>
                <a:spcPts val="0"/>
              </a:spcBef>
              <a:buNone/>
            </a:pPr>
            <a:r>
              <a:rPr lang="en"/>
              <a:t>New configuration subsystem - all ONOS apps can get their config from a central repository </a:t>
            </a:r>
            <a:r>
              <a:rPr lang="en" sz="1800"/>
              <a:t>(used to be separate files)</a:t>
            </a:r>
          </a:p>
          <a:p>
            <a:pPr lvl="0" rtl="0">
              <a:spcBef>
                <a:spcPts val="0"/>
              </a:spcBef>
              <a:buNone/>
            </a:pPr>
            <a:r>
              <a:rPr lang="en"/>
              <a:t>Apps ported to use it (like SDN-IP)</a:t>
            </a:r>
          </a:p>
          <a:p>
            <a:pPr lvl="0" rtl="0">
              <a:spcBef>
                <a:spcPts val="0"/>
              </a:spcBef>
              <a:buNone/>
            </a:pPr>
            <a:r>
              <a:rPr lang="en"/>
              <a:t>Netconf/Yang model for ACLs at southbound</a:t>
            </a:r>
          </a:p>
          <a:p>
            <a:pPr lvl="0">
              <a:spcBef>
                <a:spcPts val="0"/>
              </a:spcBef>
              <a:buNone/>
            </a:pPr>
            <a:r>
              <a:rPr lang="en"/>
              <a:t>OVSDB plug-in</a:t>
            </a:r>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9" name="Shape 79"/>
        <p:cNvGrpSpPr/>
        <p:nvPr/>
      </p:nvGrpSpPr>
      <p:grpSpPr>
        <a:xfrm>
          <a:off x="0" y="0"/>
          <a:ext cx="0" cy="0"/>
          <a:chOff x="0" y="0"/>
          <a:chExt cx="0" cy="0"/>
        </a:xfrm>
      </p:grpSpPr>
      <p:sp>
        <p:nvSpPr>
          <p:cNvPr id="80" name="Shape 80"/>
          <p:cNvSpPr txBox="1"/>
          <p:nvPr>
            <p:ph type="title"/>
          </p:nvPr>
        </p:nvSpPr>
        <p:spPr>
          <a:xfrm>
            <a:off x="377775" y="3"/>
            <a:ext cx="8229600" cy="857400"/>
          </a:xfrm>
          <a:prstGeom prst="rect">
            <a:avLst/>
          </a:prstGeom>
        </p:spPr>
        <p:txBody>
          <a:bodyPr anchorCtr="0" anchor="b" bIns="91425" lIns="91425" rIns="91425" tIns="91425">
            <a:noAutofit/>
          </a:bodyPr>
          <a:lstStyle/>
          <a:p>
            <a:pPr lvl="0">
              <a:spcBef>
                <a:spcPts val="0"/>
              </a:spcBef>
              <a:buNone/>
            </a:pPr>
            <a:r>
              <a:rPr lang="en"/>
              <a:t>Other infrastructure</a:t>
            </a:r>
          </a:p>
        </p:txBody>
      </p:sp>
      <p:sp>
        <p:nvSpPr>
          <p:cNvPr id="81" name="Shape 81"/>
          <p:cNvSpPr txBox="1"/>
          <p:nvPr>
            <p:ph idx="1" type="body"/>
          </p:nvPr>
        </p:nvSpPr>
        <p:spPr>
          <a:xfrm>
            <a:off x="457200" y="751498"/>
            <a:ext cx="8229600" cy="3989400"/>
          </a:xfrm>
          <a:prstGeom prst="rect">
            <a:avLst/>
          </a:prstGeom>
        </p:spPr>
        <p:txBody>
          <a:bodyPr anchorCtr="0" anchor="t" bIns="91425" lIns="91425" rIns="91425" tIns="91425">
            <a:noAutofit/>
          </a:bodyPr>
          <a:lstStyle/>
          <a:p>
            <a:pPr lvl="0" rtl="0">
              <a:spcBef>
                <a:spcPts val="0"/>
              </a:spcBef>
              <a:buNone/>
            </a:pPr>
            <a:r>
              <a:rPr lang="en"/>
              <a:t>Adaptive flow statistics subsystem</a:t>
            </a:r>
          </a:p>
          <a:p>
            <a:pPr lvl="0" rtl="0">
              <a:spcBef>
                <a:spcPts val="0"/>
              </a:spcBef>
              <a:buNone/>
            </a:pPr>
            <a:r>
              <a:rPr lang="en"/>
              <a:t>PCEP southbound plug-in</a:t>
            </a:r>
          </a:p>
          <a:p>
            <a:pPr lvl="0" rtl="0">
              <a:spcBef>
                <a:spcPts val="0"/>
              </a:spcBef>
              <a:buNone/>
            </a:pPr>
            <a:r>
              <a:rPr lang="en"/>
              <a:t>VXLAN tunnel setup</a:t>
            </a:r>
          </a:p>
          <a:p>
            <a:pPr lvl="0" rtl="0">
              <a:spcBef>
                <a:spcPts val="0"/>
              </a:spcBef>
              <a:buNone/>
            </a:pPr>
            <a:r>
              <a:rPr lang="en"/>
              <a:t>DHCP server app</a:t>
            </a:r>
          </a:p>
          <a:p>
            <a:pPr lvl="0" rtl="0">
              <a:spcBef>
                <a:spcPts val="0"/>
              </a:spcBef>
              <a:buNone/>
            </a:pPr>
            <a:r>
              <a:rPr lang="en"/>
              <a:t>Metrics collection subsystem</a:t>
            </a:r>
          </a:p>
          <a:p>
            <a:pPr lvl="0" rtl="0">
              <a:spcBef>
                <a:spcPts val="0"/>
              </a:spcBef>
              <a:buNone/>
            </a:pPr>
            <a:r>
              <a:rPr lang="en"/>
              <a:t>OpenFlow meter support</a:t>
            </a:r>
          </a:p>
          <a:p>
            <a:pPr lvl="0" rtl="0">
              <a:spcBef>
                <a:spcPts val="0"/>
              </a:spcBef>
              <a:buNone/>
            </a:pPr>
            <a:r>
              <a:rPr lang="en"/>
              <a:t>Multicast improvements to IGMP snooping, PIM-SSM</a:t>
            </a:r>
          </a:p>
          <a:p>
            <a:pPr lvl="0">
              <a:spcBef>
                <a:spcPts val="0"/>
              </a:spcBef>
              <a:buNone/>
            </a:pPr>
            <a:r>
              <a:rPr lang="en"/>
              <a:t>GUI topology overlays and better link highlighting</a:t>
            </a:r>
          </a:p>
        </p:txBody>
      </p:sp>
    </p:spTree>
  </p:cSld>
  <p:clrMapOvr>
    <a:masterClrMapping/>
  </p:clrMapOvr>
  <p:transition spd="slow">
    <p:fade/>
  </p:transition>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NOS">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