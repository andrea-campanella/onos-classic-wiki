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2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media/image11.png" ContentType="image/png"/>
  <Override PartName="/ppt/media/image9.png" ContentType="image/png"/>
  <Override PartName="/ppt/media/image8.png" ContentType="image/png"/>
  <Override PartName="/ppt/media/image6.png" ContentType="image/png"/>
  <Override PartName="/ppt/media/image5.png" ContentType="image/png"/>
  <Override PartName="/ppt/media/image7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0.png" ContentType="image/png"/>
  <Override PartName="/ppt/media/image1.jpeg" ContentType="image/jpe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24387175" cy="13716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lang="en-IN" sz="2000">
                <a:latin typeface="Arial"/>
              </a:rPr>
              <a:t>Click to edit the notes format</a:t>
            </a:r>
            <a:endParaRPr/>
          </a:p>
        </p:txBody>
      </p:sp>
      <p:sp>
        <p:nvSpPr>
          <p:cNvPr id="82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lang="en-IN" sz="1400">
                <a:latin typeface="Times New Roman"/>
              </a:rPr>
              <a:t>&lt;header&gt;</a:t>
            </a:r>
            <a:endParaRPr/>
          </a:p>
        </p:txBody>
      </p:sp>
      <p:sp>
        <p:nvSpPr>
          <p:cNvPr id="83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lang="en-IN" sz="1400">
                <a:latin typeface="Times New Roman"/>
              </a:rPr>
              <a:t>&lt;date/time&gt;</a:t>
            </a:r>
            <a:endParaRPr/>
          </a:p>
        </p:txBody>
      </p:sp>
      <p:sp>
        <p:nvSpPr>
          <p:cNvPr id="84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lang="en-IN" sz="1400">
                <a:latin typeface="Times New Roman"/>
              </a:rPr>
              <a:t>&lt;footer&gt;</a:t>
            </a:r>
            <a:endParaRPr/>
          </a:p>
        </p:txBody>
      </p:sp>
      <p:sp>
        <p:nvSpPr>
          <p:cNvPr id="85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F79979BB-2101-408F-892C-74B237EB96AE}" type="slidenum">
              <a:rPr lang="en-IN" sz="1400">
                <a:latin typeface="Times New Roman"/>
              </a:rPr>
              <a:t>&lt;number&gt;</a:t>
            </a:fld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1100">
                <a:latin typeface="Arial"/>
              </a:rPr>
              <a:t>Example for Translation includes - </a:t>
            </a:r>
            <a:r>
              <a:rPr b="1" lang="en-IN" sz="1100">
                <a:latin typeface="Arial"/>
                <a:ea typeface="+mn-ea"/>
              </a:rPr>
              <a:t> Example: JSON to JAVA, XML to JAVA 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Example of Generators includes –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REST Generator (mapping JSON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 </a:t>
            </a:r>
            <a:r>
              <a:rPr b="1" lang="en-IN" sz="1100">
                <a:latin typeface="Arial"/>
                <a:ea typeface="+mn-ea"/>
              </a:rPr>
              <a:t>- NETCONF Generator (mapping XML to JAVA and vice versa)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Etc.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file has java interface + builder.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Some technical details: for the query why metadata is generated separately?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1100">
                <a:latin typeface="Arial"/>
                <a:ea typeface="+mn-ea"/>
              </a:rPr>
              <a:t>Generated JAVA interfaces will be simple and will not have information which it doens'not have all the information present in YANG file (example: Range/Restrictions in YANG will not be present). But this information is required by Generators, thereby Metadata is used.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219320" y="3209400"/>
            <a:ext cx="21947760" cy="795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831240" y="183960"/>
            <a:ext cx="22723920" cy="5228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193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4657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1219320" y="7364520"/>
            <a:ext cx="219477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1219320" y="7364520"/>
            <a:ext cx="219477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124657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12193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8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7207920" y="3209040"/>
            <a:ext cx="9970200" cy="7954920"/>
          </a:xfrm>
          <a:prstGeom prst="rect">
            <a:avLst/>
          </a:prstGeom>
          <a:ln>
            <a:noFill/>
          </a:ln>
        </p:spPr>
      </p:pic>
      <p:pic>
        <p:nvPicPr>
          <p:cNvPr id="39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7207920" y="3209040"/>
            <a:ext cx="9970200" cy="795492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1219320" y="3209400"/>
            <a:ext cx="21947760" cy="7955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831240" y="183960"/>
            <a:ext cx="22723920" cy="5228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12193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124657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9320" y="7364520"/>
            <a:ext cx="219477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1219320" y="7364520"/>
            <a:ext cx="219477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2465720" y="320940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124657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1219320" y="7364520"/>
            <a:ext cx="10710360" cy="3794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88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79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7207920" y="3209040"/>
            <a:ext cx="9970200" cy="7954920"/>
          </a:xfrm>
          <a:prstGeom prst="rect">
            <a:avLst/>
          </a:prstGeom>
          <a:ln>
            <a:noFill/>
          </a:ln>
        </p:spPr>
      </p:pic>
      <p:pic>
        <p:nvPicPr>
          <p:cNvPr id="80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7207920" y="3209040"/>
            <a:ext cx="9970200" cy="795492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Shape 7" descr=""/>
          <p:cNvPicPr/>
          <p:nvPr/>
        </p:nvPicPr>
        <p:blipFill>
          <a:blip r:embed="rId2"/>
          <a:srcRect l="0" t="419147" r="0" b="1154741"/>
          <a:stretch>
            <a:fillRect/>
          </a:stretch>
        </p:blipFill>
        <p:spPr>
          <a:xfrm>
            <a:off x="-12600" y="-152280"/>
            <a:ext cx="24386760" cy="658656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0" y="5083560"/>
            <a:ext cx="24386760" cy="5364720"/>
          </a:xfrm>
          <a:prstGeom prst="rect">
            <a:avLst/>
          </a:prstGeom>
          <a:solidFill>
            <a:srgbClr val="b43232"/>
          </a:solidFill>
          <a:ln>
            <a:noFill/>
          </a:ln>
        </p:spPr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831240" y="5083560"/>
            <a:ext cx="22723920" cy="5364720"/>
          </a:xfrm>
          <a:prstGeom prst="rect">
            <a:avLst/>
          </a:prstGeom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lang="en-IN" sz="13900">
                <a:solidFill>
                  <a:srgbClr val="ffffff"/>
                </a:solidFill>
                <a:latin typeface="Droid Sans"/>
                <a:ea typeface="Droid Sans"/>
              </a:rPr>
              <a:t>Click to edit the title text format</a:t>
            </a:r>
            <a:endParaRPr/>
          </a:p>
        </p:txBody>
      </p:sp>
      <p:sp>
        <p:nvSpPr>
          <p:cNvPr id="3" name="CustomShape 3"/>
          <p:cNvSpPr/>
          <p:nvPr/>
        </p:nvSpPr>
        <p:spPr>
          <a:xfrm>
            <a:off x="54000" y="12760560"/>
            <a:ext cx="5339520" cy="1127520"/>
          </a:xfrm>
          <a:prstGeom prst="rect">
            <a:avLst/>
          </a:prstGeom>
          <a:noFill/>
          <a:ln>
            <a:noFill/>
          </a:ln>
        </p:spPr>
        <p:txBody>
          <a:bodyPr lIns="243720" rIns="243720" tIns="243720" bIns="243720"/>
          <a:p>
            <a:pPr>
              <a:lnSpc>
                <a:spcPct val="100000"/>
              </a:lnSpc>
            </a:pPr>
            <a:r>
              <a:rPr b="1" lang="en-IN" sz="3700">
                <a:solidFill>
                  <a:srgbClr val="000000"/>
                </a:solidFill>
                <a:latin typeface="Droid Sans"/>
                <a:ea typeface="Droid Sans"/>
              </a:rPr>
              <a:t>#</a:t>
            </a:r>
            <a:r>
              <a:rPr b="1" lang="en-IN" sz="3700">
                <a:solidFill>
                  <a:srgbClr val="222222"/>
                </a:solidFill>
                <a:latin typeface="Droid Sans"/>
                <a:ea typeface="Droid Sans"/>
              </a:rPr>
              <a:t>ONOSProject</a:t>
            </a:r>
            <a:endParaRPr/>
          </a:p>
        </p:txBody>
      </p:sp>
      <p:pic>
        <p:nvPicPr>
          <p:cNvPr id="4" name="Shape 11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1760200" y="11779200"/>
            <a:ext cx="2381040" cy="1647360"/>
          </a:xfrm>
          <a:prstGeom prst="rect">
            <a:avLst/>
          </a:prstGeom>
          <a:ln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IN" sz="14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 sz="14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 sz="1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 sz="14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54000" y="12760560"/>
            <a:ext cx="5339520" cy="1127520"/>
          </a:xfrm>
          <a:prstGeom prst="rect">
            <a:avLst/>
          </a:prstGeom>
          <a:noFill/>
          <a:ln>
            <a:noFill/>
          </a:ln>
        </p:spPr>
        <p:txBody>
          <a:bodyPr lIns="243720" rIns="243720" tIns="243720" bIns="243720"/>
          <a:p>
            <a:pPr>
              <a:lnSpc>
                <a:spcPct val="100000"/>
              </a:lnSpc>
            </a:pPr>
            <a:r>
              <a:rPr b="1" lang="en-IN" sz="3700">
                <a:solidFill>
                  <a:srgbClr val="000000"/>
                </a:solidFill>
                <a:latin typeface="Droid Sans"/>
                <a:ea typeface="Droid Sans"/>
              </a:rPr>
              <a:t>#</a:t>
            </a:r>
            <a:r>
              <a:rPr b="1" lang="en-IN" sz="3700">
                <a:solidFill>
                  <a:srgbClr val="222222"/>
                </a:solidFill>
                <a:latin typeface="Droid Sans"/>
                <a:ea typeface="Droid Sans"/>
              </a:rPr>
              <a:t>ONOSProject</a:t>
            </a:r>
            <a:endParaRPr/>
          </a:p>
        </p:txBody>
      </p:sp>
      <p:sp>
        <p:nvSpPr>
          <p:cNvPr id="41" name="CustomShape 2"/>
          <p:cNvSpPr/>
          <p:nvPr/>
        </p:nvSpPr>
        <p:spPr>
          <a:xfrm>
            <a:off x="0" y="0"/>
            <a:ext cx="24386760" cy="1584720"/>
          </a:xfrm>
          <a:prstGeom prst="rect">
            <a:avLst/>
          </a:prstGeom>
          <a:solidFill>
            <a:srgbClr val="b43232"/>
          </a:solidFill>
          <a:ln>
            <a:noFill/>
          </a:ln>
        </p:spPr>
      </p:sp>
      <p:sp>
        <p:nvSpPr>
          <p:cNvPr id="42" name="CustomShape 3"/>
          <p:cNvSpPr/>
          <p:nvPr/>
        </p:nvSpPr>
        <p:spPr>
          <a:xfrm>
            <a:off x="22596120" y="12435120"/>
            <a:ext cx="1463040" cy="1049400"/>
          </a:xfrm>
          <a:prstGeom prst="rect">
            <a:avLst/>
          </a:prstGeom>
          <a:noFill/>
          <a:ln>
            <a:noFill/>
          </a:ln>
        </p:spPr>
        <p:txBody>
          <a:bodyPr lIns="243720" rIns="243720" tIns="243720" bIns="243720" anchor="ctr"/>
          <a:p>
            <a:fld id="{811A59BE-6F50-42CE-B607-C073097A9047}" type="slidenum">
              <a:rPr lang="en-IN">
                <a:latin typeface="Arial"/>
              </a:rPr>
              <a:t>&lt;number&gt;</a:t>
            </a:fld>
            <a:endParaRPr/>
          </a:p>
        </p:txBody>
      </p:sp>
      <p:pic>
        <p:nvPicPr>
          <p:cNvPr id="43" name="Shape 21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22035240" y="-347760"/>
            <a:ext cx="2023920" cy="2089440"/>
          </a:xfrm>
          <a:prstGeom prst="rect">
            <a:avLst/>
          </a:prstGeom>
          <a:ln>
            <a:noFill/>
          </a:ln>
        </p:spPr>
      </p:pic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Click to edit the title text format</a:t>
            </a:r>
            <a:endParaRPr/>
          </a:p>
        </p:txBody>
      </p:sp>
      <p:sp>
        <p:nvSpPr>
          <p:cNvPr id="45" name="PlaceHolder 5"/>
          <p:cNvSpPr>
            <a:spLocks noGrp="1"/>
          </p:cNvSpPr>
          <p:nvPr>
            <p:ph type="title"/>
          </p:nvPr>
        </p:nvSpPr>
        <p:spPr>
          <a:xfrm>
            <a:off x="831240" y="2012760"/>
            <a:ext cx="22723920" cy="10747440"/>
          </a:xfrm>
          <a:prstGeom prst="rect">
            <a:avLst/>
          </a:prstGeom>
        </p:spPr>
        <p:txBody>
          <a:bodyPr tIns="91440" bIns="91440"/>
          <a:p>
            <a:pPr>
              <a:lnSpc>
                <a:spcPct val="100000"/>
              </a:lnSpc>
            </a:pPr>
            <a:r>
              <a:rPr lang="en-IN" sz="3700">
                <a:solidFill>
                  <a:srgbClr val="000000"/>
                </a:solidFill>
                <a:latin typeface="Droid Sans"/>
                <a:ea typeface="Droid Sans"/>
              </a:rPr>
              <a:t>Click to edit the title text format</a:t>
            </a:r>
            <a:endParaRPr/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1219320" y="3209400"/>
            <a:ext cx="21947760" cy="795492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IN" sz="14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 sz="14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 sz="1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 sz="14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31240" y="5083560"/>
            <a:ext cx="22723920" cy="5364720"/>
          </a:xfrm>
          <a:prstGeom prst="rect">
            <a:avLst/>
          </a:prstGeom>
        </p:spPr>
        <p:txBody>
          <a:bodyPr tIns="91440" bIns="91440" anchor="ctr"/>
          <a:p>
            <a:pPr algn="ctr">
              <a:lnSpc>
                <a:spcPct val="100000"/>
              </a:lnSpc>
            </a:pPr>
            <a:r>
              <a:rPr b="1" lang="en-IN" sz="9600">
                <a:solidFill>
                  <a:srgbClr val="ffffff"/>
                </a:solidFill>
                <a:latin typeface="Droid Sans"/>
                <a:ea typeface="Droid Sans"/>
              </a:rPr>
              <a:t>ONOS YANG Utils Demo</a:t>
            </a:r>
            <a:endParaRPr/>
          </a:p>
        </p:txBody>
      </p:sp>
      <p:sp>
        <p:nvSpPr>
          <p:cNvPr id="87" name="CustomShape 2"/>
          <p:cNvSpPr/>
          <p:nvPr/>
        </p:nvSpPr>
        <p:spPr>
          <a:xfrm>
            <a:off x="7697880" y="8686800"/>
            <a:ext cx="8762760" cy="699840"/>
          </a:xfrm>
          <a:prstGeom prst="rect">
            <a:avLst/>
          </a:prstGeom>
          <a:noFill/>
          <a:ln>
            <a:noFill/>
          </a:ln>
        </p:spPr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Contents</a:t>
            </a:r>
            <a:endParaRPr/>
          </a:p>
        </p:txBody>
      </p:sp>
      <p:sp>
        <p:nvSpPr>
          <p:cNvPr id="89" name="TextShape 2"/>
          <p:cNvSpPr txBox="1"/>
          <p:nvPr/>
        </p:nvSpPr>
        <p:spPr>
          <a:xfrm>
            <a:off x="992160" y="1523880"/>
            <a:ext cx="22723920" cy="10747440"/>
          </a:xfrm>
          <a:prstGeom prst="rect">
            <a:avLst/>
          </a:prstGeom>
        </p:spPr>
        <p:txBody>
          <a:bodyPr lIns="122040" rIns="122040" tIns="60840" bIns="60840"/>
          <a:p>
            <a:pPr/>
            <a:r>
              <a:rPr b="1" lang="en-IN" sz="6000">
                <a:solidFill>
                  <a:srgbClr val="000000"/>
                </a:solidFill>
                <a:latin typeface="Droid Sans"/>
              </a:rPr>
              <a:t>
</a:t>
            </a:r>
            <a:r>
              <a:rPr b="1" lang="en-IN" sz="6600">
                <a:solidFill>
                  <a:srgbClr val="000000"/>
                </a:solidFill>
                <a:latin typeface="Droid Sans"/>
              </a:rPr>
              <a:t>Overview</a:t>
            </a:r>
            <a:r>
              <a:rPr b="1" lang="en-IN" sz="6600">
                <a:solidFill>
                  <a:srgbClr val="000000"/>
                </a:solidFill>
                <a:latin typeface="Droid Sans"/>
              </a:rPr>
              <a:t>
</a:t>
            </a:r>
            <a:r>
              <a:rPr b="1" lang="en-IN" sz="6600">
                <a:solidFill>
                  <a:srgbClr val="000000"/>
                </a:solidFill>
                <a:latin typeface="Droid Sans"/>
              </a:rPr>
              <a:t>
</a:t>
            </a:r>
            <a:r>
              <a:rPr b="1" lang="en-IN" sz="6600">
                <a:solidFill>
                  <a:srgbClr val="000000"/>
                </a:solidFill>
                <a:latin typeface="Droid Sans"/>
              </a:rPr>
              <a:t>YANG project status and roadmap </a:t>
            </a:r>
            <a:r>
              <a:rPr b="1" lang="en-IN" sz="6600">
                <a:solidFill>
                  <a:srgbClr val="000000"/>
                </a:solidFill>
                <a:latin typeface="Droid Sans"/>
              </a:rPr>
              <a:t>
</a:t>
            </a:r>
            <a:r>
              <a:rPr b="1" lang="en-IN" sz="6600">
                <a:latin typeface="Droid Sans"/>
              </a:rPr>
              <a:t>
</a:t>
            </a:r>
            <a:r>
              <a:rPr b="1" lang="en-IN" sz="6600">
                <a:latin typeface="Droid Sans"/>
              </a:rPr>
              <a:t>YANG Utils user guide</a:t>
            </a:r>
            <a:r>
              <a:rPr b="1" lang="en-IN" sz="6600">
                <a:latin typeface="Droid Sans"/>
              </a:rPr>
              <a:t>
</a:t>
            </a:r>
            <a:r>
              <a:rPr b="1" lang="en-IN" sz="6600">
                <a:solidFill>
                  <a:srgbClr val="000000"/>
                </a:solidFill>
                <a:latin typeface="Droid Sans"/>
              </a:rPr>
              <a:t>
</a:t>
            </a:r>
            <a:r>
              <a:rPr b="1" lang="en-IN" sz="6600">
                <a:solidFill>
                  <a:srgbClr val="000000"/>
                </a:solidFill>
                <a:latin typeface="Droid Sans"/>
              </a:rPr>
              <a:t>Demo application</a:t>
            </a:r>
            <a:endParaRPr/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Overview</a:t>
            </a:r>
            <a:endParaRPr/>
          </a:p>
        </p:txBody>
      </p:sp>
      <p:sp>
        <p:nvSpPr>
          <p:cNvPr id="91" name="CustomShape 2"/>
          <p:cNvSpPr/>
          <p:nvPr/>
        </p:nvSpPr>
        <p:spPr>
          <a:xfrm>
            <a:off x="1220760" y="1737720"/>
            <a:ext cx="1447776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5400">
                <a:solidFill>
                  <a:srgbClr val="000000"/>
                </a:solidFill>
                <a:latin typeface="Arial"/>
                <a:ea typeface="Arial"/>
              </a:rPr>
              <a:t>What is YANG Utils?</a:t>
            </a:r>
            <a:endParaRPr/>
          </a:p>
          <a:p>
            <a:pPr lvl="4">
              <a:lnSpc>
                <a:spcPct val="100000"/>
              </a:lnSpc>
              <a:buFont typeface="Arial"/>
              <a:buChar char="•"/>
            </a:pP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Utility to auto-generate Java interfaces corresponding to a YANG.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•"/>
            </a:pP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Generates the metadata information (i.e. YANG schema representation in Java)</a:t>
            </a:r>
            <a:endParaRPr/>
          </a:p>
          <a:p>
            <a:pPr lvl="3">
              <a:lnSpc>
                <a:spcPct val="100000"/>
              </a:lnSpc>
              <a:buFont typeface="Arial"/>
              <a:buChar char="•"/>
            </a:pPr>
            <a:endParaRPr/>
          </a:p>
          <a:p>
            <a:pPr>
              <a:lnSpc>
                <a:spcPct val="100000"/>
              </a:lnSpc>
            </a:pPr>
            <a:r>
              <a:rPr b="1" lang="en-IN" sz="5400">
                <a:solidFill>
                  <a:srgbClr val="000000"/>
                </a:solidFill>
                <a:latin typeface="Arial"/>
                <a:ea typeface="Arial"/>
              </a:rPr>
              <a:t>Usage of YANG Utils.</a:t>
            </a:r>
            <a:endParaRPr/>
          </a:p>
          <a:p>
            <a:pPr lvl="4">
              <a:lnSpc>
                <a:spcPct val="100000"/>
              </a:lnSpc>
              <a:buFont typeface="StarSymbol"/>
              <a:buAutoNum type="arabicParenR"/>
            </a:pPr>
            <a:r>
              <a:rPr b="1" lang="en-IN" sz="4000">
                <a:solidFill>
                  <a:srgbClr val="000000"/>
                </a:solidFill>
                <a:latin typeface="Arial"/>
                <a:ea typeface="Arial"/>
              </a:rPr>
              <a:t>By Applications: </a:t>
            </a: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Models it’s NBI interfaces in YANG and use Utils to auto-generate Java for external interaction.</a:t>
            </a:r>
            <a:endParaRPr/>
          </a:p>
          <a:p>
            <a:pPr lvl="4">
              <a:lnSpc>
                <a:spcPct val="100000"/>
              </a:lnSpc>
              <a:buFont typeface="StarSymbol"/>
              <a:buAutoNum type="arabicParenR"/>
            </a:pPr>
            <a:r>
              <a:rPr b="1" lang="en-IN" sz="4000">
                <a:solidFill>
                  <a:srgbClr val="000000"/>
                </a:solidFill>
                <a:latin typeface="Arial"/>
                <a:ea typeface="Arial"/>
              </a:rPr>
              <a:t>By Driver: </a:t>
            </a: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Models device schema in YANG and use Utils to auto-generate Java for interaction with device.</a:t>
            </a:r>
            <a:endParaRPr/>
          </a:p>
          <a:p>
            <a:pPr lvl="4">
              <a:lnSpc>
                <a:spcPct val="100000"/>
              </a:lnSpc>
              <a:buFont typeface="StarSymbol"/>
              <a:buAutoNum type="arabicParenR"/>
            </a:pPr>
            <a:r>
              <a:rPr b="1" lang="en-IN" sz="4000">
                <a:solidFill>
                  <a:srgbClr val="000000"/>
                </a:solidFill>
                <a:latin typeface="Arial"/>
                <a:ea typeface="Arial"/>
              </a:rPr>
              <a:t>By YANG Management System (YANG Shell): </a:t>
            </a:r>
            <a:endParaRPr/>
          </a:p>
          <a:p>
            <a:pPr lvl="8">
              <a:lnSpc>
                <a:spcPct val="100000"/>
              </a:lnSpc>
              <a:buFont typeface="Wingdings" charset="2"/>
              <a:buChar char=""/>
            </a:pP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For translation between Java &amp; other language  (using utils generated Metadata)</a:t>
            </a:r>
            <a:endParaRPr/>
          </a:p>
          <a:p>
            <a:pPr lvl="8">
              <a:lnSpc>
                <a:spcPct val="100000"/>
              </a:lnSpc>
              <a:buFont typeface="Wingdings" charset="2"/>
              <a:buChar char=""/>
            </a:pP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For information exchange with Application</a:t>
            </a:r>
            <a:endParaRPr/>
          </a:p>
          <a:p>
            <a:pPr>
              <a:lnSpc>
                <a:spcPct val="100000"/>
              </a:lnSpc>
            </a:pP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IN" sz="4000">
                <a:solidFill>
                  <a:srgbClr val="000000"/>
                </a:solidFill>
                <a:latin typeface="Arial"/>
                <a:ea typeface="Arial"/>
              </a:rPr>
              <a:t>(using utils generated Java interfaces)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92" name="CustomShape 3"/>
          <p:cNvSpPr/>
          <p:nvPr/>
        </p:nvSpPr>
        <p:spPr>
          <a:xfrm>
            <a:off x="16560000" y="2514600"/>
            <a:ext cx="2643480" cy="10645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Arial"/>
              </a:rPr>
              <a:t>Goldeneye</a:t>
            </a:r>
            <a:endParaRPr/>
          </a:p>
        </p:txBody>
      </p:sp>
      <p:pic>
        <p:nvPicPr>
          <p:cNvPr id="93" name="Picture 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6613280" y="4495680"/>
            <a:ext cx="7539840" cy="5609880"/>
          </a:xfrm>
          <a:prstGeom prst="rect">
            <a:avLst/>
          </a:prstGeom>
          <a:ln w="936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9080000" y="2264760"/>
            <a:ext cx="2028600" cy="1695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YANG status and roadmap</a:t>
            </a:r>
            <a:endParaRPr/>
          </a:p>
        </p:txBody>
      </p:sp>
      <p:sp>
        <p:nvSpPr>
          <p:cNvPr id="96" name="CustomShape 2"/>
          <p:cNvSpPr/>
          <p:nvPr/>
        </p:nvSpPr>
        <p:spPr>
          <a:xfrm>
            <a:off x="1107720" y="2016000"/>
            <a:ext cx="21356280" cy="10257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5400">
                <a:solidFill>
                  <a:srgbClr val="000000"/>
                </a:solidFill>
                <a:latin typeface="Arial"/>
                <a:ea typeface="Arial"/>
              </a:rPr>
              <a:t>YANG Utils java code auto-generation for NBI Schema (Used by Apps/Core) – </a:t>
            </a:r>
            <a:r>
              <a:rPr lang="en-IN" sz="5400">
                <a:solidFill>
                  <a:srgbClr val="000000"/>
                </a:solidFill>
                <a:latin typeface="Arial"/>
                <a:ea typeface="Arial"/>
              </a:rPr>
              <a:t>Available in Golden Eye (Enhancements in Hummingbird).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5400">
                <a:solidFill>
                  <a:srgbClr val="000000"/>
                </a:solidFill>
                <a:latin typeface="Arial"/>
                <a:ea typeface="Arial"/>
              </a:rPr>
              <a:t>YANG Utils java code auto-generation for Device Schema (Used by Driver Impl) – </a:t>
            </a:r>
            <a:r>
              <a:rPr lang="en-IN" sz="5400">
                <a:solidFill>
                  <a:srgbClr val="000000"/>
                </a:solidFill>
                <a:latin typeface="Arial"/>
                <a:ea typeface="Arial"/>
              </a:rPr>
              <a:t>Planned for Sprint 1 of Hummingbird.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5400">
                <a:solidFill>
                  <a:srgbClr val="000000"/>
                </a:solidFill>
                <a:latin typeface="Arial"/>
                <a:ea typeface="Arial"/>
              </a:rPr>
              <a:t>YMS (YANG Shell) for NBI </a:t>
            </a:r>
            <a:r>
              <a:rPr lang="en-IN" sz="5400">
                <a:solidFill>
                  <a:srgbClr val="000000"/>
                </a:solidFill>
                <a:latin typeface="Arial"/>
                <a:ea typeface="Arial"/>
              </a:rPr>
              <a:t>– Planned for Hummingbird.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5400">
                <a:solidFill>
                  <a:srgbClr val="000000"/>
                </a:solidFill>
                <a:latin typeface="Arial"/>
                <a:ea typeface="Arial"/>
              </a:rPr>
              <a:t>YMS (YANG Shell) for SBI –</a:t>
            </a:r>
            <a:r>
              <a:rPr lang="en-IN" sz="5400">
                <a:solidFill>
                  <a:srgbClr val="000000"/>
                </a:solidFill>
                <a:latin typeface="Arial"/>
                <a:ea typeface="Arial"/>
              </a:rPr>
              <a:t> Planned for Hummingbird.</a:t>
            </a:r>
            <a:endParaRPr/>
          </a:p>
        </p:txBody>
      </p:sp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YANG Utils status and roadmap</a:t>
            </a:r>
            <a:endParaRPr/>
          </a:p>
        </p:txBody>
      </p:sp>
      <p:graphicFrame>
        <p:nvGraphicFramePr>
          <p:cNvPr id="98" name="Table 2"/>
          <p:cNvGraphicFramePr/>
          <p:nvPr/>
        </p:nvGraphicFramePr>
        <p:xfrm>
          <a:off x="576000" y="2484000"/>
          <a:ext cx="3959640" cy="6659640"/>
        </p:xfrm>
        <a:graphic>
          <a:graphicData uri="http://schemas.openxmlformats.org/drawingml/2006/table">
            <a:tbl>
              <a:tblPr/>
              <a:tblGrid>
                <a:gridCol w="1598760"/>
                <a:gridCol w="2361240"/>
              </a:tblGrid>
              <a:tr h="848880"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YANG construct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Supported/Planned version</a:t>
                      </a:r>
                      <a:endParaRPr/>
                    </a:p>
                  </a:txBody>
                  <a:tcPr/>
                </a:tc>
              </a:tr>
              <a:tr h="4899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config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899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container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899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key 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899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leaf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899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leaf-list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899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list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696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mandatory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899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module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696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presence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935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units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  <a:tr h="49536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String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Falcon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9" name="Table 3"/>
          <p:cNvGraphicFramePr/>
          <p:nvPr/>
        </p:nvGraphicFramePr>
        <p:xfrm>
          <a:off x="4896000" y="2520000"/>
          <a:ext cx="4463640" cy="10753200"/>
        </p:xfrm>
        <a:graphic>
          <a:graphicData uri="http://schemas.openxmlformats.org/drawingml/2006/table">
            <a:tbl>
              <a:tblPr/>
              <a:tblGrid>
                <a:gridCol w="2119320"/>
                <a:gridCol w="2344680"/>
              </a:tblGrid>
              <a:tr h="605880"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YANG construct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Supported/Planned version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augment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belongs-to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bit 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case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choice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enum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grouping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input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length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max-elements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min-elements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namespace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notification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output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pattern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position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prefix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range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revision-date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rpc 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submodule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type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typedef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pPr algn="r"/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uses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value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yang-version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Boolean/ empty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Enumeration/union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endParaRPr/>
                    </a:p>
                  </a:txBody>
                  <a:tcPr/>
                </a:tc>
              </a:tr>
              <a:tr h="3499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Interger types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 eye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0" name="Table 4"/>
          <p:cNvGraphicFramePr/>
          <p:nvPr/>
        </p:nvGraphicFramePr>
        <p:xfrm>
          <a:off x="10080000" y="2520000"/>
          <a:ext cx="4247640" cy="10151640"/>
        </p:xfrm>
        <a:graphic>
          <a:graphicData uri="http://schemas.openxmlformats.org/drawingml/2006/table">
            <a:tbl>
              <a:tblPr/>
              <a:tblGrid>
                <a:gridCol w="1775880"/>
                <a:gridCol w="2472120"/>
              </a:tblGrid>
              <a:tr h="609480"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YANG construct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Supported/Planned version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contact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default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description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fraction-digits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import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include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organization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reference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72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revision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90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status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  <a:tr h="86832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Binary/bits/decimal64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Goldeneye</a:t>
                      </a:r>
                      <a:r>
                        <a:rPr lang="en-IN">
                          <a:latin typeface="Arial"/>
                        </a:rPr>
                        <a:t>
</a:t>
                      </a:r>
                      <a:r>
                        <a:rPr lang="en-IN">
                          <a:latin typeface="Arial"/>
                        </a:rPr>
                        <a:t>Enhancement in Hummingbird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1" name="Table 5"/>
          <p:cNvGraphicFramePr/>
          <p:nvPr/>
        </p:nvGraphicFramePr>
        <p:xfrm>
          <a:off x="14616000" y="2520000"/>
          <a:ext cx="4175640" cy="6263640"/>
        </p:xfrm>
        <a:graphic>
          <a:graphicData uri="http://schemas.openxmlformats.org/drawingml/2006/table">
            <a:tbl>
              <a:tblPr/>
              <a:tblGrid>
                <a:gridCol w="1767600"/>
                <a:gridCol w="2408400"/>
              </a:tblGrid>
              <a:tr h="821880"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YANG construct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Supported/Planned version</a:t>
                      </a:r>
                      <a:endParaRPr/>
                    </a:p>
                  </a:txBody>
                  <a:tcPr/>
                </a:tc>
              </a:tr>
              <a:tr h="4744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base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4744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feature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4744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identity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4744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if-feature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4744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must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4744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path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821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when  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4744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Identity-ref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821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Instance</a:t>
                      </a:r>
                      <a:endParaRPr/>
                    </a:p>
                    <a:p>
                      <a:r>
                        <a:rPr lang="en-IN">
                          <a:latin typeface="Arial"/>
                        </a:rPr>
                        <a:t>-identifier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  <a:tr h="47700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leafref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Hummingbird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2" name="Table 6"/>
          <p:cNvGraphicFramePr/>
          <p:nvPr/>
        </p:nvGraphicFramePr>
        <p:xfrm>
          <a:off x="19296000" y="2448000"/>
          <a:ext cx="4390920" cy="9155880"/>
        </p:xfrm>
        <a:graphic>
          <a:graphicData uri="http://schemas.openxmlformats.org/drawingml/2006/table">
            <a:tbl>
              <a:tblPr/>
              <a:tblGrid>
                <a:gridCol w="1895400"/>
                <a:gridCol w="2495880"/>
              </a:tblGrid>
              <a:tr h="444960"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YANG construct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b="1" lang="en-IN">
                          <a:latin typeface="Arial"/>
                        </a:rPr>
                        <a:t>Supported/Planned version</a:t>
                      </a:r>
                      <a:endParaRPr/>
                    </a:p>
                  </a:txBody>
                  <a:tcPr/>
                </a:tc>
              </a:tr>
              <a:tr h="605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anyxml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8618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argument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605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deviate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8618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deviation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605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error-app-tag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8618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error-message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8618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extension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605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ordered-by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605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refine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605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require-instance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60588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unique     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  <a:tr h="861840"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 </a:t>
                      </a:r>
                      <a:r>
                        <a:rPr lang="en-IN">
                          <a:latin typeface="Arial"/>
                        </a:rPr>
                        <a:t>yin-element      </a:t>
                      </a:r>
                      <a:endParaRPr/>
                    </a:p>
                  </a:txBody>
                  <a:tcPr/>
                </a:tc>
                <a:tc>
                  <a:txBody>
                    <a:bodyPr lIns="90000" rIns="90000" tIns="46800" bIns="46800"/>
                    <a:p>
                      <a:r>
                        <a:rPr lang="en-IN">
                          <a:latin typeface="Arial"/>
                        </a:rPr>
                        <a:t>Not planned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3" name="TextShape 7"/>
          <p:cNvSpPr txBox="1"/>
          <p:nvPr/>
        </p:nvSpPr>
        <p:spPr>
          <a:xfrm>
            <a:off x="15192000" y="12960000"/>
            <a:ext cx="7704000" cy="43344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IN" sz="2400">
                <a:latin typeface="Arial"/>
              </a:rPr>
              <a:t>https://wiki.onosproject.org/display/ONOS/YANG+utils</a:t>
            </a:r>
            <a:endParaRPr/>
          </a:p>
        </p:txBody>
      </p:sp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/>
            <a:r>
              <a:rPr b="1" lang="en-IN" sz="6600">
                <a:solidFill>
                  <a:srgbClr val="ffffff"/>
                </a:solidFill>
                <a:latin typeface="Droid Sans"/>
                <a:ea typeface="Droid Sans"/>
              </a:rPr>
              <a:t>YANG utils user guide</a:t>
            </a:r>
            <a:endParaRPr/>
          </a:p>
        </p:txBody>
      </p:sp>
      <p:sp>
        <p:nvSpPr>
          <p:cNvPr id="105" name="CustomShape 2"/>
          <p:cNvSpPr/>
          <p:nvPr/>
        </p:nvSpPr>
        <p:spPr>
          <a:xfrm>
            <a:off x="1220760" y="2133720"/>
            <a:ext cx="1447776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Step1</a:t>
            </a: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:  Add YANG utils maven plugin to app's pom file build section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pic>
        <p:nvPicPr>
          <p:cNvPr id="106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728000" y="3240000"/>
            <a:ext cx="16632000" cy="871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/>
            <a:r>
              <a:rPr b="1" lang="en-IN" sz="6600">
                <a:solidFill>
                  <a:srgbClr val="ffffff"/>
                </a:solidFill>
                <a:latin typeface="Droid Sans"/>
                <a:ea typeface="Droid Sans"/>
              </a:rPr>
              <a:t>YANG utils user guide</a:t>
            </a:r>
            <a:endParaRPr/>
          </a:p>
        </p:txBody>
      </p:sp>
      <p:sp>
        <p:nvSpPr>
          <p:cNvPr id="108" name="CustomShape 2"/>
          <p:cNvSpPr/>
          <p:nvPr/>
        </p:nvSpPr>
        <p:spPr>
          <a:xfrm>
            <a:off x="1220760" y="2133720"/>
            <a:ext cx="1915524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Step2 : Add dependency required for yangutils to pom file’s dependency section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pic>
        <p:nvPicPr>
          <p:cNvPr id="109" name="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872000" y="3240000"/>
            <a:ext cx="18864000" cy="93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/>
            <a:r>
              <a:rPr b="1" lang="en-IN" sz="6600">
                <a:solidFill>
                  <a:srgbClr val="ffffff"/>
                </a:solidFill>
                <a:latin typeface="Droid Sans"/>
                <a:ea typeface="Droid Sans"/>
              </a:rPr>
              <a:t>YANG utils user guide</a:t>
            </a:r>
            <a:endParaRPr/>
          </a:p>
        </p:txBody>
      </p:sp>
      <p:sp>
        <p:nvSpPr>
          <p:cNvPr id="111" name="CustomShape 2"/>
          <p:cNvSpPr/>
          <p:nvPr/>
        </p:nvSpPr>
        <p:spPr>
          <a:xfrm>
            <a:off x="860760" y="2133720"/>
            <a:ext cx="2210724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Step3 : Plugin configuration supported in YANG utils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1. Input YANG Directory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Default: src/main/yang – User can create this folder and place it's YANG file in it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Configured: User can configure the desired Input directory using below maven configuration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&lt;configuration&gt;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               </a:t>
            </a: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&lt;yangFilesDir&gt;/opt/src/yang/&lt;/yangFilesDir&gt;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&lt;/configuration&gt;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2. Output JAVA Directory</a:t>
            </a: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Default: src/main/java 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Configured: User can configure the desired Output directory using below maven configuration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&lt;configuration&gt;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               </a:t>
            </a: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&lt;genFilesDir&gt;/opt/src/java/&lt;/genFilesDir&gt; </a:t>
            </a: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&lt;/configuration&gt;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/>
            <a:r>
              <a:rPr b="1" lang="en-IN" sz="6600">
                <a:solidFill>
                  <a:srgbClr val="ffffff"/>
                </a:solidFill>
                <a:latin typeface="Droid Sans"/>
                <a:ea typeface="Droid Sans"/>
              </a:rPr>
              <a:t>YANG utils user guide</a:t>
            </a:r>
            <a:endParaRPr/>
          </a:p>
        </p:txBody>
      </p:sp>
      <p:sp>
        <p:nvSpPr>
          <p:cNvPr id="113" name="CustomShape 2"/>
          <p:cNvSpPr/>
          <p:nvPr/>
        </p:nvSpPr>
        <p:spPr>
          <a:xfrm>
            <a:off x="1220760" y="2133720"/>
            <a:ext cx="1447776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  <p:sp>
        <p:nvSpPr>
          <p:cNvPr id="114" name="TextShape 3"/>
          <p:cNvSpPr txBox="1"/>
          <p:nvPr/>
        </p:nvSpPr>
        <p:spPr>
          <a:xfrm>
            <a:off x="720000" y="2160000"/>
            <a:ext cx="22608000" cy="10440000"/>
          </a:xfrm>
          <a:prstGeom prst="rect">
            <a:avLst/>
          </a:prstGeom>
        </p:spPr>
        <p:txBody>
          <a:bodyPr lIns="90000" rIns="90000" tIns="45000" bIns="45000"/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Step4</a:t>
            </a: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: Build using mvn clean install/ mvn install.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IN" sz="3200">
                <a:solidFill>
                  <a:srgbClr val="000000"/>
                </a:solidFill>
                <a:latin typeface="Arial"/>
                <a:ea typeface="DejaVu Sans"/>
              </a:rPr>
              <a:t>Generated java code will be placed in default directory or in desired destination folder configured by user. 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3200">
                <a:solidFill>
                  <a:srgbClr val="000000"/>
                </a:solidFill>
                <a:latin typeface="Arial"/>
                <a:ea typeface="DejaVu Sans"/>
              </a:rPr>
              <a:t>Note : Code is generated as per ONOS coding guidelines.</a:t>
            </a:r>
            <a:endParaRPr/>
          </a:p>
        </p:txBody>
      </p:sp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YANG to JAVA mapping</a:t>
            </a:r>
            <a:endParaRPr/>
          </a:p>
        </p:txBody>
      </p:sp>
      <p:sp>
        <p:nvSpPr>
          <p:cNvPr id="116" name="CustomShape 2"/>
          <p:cNvSpPr/>
          <p:nvPr/>
        </p:nvSpPr>
        <p:spPr>
          <a:xfrm>
            <a:off x="1220760" y="2133720"/>
            <a:ext cx="14477760" cy="1054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TextShape 3"/>
          <p:cNvSpPr txBox="1"/>
          <p:nvPr/>
        </p:nvSpPr>
        <p:spPr>
          <a:xfrm>
            <a:off x="720000" y="2348280"/>
            <a:ext cx="21960000" cy="384372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IN" sz="4800">
                <a:solidFill>
                  <a:srgbClr val="0000ff"/>
                </a:solidFill>
                <a:latin typeface="Arial"/>
              </a:rPr>
              <a:t>https://wiki.onosproject.org/display/ONOS/YANG+utils</a:t>
            </a:r>
            <a:endParaRPr/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YANG Utils Demo App – Standard IETF L3VPN</a:t>
            </a:r>
            <a:endParaRPr/>
          </a:p>
        </p:txBody>
      </p:sp>
      <p:sp>
        <p:nvSpPr>
          <p:cNvPr id="119" name="CustomShape 2"/>
          <p:cNvSpPr/>
          <p:nvPr/>
        </p:nvSpPr>
        <p:spPr>
          <a:xfrm>
            <a:off x="1152000" y="2160000"/>
            <a:ext cx="2246976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Demo YANG File Details: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Pre-Setup: Demo Application created.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1: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YANG utils maven plugin added to test app POM File. Dependency required for YANG Utils is also updated in pom.xml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2: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Standard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YANG files from</a:t>
            </a:r>
            <a:r>
              <a:rPr lang="en-IN" sz="4400">
                <a:solidFill>
                  <a:srgbClr val="0000ff"/>
                </a:solidFill>
                <a:latin typeface="Arial"/>
                <a:ea typeface="Arial"/>
              </a:rPr>
              <a:t> </a:t>
            </a:r>
            <a:r>
              <a:rPr lang="en-IN" sz="4400">
                <a:solidFill>
                  <a:srgbClr val="0000ff"/>
                </a:solidFill>
                <a:latin typeface="Arial"/>
                <a:ea typeface="Arial"/>
              </a:rPr>
              <a:t>https://datatracker.ietf.org/doc/draft-zha-l3sm-l3vpn-onos-deployment/</a:t>
            </a:r>
            <a:r>
              <a:rPr lang="en-IN" sz="4400">
                <a:solidFill>
                  <a:srgbClr val="0000ff"/>
                </a:solidFill>
                <a:latin typeface="Arial"/>
                <a:ea typeface="Arial"/>
              </a:rPr>
              <a:t> 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are placed in  “src/main/yang” folder in test app.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3: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Run mvn clean install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4: 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Verify the validated code</a:t>
            </a:r>
            <a:endParaRPr/>
          </a:p>
        </p:txBody>
      </p:sp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831240" y="18396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YANG Utils Demo App – SFC</a:t>
            </a:r>
            <a:endParaRPr/>
          </a:p>
        </p:txBody>
      </p:sp>
      <p:sp>
        <p:nvSpPr>
          <p:cNvPr id="121" name="CustomShape 2"/>
          <p:cNvSpPr/>
          <p:nvPr/>
        </p:nvSpPr>
        <p:spPr>
          <a:xfrm>
            <a:off x="1152000" y="2160000"/>
            <a:ext cx="2246976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Pre-Setup: YANG modelling of SFC app. Demo SFC's Application with these YANG files.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1: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YANG utils maven plugin added to test SFC's POM File. Dependency required for YANG Utils is also updated in pom.xml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2: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use default plugin configurations.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3: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SFC's NBI interfaces are modeled in YANG and placed in  “src/main/yang” folder in SFC app.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Step 4: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Run mvn clean install to generate the code.</a:t>
            </a:r>
            <a:endParaRPr/>
          </a:p>
        </p:txBody>
      </p:sp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831240" y="207000"/>
            <a:ext cx="22723920" cy="1127520"/>
          </a:xfrm>
          <a:prstGeom prst="rect">
            <a:avLst/>
          </a:prstGeom>
        </p:spPr>
        <p:txBody>
          <a:bodyPr tIns="91440" bIns="91440" anchor="ctr"/>
          <a:p>
            <a:pPr>
              <a:lnSpc>
                <a:spcPct val="100000"/>
              </a:lnSpc>
            </a:pPr>
            <a:r>
              <a:rPr b="1" lang="en-IN" sz="7500">
                <a:solidFill>
                  <a:srgbClr val="ffffff"/>
                </a:solidFill>
                <a:latin typeface="Droid Sans"/>
                <a:ea typeface="Droid Sans"/>
              </a:rPr>
              <a:t>YANG Utils Demo App – SFC</a:t>
            </a:r>
            <a:endParaRPr/>
          </a:p>
        </p:txBody>
      </p:sp>
      <p:sp>
        <p:nvSpPr>
          <p:cNvPr id="123" name="CustomShape 2"/>
          <p:cNvSpPr/>
          <p:nvPr/>
        </p:nvSpPr>
        <p:spPr>
          <a:xfrm>
            <a:off x="1092600" y="2195280"/>
            <a:ext cx="22469760" cy="1054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IN" sz="4400">
                <a:solidFill>
                  <a:srgbClr val="000000"/>
                </a:solidFill>
                <a:latin typeface="Arial"/>
                <a:ea typeface="Arial"/>
              </a:rPr>
              <a:t>Sample Usage demo: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"/>
            </a:pP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Copy the business logic of Manager from existing VTN app to the generated demo SFC app framework.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"/>
            </a:pP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"/>
            </a:pP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	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Modify the current WebResource to use the generated demo app.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"/>
            </a:pP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"/>
            </a:pP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lang="en-IN" sz="4400">
                <a:solidFill>
                  <a:srgbClr val="000000"/>
                </a:solidFill>
                <a:latin typeface="Arial"/>
                <a:ea typeface="Arial"/>
              </a:rPr>
              <a:t>Post the port pair and get the same.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7164360" y="5867280"/>
            <a:ext cx="10362960" cy="2376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1" lang="en-IN" sz="15000">
                <a:solidFill>
                  <a:srgbClr val="000000"/>
                </a:solidFill>
                <a:latin typeface="Arial"/>
                <a:ea typeface="Arial"/>
              </a:rPr>
              <a:t>Thank You</a:t>
            </a:r>
            <a:endParaRPr/>
          </a:p>
        </p:txBody>
      </p:sp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