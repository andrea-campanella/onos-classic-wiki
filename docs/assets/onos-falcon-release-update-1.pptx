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Shape 13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1.jpg"/><Relationship Id="rId3" Type="http://schemas.openxmlformats.org/officeDocument/2006/relationships/image" Target="../media/image0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0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/>
          <p:cNvPicPr preferRelativeResize="0"/>
          <p:nvPr/>
        </p:nvPicPr>
        <p:blipFill rotWithShape="1">
          <a:blip r:embed="rId2">
            <a:alphaModFix/>
          </a:blip>
          <a:srcRect b="43638" l="0" r="0" t="15840"/>
          <a:stretch/>
        </p:blipFill>
        <p:spPr>
          <a:xfrm>
            <a:off x="-12450" y="0"/>
            <a:ext cx="9168902" cy="2476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/>
          <p:nvPr>
            <p:ph type="ctrTitle"/>
          </p:nvPr>
        </p:nvSpPr>
        <p:spPr>
          <a:xfrm>
            <a:off x="-24900" y="1800900"/>
            <a:ext cx="9181200" cy="1266000"/>
          </a:xfrm>
          <a:prstGeom prst="rect">
            <a:avLst/>
          </a:prstGeom>
          <a:solidFill>
            <a:srgbClr val="980000"/>
          </a:solidFill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defRPr b="0" sz="3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2" name="Shape 12"/>
          <p:cNvSpPr txBox="1"/>
          <p:nvPr>
            <p:ph idx="1" type="subTitle"/>
          </p:nvPr>
        </p:nvSpPr>
        <p:spPr>
          <a:xfrm>
            <a:off x="723900" y="3174725"/>
            <a:ext cx="7696200" cy="932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3" name="Shape 13"/>
          <p:cNvPicPr preferRelativeResize="0"/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7369200" y="3563068"/>
            <a:ext cx="1491550" cy="13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17" name="Shape 17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4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758825"/>
            <a:ext cx="3994500" cy="3725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x="4692273" y="758825"/>
            <a:ext cx="3994500" cy="3725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24" name="Shape 24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28" name="Shape 28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32" name="Shape 32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35" name="Shape 35"/>
          <p:cNvPicPr preferRelativeResize="0"/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8344100" y="131246"/>
            <a:ext cx="623100" cy="57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End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/>
        </p:nvSpPr>
        <p:spPr>
          <a:xfrm>
            <a:off x="2779350" y="4745219"/>
            <a:ext cx="3585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i="1" lang="en"/>
              <a:t>Join the journey @ onosproject.org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1787850" y="2741250"/>
            <a:ext cx="556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/>
              <a:t>Software Defined Transformation of Service Provider Networks</a:t>
            </a:r>
          </a:p>
        </p:txBody>
      </p:sp>
      <p:pic>
        <p:nvPicPr>
          <p:cNvPr id="39" name="Shape 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75512" y="1260250"/>
            <a:ext cx="1792975" cy="14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Shape 40"/>
          <p:cNvSpPr/>
          <p:nvPr/>
        </p:nvSpPr>
        <p:spPr>
          <a:xfrm>
            <a:off x="8026800" y="0"/>
            <a:ext cx="1117200" cy="8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1pPr>
            <a:lvl2pPr lvl="1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2pPr>
            <a:lvl3pPr lvl="2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3pPr>
            <a:lvl4pPr lvl="3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4pPr>
            <a:lvl5pPr lvl="4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5pPr>
            <a:lvl6pPr lvl="5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6pPr>
            <a:lvl7pPr lvl="6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7pPr>
            <a:lvl8pPr lvl="7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8pPr>
            <a:lvl9pPr lvl="8">
              <a:spcBef>
                <a:spcPts val="0"/>
              </a:spcBef>
              <a:buClr>
                <a:srgbClr val="85200C"/>
              </a:buClr>
              <a:buSzPct val="100000"/>
              <a:buNone/>
              <a:defRPr b="1" sz="3600">
                <a:solidFill>
                  <a:srgbClr val="85200C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457200" y="760325"/>
            <a:ext cx="8229600" cy="3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20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556791" y="474985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300">
                <a:solidFill>
                  <a:schemeClr val="dk1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Relationship Id="rId4" Type="http://schemas.openxmlformats.org/officeDocument/2006/relationships/image" Target="../media/image07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6.png"/><Relationship Id="rId4" Type="http://schemas.openxmlformats.org/officeDocument/2006/relationships/image" Target="../media/image08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05.png"/><Relationship Id="rId6" Type="http://schemas.openxmlformats.org/officeDocument/2006/relationships/image" Target="../media/image04.png"/><Relationship Id="rId7" Type="http://schemas.openxmlformats.org/officeDocument/2006/relationships/image" Target="../media/image12.png"/><Relationship Id="rId8" Type="http://schemas.openxmlformats.org/officeDocument/2006/relationships/image" Target="../media/image0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ctrTitle"/>
          </p:nvPr>
        </p:nvSpPr>
        <p:spPr>
          <a:xfrm>
            <a:off x="-24900" y="1800900"/>
            <a:ext cx="9181200" cy="12660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ONOS Falcon Release</a:t>
            </a:r>
          </a:p>
        </p:txBody>
      </p:sp>
      <p:sp>
        <p:nvSpPr>
          <p:cNvPr id="46" name="Shape 46"/>
          <p:cNvSpPr txBox="1"/>
          <p:nvPr>
            <p:ph idx="1" type="subTitle"/>
          </p:nvPr>
        </p:nvSpPr>
        <p:spPr>
          <a:xfrm>
            <a:off x="723900" y="3174725"/>
            <a:ext cx="7696200" cy="9321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Bill Snow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Takeaways</a:t>
            </a:r>
          </a:p>
        </p:txBody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Community growing rapidly: 50+ members 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Good diversity of contributions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Global deployment accelerating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Multiple vendors building commercial products based on ONOS 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ONOS is production ready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Increasing impact on “standard” SDN, NFV distributions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ONOS enabled solutions gaining lot of traction/momentum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Especially CORD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ONOS capabilities strong at all levels - Apps, UI, NB, CORE, SB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Themes</a:t>
            </a:r>
          </a:p>
        </p:txBody>
      </p:sp>
      <p:sp>
        <p:nvSpPr>
          <p:cNvPr id="58" name="Shape 58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Community - growing and diversifying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45833"/>
              <a:buFont typeface="Arial"/>
              <a:buNone/>
            </a:pPr>
            <a:r>
              <a:rPr lang="en"/>
              <a:t>Deployment - increasing the global footprint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Distribution - SDN and NFV Ecosystem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ONOS Improvements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Shape 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625" y="931300"/>
            <a:ext cx="238125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Shape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2950" y="631000"/>
            <a:ext cx="240030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Shape 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0"/>
            <a:ext cx="4090146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Shape 66"/>
          <p:cNvSpPr/>
          <p:nvPr/>
        </p:nvSpPr>
        <p:spPr>
          <a:xfrm>
            <a:off x="95775" y="4222000"/>
            <a:ext cx="1171500" cy="862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7" name="Shape 67"/>
          <p:cNvSpPr/>
          <p:nvPr/>
        </p:nvSpPr>
        <p:spPr>
          <a:xfrm>
            <a:off x="5722650" y="6755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8" name="Shape 68"/>
          <p:cNvSpPr/>
          <p:nvPr/>
        </p:nvSpPr>
        <p:spPr>
          <a:xfrm>
            <a:off x="5722650" y="243647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9" name="Shape 69"/>
          <p:cNvSpPr/>
          <p:nvPr/>
        </p:nvSpPr>
        <p:spPr>
          <a:xfrm>
            <a:off x="6781250" y="150807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7514050" y="32889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1" name="Shape 71"/>
          <p:cNvSpPr/>
          <p:nvPr/>
        </p:nvSpPr>
        <p:spPr>
          <a:xfrm>
            <a:off x="4204800" y="2468700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2" name="Shape 72"/>
          <p:cNvSpPr/>
          <p:nvPr/>
        </p:nvSpPr>
        <p:spPr>
          <a:xfrm>
            <a:off x="4204800" y="12746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3" name="Shape 73"/>
          <p:cNvSpPr/>
          <p:nvPr/>
        </p:nvSpPr>
        <p:spPr>
          <a:xfrm>
            <a:off x="7514050" y="2708200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8248450" y="44374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7514050" y="44374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6" name="Shape 76"/>
          <p:cNvSpPr/>
          <p:nvPr/>
        </p:nvSpPr>
        <p:spPr>
          <a:xfrm>
            <a:off x="6781250" y="390832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" name="Shape 77"/>
          <p:cNvSpPr/>
          <p:nvPr/>
        </p:nvSpPr>
        <p:spPr>
          <a:xfrm>
            <a:off x="8292750" y="2107175"/>
            <a:ext cx="734400" cy="59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8" name="Shape 78"/>
          <p:cNvSpPr txBox="1"/>
          <p:nvPr/>
        </p:nvSpPr>
        <p:spPr>
          <a:xfrm>
            <a:off x="1635750" y="4273575"/>
            <a:ext cx="21216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i="1" lang="en" sz="3600">
                <a:solidFill>
                  <a:schemeClr val="accent6"/>
                </a:solidFill>
              </a:rPr>
              <a:t>Partners</a:t>
            </a:r>
          </a:p>
        </p:txBody>
      </p:sp>
      <p:sp>
        <p:nvSpPr>
          <p:cNvPr id="79" name="Shape 79"/>
          <p:cNvSpPr txBox="1"/>
          <p:nvPr/>
        </p:nvSpPr>
        <p:spPr>
          <a:xfrm>
            <a:off x="4767250" y="-103175"/>
            <a:ext cx="35256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i="1" lang="en" sz="3600">
                <a:solidFill>
                  <a:schemeClr val="accent6"/>
                </a:solidFill>
              </a:rPr>
              <a:t>Collaborators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Community Metrics</a:t>
            </a:r>
          </a:p>
        </p:txBody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13 partners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5 service providers (up from 1 a year ago)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8 vendors (up from 6 a year ago)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50+ collaborators (up from just a few a year ago)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950 ONOS registered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250+ code contributors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ON.Lab 44%, but declining rapidly with onboarding of community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Huawei 19%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Fujitsu, NEC, SK Telecom, ONF, Create-Net, Ericsson, BTI (1-5% ea)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15 others (.2-1% ea)</a:t>
            </a:r>
          </a:p>
          <a:p>
            <a:pPr indent="-228600" lvl="1" marL="914400">
              <a:spcBef>
                <a:spcPts val="0"/>
              </a:spcBef>
            </a:pPr>
            <a:r>
              <a:rPr lang="en"/>
              <a:t>unknown org/independent 12%</a:t>
            </a:r>
          </a:p>
        </p:txBody>
      </p:sp>
      <p:sp>
        <p:nvSpPr>
          <p:cNvPr id="86" name="Shape 86"/>
          <p:cNvSpPr txBox="1"/>
          <p:nvPr/>
        </p:nvSpPr>
        <p:spPr>
          <a:xfrm>
            <a:off x="380575" y="4405425"/>
            <a:ext cx="66426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Full blog post with more detail: </a:t>
            </a:r>
            <a:r>
              <a:rPr lang="en" sz="1200"/>
              <a:t>http://onosproject.org/2016/02/19/how-has-the-onos-community-changed-in-its-first-year/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Shape 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574"/>
            <a:ext cx="9143999" cy="4872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Shape 92"/>
          <p:cNvCxnSpPr/>
          <p:nvPr/>
        </p:nvCxnSpPr>
        <p:spPr>
          <a:xfrm>
            <a:off x="361050" y="3389400"/>
            <a:ext cx="353700" cy="14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3" name="Shape 93"/>
          <p:cNvCxnSpPr/>
          <p:nvPr/>
        </p:nvCxnSpPr>
        <p:spPr>
          <a:xfrm flipH="1">
            <a:off x="8508025" y="1945225"/>
            <a:ext cx="400200" cy="13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4" name="Shape 94"/>
          <p:cNvCxnSpPr/>
          <p:nvPr/>
        </p:nvCxnSpPr>
        <p:spPr>
          <a:xfrm flipH="1" rot="10800000">
            <a:off x="5098825" y="4023250"/>
            <a:ext cx="604200" cy="257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95" name="Shape 95"/>
          <p:cNvSpPr txBox="1"/>
          <p:nvPr/>
        </p:nvSpPr>
        <p:spPr>
          <a:xfrm>
            <a:off x="5820900" y="4045175"/>
            <a:ext cx="1620900" cy="4950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b="1" lang="en" sz="1000">
                <a:solidFill>
                  <a:schemeClr val="accent5"/>
                </a:solidFill>
              </a:rPr>
              <a:t>L2/L3 SDX App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7166950" y="196625"/>
            <a:ext cx="1620900" cy="4950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 sz="1000">
                <a:solidFill>
                  <a:schemeClr val="accent5"/>
                </a:solidFill>
              </a:rPr>
              <a:t>L2  SDX App</a:t>
            </a:r>
          </a:p>
        </p:txBody>
      </p:sp>
      <p:cxnSp>
        <p:nvCxnSpPr>
          <p:cNvPr id="97" name="Shape 97"/>
          <p:cNvCxnSpPr/>
          <p:nvPr/>
        </p:nvCxnSpPr>
        <p:spPr>
          <a:xfrm flipH="1">
            <a:off x="6656275" y="329250"/>
            <a:ext cx="400200" cy="13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8" name="Shape 98"/>
          <p:cNvCxnSpPr/>
          <p:nvPr/>
        </p:nvCxnSpPr>
        <p:spPr>
          <a:xfrm rot="10800000">
            <a:off x="3480625" y="3127000"/>
            <a:ext cx="461400" cy="4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99" name="Shape 99"/>
          <p:cNvCxnSpPr/>
          <p:nvPr/>
        </p:nvCxnSpPr>
        <p:spPr>
          <a:xfrm>
            <a:off x="6656275" y="1456600"/>
            <a:ext cx="353700" cy="14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Deployment contributions</a:t>
            </a:r>
          </a:p>
        </p:txBody>
      </p:sp>
      <p:pic>
        <p:nvPicPr>
          <p:cNvPr id="105" name="Shape 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325" y="2965250"/>
            <a:ext cx="2457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Shape 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737" y="4122062"/>
            <a:ext cx="1666875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Shape 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7175" y="1865562"/>
            <a:ext cx="25908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Shape 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9350" y="1050450"/>
            <a:ext cx="1485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Shape 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9925" y="3688125"/>
            <a:ext cx="1143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Shape 1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5812" y="3688125"/>
            <a:ext cx="153352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Shape 1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16050" y="1050437"/>
            <a:ext cx="16002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Shape 1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9687" y="1155225"/>
            <a:ext cx="88582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Shape 1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33325" y="2830875"/>
            <a:ext cx="10858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Distribution</a:t>
            </a:r>
          </a:p>
        </p:txBody>
      </p:sp>
      <p:pic>
        <p:nvPicPr>
          <p:cNvPr id="119" name="Shape 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8350"/>
            <a:ext cx="9143999" cy="230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hape 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8346" y="2550396"/>
            <a:ext cx="4491449" cy="25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Shape 121"/>
          <p:cNvSpPr txBox="1"/>
          <p:nvPr/>
        </p:nvSpPr>
        <p:spPr>
          <a:xfrm>
            <a:off x="4901425" y="2814675"/>
            <a:ext cx="2938500" cy="27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-228600" lvl="0" marL="457200">
              <a:spcBef>
                <a:spcPts val="0"/>
              </a:spcBef>
              <a:buChar char="+"/>
            </a:pPr>
            <a:r>
              <a:rPr b="1" lang="en"/>
              <a:t>ONOS from 2015 + ODL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ONOS Improvements</a:t>
            </a:r>
          </a:p>
        </p:txBody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ONOS is enabling CORD Field trials and PoC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Residential field trial with AT&amp;T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Mobile and Enterprise PoCs at ONS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SDN/IP deployments, IP/Optical PoCs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Apps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VPLS (ON.Lab)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Routing loop detection and Blackhole tracking (FNLab/BUPT)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YANG Utils (Huawei) - auto generation of Java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Metrics database (POSTECH)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BGP Flowspec (Huawei)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Peering design/prototypes (Create-Net, TATA)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Load balancer (Fujitsu)</a:t>
            </a:r>
          </a:p>
          <a:p>
            <a:pPr indent="-228600" lvl="1" marL="914400" rtl="0">
              <a:spcBef>
                <a:spcPts val="0"/>
              </a:spcBef>
            </a:pPr>
            <a:r>
              <a:rPr lang="en"/>
              <a:t>GUI - meter table view, driver matrix view, application view, +more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ONOS improvements</a:t>
            </a:r>
          </a:p>
        </p:txBody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NB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REST apis for grouptable, metertable, flowobjectives (POSTECH)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Resource reservation support for “continuous” resources - BW for example (Fujitsu)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Intents integrated with Flow objectives, part 1</a:t>
            </a:r>
          </a:p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CORE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dynamic cluster scaling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devicekey subsystem - coordinate management of keys (Ciena)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control message subsystem (POSTECH)</a:t>
            </a:r>
          </a:p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SB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OSPF (Huawei, Cognizant)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REST provider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SNMP provider (BTI)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Fallback providers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Multiple inheritance between drivers</a:t>
            </a:r>
          </a:p>
          <a:p>
            <a:pPr indent="-317500" lvl="0" marL="457200" rtl="0">
              <a:spcBef>
                <a:spcPts val="0"/>
              </a:spcBef>
              <a:buSzPct val="100000"/>
            </a:pPr>
            <a:r>
              <a:rPr lang="en" sz="1400"/>
              <a:t>Test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IPv6 test suite (Criterion Networks)</a:t>
            </a:r>
          </a:p>
          <a:p>
            <a:pPr indent="-317500" lvl="1" marL="914400" rtl="0">
              <a:spcBef>
                <a:spcPts val="0"/>
              </a:spcBef>
              <a:buSzPct val="100000"/>
            </a:pPr>
            <a:r>
              <a:rPr lang="en" sz="1400"/>
              <a:t>NETCONF test suite (Happiest Minds)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hape 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"/>
            <a:ext cx="9143998" cy="410268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Shape 139"/>
          <p:cNvSpPr txBox="1"/>
          <p:nvPr/>
        </p:nvSpPr>
        <p:spPr>
          <a:xfrm>
            <a:off x="259025" y="4588450"/>
            <a:ext cx="88191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b="1" lang="en" sz="1800"/>
              <a:t>And, Huawei is doing ONOS field trials with several service providers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type="title"/>
          </p:nvPr>
        </p:nvSpPr>
        <p:spPr>
          <a:xfrm>
            <a:off x="377775" y="3"/>
            <a:ext cx="8229600" cy="8574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Takeaways</a:t>
            </a:r>
          </a:p>
        </p:txBody>
      </p:sp>
      <p:sp>
        <p:nvSpPr>
          <p:cNvPr id="145" name="Shape 145"/>
          <p:cNvSpPr txBox="1"/>
          <p:nvPr>
            <p:ph idx="1" type="body"/>
          </p:nvPr>
        </p:nvSpPr>
        <p:spPr>
          <a:xfrm>
            <a:off x="457200" y="751498"/>
            <a:ext cx="8229600" cy="3989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Community growing rapidly: 50+ members 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Good diversity of contributions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Global deployment accelerating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Multiple vendors building commercial products based on ONOS 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ONOS is production ready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Increasing impact on “standard” SDN, NFV distributions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ONOS enabled solutions gaining lot of traction/momentum</a:t>
            </a:r>
          </a:p>
          <a:p>
            <a:pPr indent="-355600" lvl="1" marL="914400" rtl="0">
              <a:spcBef>
                <a:spcPts val="0"/>
              </a:spcBef>
              <a:buSzPct val="100000"/>
            </a:pPr>
            <a:r>
              <a:rPr lang="en" sz="2000"/>
              <a:t>Especially CORD</a:t>
            </a:r>
          </a:p>
          <a:p>
            <a:pPr indent="-355600" lvl="0" marL="457200" rtl="0">
              <a:spcBef>
                <a:spcPts val="0"/>
              </a:spcBef>
              <a:buSzPct val="100000"/>
            </a:pPr>
            <a:r>
              <a:rPr lang="en" sz="2000"/>
              <a:t>ONOS capabilities strong at all levels - Apps, UI, NB, CORE, SB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OS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